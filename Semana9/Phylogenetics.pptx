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307" r:id="rId3"/>
    <p:sldId id="263" r:id="rId4"/>
    <p:sldId id="264" r:id="rId5"/>
    <p:sldId id="265" r:id="rId6"/>
    <p:sldId id="297" r:id="rId7"/>
    <p:sldId id="267" r:id="rId8"/>
    <p:sldId id="269" r:id="rId9"/>
    <p:sldId id="308" r:id="rId10"/>
    <p:sldId id="311" r:id="rId11"/>
    <p:sldId id="268" r:id="rId12"/>
    <p:sldId id="301" r:id="rId13"/>
    <p:sldId id="288" r:id="rId14"/>
    <p:sldId id="287" r:id="rId15"/>
    <p:sldId id="298" r:id="rId16"/>
    <p:sldId id="299" r:id="rId17"/>
    <p:sldId id="300" r:id="rId18"/>
    <p:sldId id="289" r:id="rId19"/>
    <p:sldId id="270" r:id="rId20"/>
    <p:sldId id="271" r:id="rId21"/>
    <p:sldId id="272" r:id="rId22"/>
    <p:sldId id="273" r:id="rId23"/>
    <p:sldId id="302" r:id="rId24"/>
    <p:sldId id="290" r:id="rId25"/>
    <p:sldId id="293" r:id="rId26"/>
    <p:sldId id="292" r:id="rId27"/>
    <p:sldId id="291" r:id="rId28"/>
    <p:sldId id="274" r:id="rId29"/>
    <p:sldId id="275" r:id="rId30"/>
    <p:sldId id="276" r:id="rId31"/>
    <p:sldId id="277" r:id="rId32"/>
    <p:sldId id="278" r:id="rId33"/>
    <p:sldId id="279" r:id="rId34"/>
    <p:sldId id="280" r:id="rId35"/>
    <p:sldId id="281" r:id="rId36"/>
    <p:sldId id="282" r:id="rId37"/>
    <p:sldId id="283" r:id="rId38"/>
    <p:sldId id="284" r:id="rId39"/>
    <p:sldId id="309" r:id="rId40"/>
    <p:sldId id="312" r:id="rId41"/>
    <p:sldId id="310" r:id="rId42"/>
    <p:sldId id="294" r:id="rId43"/>
    <p:sldId id="295" r:id="rId44"/>
    <p:sldId id="303" r:id="rId45"/>
    <p:sldId id="306" r:id="rId46"/>
    <p:sldId id="304" r:id="rId47"/>
    <p:sldId id="305" r:id="rId4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19" autoAdjust="0"/>
    <p:restoredTop sz="94660"/>
  </p:normalViewPr>
  <p:slideViewPr>
    <p:cSldViewPr snapToGrid="0">
      <p:cViewPr varScale="1">
        <p:scale>
          <a:sx n="78" d="100"/>
          <a:sy n="78" d="100"/>
        </p:scale>
        <p:origin x="8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116D54-6628-F5B7-0D6B-BB1C65DF67A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51EFD5BD-0188-1590-510C-35E5A64E67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34EC1730-C65A-75FF-860D-B62439E8EB29}"/>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5" name="Marcador de pie de página 4">
            <a:extLst>
              <a:ext uri="{FF2B5EF4-FFF2-40B4-BE49-F238E27FC236}">
                <a16:creationId xmlns:a16="http://schemas.microsoft.com/office/drawing/2014/main" id="{0E2CED2B-8D99-31E3-58CB-8B0FC07CE47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A365438-5C2E-6D2E-177B-4D7A1D8E9687}"/>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2703520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9435CF-7ED2-F8B6-6751-6A4B1E00E7E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A878784-E3FF-50EF-1CB7-7AD450CC213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219BAC-DF91-EBA2-22B5-9CF9D7DADA50}"/>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5" name="Marcador de pie de página 4">
            <a:extLst>
              <a:ext uri="{FF2B5EF4-FFF2-40B4-BE49-F238E27FC236}">
                <a16:creationId xmlns:a16="http://schemas.microsoft.com/office/drawing/2014/main" id="{4B07383C-818C-D536-E526-3FD1872BF76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BBC9C54-3941-874C-F88B-DDE3FFE92D15}"/>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4046765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8B6A2D-A190-F0CB-D1D9-01591B0AD6A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502895A-0D36-EE96-ACFF-E7A2482CD2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715C91F-4059-56B3-4A09-615935B0338D}"/>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5" name="Marcador de pie de página 4">
            <a:extLst>
              <a:ext uri="{FF2B5EF4-FFF2-40B4-BE49-F238E27FC236}">
                <a16:creationId xmlns:a16="http://schemas.microsoft.com/office/drawing/2014/main" id="{311AD75B-F769-61EA-FEDF-E3120E61BF9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F034373-BE75-01EE-C35D-E1033B821177}"/>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2589321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6419E1-DC20-4C9A-6B82-549948DA246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B6667E7-606E-8813-B2DA-1E64A8892FD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B436D62-89A0-0A59-1ED0-9B2BE97ED62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AB81D4C5-AD7B-8566-3A44-67870250BA47}"/>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6" name="Marcador de pie de página 5">
            <a:extLst>
              <a:ext uri="{FF2B5EF4-FFF2-40B4-BE49-F238E27FC236}">
                <a16:creationId xmlns:a16="http://schemas.microsoft.com/office/drawing/2014/main" id="{87626C78-D416-18D8-EC12-4EA9C07BA15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C78B59D-EF3A-4BEC-A2D2-632DB4FBEDA5}"/>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3248456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40B3AA-79D0-B352-DF35-CF3E0D18A77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95299FA-C23F-8581-3F4D-102034C9ED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FB2F028-175A-C695-3B5C-9775328E20B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BA3A316-C9EB-5CE3-173F-3D44F442A2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1FC07A5-198A-D09E-D19F-3D9FC5A7D3A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FB960AE-1815-B4DD-A14A-AE02112106D2}"/>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8" name="Marcador de pie de página 7">
            <a:extLst>
              <a:ext uri="{FF2B5EF4-FFF2-40B4-BE49-F238E27FC236}">
                <a16:creationId xmlns:a16="http://schemas.microsoft.com/office/drawing/2014/main" id="{45164C5B-996E-4805-C125-095D7E71F203}"/>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E78E5C48-1A3C-3D31-6881-D5CE65B6284A}"/>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3498202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394FE1-4D01-E148-5E67-BC2FD3E8201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BE41D8A-8B2E-65B3-9AFF-CEA24850FE45}"/>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4" name="Marcador de pie de página 3">
            <a:extLst>
              <a:ext uri="{FF2B5EF4-FFF2-40B4-BE49-F238E27FC236}">
                <a16:creationId xmlns:a16="http://schemas.microsoft.com/office/drawing/2014/main" id="{D7B20D57-D38C-D6E4-FD3E-CA8AEE40B32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BFFF2D9B-334A-4BA6-6B68-5DF27530C022}"/>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1536412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F8371ED-31A1-A343-46C5-C6492427F6B1}"/>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3" name="Marcador de pie de página 2">
            <a:extLst>
              <a:ext uri="{FF2B5EF4-FFF2-40B4-BE49-F238E27FC236}">
                <a16:creationId xmlns:a16="http://schemas.microsoft.com/office/drawing/2014/main" id="{5F02695B-504D-3552-79A9-CD2713222AC0}"/>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3B6CE7F-0361-B7AC-9726-92BF71F76A49}"/>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2654244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727EFF-D08C-B535-6221-B4BF1556143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3A82663-0DEB-EEC2-F887-E2DFA00C58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6645357-A095-C985-044E-2974C48BC5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3BA9220-C6FB-D6B0-4B71-8F5A238C0DB1}"/>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6" name="Marcador de pie de página 5">
            <a:extLst>
              <a:ext uri="{FF2B5EF4-FFF2-40B4-BE49-F238E27FC236}">
                <a16:creationId xmlns:a16="http://schemas.microsoft.com/office/drawing/2014/main" id="{864C412D-DF11-1095-6A1B-B53FF09668F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857F11E-F260-7F6B-1D75-F07A2B7D7EEA}"/>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999770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EF9AA1-2486-6379-EB0E-BED25D0C601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39CDCFF-A9E9-7639-E1C1-33B87CCCD0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EF89F847-4069-3280-323A-A7DDDC090B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7460B09-9609-A43F-7FDF-5FE6FA3E1C1E}"/>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6" name="Marcador de pie de página 5">
            <a:extLst>
              <a:ext uri="{FF2B5EF4-FFF2-40B4-BE49-F238E27FC236}">
                <a16:creationId xmlns:a16="http://schemas.microsoft.com/office/drawing/2014/main" id="{D319FCDE-877E-4E09-A350-469490FC137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675EB5F-94AD-C223-582A-024621266667}"/>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3110688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765AEC-427B-4603-E271-5B8909E960F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056AAA3-6E3B-5A8A-1AF4-9F7F24723A0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6DEB5EA-3FFD-A314-B25A-E2F292A61F7C}"/>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5" name="Marcador de pie de página 4">
            <a:extLst>
              <a:ext uri="{FF2B5EF4-FFF2-40B4-BE49-F238E27FC236}">
                <a16:creationId xmlns:a16="http://schemas.microsoft.com/office/drawing/2014/main" id="{F79C2204-4AF6-4983-A656-96AED7BB06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E5E1A51-FC01-FB8A-BE7A-71A832C8D082}"/>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3029873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457FD7E-AC3D-82C1-3AFF-031428E8C77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37D900E-2173-3B20-5BAF-6B2404B252A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4511C8C-9EEF-4EE5-6E56-901ABFD587B1}"/>
              </a:ext>
            </a:extLst>
          </p:cNvPr>
          <p:cNvSpPr>
            <a:spLocks noGrp="1"/>
          </p:cNvSpPr>
          <p:nvPr>
            <p:ph type="dt" sz="half" idx="10"/>
          </p:nvPr>
        </p:nvSpPr>
        <p:spPr/>
        <p:txBody>
          <a:bodyPr/>
          <a:lstStyle/>
          <a:p>
            <a:fld id="{359B714B-A98F-4D04-BB33-8BB5BF79D481}" type="datetimeFigureOut">
              <a:rPr lang="es-CO" smtClean="0"/>
              <a:t>10/11/2025</a:t>
            </a:fld>
            <a:endParaRPr lang="es-CO"/>
          </a:p>
        </p:txBody>
      </p:sp>
      <p:sp>
        <p:nvSpPr>
          <p:cNvPr id="5" name="Marcador de pie de página 4">
            <a:extLst>
              <a:ext uri="{FF2B5EF4-FFF2-40B4-BE49-F238E27FC236}">
                <a16:creationId xmlns:a16="http://schemas.microsoft.com/office/drawing/2014/main" id="{74B318E6-703E-FED5-88CE-B1DC7602C98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4EF017-9A00-C50D-B6E8-0BE9B0160168}"/>
              </a:ext>
            </a:extLst>
          </p:cNvPr>
          <p:cNvSpPr>
            <a:spLocks noGrp="1"/>
          </p:cNvSpPr>
          <p:nvPr>
            <p:ph type="sldNum" sz="quarter" idx="12"/>
          </p:nvPr>
        </p:nvSpPr>
        <p:spPr/>
        <p:txBody>
          <a:bodyPr/>
          <a:lstStyle/>
          <a:p>
            <a:fld id="{D2E1B8C7-4CE8-4237-98BA-D978AF7D3C3A}" type="slidenum">
              <a:rPr lang="es-CO" smtClean="0"/>
              <a:t>‹Nº›</a:t>
            </a:fld>
            <a:endParaRPr lang="es-CO"/>
          </a:p>
        </p:txBody>
      </p:sp>
    </p:spTree>
    <p:extLst>
      <p:ext uri="{BB962C8B-B14F-4D97-AF65-F5344CB8AC3E}">
        <p14:creationId xmlns:p14="http://schemas.microsoft.com/office/powerpoint/2010/main" val="2418643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1F19E5B-96C8-1584-56F6-FBA776A14E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C3416EC-43FB-362B-6B22-2DF666472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6784A9D-5C59-AE55-7CB7-09FCAC8D44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9B714B-A98F-4D04-BB33-8BB5BF79D481}" type="datetimeFigureOut">
              <a:rPr lang="es-CO" smtClean="0"/>
              <a:t>10/11/2025</a:t>
            </a:fld>
            <a:endParaRPr lang="es-CO"/>
          </a:p>
        </p:txBody>
      </p:sp>
      <p:sp>
        <p:nvSpPr>
          <p:cNvPr id="5" name="Marcador de pie de página 4">
            <a:extLst>
              <a:ext uri="{FF2B5EF4-FFF2-40B4-BE49-F238E27FC236}">
                <a16:creationId xmlns:a16="http://schemas.microsoft.com/office/drawing/2014/main" id="{7CF8DF3A-A1E0-9AB0-4DBB-F1C8ED1648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07231CC6-86B1-99AF-7CC0-EDD4329972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E1B8C7-4CE8-4237-98BA-D978AF7D3C3A}" type="slidenum">
              <a:rPr lang="es-CO" smtClean="0"/>
              <a:t>‹Nº›</a:t>
            </a:fld>
            <a:endParaRPr lang="es-CO"/>
          </a:p>
        </p:txBody>
      </p:sp>
    </p:spTree>
    <p:extLst>
      <p:ext uri="{BB962C8B-B14F-4D97-AF65-F5344CB8AC3E}">
        <p14:creationId xmlns:p14="http://schemas.microsoft.com/office/powerpoint/2010/main" val="315582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BD7C77-1640-EDCB-443D-00969FB988EB}"/>
              </a:ext>
            </a:extLst>
          </p:cNvPr>
          <p:cNvSpPr>
            <a:spLocks noGrp="1"/>
          </p:cNvSpPr>
          <p:nvPr>
            <p:ph type="ctrTitle"/>
          </p:nvPr>
        </p:nvSpPr>
        <p:spPr>
          <a:xfrm>
            <a:off x="4654296" y="640080"/>
            <a:ext cx="6894576" cy="3566160"/>
          </a:xfrm>
        </p:spPr>
        <p:txBody>
          <a:bodyPr anchor="b">
            <a:normAutofit/>
          </a:bodyPr>
          <a:lstStyle/>
          <a:p>
            <a:pPr algn="l"/>
            <a:r>
              <a:rPr lang="es-CO" sz="6600" dirty="0"/>
              <a:t>Molecular basis </a:t>
            </a:r>
            <a:r>
              <a:rPr lang="es-CO" sz="6600" dirty="0" err="1"/>
              <a:t>of</a:t>
            </a:r>
            <a:r>
              <a:rPr lang="es-CO" sz="6600" dirty="0"/>
              <a:t> </a:t>
            </a:r>
            <a:r>
              <a:rPr lang="es-CO" sz="6600" dirty="0" err="1"/>
              <a:t>evolution</a:t>
            </a:r>
            <a:endParaRPr lang="es-CO" sz="6600" dirty="0"/>
          </a:p>
        </p:txBody>
      </p:sp>
      <p:sp>
        <p:nvSpPr>
          <p:cNvPr id="3" name="Subtítulo 2">
            <a:extLst>
              <a:ext uri="{FF2B5EF4-FFF2-40B4-BE49-F238E27FC236}">
                <a16:creationId xmlns:a16="http://schemas.microsoft.com/office/drawing/2014/main" id="{06A4849F-5627-CB46-3EC9-7F607BA07C1E}"/>
              </a:ext>
            </a:extLst>
          </p:cNvPr>
          <p:cNvSpPr>
            <a:spLocks noGrp="1"/>
          </p:cNvSpPr>
          <p:nvPr>
            <p:ph type="subTitle" idx="1"/>
          </p:nvPr>
        </p:nvSpPr>
        <p:spPr>
          <a:xfrm>
            <a:off x="4654296" y="4636008"/>
            <a:ext cx="6894576" cy="1572768"/>
          </a:xfrm>
        </p:spPr>
        <p:txBody>
          <a:bodyPr>
            <a:normAutofit/>
          </a:bodyPr>
          <a:lstStyle/>
          <a:p>
            <a:pPr algn="l"/>
            <a:r>
              <a:rPr lang="es-ES" dirty="0" err="1"/>
              <a:t>Metrics</a:t>
            </a:r>
            <a:r>
              <a:rPr lang="es-ES" dirty="0"/>
              <a:t> + </a:t>
            </a:r>
            <a:r>
              <a:rPr lang="es-ES" dirty="0" err="1"/>
              <a:t>Phylogenetics</a:t>
            </a:r>
            <a:endParaRPr lang="es-CO" dirty="0"/>
          </a:p>
        </p:txBody>
      </p:sp>
      <p:pic>
        <p:nvPicPr>
          <p:cNvPr id="5" name="Picture 4" descr="Primer plano de un modelo molecular">
            <a:extLst>
              <a:ext uri="{FF2B5EF4-FFF2-40B4-BE49-F238E27FC236}">
                <a16:creationId xmlns:a16="http://schemas.microsoft.com/office/drawing/2014/main" id="{208507D7-63C8-BDB9-378D-550DC6C9ECF0}"/>
              </a:ext>
            </a:extLst>
          </p:cNvPr>
          <p:cNvPicPr>
            <a:picLocks noChangeAspect="1"/>
          </p:cNvPicPr>
          <p:nvPr/>
        </p:nvPicPr>
        <p:blipFill>
          <a:blip r:embed="rId2"/>
          <a:srcRect l="47966" r="7745"/>
          <a:stretch>
            <a:fillRect/>
          </a:stretch>
        </p:blipFill>
        <p:spPr>
          <a:xfrm>
            <a:off x="20" y="10"/>
            <a:ext cx="4049786" cy="68579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Tree>
    <p:extLst>
      <p:ext uri="{BB962C8B-B14F-4D97-AF65-F5344CB8AC3E}">
        <p14:creationId xmlns:p14="http://schemas.microsoft.com/office/powerpoint/2010/main" val="1323687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01CD-84AE-5651-596B-F456EDBECC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B310F3-D1C8-5760-DCE2-2842DF2349C1}"/>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F110AD97-81C8-32E9-8AA2-CC33ADA6697F}"/>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DFED5941-16BF-2260-FD9B-E6D8CE373D90}"/>
              </a:ext>
            </a:extLst>
          </p:cNvPr>
          <p:cNvPicPr>
            <a:picLocks noChangeAspect="1"/>
          </p:cNvPicPr>
          <p:nvPr/>
        </p:nvPicPr>
        <p:blipFill>
          <a:blip r:embed="rId2"/>
          <a:stretch>
            <a:fillRect/>
          </a:stretch>
        </p:blipFill>
        <p:spPr>
          <a:xfrm>
            <a:off x="0" y="2128566"/>
            <a:ext cx="12192000" cy="3745456"/>
          </a:xfrm>
          <a:prstGeom prst="rect">
            <a:avLst/>
          </a:prstGeom>
        </p:spPr>
      </p:pic>
    </p:spTree>
    <p:extLst>
      <p:ext uri="{BB962C8B-B14F-4D97-AF65-F5344CB8AC3E}">
        <p14:creationId xmlns:p14="http://schemas.microsoft.com/office/powerpoint/2010/main" val="1933067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6B2E4D-35F6-EED9-65D1-5C26BF10F65B}"/>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AB773FA9-A998-32D2-055A-3A8B7B8FD2AA}"/>
              </a:ext>
            </a:extLst>
          </p:cNvPr>
          <p:cNvSpPr>
            <a:spLocks noGrp="1"/>
          </p:cNvSpPr>
          <p:nvPr>
            <p:ph idx="1"/>
          </p:nvPr>
        </p:nvSpPr>
        <p:spPr>
          <a:xfrm>
            <a:off x="838200" y="1795480"/>
            <a:ext cx="10515600" cy="4351338"/>
          </a:xfrm>
        </p:spPr>
        <p:txBody>
          <a:bodyPr/>
          <a:lstStyle/>
          <a:p>
            <a:endParaRPr lang="es-CO" dirty="0"/>
          </a:p>
        </p:txBody>
      </p:sp>
      <p:pic>
        <p:nvPicPr>
          <p:cNvPr id="5" name="Imagen 4">
            <a:extLst>
              <a:ext uri="{FF2B5EF4-FFF2-40B4-BE49-F238E27FC236}">
                <a16:creationId xmlns:a16="http://schemas.microsoft.com/office/drawing/2014/main" id="{EA6C5C47-0101-D457-881E-1A987EA5ABC2}"/>
              </a:ext>
            </a:extLst>
          </p:cNvPr>
          <p:cNvPicPr>
            <a:picLocks noChangeAspect="1"/>
          </p:cNvPicPr>
          <p:nvPr/>
        </p:nvPicPr>
        <p:blipFill>
          <a:blip r:embed="rId2"/>
          <a:stretch>
            <a:fillRect/>
          </a:stretch>
        </p:blipFill>
        <p:spPr>
          <a:xfrm>
            <a:off x="2199731" y="2896499"/>
            <a:ext cx="3896269" cy="1305107"/>
          </a:xfrm>
          <a:prstGeom prst="rect">
            <a:avLst/>
          </a:prstGeom>
        </p:spPr>
      </p:pic>
      <p:cxnSp>
        <p:nvCxnSpPr>
          <p:cNvPr id="7" name="Conector recto de flecha 6">
            <a:extLst>
              <a:ext uri="{FF2B5EF4-FFF2-40B4-BE49-F238E27FC236}">
                <a16:creationId xmlns:a16="http://schemas.microsoft.com/office/drawing/2014/main" id="{0CEF0C94-F012-0876-D401-E5E73E7AD5BC}"/>
              </a:ext>
            </a:extLst>
          </p:cNvPr>
          <p:cNvCxnSpPr>
            <a:cxnSpLocks/>
            <a:stCxn id="10" idx="1"/>
          </p:cNvCxnSpPr>
          <p:nvPr/>
        </p:nvCxnSpPr>
        <p:spPr>
          <a:xfrm flipH="1">
            <a:off x="5688114" y="2472490"/>
            <a:ext cx="1738846" cy="787857"/>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0" name="CuadroTexto 9">
            <a:extLst>
              <a:ext uri="{FF2B5EF4-FFF2-40B4-BE49-F238E27FC236}">
                <a16:creationId xmlns:a16="http://schemas.microsoft.com/office/drawing/2014/main" id="{BFA8D610-F6A1-25B6-9A49-D5F508FE1B4E}"/>
              </a:ext>
            </a:extLst>
          </p:cNvPr>
          <p:cNvSpPr txBox="1"/>
          <p:nvPr/>
        </p:nvSpPr>
        <p:spPr>
          <a:xfrm>
            <a:off x="7426960" y="2149324"/>
            <a:ext cx="6096000" cy="646331"/>
          </a:xfrm>
          <a:prstGeom prst="rect">
            <a:avLst/>
          </a:prstGeom>
          <a:noFill/>
        </p:spPr>
        <p:txBody>
          <a:bodyPr wrap="square">
            <a:spAutoFit/>
          </a:bodyPr>
          <a:lstStyle/>
          <a:p>
            <a:r>
              <a:rPr lang="es-CO" dirty="0" err="1"/>
              <a:t>number</a:t>
            </a:r>
            <a:r>
              <a:rPr lang="es-CO" dirty="0"/>
              <a:t> </a:t>
            </a:r>
            <a:r>
              <a:rPr lang="es-CO" dirty="0" err="1"/>
              <a:t>of</a:t>
            </a:r>
            <a:r>
              <a:rPr lang="es-CO" dirty="0"/>
              <a:t> </a:t>
            </a:r>
            <a:r>
              <a:rPr lang="es-CO" dirty="0" err="1"/>
              <a:t>nucleotide</a:t>
            </a:r>
            <a:r>
              <a:rPr lang="es-CO" dirty="0"/>
              <a:t> </a:t>
            </a:r>
            <a:r>
              <a:rPr lang="es-CO" dirty="0" err="1"/>
              <a:t>differences</a:t>
            </a:r>
            <a:endParaRPr lang="es-CO" dirty="0"/>
          </a:p>
          <a:p>
            <a:r>
              <a:rPr lang="en-US" dirty="0"/>
              <a:t>between sequence </a:t>
            </a:r>
            <a:r>
              <a:rPr lang="en-US" i="1" dirty="0" err="1"/>
              <a:t>i</a:t>
            </a:r>
            <a:r>
              <a:rPr lang="en-US" i="1" dirty="0"/>
              <a:t> </a:t>
            </a:r>
            <a:r>
              <a:rPr lang="en-US" dirty="0"/>
              <a:t>and </a:t>
            </a:r>
            <a:r>
              <a:rPr lang="en-US" i="1" dirty="0"/>
              <a:t>j</a:t>
            </a:r>
            <a:endParaRPr lang="es-CO" dirty="0"/>
          </a:p>
        </p:txBody>
      </p:sp>
      <p:cxnSp>
        <p:nvCxnSpPr>
          <p:cNvPr id="12" name="Conector recto de flecha 11">
            <a:extLst>
              <a:ext uri="{FF2B5EF4-FFF2-40B4-BE49-F238E27FC236}">
                <a16:creationId xmlns:a16="http://schemas.microsoft.com/office/drawing/2014/main" id="{6892A4E1-D507-B684-EA9C-B96104BC3E05}"/>
              </a:ext>
            </a:extLst>
          </p:cNvPr>
          <p:cNvCxnSpPr>
            <a:cxnSpLocks/>
            <a:stCxn id="13" idx="1"/>
          </p:cNvCxnSpPr>
          <p:nvPr/>
        </p:nvCxnSpPr>
        <p:spPr>
          <a:xfrm flipH="1" flipV="1">
            <a:off x="4107226" y="4124907"/>
            <a:ext cx="1653494" cy="15976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3" name="CuadroTexto 12">
            <a:extLst>
              <a:ext uri="{FF2B5EF4-FFF2-40B4-BE49-F238E27FC236}">
                <a16:creationId xmlns:a16="http://schemas.microsoft.com/office/drawing/2014/main" id="{EA6E3EDE-8B46-6EB5-A38F-CFA69ED0BD1B}"/>
              </a:ext>
            </a:extLst>
          </p:cNvPr>
          <p:cNvSpPr txBox="1"/>
          <p:nvPr/>
        </p:nvSpPr>
        <p:spPr>
          <a:xfrm>
            <a:off x="5760720" y="3961501"/>
            <a:ext cx="6096000" cy="646331"/>
          </a:xfrm>
          <a:prstGeom prst="rect">
            <a:avLst/>
          </a:prstGeom>
          <a:noFill/>
        </p:spPr>
        <p:txBody>
          <a:bodyPr wrap="square">
            <a:spAutoFit/>
          </a:bodyPr>
          <a:lstStyle/>
          <a:p>
            <a:r>
              <a:rPr lang="en-US" dirty="0"/>
              <a:t>number of possible sequence pairs we can make</a:t>
            </a:r>
          </a:p>
          <a:p>
            <a:r>
              <a:rPr lang="en-US" dirty="0"/>
              <a:t>from our sample of </a:t>
            </a:r>
            <a:r>
              <a:rPr lang="en-US" i="1" dirty="0"/>
              <a:t>n </a:t>
            </a:r>
            <a:r>
              <a:rPr lang="en-US" dirty="0"/>
              <a:t>sequences</a:t>
            </a:r>
            <a:endParaRPr lang="es-CO" dirty="0"/>
          </a:p>
        </p:txBody>
      </p:sp>
      <p:sp>
        <p:nvSpPr>
          <p:cNvPr id="16" name="CuadroTexto 15">
            <a:extLst>
              <a:ext uri="{FF2B5EF4-FFF2-40B4-BE49-F238E27FC236}">
                <a16:creationId xmlns:a16="http://schemas.microsoft.com/office/drawing/2014/main" id="{BEAA44B4-F083-DB90-80CD-F551790AA55F}"/>
              </a:ext>
            </a:extLst>
          </p:cNvPr>
          <p:cNvSpPr txBox="1"/>
          <p:nvPr/>
        </p:nvSpPr>
        <p:spPr>
          <a:xfrm>
            <a:off x="1287780" y="2149324"/>
            <a:ext cx="6761480" cy="646331"/>
          </a:xfrm>
          <a:prstGeom prst="rect">
            <a:avLst/>
          </a:prstGeom>
          <a:noFill/>
        </p:spPr>
        <p:txBody>
          <a:bodyPr wrap="square">
            <a:spAutoFit/>
          </a:bodyPr>
          <a:lstStyle/>
          <a:p>
            <a:pPr algn="l"/>
            <a:r>
              <a:rPr lang="es-CO" sz="1800" b="0" i="0" u="none" strike="noStrike" baseline="0" dirty="0" err="1">
                <a:latin typeface="PalatinoLTStd-Roman"/>
              </a:rPr>
              <a:t>Average</a:t>
            </a:r>
            <a:r>
              <a:rPr lang="es-CO" sz="1800" b="0" i="0" u="none" strike="noStrike" baseline="0" dirty="0">
                <a:latin typeface="PalatinoLTStd-Roman"/>
              </a:rPr>
              <a:t> </a:t>
            </a:r>
            <a:r>
              <a:rPr lang="en-US" sz="1800" b="0" i="0" u="none" strike="noStrike" baseline="0" dirty="0">
                <a:latin typeface="PalatinoLTStd-Roman"/>
              </a:rPr>
              <a:t>number of nucleotide</a:t>
            </a:r>
          </a:p>
          <a:p>
            <a:pPr algn="l"/>
            <a:r>
              <a:rPr lang="en-US" sz="1800" b="0" i="0" u="none" strike="noStrike" baseline="0" dirty="0">
                <a:latin typeface="PalatinoLTStd-Roman"/>
              </a:rPr>
              <a:t> differences between pairs</a:t>
            </a:r>
            <a:endParaRPr lang="es-CO" dirty="0"/>
          </a:p>
        </p:txBody>
      </p:sp>
      <p:cxnSp>
        <p:nvCxnSpPr>
          <p:cNvPr id="17" name="Conector recto de flecha 16">
            <a:extLst>
              <a:ext uri="{FF2B5EF4-FFF2-40B4-BE49-F238E27FC236}">
                <a16:creationId xmlns:a16="http://schemas.microsoft.com/office/drawing/2014/main" id="{A6367636-7DBF-C9B9-7D53-9DF2854318BD}"/>
              </a:ext>
            </a:extLst>
          </p:cNvPr>
          <p:cNvCxnSpPr>
            <a:cxnSpLocks/>
          </p:cNvCxnSpPr>
          <p:nvPr/>
        </p:nvCxnSpPr>
        <p:spPr>
          <a:xfrm flipH="1">
            <a:off x="2824480" y="2795655"/>
            <a:ext cx="250020" cy="565536"/>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4" name="Imagen 3">
            <a:extLst>
              <a:ext uri="{FF2B5EF4-FFF2-40B4-BE49-F238E27FC236}">
                <a16:creationId xmlns:a16="http://schemas.microsoft.com/office/drawing/2014/main" id="{8EA5E716-A50F-BDFB-4772-96B0853F2F23}"/>
              </a:ext>
            </a:extLst>
          </p:cNvPr>
          <p:cNvPicPr>
            <a:picLocks noChangeAspect="1"/>
          </p:cNvPicPr>
          <p:nvPr/>
        </p:nvPicPr>
        <p:blipFill>
          <a:blip r:embed="rId3"/>
          <a:stretch>
            <a:fillRect/>
          </a:stretch>
        </p:blipFill>
        <p:spPr>
          <a:xfrm>
            <a:off x="4147865" y="5308986"/>
            <a:ext cx="4896533" cy="1162212"/>
          </a:xfrm>
          <a:prstGeom prst="rect">
            <a:avLst/>
          </a:prstGeom>
        </p:spPr>
      </p:pic>
    </p:spTree>
    <p:extLst>
      <p:ext uri="{BB962C8B-B14F-4D97-AF65-F5344CB8AC3E}">
        <p14:creationId xmlns:p14="http://schemas.microsoft.com/office/powerpoint/2010/main" val="2275420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24B31C-2746-922B-70CA-946C52BAABA7}"/>
              </a:ext>
            </a:extLst>
          </p:cNvPr>
          <p:cNvSpPr>
            <a:spLocks noGrp="1"/>
          </p:cNvSpPr>
          <p:nvPr>
            <p:ph type="title"/>
          </p:nvPr>
        </p:nvSpPr>
        <p:spPr/>
        <p:txBody>
          <a:bodyPr/>
          <a:lstStyle/>
          <a:p>
            <a:r>
              <a:rPr lang="es-CO" b="1" dirty="0" err="1"/>
              <a:t>nucleotide</a:t>
            </a:r>
            <a:r>
              <a:rPr lang="es-CO" b="1" dirty="0"/>
              <a:t> </a:t>
            </a:r>
            <a:r>
              <a:rPr lang="es-CO" b="1" dirty="0" err="1"/>
              <a:t>diversity</a:t>
            </a:r>
            <a:endParaRPr lang="es-CO" dirty="0"/>
          </a:p>
        </p:txBody>
      </p:sp>
      <p:sp>
        <p:nvSpPr>
          <p:cNvPr id="3" name="Marcador de contenido 2">
            <a:extLst>
              <a:ext uri="{FF2B5EF4-FFF2-40B4-BE49-F238E27FC236}">
                <a16:creationId xmlns:a16="http://schemas.microsoft.com/office/drawing/2014/main" id="{CA0AB877-C23C-0977-0AAF-211067591DC0}"/>
              </a:ext>
            </a:extLst>
          </p:cNvPr>
          <p:cNvSpPr>
            <a:spLocks noGrp="1"/>
          </p:cNvSpPr>
          <p:nvPr>
            <p:ph idx="1"/>
          </p:nvPr>
        </p:nvSpPr>
        <p:spPr>
          <a:xfrm>
            <a:off x="838200" y="1885020"/>
            <a:ext cx="10515600" cy="4351338"/>
          </a:xfrm>
        </p:spPr>
        <p:txBody>
          <a:bodyPr/>
          <a:lstStyle/>
          <a:p>
            <a:r>
              <a:rPr lang="el-GR" dirty="0"/>
              <a:t>Π</a:t>
            </a:r>
            <a:r>
              <a:rPr lang="es-ES" dirty="0"/>
              <a:t> </a:t>
            </a:r>
            <a:r>
              <a:rPr lang="es-ES" dirty="0" err="1"/>
              <a:t>is</a:t>
            </a:r>
            <a:r>
              <a:rPr lang="es-ES" dirty="0"/>
              <a:t> </a:t>
            </a:r>
            <a:r>
              <a:rPr lang="es-ES" dirty="0" err="1"/>
              <a:t>dependent</a:t>
            </a:r>
            <a:r>
              <a:rPr lang="es-ES" dirty="0"/>
              <a:t> </a:t>
            </a:r>
            <a:r>
              <a:rPr lang="es-ES" dirty="0" err="1"/>
              <a:t>of</a:t>
            </a:r>
            <a:r>
              <a:rPr lang="es-ES" dirty="0"/>
              <a:t> </a:t>
            </a:r>
            <a:r>
              <a:rPr lang="es-ES" dirty="0" err="1"/>
              <a:t>sequence</a:t>
            </a:r>
            <a:r>
              <a:rPr lang="es-ES" dirty="0"/>
              <a:t> </a:t>
            </a:r>
            <a:r>
              <a:rPr lang="es-ES" dirty="0" err="1"/>
              <a:t>length</a:t>
            </a:r>
            <a:r>
              <a:rPr lang="es-ES" dirty="0"/>
              <a:t>!</a:t>
            </a:r>
            <a:endParaRPr lang="es-CO" dirty="0"/>
          </a:p>
        </p:txBody>
      </p:sp>
      <p:pic>
        <p:nvPicPr>
          <p:cNvPr id="5" name="Imagen 4">
            <a:extLst>
              <a:ext uri="{FF2B5EF4-FFF2-40B4-BE49-F238E27FC236}">
                <a16:creationId xmlns:a16="http://schemas.microsoft.com/office/drawing/2014/main" id="{0C474F04-C3FC-F5BD-5A55-A0378507B801}"/>
              </a:ext>
            </a:extLst>
          </p:cNvPr>
          <p:cNvPicPr>
            <a:picLocks noChangeAspect="1"/>
          </p:cNvPicPr>
          <p:nvPr/>
        </p:nvPicPr>
        <p:blipFill>
          <a:blip r:embed="rId2"/>
          <a:stretch>
            <a:fillRect/>
          </a:stretch>
        </p:blipFill>
        <p:spPr>
          <a:xfrm>
            <a:off x="3800133" y="2266788"/>
            <a:ext cx="4896533" cy="1162212"/>
          </a:xfrm>
          <a:prstGeom prst="rect">
            <a:avLst/>
          </a:prstGeom>
        </p:spPr>
      </p:pic>
      <p:pic>
        <p:nvPicPr>
          <p:cNvPr id="7" name="Imagen 6">
            <a:extLst>
              <a:ext uri="{FF2B5EF4-FFF2-40B4-BE49-F238E27FC236}">
                <a16:creationId xmlns:a16="http://schemas.microsoft.com/office/drawing/2014/main" id="{11A884F2-6E6B-EE12-7D26-F90F61583DEE}"/>
              </a:ext>
            </a:extLst>
          </p:cNvPr>
          <p:cNvPicPr>
            <a:picLocks noChangeAspect="1"/>
          </p:cNvPicPr>
          <p:nvPr/>
        </p:nvPicPr>
        <p:blipFill>
          <a:blip r:embed="rId3"/>
          <a:stretch>
            <a:fillRect/>
          </a:stretch>
        </p:blipFill>
        <p:spPr>
          <a:xfrm>
            <a:off x="4824235" y="3679636"/>
            <a:ext cx="2543530" cy="381053"/>
          </a:xfrm>
          <a:prstGeom prst="rect">
            <a:avLst/>
          </a:prstGeom>
        </p:spPr>
      </p:pic>
      <p:pic>
        <p:nvPicPr>
          <p:cNvPr id="10" name="Imagen 9">
            <a:extLst>
              <a:ext uri="{FF2B5EF4-FFF2-40B4-BE49-F238E27FC236}">
                <a16:creationId xmlns:a16="http://schemas.microsoft.com/office/drawing/2014/main" id="{80EFCE9D-F836-F4E9-87A2-5423A8F3B3CC}"/>
              </a:ext>
            </a:extLst>
          </p:cNvPr>
          <p:cNvPicPr>
            <a:picLocks noChangeAspect="1"/>
          </p:cNvPicPr>
          <p:nvPr/>
        </p:nvPicPr>
        <p:blipFill>
          <a:blip r:embed="rId4"/>
          <a:stretch>
            <a:fillRect/>
          </a:stretch>
        </p:blipFill>
        <p:spPr>
          <a:xfrm>
            <a:off x="4976635" y="4571487"/>
            <a:ext cx="2114845" cy="743054"/>
          </a:xfrm>
          <a:prstGeom prst="rect">
            <a:avLst/>
          </a:prstGeom>
        </p:spPr>
      </p:pic>
      <p:sp>
        <p:nvSpPr>
          <p:cNvPr id="12" name="CuadroTexto 11">
            <a:extLst>
              <a:ext uri="{FF2B5EF4-FFF2-40B4-BE49-F238E27FC236}">
                <a16:creationId xmlns:a16="http://schemas.microsoft.com/office/drawing/2014/main" id="{D5C35070-B885-7D0C-3238-3824D9C1D6C6}"/>
              </a:ext>
            </a:extLst>
          </p:cNvPr>
          <p:cNvSpPr txBox="1"/>
          <p:nvPr/>
        </p:nvSpPr>
        <p:spPr>
          <a:xfrm>
            <a:off x="4429760" y="4311325"/>
            <a:ext cx="6096000" cy="369332"/>
          </a:xfrm>
          <a:prstGeom prst="rect">
            <a:avLst/>
          </a:prstGeom>
          <a:noFill/>
        </p:spPr>
        <p:txBody>
          <a:bodyPr wrap="square">
            <a:spAutoFit/>
          </a:bodyPr>
          <a:lstStyle/>
          <a:p>
            <a:r>
              <a:rPr lang="es-CO" sz="1800" b="1" i="0" u="none" strike="noStrike" baseline="0" dirty="0" err="1">
                <a:latin typeface="PalatinoLTStd-Bold"/>
              </a:rPr>
              <a:t>nucleotide</a:t>
            </a:r>
            <a:r>
              <a:rPr lang="es-CO" sz="1800" b="1" i="0" u="none" strike="noStrike" baseline="0" dirty="0">
                <a:latin typeface="PalatinoLTStd-Bold"/>
              </a:rPr>
              <a:t> </a:t>
            </a:r>
            <a:r>
              <a:rPr lang="es-CO" sz="1800" b="1" i="0" u="none" strike="noStrike" baseline="0" dirty="0" err="1">
                <a:latin typeface="PalatinoLTStd-Bold"/>
              </a:rPr>
              <a:t>diversity</a:t>
            </a:r>
            <a:endParaRPr lang="es-CO" dirty="0"/>
          </a:p>
        </p:txBody>
      </p:sp>
      <p:pic>
        <p:nvPicPr>
          <p:cNvPr id="15" name="Imagen 14">
            <a:extLst>
              <a:ext uri="{FF2B5EF4-FFF2-40B4-BE49-F238E27FC236}">
                <a16:creationId xmlns:a16="http://schemas.microsoft.com/office/drawing/2014/main" id="{09B72D06-8E75-7AB3-7DF5-39C1523EB39D}"/>
              </a:ext>
            </a:extLst>
          </p:cNvPr>
          <p:cNvPicPr>
            <a:picLocks noChangeAspect="1"/>
          </p:cNvPicPr>
          <p:nvPr/>
        </p:nvPicPr>
        <p:blipFill>
          <a:blip r:embed="rId5"/>
          <a:stretch>
            <a:fillRect/>
          </a:stretch>
        </p:blipFill>
        <p:spPr>
          <a:xfrm>
            <a:off x="5348162" y="5421856"/>
            <a:ext cx="1743318" cy="323895"/>
          </a:xfrm>
          <a:prstGeom prst="rect">
            <a:avLst/>
          </a:prstGeom>
        </p:spPr>
      </p:pic>
    </p:spTree>
    <p:extLst>
      <p:ext uri="{BB962C8B-B14F-4D97-AF65-F5344CB8AC3E}">
        <p14:creationId xmlns:p14="http://schemas.microsoft.com/office/powerpoint/2010/main" val="2858360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3D620-C4B4-2EF1-020F-824B740235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4FA6730-29C2-BFF5-CA47-518D1D26AAD9}"/>
              </a:ext>
            </a:extLst>
          </p:cNvPr>
          <p:cNvSpPr>
            <a:spLocks noGrp="1"/>
          </p:cNvSpPr>
          <p:nvPr>
            <p:ph type="title"/>
          </p:nvPr>
        </p:nvSpPr>
        <p:spPr/>
        <p:txBody>
          <a:bodyPr/>
          <a:lstStyle/>
          <a:p>
            <a:r>
              <a:rPr lang="es-CO" b="1" dirty="0" err="1"/>
              <a:t>segregating</a:t>
            </a:r>
            <a:r>
              <a:rPr lang="es-CO" b="1" dirty="0"/>
              <a:t> sites</a:t>
            </a:r>
            <a:endParaRPr lang="es-CO" dirty="0"/>
          </a:p>
        </p:txBody>
      </p:sp>
      <p:sp>
        <p:nvSpPr>
          <p:cNvPr id="3" name="Marcador de contenido 2">
            <a:extLst>
              <a:ext uri="{FF2B5EF4-FFF2-40B4-BE49-F238E27FC236}">
                <a16:creationId xmlns:a16="http://schemas.microsoft.com/office/drawing/2014/main" id="{93D5CC78-1FE5-2422-0599-53800904B737}"/>
              </a:ext>
            </a:extLst>
          </p:cNvPr>
          <p:cNvSpPr>
            <a:spLocks noGrp="1"/>
          </p:cNvSpPr>
          <p:nvPr>
            <p:ph idx="1"/>
          </p:nvPr>
        </p:nvSpPr>
        <p:spPr>
          <a:xfrm>
            <a:off x="838200" y="1915500"/>
            <a:ext cx="10515600" cy="4351338"/>
          </a:xfrm>
        </p:spPr>
        <p:txBody>
          <a:bodyPr/>
          <a:lstStyle/>
          <a:p>
            <a:r>
              <a:rPr lang="en-US" i="1" dirty="0"/>
              <a:t>S </a:t>
            </a:r>
            <a:r>
              <a:rPr lang="en-US" dirty="0"/>
              <a:t>does depend on sample size</a:t>
            </a:r>
          </a:p>
          <a:p>
            <a:r>
              <a:rPr lang="es-CO" dirty="0" err="1"/>
              <a:t>all</a:t>
            </a:r>
            <a:r>
              <a:rPr lang="es-CO" dirty="0"/>
              <a:t> </a:t>
            </a:r>
            <a:r>
              <a:rPr lang="es-CO" dirty="0" err="1"/>
              <a:t>polymorphisms</a:t>
            </a:r>
            <a:r>
              <a:rPr lang="es-CO" dirty="0"/>
              <a:t> are </a:t>
            </a:r>
            <a:r>
              <a:rPr lang="es-CO" dirty="0" err="1"/>
              <a:t>weighted</a:t>
            </a:r>
            <a:r>
              <a:rPr lang="es-CO" dirty="0"/>
              <a:t> </a:t>
            </a:r>
            <a:r>
              <a:rPr lang="es-CO" dirty="0" err="1"/>
              <a:t>equally</a:t>
            </a:r>
            <a:endParaRPr lang="es-CO" dirty="0"/>
          </a:p>
        </p:txBody>
      </p:sp>
      <p:pic>
        <p:nvPicPr>
          <p:cNvPr id="5" name="Imagen 4">
            <a:extLst>
              <a:ext uri="{FF2B5EF4-FFF2-40B4-BE49-F238E27FC236}">
                <a16:creationId xmlns:a16="http://schemas.microsoft.com/office/drawing/2014/main" id="{AE227AC8-EF7C-15CF-1038-91A66EFC35B7}"/>
              </a:ext>
            </a:extLst>
          </p:cNvPr>
          <p:cNvPicPr>
            <a:picLocks noChangeAspect="1"/>
          </p:cNvPicPr>
          <p:nvPr/>
        </p:nvPicPr>
        <p:blipFill>
          <a:blip r:embed="rId2"/>
          <a:stretch>
            <a:fillRect/>
          </a:stretch>
        </p:blipFill>
        <p:spPr>
          <a:xfrm>
            <a:off x="6718778" y="3109607"/>
            <a:ext cx="4896533" cy="1162212"/>
          </a:xfrm>
          <a:prstGeom prst="rect">
            <a:avLst/>
          </a:prstGeom>
        </p:spPr>
      </p:pic>
      <p:pic>
        <p:nvPicPr>
          <p:cNvPr id="6" name="Imagen 5">
            <a:extLst>
              <a:ext uri="{FF2B5EF4-FFF2-40B4-BE49-F238E27FC236}">
                <a16:creationId xmlns:a16="http://schemas.microsoft.com/office/drawing/2014/main" id="{6D2AE42F-39BA-0022-EEB2-C2515E91F077}"/>
              </a:ext>
            </a:extLst>
          </p:cNvPr>
          <p:cNvPicPr>
            <a:picLocks noChangeAspect="1"/>
          </p:cNvPicPr>
          <p:nvPr/>
        </p:nvPicPr>
        <p:blipFill>
          <a:blip r:embed="rId3"/>
          <a:stretch>
            <a:fillRect/>
          </a:stretch>
        </p:blipFill>
        <p:spPr>
          <a:xfrm>
            <a:off x="8527003" y="2280814"/>
            <a:ext cx="1280084" cy="463479"/>
          </a:xfrm>
          <a:prstGeom prst="rect">
            <a:avLst/>
          </a:prstGeom>
        </p:spPr>
      </p:pic>
    </p:spTree>
    <p:extLst>
      <p:ext uri="{BB962C8B-B14F-4D97-AF65-F5344CB8AC3E}">
        <p14:creationId xmlns:p14="http://schemas.microsoft.com/office/powerpoint/2010/main" val="3232715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4F52A4-494A-5BE0-9E49-10B70EDEE416}"/>
              </a:ext>
            </a:extLst>
          </p:cNvPr>
          <p:cNvSpPr>
            <a:spLocks noGrp="1"/>
          </p:cNvSpPr>
          <p:nvPr>
            <p:ph type="title"/>
          </p:nvPr>
        </p:nvSpPr>
        <p:spPr/>
        <p:txBody>
          <a:bodyPr/>
          <a:lstStyle/>
          <a:p>
            <a:r>
              <a:rPr lang="es-ES" dirty="0" err="1"/>
              <a:t>Tajima´s</a:t>
            </a:r>
            <a:r>
              <a:rPr lang="es-ES" dirty="0"/>
              <a:t> D</a:t>
            </a:r>
            <a:endParaRPr lang="es-CO" dirty="0"/>
          </a:p>
        </p:txBody>
      </p:sp>
      <p:sp>
        <p:nvSpPr>
          <p:cNvPr id="3" name="Marcador de contenido 2">
            <a:extLst>
              <a:ext uri="{FF2B5EF4-FFF2-40B4-BE49-F238E27FC236}">
                <a16:creationId xmlns:a16="http://schemas.microsoft.com/office/drawing/2014/main" id="{12700A4F-0E34-B517-80D3-749C5B93EC0E}"/>
              </a:ext>
            </a:extLst>
          </p:cNvPr>
          <p:cNvSpPr>
            <a:spLocks noGrp="1"/>
          </p:cNvSpPr>
          <p:nvPr>
            <p:ph idx="1"/>
          </p:nvPr>
        </p:nvSpPr>
        <p:spPr/>
        <p:txBody>
          <a:bodyPr/>
          <a:lstStyle/>
          <a:p>
            <a:r>
              <a:rPr lang="es-ES" dirty="0"/>
              <a:t>θ </a:t>
            </a:r>
            <a:r>
              <a:rPr lang="es-ES" i="1" dirty="0"/>
              <a:t>= K/a</a:t>
            </a:r>
            <a:r>
              <a:rPr lang="es-ES" dirty="0"/>
              <a:t>, donde </a:t>
            </a:r>
            <a:r>
              <a:rPr lang="es-ES" i="1" dirty="0"/>
              <a:t>K </a:t>
            </a:r>
            <a:r>
              <a:rPr lang="es-ES" dirty="0"/>
              <a:t>es igual al numero total de sitios segregativos en una muestra de secuencias dada y a = 1 + 1/2+ ... + 1/</a:t>
            </a:r>
            <a:r>
              <a:rPr lang="es-ES" i="1" dirty="0"/>
              <a:t>n</a:t>
            </a:r>
            <a:r>
              <a:rPr lang="es-ES" dirty="0"/>
              <a:t>-1 (</a:t>
            </a:r>
            <a:r>
              <a:rPr lang="es-ES" i="1" dirty="0"/>
              <a:t>n </a:t>
            </a:r>
            <a:r>
              <a:rPr lang="es-ES" dirty="0"/>
              <a:t>= numero de secuencias en la muestra; Watterson, 1975; </a:t>
            </a:r>
            <a:r>
              <a:rPr lang="es-CO" dirty="0" err="1"/>
              <a:t>Tajima</a:t>
            </a:r>
            <a:r>
              <a:rPr lang="es-CO" dirty="0"/>
              <a:t>, 1983).</a:t>
            </a:r>
            <a:endParaRPr lang="es-ES" i="1" dirty="0"/>
          </a:p>
          <a:p>
            <a:r>
              <a:rPr lang="es-ES" i="1" dirty="0"/>
              <a:t>π </a:t>
            </a:r>
            <a:r>
              <a:rPr lang="es-ES" dirty="0"/>
              <a:t>(pi) y </a:t>
            </a:r>
            <a:r>
              <a:rPr lang="es-ES" i="1" dirty="0"/>
              <a:t>θ </a:t>
            </a:r>
            <a:r>
              <a:rPr lang="es-ES" dirty="0"/>
              <a:t>(teta)</a:t>
            </a:r>
          </a:p>
          <a:p>
            <a:r>
              <a:rPr lang="es-ES" dirty="0"/>
              <a:t>D &gt;0 (Selección positiva)</a:t>
            </a:r>
          </a:p>
          <a:p>
            <a:r>
              <a:rPr lang="es-ES" dirty="0"/>
              <a:t>D&lt;0 (Selección purificadora) (Neutral)</a:t>
            </a:r>
            <a:endParaRPr lang="es-CO" dirty="0"/>
          </a:p>
        </p:txBody>
      </p:sp>
      <p:pic>
        <p:nvPicPr>
          <p:cNvPr id="5" name="Imagen 4">
            <a:extLst>
              <a:ext uri="{FF2B5EF4-FFF2-40B4-BE49-F238E27FC236}">
                <a16:creationId xmlns:a16="http://schemas.microsoft.com/office/drawing/2014/main" id="{CFD8F077-D1E3-0E01-4DB7-6AC4F3864A13}"/>
              </a:ext>
            </a:extLst>
          </p:cNvPr>
          <p:cNvPicPr>
            <a:picLocks noChangeAspect="1"/>
          </p:cNvPicPr>
          <p:nvPr/>
        </p:nvPicPr>
        <p:blipFill>
          <a:blip r:embed="rId2"/>
          <a:stretch>
            <a:fillRect/>
          </a:stretch>
        </p:blipFill>
        <p:spPr>
          <a:xfrm>
            <a:off x="1795017" y="5321162"/>
            <a:ext cx="2943636" cy="990738"/>
          </a:xfrm>
          <a:prstGeom prst="rect">
            <a:avLst/>
          </a:prstGeom>
        </p:spPr>
      </p:pic>
      <p:pic>
        <p:nvPicPr>
          <p:cNvPr id="7" name="Imagen 6">
            <a:extLst>
              <a:ext uri="{FF2B5EF4-FFF2-40B4-BE49-F238E27FC236}">
                <a16:creationId xmlns:a16="http://schemas.microsoft.com/office/drawing/2014/main" id="{57858A8B-B0EB-13E1-6120-7D8DE1C3C668}"/>
              </a:ext>
            </a:extLst>
          </p:cNvPr>
          <p:cNvPicPr>
            <a:picLocks noChangeAspect="1"/>
          </p:cNvPicPr>
          <p:nvPr/>
        </p:nvPicPr>
        <p:blipFill>
          <a:blip r:embed="rId3"/>
          <a:stretch>
            <a:fillRect/>
          </a:stretch>
        </p:blipFill>
        <p:spPr>
          <a:xfrm>
            <a:off x="8639106" y="4001294"/>
            <a:ext cx="2886478" cy="2143424"/>
          </a:xfrm>
          <a:prstGeom prst="rect">
            <a:avLst/>
          </a:prstGeom>
        </p:spPr>
      </p:pic>
    </p:spTree>
    <p:extLst>
      <p:ext uri="{BB962C8B-B14F-4D97-AF65-F5344CB8AC3E}">
        <p14:creationId xmlns:p14="http://schemas.microsoft.com/office/powerpoint/2010/main" val="3814397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127744-A9FC-A899-6DC0-FD3CDBEF3C80}"/>
              </a:ext>
            </a:extLst>
          </p:cNvPr>
          <p:cNvSpPr>
            <a:spLocks noGrp="1"/>
          </p:cNvSpPr>
          <p:nvPr>
            <p:ph type="title"/>
          </p:nvPr>
        </p:nvSpPr>
        <p:spPr/>
        <p:txBody>
          <a:bodyPr/>
          <a:lstStyle/>
          <a:p>
            <a:r>
              <a:rPr lang="es-ES" dirty="0" err="1"/>
              <a:t>Genome</a:t>
            </a:r>
            <a:r>
              <a:rPr lang="es-ES" dirty="0"/>
              <a:t> </a:t>
            </a:r>
            <a:r>
              <a:rPr lang="es-ES" dirty="0" err="1"/>
              <a:t>scan</a:t>
            </a:r>
            <a:r>
              <a:rPr lang="es-ES" dirty="0"/>
              <a:t> (</a:t>
            </a:r>
            <a:r>
              <a:rPr lang="es-ES" dirty="0" err="1"/>
              <a:t>Sliding</a:t>
            </a:r>
            <a:r>
              <a:rPr lang="es-ES" dirty="0"/>
              <a:t> Windows)</a:t>
            </a:r>
            <a:endParaRPr lang="es-CO" dirty="0"/>
          </a:p>
        </p:txBody>
      </p:sp>
      <p:sp>
        <p:nvSpPr>
          <p:cNvPr id="3" name="Marcador de contenido 2">
            <a:extLst>
              <a:ext uri="{FF2B5EF4-FFF2-40B4-BE49-F238E27FC236}">
                <a16:creationId xmlns:a16="http://schemas.microsoft.com/office/drawing/2014/main" id="{91D9EA4A-87A0-0BE3-69CB-99DC5AB2032F}"/>
              </a:ext>
            </a:extLst>
          </p:cNvPr>
          <p:cNvSpPr>
            <a:spLocks noGrp="1"/>
          </p:cNvSpPr>
          <p:nvPr>
            <p:ph idx="1"/>
          </p:nvPr>
        </p:nvSpPr>
        <p:spPr>
          <a:xfrm>
            <a:off x="838200" y="1825625"/>
            <a:ext cx="4254910" cy="4351338"/>
          </a:xfrm>
        </p:spPr>
        <p:txBody>
          <a:bodyPr/>
          <a:lstStyle/>
          <a:p>
            <a:r>
              <a:rPr lang="es-ES" dirty="0"/>
              <a:t>Loci positions are </a:t>
            </a:r>
            <a:r>
              <a:rPr lang="es-ES" dirty="0" err="1"/>
              <a:t>not</a:t>
            </a:r>
            <a:r>
              <a:rPr lang="es-ES" dirty="0"/>
              <a:t> </a:t>
            </a:r>
            <a:r>
              <a:rPr lang="es-ES" dirty="0" err="1"/>
              <a:t>independent</a:t>
            </a:r>
            <a:r>
              <a:rPr lang="es-ES" dirty="0"/>
              <a:t>!</a:t>
            </a:r>
          </a:p>
          <a:p>
            <a:endParaRPr lang="es-CO" dirty="0"/>
          </a:p>
        </p:txBody>
      </p:sp>
      <p:pic>
        <p:nvPicPr>
          <p:cNvPr id="5" name="Imagen 4">
            <a:extLst>
              <a:ext uri="{FF2B5EF4-FFF2-40B4-BE49-F238E27FC236}">
                <a16:creationId xmlns:a16="http://schemas.microsoft.com/office/drawing/2014/main" id="{1A50C06D-2C76-17F8-901E-779D811A7291}"/>
              </a:ext>
            </a:extLst>
          </p:cNvPr>
          <p:cNvPicPr>
            <a:picLocks noChangeAspect="1"/>
          </p:cNvPicPr>
          <p:nvPr/>
        </p:nvPicPr>
        <p:blipFill>
          <a:blip r:embed="rId2"/>
          <a:stretch>
            <a:fillRect/>
          </a:stretch>
        </p:blipFill>
        <p:spPr>
          <a:xfrm>
            <a:off x="5939350" y="1530596"/>
            <a:ext cx="5858693" cy="4544059"/>
          </a:xfrm>
          <a:prstGeom prst="rect">
            <a:avLst/>
          </a:prstGeom>
        </p:spPr>
      </p:pic>
    </p:spTree>
    <p:extLst>
      <p:ext uri="{BB962C8B-B14F-4D97-AF65-F5344CB8AC3E}">
        <p14:creationId xmlns:p14="http://schemas.microsoft.com/office/powerpoint/2010/main" val="1069957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4B5967-F003-BAFF-918B-00F3DC5D9DFF}"/>
              </a:ext>
            </a:extLst>
          </p:cNvPr>
          <p:cNvSpPr>
            <a:spLocks noGrp="1"/>
          </p:cNvSpPr>
          <p:nvPr>
            <p:ph type="title"/>
          </p:nvPr>
        </p:nvSpPr>
        <p:spPr/>
        <p:txBody>
          <a:bodyPr/>
          <a:lstStyle/>
          <a:p>
            <a:r>
              <a:rPr lang="es-ES" dirty="0" err="1"/>
              <a:t>Modes</a:t>
            </a:r>
            <a:r>
              <a:rPr lang="es-ES" dirty="0"/>
              <a:t> </a:t>
            </a:r>
            <a:r>
              <a:rPr lang="es-ES" dirty="0" err="1"/>
              <a:t>of</a:t>
            </a:r>
            <a:r>
              <a:rPr lang="es-ES" dirty="0"/>
              <a:t> </a:t>
            </a:r>
            <a:r>
              <a:rPr lang="es-ES" dirty="0" err="1"/>
              <a:t>speciation</a:t>
            </a:r>
            <a:endParaRPr lang="es-CO" dirty="0"/>
          </a:p>
        </p:txBody>
      </p:sp>
      <p:sp>
        <p:nvSpPr>
          <p:cNvPr id="3" name="Marcador de contenido 2">
            <a:extLst>
              <a:ext uri="{FF2B5EF4-FFF2-40B4-BE49-F238E27FC236}">
                <a16:creationId xmlns:a16="http://schemas.microsoft.com/office/drawing/2014/main" id="{ED0A59D3-E3FE-6351-520D-5B64F28E279C}"/>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2A8C214B-7B57-371E-4C88-729E54AF3B12}"/>
              </a:ext>
            </a:extLst>
          </p:cNvPr>
          <p:cNvPicPr>
            <a:picLocks noChangeAspect="1"/>
          </p:cNvPicPr>
          <p:nvPr/>
        </p:nvPicPr>
        <p:blipFill>
          <a:blip r:embed="rId2"/>
          <a:stretch>
            <a:fillRect/>
          </a:stretch>
        </p:blipFill>
        <p:spPr>
          <a:xfrm>
            <a:off x="1495042" y="2063157"/>
            <a:ext cx="7687748" cy="4248743"/>
          </a:xfrm>
          <a:prstGeom prst="rect">
            <a:avLst/>
          </a:prstGeom>
        </p:spPr>
      </p:pic>
    </p:spTree>
    <p:extLst>
      <p:ext uri="{BB962C8B-B14F-4D97-AF65-F5344CB8AC3E}">
        <p14:creationId xmlns:p14="http://schemas.microsoft.com/office/powerpoint/2010/main" val="3461616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86C88-D80F-DA07-9D80-D2493218C7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B8151B-9BB4-9CC4-6436-C6C528519F9C}"/>
              </a:ext>
            </a:extLst>
          </p:cNvPr>
          <p:cNvSpPr>
            <a:spLocks noGrp="1"/>
          </p:cNvSpPr>
          <p:nvPr>
            <p:ph type="ctrTitle"/>
          </p:nvPr>
        </p:nvSpPr>
        <p:spPr>
          <a:xfrm>
            <a:off x="4654296" y="649224"/>
            <a:ext cx="6894576" cy="3566160"/>
          </a:xfrm>
        </p:spPr>
        <p:txBody>
          <a:bodyPr anchor="b">
            <a:normAutofit/>
          </a:bodyPr>
          <a:lstStyle/>
          <a:p>
            <a:pPr algn="l"/>
            <a:r>
              <a:rPr lang="es-CO" sz="6600" dirty="0"/>
              <a:t>Molecular basis </a:t>
            </a:r>
            <a:r>
              <a:rPr lang="es-CO" sz="6600" dirty="0" err="1"/>
              <a:t>of</a:t>
            </a:r>
            <a:r>
              <a:rPr lang="es-CO" sz="6600" dirty="0"/>
              <a:t> </a:t>
            </a:r>
            <a:r>
              <a:rPr lang="es-CO" sz="6600" dirty="0" err="1"/>
              <a:t>evolution</a:t>
            </a:r>
            <a:endParaRPr lang="es-CO" sz="6600" dirty="0"/>
          </a:p>
        </p:txBody>
      </p:sp>
      <p:sp>
        <p:nvSpPr>
          <p:cNvPr id="3" name="Subtítulo 2">
            <a:extLst>
              <a:ext uri="{FF2B5EF4-FFF2-40B4-BE49-F238E27FC236}">
                <a16:creationId xmlns:a16="http://schemas.microsoft.com/office/drawing/2014/main" id="{966B79DC-921B-4968-A5F1-7D0C62BE7AE8}"/>
              </a:ext>
            </a:extLst>
          </p:cNvPr>
          <p:cNvSpPr>
            <a:spLocks noGrp="1"/>
          </p:cNvSpPr>
          <p:nvPr>
            <p:ph type="subTitle" idx="1"/>
          </p:nvPr>
        </p:nvSpPr>
        <p:spPr>
          <a:xfrm>
            <a:off x="4654296" y="4636008"/>
            <a:ext cx="6894576" cy="1572768"/>
          </a:xfrm>
        </p:spPr>
        <p:txBody>
          <a:bodyPr>
            <a:normAutofit/>
          </a:bodyPr>
          <a:lstStyle/>
          <a:p>
            <a:pPr algn="l"/>
            <a:r>
              <a:rPr lang="es-ES" dirty="0" err="1"/>
              <a:t>Phylogenetics</a:t>
            </a:r>
            <a:endParaRPr lang="es-CO" dirty="0"/>
          </a:p>
        </p:txBody>
      </p:sp>
      <p:pic>
        <p:nvPicPr>
          <p:cNvPr id="5" name="Picture 4" descr="Primer plano de un modelo molecular">
            <a:extLst>
              <a:ext uri="{FF2B5EF4-FFF2-40B4-BE49-F238E27FC236}">
                <a16:creationId xmlns:a16="http://schemas.microsoft.com/office/drawing/2014/main" id="{6DBC0C12-D0AA-E211-83C0-9C95DC79FEA6}"/>
              </a:ext>
            </a:extLst>
          </p:cNvPr>
          <p:cNvPicPr>
            <a:picLocks noChangeAspect="1"/>
          </p:cNvPicPr>
          <p:nvPr/>
        </p:nvPicPr>
        <p:blipFill>
          <a:blip r:embed="rId2"/>
          <a:srcRect l="47966" r="7745"/>
          <a:stretch>
            <a:fillRect/>
          </a:stretch>
        </p:blipFill>
        <p:spPr>
          <a:xfrm>
            <a:off x="20" y="10"/>
            <a:ext cx="4049786" cy="68579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Tree>
    <p:extLst>
      <p:ext uri="{BB962C8B-B14F-4D97-AF65-F5344CB8AC3E}">
        <p14:creationId xmlns:p14="http://schemas.microsoft.com/office/powerpoint/2010/main" val="26024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E058D9-893B-9013-A9E1-E5777BA44692}"/>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CF7AD487-0DAE-F67A-F678-C442AADB3537}"/>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2A98C1E2-E59A-EADB-71DE-E04FE88A8F91}"/>
              </a:ext>
            </a:extLst>
          </p:cNvPr>
          <p:cNvPicPr>
            <a:picLocks noChangeAspect="1"/>
          </p:cNvPicPr>
          <p:nvPr/>
        </p:nvPicPr>
        <p:blipFill>
          <a:blip r:embed="rId2"/>
          <a:stretch>
            <a:fillRect/>
          </a:stretch>
        </p:blipFill>
        <p:spPr>
          <a:xfrm>
            <a:off x="1101105" y="0"/>
            <a:ext cx="9989790" cy="6858000"/>
          </a:xfrm>
          <a:prstGeom prst="rect">
            <a:avLst/>
          </a:prstGeom>
        </p:spPr>
      </p:pic>
    </p:spTree>
    <p:extLst>
      <p:ext uri="{BB962C8B-B14F-4D97-AF65-F5344CB8AC3E}">
        <p14:creationId xmlns:p14="http://schemas.microsoft.com/office/powerpoint/2010/main" val="2374632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55E0E8-2812-BB6C-DB7B-D7D58CE81F0C}"/>
              </a:ext>
            </a:extLst>
          </p:cNvPr>
          <p:cNvSpPr>
            <a:spLocks noGrp="1"/>
          </p:cNvSpPr>
          <p:nvPr>
            <p:ph type="title"/>
          </p:nvPr>
        </p:nvSpPr>
        <p:spPr/>
        <p:txBody>
          <a:bodyPr/>
          <a:lstStyle/>
          <a:p>
            <a:r>
              <a:rPr lang="es-ES" dirty="0" err="1"/>
              <a:t>Phylogenetic</a:t>
            </a:r>
            <a:r>
              <a:rPr lang="es-ES" dirty="0"/>
              <a:t> </a:t>
            </a:r>
            <a:r>
              <a:rPr lang="es-ES" dirty="0" err="1"/>
              <a:t>species</a:t>
            </a:r>
            <a:r>
              <a:rPr lang="es-ES" dirty="0"/>
              <a:t> concept!</a:t>
            </a:r>
            <a:endParaRPr lang="es-CO" dirty="0"/>
          </a:p>
        </p:txBody>
      </p:sp>
      <p:sp>
        <p:nvSpPr>
          <p:cNvPr id="3" name="Marcador de contenido 2">
            <a:extLst>
              <a:ext uri="{FF2B5EF4-FFF2-40B4-BE49-F238E27FC236}">
                <a16:creationId xmlns:a16="http://schemas.microsoft.com/office/drawing/2014/main" id="{191E9ACB-E069-F8F2-0C9B-225950324B1E}"/>
              </a:ext>
            </a:extLst>
          </p:cNvPr>
          <p:cNvSpPr>
            <a:spLocks noGrp="1"/>
          </p:cNvSpPr>
          <p:nvPr>
            <p:ph idx="1"/>
          </p:nvPr>
        </p:nvSpPr>
        <p:spPr/>
        <p:txBody>
          <a:bodyPr/>
          <a:lstStyle/>
          <a:p>
            <a:endParaRPr lang="es-CO" dirty="0"/>
          </a:p>
        </p:txBody>
      </p:sp>
      <p:pic>
        <p:nvPicPr>
          <p:cNvPr id="5" name="Imagen 4">
            <a:extLst>
              <a:ext uri="{FF2B5EF4-FFF2-40B4-BE49-F238E27FC236}">
                <a16:creationId xmlns:a16="http://schemas.microsoft.com/office/drawing/2014/main" id="{AF3AF73F-94FF-18B4-7774-F2D00EA67196}"/>
              </a:ext>
            </a:extLst>
          </p:cNvPr>
          <p:cNvPicPr>
            <a:picLocks noChangeAspect="1"/>
          </p:cNvPicPr>
          <p:nvPr/>
        </p:nvPicPr>
        <p:blipFill>
          <a:blip r:embed="rId2"/>
          <a:stretch>
            <a:fillRect/>
          </a:stretch>
        </p:blipFill>
        <p:spPr>
          <a:xfrm>
            <a:off x="2053683" y="1690688"/>
            <a:ext cx="4820323" cy="5020376"/>
          </a:xfrm>
          <a:prstGeom prst="rect">
            <a:avLst/>
          </a:prstGeom>
        </p:spPr>
      </p:pic>
    </p:spTree>
    <p:extLst>
      <p:ext uri="{BB962C8B-B14F-4D97-AF65-F5344CB8AC3E}">
        <p14:creationId xmlns:p14="http://schemas.microsoft.com/office/powerpoint/2010/main" val="2347738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E337A6-44E6-9DC0-4FC9-5059F2D006FC}"/>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90680FC3-33B4-E9BC-44EB-46D0DEDD3E87}"/>
              </a:ext>
            </a:extLst>
          </p:cNvPr>
          <p:cNvSpPr>
            <a:spLocks noGrp="1"/>
          </p:cNvSpPr>
          <p:nvPr>
            <p:ph idx="1"/>
          </p:nvPr>
        </p:nvSpPr>
        <p:spPr/>
        <p:txBody>
          <a:bodyPr/>
          <a:lstStyle/>
          <a:p>
            <a:r>
              <a:rPr lang="es-CO" dirty="0"/>
              <a:t>ATGCGTCGTT</a:t>
            </a:r>
          </a:p>
          <a:p>
            <a:r>
              <a:rPr lang="es-CO" dirty="0"/>
              <a:t>ATGCGTCGT</a:t>
            </a:r>
          </a:p>
        </p:txBody>
      </p:sp>
      <p:pic>
        <p:nvPicPr>
          <p:cNvPr id="11" name="Imagen 10">
            <a:extLst>
              <a:ext uri="{FF2B5EF4-FFF2-40B4-BE49-F238E27FC236}">
                <a16:creationId xmlns:a16="http://schemas.microsoft.com/office/drawing/2014/main" id="{911256AD-D47E-A095-724D-A2BB1E58DB38}"/>
              </a:ext>
            </a:extLst>
          </p:cNvPr>
          <p:cNvPicPr>
            <a:picLocks noChangeAspect="1"/>
          </p:cNvPicPr>
          <p:nvPr/>
        </p:nvPicPr>
        <p:blipFill>
          <a:blip r:embed="rId2"/>
          <a:stretch>
            <a:fillRect/>
          </a:stretch>
        </p:blipFill>
        <p:spPr>
          <a:xfrm>
            <a:off x="6096000" y="1183965"/>
            <a:ext cx="5053642" cy="4992998"/>
          </a:xfrm>
          <a:prstGeom prst="rect">
            <a:avLst/>
          </a:prstGeom>
        </p:spPr>
      </p:pic>
    </p:spTree>
    <p:extLst>
      <p:ext uri="{BB962C8B-B14F-4D97-AF65-F5344CB8AC3E}">
        <p14:creationId xmlns:p14="http://schemas.microsoft.com/office/powerpoint/2010/main" val="1565905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91F41F-D090-5C22-47DD-E29D929D74FF}"/>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E1DAE0A2-B425-780D-013A-27B1C136CE74}"/>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E05A1484-61AF-0232-0589-CE396BA9FED4}"/>
              </a:ext>
            </a:extLst>
          </p:cNvPr>
          <p:cNvPicPr>
            <a:picLocks noChangeAspect="1"/>
          </p:cNvPicPr>
          <p:nvPr/>
        </p:nvPicPr>
        <p:blipFill>
          <a:blip r:embed="rId2"/>
          <a:stretch>
            <a:fillRect/>
          </a:stretch>
        </p:blipFill>
        <p:spPr>
          <a:xfrm>
            <a:off x="120580" y="2128566"/>
            <a:ext cx="12192000" cy="3745456"/>
          </a:xfrm>
          <a:prstGeom prst="rect">
            <a:avLst/>
          </a:prstGeom>
        </p:spPr>
      </p:pic>
    </p:spTree>
    <p:extLst>
      <p:ext uri="{BB962C8B-B14F-4D97-AF65-F5344CB8AC3E}">
        <p14:creationId xmlns:p14="http://schemas.microsoft.com/office/powerpoint/2010/main" val="2723998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994779-4C96-DFB0-C335-620355696241}"/>
              </a:ext>
            </a:extLst>
          </p:cNvPr>
          <p:cNvSpPr>
            <a:spLocks noGrp="1"/>
          </p:cNvSpPr>
          <p:nvPr>
            <p:ph type="title"/>
          </p:nvPr>
        </p:nvSpPr>
        <p:spPr/>
        <p:txBody>
          <a:bodyPr/>
          <a:lstStyle/>
          <a:p>
            <a:r>
              <a:rPr lang="es-ES" dirty="0" err="1"/>
              <a:t>What</a:t>
            </a:r>
            <a:r>
              <a:rPr lang="es-ES" dirty="0"/>
              <a:t> a </a:t>
            </a:r>
            <a:r>
              <a:rPr lang="es-ES" dirty="0" err="1"/>
              <a:t>phylogenetic</a:t>
            </a:r>
            <a:r>
              <a:rPr lang="es-ES" dirty="0"/>
              <a:t> </a:t>
            </a:r>
            <a:r>
              <a:rPr lang="es-ES" dirty="0" err="1"/>
              <a:t>tree</a:t>
            </a:r>
            <a:r>
              <a:rPr lang="es-ES" dirty="0"/>
              <a:t> looks </a:t>
            </a:r>
            <a:r>
              <a:rPr lang="es-ES" dirty="0" err="1"/>
              <a:t>like</a:t>
            </a:r>
            <a:r>
              <a:rPr lang="es-ES" dirty="0"/>
              <a:t>?</a:t>
            </a:r>
            <a:endParaRPr lang="es-CO" dirty="0"/>
          </a:p>
        </p:txBody>
      </p:sp>
      <p:sp>
        <p:nvSpPr>
          <p:cNvPr id="3" name="Marcador de contenido 2">
            <a:extLst>
              <a:ext uri="{FF2B5EF4-FFF2-40B4-BE49-F238E27FC236}">
                <a16:creationId xmlns:a16="http://schemas.microsoft.com/office/drawing/2014/main" id="{EB46F8AE-6FD4-560F-742B-8E177C81A592}"/>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91617585-8E9C-201A-351E-7845324812D8}"/>
              </a:ext>
            </a:extLst>
          </p:cNvPr>
          <p:cNvPicPr>
            <a:picLocks noChangeAspect="1"/>
          </p:cNvPicPr>
          <p:nvPr/>
        </p:nvPicPr>
        <p:blipFill>
          <a:blip r:embed="rId2"/>
          <a:stretch>
            <a:fillRect/>
          </a:stretch>
        </p:blipFill>
        <p:spPr>
          <a:xfrm>
            <a:off x="1925172" y="1448237"/>
            <a:ext cx="8145012" cy="5106113"/>
          </a:xfrm>
          <a:prstGeom prst="rect">
            <a:avLst/>
          </a:prstGeom>
        </p:spPr>
      </p:pic>
    </p:spTree>
    <p:extLst>
      <p:ext uri="{BB962C8B-B14F-4D97-AF65-F5344CB8AC3E}">
        <p14:creationId xmlns:p14="http://schemas.microsoft.com/office/powerpoint/2010/main" val="4134790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090859-E5C7-0FFE-979A-870B2C4DE751}"/>
              </a:ext>
            </a:extLst>
          </p:cNvPr>
          <p:cNvSpPr>
            <a:spLocks noGrp="1"/>
          </p:cNvSpPr>
          <p:nvPr>
            <p:ph type="title"/>
          </p:nvPr>
        </p:nvSpPr>
        <p:spPr/>
        <p:txBody>
          <a:bodyPr/>
          <a:lstStyle/>
          <a:p>
            <a:r>
              <a:rPr lang="es-ES" dirty="0"/>
              <a:t> </a:t>
            </a:r>
            <a:r>
              <a:rPr lang="es-ES" dirty="0" err="1"/>
              <a:t>Newick</a:t>
            </a:r>
            <a:r>
              <a:rPr lang="es-ES" dirty="0"/>
              <a:t> </a:t>
            </a:r>
            <a:r>
              <a:rPr lang="es-ES" dirty="0" err="1"/>
              <a:t>format</a:t>
            </a:r>
            <a:endParaRPr lang="es-CO" dirty="0"/>
          </a:p>
        </p:txBody>
      </p:sp>
      <p:sp>
        <p:nvSpPr>
          <p:cNvPr id="3" name="Marcador de contenido 2">
            <a:extLst>
              <a:ext uri="{FF2B5EF4-FFF2-40B4-BE49-F238E27FC236}">
                <a16:creationId xmlns:a16="http://schemas.microsoft.com/office/drawing/2014/main" id="{AF043C8D-A296-CAD4-6549-2AE3724A2C32}"/>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27D1599F-F994-1E28-9525-920CBFC125B5}"/>
              </a:ext>
            </a:extLst>
          </p:cNvPr>
          <p:cNvPicPr>
            <a:picLocks noChangeAspect="1"/>
          </p:cNvPicPr>
          <p:nvPr/>
        </p:nvPicPr>
        <p:blipFill>
          <a:blip r:embed="rId2"/>
          <a:stretch>
            <a:fillRect/>
          </a:stretch>
        </p:blipFill>
        <p:spPr>
          <a:xfrm>
            <a:off x="1755133" y="2007218"/>
            <a:ext cx="7084067" cy="4637066"/>
          </a:xfrm>
          <a:prstGeom prst="rect">
            <a:avLst/>
          </a:prstGeom>
        </p:spPr>
      </p:pic>
    </p:spTree>
    <p:extLst>
      <p:ext uri="{BB962C8B-B14F-4D97-AF65-F5344CB8AC3E}">
        <p14:creationId xmlns:p14="http://schemas.microsoft.com/office/powerpoint/2010/main" val="3919891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BBBA95-91E6-1AEC-6E5A-94BE5C13C28E}"/>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32A6A532-2F48-4FC9-AC55-FD994155E63F}"/>
              </a:ext>
            </a:extLst>
          </p:cNvPr>
          <p:cNvSpPr>
            <a:spLocks noGrp="1"/>
          </p:cNvSpPr>
          <p:nvPr>
            <p:ph idx="1"/>
          </p:nvPr>
        </p:nvSpPr>
        <p:spPr>
          <a:xfrm>
            <a:off x="769374" y="1835457"/>
            <a:ext cx="7529052" cy="4351338"/>
          </a:xfrm>
        </p:spPr>
        <p:txBody>
          <a:bodyPr/>
          <a:lstStyle/>
          <a:p>
            <a:r>
              <a:rPr lang="es-ES" dirty="0" err="1"/>
              <a:t>Additive</a:t>
            </a:r>
            <a:r>
              <a:rPr lang="es-ES" dirty="0"/>
              <a:t> </a:t>
            </a:r>
            <a:r>
              <a:rPr lang="es-ES" dirty="0" err="1"/>
              <a:t>tree</a:t>
            </a:r>
            <a:r>
              <a:rPr lang="es-ES" dirty="0"/>
              <a:t>: A </a:t>
            </a:r>
            <a:r>
              <a:rPr lang="es-ES" dirty="0" err="1"/>
              <a:t>tree</a:t>
            </a:r>
            <a:r>
              <a:rPr lang="es-ES" dirty="0"/>
              <a:t> </a:t>
            </a:r>
            <a:r>
              <a:rPr lang="es-ES" dirty="0" err="1"/>
              <a:t>where</a:t>
            </a:r>
            <a:r>
              <a:rPr lang="es-ES" dirty="0"/>
              <a:t> </a:t>
            </a:r>
            <a:r>
              <a:rPr lang="es-ES" dirty="0" err="1"/>
              <a:t>each</a:t>
            </a:r>
            <a:r>
              <a:rPr lang="es-ES" dirty="0"/>
              <a:t> </a:t>
            </a:r>
            <a:r>
              <a:rPr lang="es-ES" dirty="0" err="1"/>
              <a:t>branch</a:t>
            </a:r>
            <a:r>
              <a:rPr lang="es-ES" dirty="0"/>
              <a:t> has </a:t>
            </a:r>
            <a:r>
              <a:rPr lang="es-ES" dirty="0" err="1"/>
              <a:t>its</a:t>
            </a:r>
            <a:r>
              <a:rPr lang="es-ES" dirty="0"/>
              <a:t> </a:t>
            </a:r>
            <a:r>
              <a:rPr lang="es-ES" dirty="0" err="1"/>
              <a:t>own</a:t>
            </a:r>
            <a:r>
              <a:rPr lang="es-ES" dirty="0"/>
              <a:t> </a:t>
            </a:r>
            <a:r>
              <a:rPr lang="es-ES" dirty="0" err="1"/>
              <a:t>distance</a:t>
            </a:r>
            <a:endParaRPr lang="es-ES" dirty="0"/>
          </a:p>
          <a:p>
            <a:endParaRPr lang="es-ES" dirty="0"/>
          </a:p>
          <a:p>
            <a:endParaRPr lang="es-ES" dirty="0"/>
          </a:p>
          <a:p>
            <a:endParaRPr lang="es-ES" dirty="0"/>
          </a:p>
          <a:p>
            <a:r>
              <a:rPr lang="es-ES" dirty="0" err="1"/>
              <a:t>Ultrametric</a:t>
            </a:r>
            <a:r>
              <a:rPr lang="es-ES" dirty="0"/>
              <a:t> </a:t>
            </a:r>
            <a:r>
              <a:rPr lang="es-ES" dirty="0" err="1"/>
              <a:t>tree</a:t>
            </a:r>
            <a:r>
              <a:rPr lang="es-ES" dirty="0"/>
              <a:t>: Terminal </a:t>
            </a:r>
            <a:r>
              <a:rPr lang="es-ES" dirty="0" err="1"/>
              <a:t>nodes</a:t>
            </a:r>
            <a:r>
              <a:rPr lang="es-ES" dirty="0"/>
              <a:t> </a:t>
            </a:r>
            <a:r>
              <a:rPr lang="es-ES" dirty="0" err="1"/>
              <a:t>have</a:t>
            </a:r>
            <a:r>
              <a:rPr lang="es-ES" dirty="0"/>
              <a:t> </a:t>
            </a:r>
            <a:r>
              <a:rPr lang="es-ES" dirty="0" err="1"/>
              <a:t>the</a:t>
            </a:r>
            <a:r>
              <a:rPr lang="es-ES" dirty="0"/>
              <a:t> </a:t>
            </a:r>
            <a:r>
              <a:rPr lang="es-ES" dirty="0" err="1"/>
              <a:t>same</a:t>
            </a:r>
            <a:r>
              <a:rPr lang="es-ES" dirty="0"/>
              <a:t> </a:t>
            </a:r>
            <a:r>
              <a:rPr lang="es-ES" dirty="0" err="1"/>
              <a:t>distance</a:t>
            </a:r>
            <a:r>
              <a:rPr lang="es-ES" dirty="0"/>
              <a:t> </a:t>
            </a:r>
            <a:r>
              <a:rPr lang="es-ES" dirty="0" err="1"/>
              <a:t>to</a:t>
            </a:r>
            <a:r>
              <a:rPr lang="es-ES" dirty="0"/>
              <a:t> </a:t>
            </a:r>
            <a:r>
              <a:rPr lang="es-ES" dirty="0" err="1"/>
              <a:t>tree</a:t>
            </a:r>
            <a:r>
              <a:rPr lang="es-ES" dirty="0"/>
              <a:t> </a:t>
            </a:r>
            <a:r>
              <a:rPr lang="es-ES" dirty="0" err="1"/>
              <a:t>root</a:t>
            </a:r>
            <a:r>
              <a:rPr lang="es-ES" dirty="0"/>
              <a:t> 	</a:t>
            </a:r>
            <a:endParaRPr lang="es-CO" dirty="0"/>
          </a:p>
        </p:txBody>
      </p:sp>
      <p:pic>
        <p:nvPicPr>
          <p:cNvPr id="5" name="Imagen 4">
            <a:extLst>
              <a:ext uri="{FF2B5EF4-FFF2-40B4-BE49-F238E27FC236}">
                <a16:creationId xmlns:a16="http://schemas.microsoft.com/office/drawing/2014/main" id="{22EDF27A-9FF5-AFDB-4FD1-8186238515D8}"/>
              </a:ext>
            </a:extLst>
          </p:cNvPr>
          <p:cNvPicPr>
            <a:picLocks noChangeAspect="1"/>
          </p:cNvPicPr>
          <p:nvPr/>
        </p:nvPicPr>
        <p:blipFill>
          <a:blip r:embed="rId2"/>
          <a:stretch>
            <a:fillRect/>
          </a:stretch>
        </p:blipFill>
        <p:spPr>
          <a:xfrm>
            <a:off x="8298426" y="56183"/>
            <a:ext cx="3240906" cy="3558547"/>
          </a:xfrm>
          <a:prstGeom prst="rect">
            <a:avLst/>
          </a:prstGeom>
        </p:spPr>
      </p:pic>
      <p:pic>
        <p:nvPicPr>
          <p:cNvPr id="9" name="Imagen 8">
            <a:extLst>
              <a:ext uri="{FF2B5EF4-FFF2-40B4-BE49-F238E27FC236}">
                <a16:creationId xmlns:a16="http://schemas.microsoft.com/office/drawing/2014/main" id="{92AF15FA-4562-1E10-EE2A-83259C409C5D}"/>
              </a:ext>
            </a:extLst>
          </p:cNvPr>
          <p:cNvPicPr>
            <a:picLocks noChangeAspect="1"/>
          </p:cNvPicPr>
          <p:nvPr/>
        </p:nvPicPr>
        <p:blipFill>
          <a:blip r:embed="rId3"/>
          <a:stretch>
            <a:fillRect/>
          </a:stretch>
        </p:blipFill>
        <p:spPr>
          <a:xfrm>
            <a:off x="7584720" y="3448188"/>
            <a:ext cx="3954612" cy="3353629"/>
          </a:xfrm>
          <a:prstGeom prst="rect">
            <a:avLst/>
          </a:prstGeom>
        </p:spPr>
      </p:pic>
    </p:spTree>
    <p:extLst>
      <p:ext uri="{BB962C8B-B14F-4D97-AF65-F5344CB8AC3E}">
        <p14:creationId xmlns:p14="http://schemas.microsoft.com/office/powerpoint/2010/main" val="2659853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7A605D-FF94-01C5-77D7-8C46476F52B0}"/>
              </a:ext>
            </a:extLst>
          </p:cNvPr>
          <p:cNvSpPr>
            <a:spLocks noGrp="1"/>
          </p:cNvSpPr>
          <p:nvPr>
            <p:ph type="title"/>
          </p:nvPr>
        </p:nvSpPr>
        <p:spPr/>
        <p:txBody>
          <a:bodyPr/>
          <a:lstStyle/>
          <a:p>
            <a:r>
              <a:rPr lang="es-ES" dirty="0" err="1"/>
              <a:t>The</a:t>
            </a:r>
            <a:r>
              <a:rPr lang="es-ES" dirty="0"/>
              <a:t> </a:t>
            </a:r>
            <a:r>
              <a:rPr lang="es-ES" dirty="0" err="1"/>
              <a:t>unrooted</a:t>
            </a:r>
            <a:r>
              <a:rPr lang="es-ES" dirty="0"/>
              <a:t> </a:t>
            </a:r>
            <a:r>
              <a:rPr lang="es-ES" dirty="0" err="1"/>
              <a:t>trees</a:t>
            </a:r>
            <a:r>
              <a:rPr lang="es-ES" dirty="0"/>
              <a:t> </a:t>
            </a:r>
            <a:r>
              <a:rPr lang="es-ES" dirty="0" err="1"/>
              <a:t>issue</a:t>
            </a:r>
            <a:endParaRPr lang="es-CO" dirty="0"/>
          </a:p>
        </p:txBody>
      </p:sp>
      <p:sp>
        <p:nvSpPr>
          <p:cNvPr id="3" name="Marcador de contenido 2">
            <a:extLst>
              <a:ext uri="{FF2B5EF4-FFF2-40B4-BE49-F238E27FC236}">
                <a16:creationId xmlns:a16="http://schemas.microsoft.com/office/drawing/2014/main" id="{02ABE82E-6F0F-A2FF-57E8-4CF1A98796C6}"/>
              </a:ext>
            </a:extLst>
          </p:cNvPr>
          <p:cNvSpPr>
            <a:spLocks noGrp="1"/>
          </p:cNvSpPr>
          <p:nvPr>
            <p:ph idx="1"/>
          </p:nvPr>
        </p:nvSpPr>
        <p:spPr>
          <a:xfrm>
            <a:off x="838200" y="1825625"/>
            <a:ext cx="4687529" cy="4351338"/>
          </a:xfrm>
        </p:spPr>
        <p:txBody>
          <a:bodyPr/>
          <a:lstStyle/>
          <a:p>
            <a:r>
              <a:rPr lang="en-US" noProof="0" dirty="0"/>
              <a:t>For 20 sequences: There could be 8 200 794 532 637 891 559 000 no rooted trees!</a:t>
            </a:r>
          </a:p>
          <a:p>
            <a:endParaRPr lang="es-ES" dirty="0"/>
          </a:p>
          <a:p>
            <a:r>
              <a:rPr lang="es-ES" dirty="0"/>
              <a:t>humano (H), el </a:t>
            </a:r>
            <a:r>
              <a:rPr lang="es-ES" dirty="0" err="1"/>
              <a:t>chimpance</a:t>
            </a:r>
            <a:r>
              <a:rPr lang="es-ES" dirty="0"/>
              <a:t> (C), el </a:t>
            </a:r>
            <a:r>
              <a:rPr lang="es-ES" dirty="0" err="1"/>
              <a:t>orangutan</a:t>
            </a:r>
            <a:r>
              <a:rPr lang="es-ES" dirty="0"/>
              <a:t> (O), el gorila (G) y el </a:t>
            </a:r>
            <a:r>
              <a:rPr lang="es-ES" dirty="0" err="1"/>
              <a:t>gibon</a:t>
            </a:r>
            <a:r>
              <a:rPr lang="es-ES" dirty="0"/>
              <a:t> (G)</a:t>
            </a:r>
            <a:endParaRPr lang="es-CO" dirty="0"/>
          </a:p>
        </p:txBody>
      </p:sp>
      <p:pic>
        <p:nvPicPr>
          <p:cNvPr id="7" name="Imagen 6">
            <a:extLst>
              <a:ext uri="{FF2B5EF4-FFF2-40B4-BE49-F238E27FC236}">
                <a16:creationId xmlns:a16="http://schemas.microsoft.com/office/drawing/2014/main" id="{C0A23F2D-5373-1A20-864E-C02F95B1F687}"/>
              </a:ext>
            </a:extLst>
          </p:cNvPr>
          <p:cNvPicPr>
            <a:picLocks noChangeAspect="1"/>
          </p:cNvPicPr>
          <p:nvPr/>
        </p:nvPicPr>
        <p:blipFill>
          <a:blip r:embed="rId2"/>
          <a:stretch>
            <a:fillRect/>
          </a:stretch>
        </p:blipFill>
        <p:spPr>
          <a:xfrm>
            <a:off x="5263891" y="1306759"/>
            <a:ext cx="6089909" cy="4244482"/>
          </a:xfrm>
          <a:prstGeom prst="rect">
            <a:avLst/>
          </a:prstGeom>
        </p:spPr>
      </p:pic>
    </p:spTree>
    <p:extLst>
      <p:ext uri="{BB962C8B-B14F-4D97-AF65-F5344CB8AC3E}">
        <p14:creationId xmlns:p14="http://schemas.microsoft.com/office/powerpoint/2010/main" val="2483362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26406-1784-1EC5-0073-5F8EB1A2C8F3}"/>
              </a:ext>
            </a:extLst>
          </p:cNvPr>
          <p:cNvSpPr>
            <a:spLocks noGrp="1"/>
          </p:cNvSpPr>
          <p:nvPr>
            <p:ph type="title"/>
          </p:nvPr>
        </p:nvSpPr>
        <p:spPr/>
        <p:txBody>
          <a:bodyPr/>
          <a:lstStyle/>
          <a:p>
            <a:r>
              <a:rPr lang="es-ES" dirty="0" err="1"/>
              <a:t>Why</a:t>
            </a:r>
            <a:r>
              <a:rPr lang="es-ES" dirty="0"/>
              <a:t> do </a:t>
            </a:r>
            <a:r>
              <a:rPr lang="es-ES" dirty="0" err="1"/>
              <a:t>you</a:t>
            </a:r>
            <a:r>
              <a:rPr lang="es-ES" dirty="0"/>
              <a:t> </a:t>
            </a:r>
            <a:r>
              <a:rPr lang="es-ES" dirty="0" err="1"/>
              <a:t>need</a:t>
            </a:r>
            <a:r>
              <a:rPr lang="es-ES" dirty="0"/>
              <a:t> </a:t>
            </a:r>
            <a:r>
              <a:rPr lang="es-ES" dirty="0" err="1"/>
              <a:t>to</a:t>
            </a:r>
            <a:r>
              <a:rPr lang="es-ES" dirty="0"/>
              <a:t>  use a </a:t>
            </a:r>
            <a:r>
              <a:rPr lang="es-ES" dirty="0" err="1"/>
              <a:t>model</a:t>
            </a:r>
            <a:r>
              <a:rPr lang="es-ES" dirty="0"/>
              <a:t> </a:t>
            </a:r>
            <a:r>
              <a:rPr lang="es-ES" dirty="0" err="1"/>
              <a:t>of</a:t>
            </a:r>
            <a:r>
              <a:rPr lang="es-ES" dirty="0"/>
              <a:t> </a:t>
            </a:r>
            <a:r>
              <a:rPr lang="es-ES" dirty="0" err="1"/>
              <a:t>substitution</a:t>
            </a:r>
            <a:endParaRPr lang="es-CO" dirty="0"/>
          </a:p>
        </p:txBody>
      </p:sp>
      <p:sp>
        <p:nvSpPr>
          <p:cNvPr id="3" name="Marcador de contenido 2">
            <a:extLst>
              <a:ext uri="{FF2B5EF4-FFF2-40B4-BE49-F238E27FC236}">
                <a16:creationId xmlns:a16="http://schemas.microsoft.com/office/drawing/2014/main" id="{73C7BFD0-2AA7-8330-A822-CBB7B3ABC240}"/>
              </a:ext>
            </a:extLst>
          </p:cNvPr>
          <p:cNvSpPr>
            <a:spLocks noGrp="1"/>
          </p:cNvSpPr>
          <p:nvPr>
            <p:ph idx="1"/>
          </p:nvPr>
        </p:nvSpPr>
        <p:spPr/>
        <p:txBody>
          <a:bodyPr/>
          <a:lstStyle/>
          <a:p>
            <a:r>
              <a:rPr lang="es-ES" dirty="0" err="1"/>
              <a:t>Saturation</a:t>
            </a:r>
            <a:r>
              <a:rPr lang="es-ES" dirty="0"/>
              <a:t> </a:t>
            </a:r>
            <a:r>
              <a:rPr lang="es-ES" dirty="0" err="1"/>
              <a:t>effect</a:t>
            </a:r>
            <a:r>
              <a:rPr lang="es-ES" dirty="0"/>
              <a:t> -&gt; </a:t>
            </a:r>
            <a:r>
              <a:rPr lang="es-ES" dirty="0" err="1"/>
              <a:t>apply</a:t>
            </a:r>
            <a:r>
              <a:rPr lang="es-ES" dirty="0"/>
              <a:t> a </a:t>
            </a:r>
            <a:r>
              <a:rPr lang="es-ES" dirty="0" err="1"/>
              <a:t>correction</a:t>
            </a:r>
            <a:endParaRPr lang="es-CO" dirty="0"/>
          </a:p>
        </p:txBody>
      </p:sp>
      <p:pic>
        <p:nvPicPr>
          <p:cNvPr id="5" name="Imagen 4">
            <a:extLst>
              <a:ext uri="{FF2B5EF4-FFF2-40B4-BE49-F238E27FC236}">
                <a16:creationId xmlns:a16="http://schemas.microsoft.com/office/drawing/2014/main" id="{CB893A0B-4454-4769-94D6-7609E82081FB}"/>
              </a:ext>
            </a:extLst>
          </p:cNvPr>
          <p:cNvPicPr>
            <a:picLocks noChangeAspect="1"/>
          </p:cNvPicPr>
          <p:nvPr/>
        </p:nvPicPr>
        <p:blipFill>
          <a:blip r:embed="rId2"/>
          <a:stretch>
            <a:fillRect/>
          </a:stretch>
        </p:blipFill>
        <p:spPr>
          <a:xfrm>
            <a:off x="3547395" y="2295115"/>
            <a:ext cx="4585394" cy="4332305"/>
          </a:xfrm>
          <a:prstGeom prst="rect">
            <a:avLst/>
          </a:prstGeom>
        </p:spPr>
      </p:pic>
    </p:spTree>
    <p:extLst>
      <p:ext uri="{BB962C8B-B14F-4D97-AF65-F5344CB8AC3E}">
        <p14:creationId xmlns:p14="http://schemas.microsoft.com/office/powerpoint/2010/main" val="609568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927331-C2C5-0120-C40B-4FF4BCC232F4}"/>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0598612C-97E1-05F2-DB55-95312F7A7347}"/>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18D6FBC6-A043-E722-C13B-5C1DF17A8136}"/>
              </a:ext>
            </a:extLst>
          </p:cNvPr>
          <p:cNvPicPr>
            <a:picLocks noChangeAspect="1"/>
          </p:cNvPicPr>
          <p:nvPr/>
        </p:nvPicPr>
        <p:blipFill>
          <a:blip r:embed="rId2"/>
          <a:stretch>
            <a:fillRect/>
          </a:stretch>
        </p:blipFill>
        <p:spPr>
          <a:xfrm>
            <a:off x="1597933" y="0"/>
            <a:ext cx="8996134" cy="6858000"/>
          </a:xfrm>
          <a:prstGeom prst="rect">
            <a:avLst/>
          </a:prstGeom>
        </p:spPr>
      </p:pic>
    </p:spTree>
    <p:extLst>
      <p:ext uri="{BB962C8B-B14F-4D97-AF65-F5344CB8AC3E}">
        <p14:creationId xmlns:p14="http://schemas.microsoft.com/office/powerpoint/2010/main" val="2795720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EAEA0B-F589-C1F9-AFAB-D909FD2A4DC0}"/>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1EB8D753-3E75-E53C-E0B1-24AA1A0CF45C}"/>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FDC1E60D-C47E-6775-85B4-C579E0F76C19}"/>
              </a:ext>
            </a:extLst>
          </p:cNvPr>
          <p:cNvPicPr>
            <a:picLocks noChangeAspect="1"/>
          </p:cNvPicPr>
          <p:nvPr/>
        </p:nvPicPr>
        <p:blipFill>
          <a:blip r:embed="rId2"/>
          <a:stretch>
            <a:fillRect/>
          </a:stretch>
        </p:blipFill>
        <p:spPr>
          <a:xfrm>
            <a:off x="1320731" y="0"/>
            <a:ext cx="9550538" cy="6858000"/>
          </a:xfrm>
          <a:prstGeom prst="rect">
            <a:avLst/>
          </a:prstGeom>
        </p:spPr>
      </p:pic>
    </p:spTree>
    <p:extLst>
      <p:ext uri="{BB962C8B-B14F-4D97-AF65-F5344CB8AC3E}">
        <p14:creationId xmlns:p14="http://schemas.microsoft.com/office/powerpoint/2010/main" val="2561908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A6210D-4401-C5BE-DCBA-230BB2172FFA}"/>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8D2A110C-BFC7-64A5-C204-585E2FE7D560}"/>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388035E1-67B1-EE6A-DBCC-2D6F22EF7A72}"/>
              </a:ext>
            </a:extLst>
          </p:cNvPr>
          <p:cNvPicPr>
            <a:picLocks noChangeAspect="1"/>
          </p:cNvPicPr>
          <p:nvPr/>
        </p:nvPicPr>
        <p:blipFill>
          <a:blip r:embed="rId2"/>
          <a:stretch>
            <a:fillRect/>
          </a:stretch>
        </p:blipFill>
        <p:spPr>
          <a:xfrm>
            <a:off x="1280440" y="56679"/>
            <a:ext cx="9631119" cy="6744641"/>
          </a:xfrm>
          <a:prstGeom prst="rect">
            <a:avLst/>
          </a:prstGeom>
        </p:spPr>
      </p:pic>
    </p:spTree>
    <p:extLst>
      <p:ext uri="{BB962C8B-B14F-4D97-AF65-F5344CB8AC3E}">
        <p14:creationId xmlns:p14="http://schemas.microsoft.com/office/powerpoint/2010/main" val="11502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CA4433-0D36-31E2-0FBF-72FF6EB37656}"/>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544D44EB-7FE4-0FA9-C412-00B476C65046}"/>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4ED82088-619D-1DFB-90C4-356059C848F8}"/>
              </a:ext>
            </a:extLst>
          </p:cNvPr>
          <p:cNvPicPr>
            <a:picLocks noChangeAspect="1"/>
          </p:cNvPicPr>
          <p:nvPr/>
        </p:nvPicPr>
        <p:blipFill>
          <a:blip r:embed="rId2"/>
          <a:stretch>
            <a:fillRect/>
          </a:stretch>
        </p:blipFill>
        <p:spPr>
          <a:xfrm>
            <a:off x="1102087" y="0"/>
            <a:ext cx="9987826" cy="6858000"/>
          </a:xfrm>
          <a:prstGeom prst="rect">
            <a:avLst/>
          </a:prstGeom>
        </p:spPr>
      </p:pic>
    </p:spTree>
    <p:extLst>
      <p:ext uri="{BB962C8B-B14F-4D97-AF65-F5344CB8AC3E}">
        <p14:creationId xmlns:p14="http://schemas.microsoft.com/office/powerpoint/2010/main" val="2223564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D0F263-BB80-AD59-7C91-683FF8ED8181}"/>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6E906EB4-0C43-F5D8-697C-6D77245CF25A}"/>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C697D538-3578-F1A6-E3BA-5496097E64CB}"/>
              </a:ext>
            </a:extLst>
          </p:cNvPr>
          <p:cNvPicPr>
            <a:picLocks noChangeAspect="1"/>
          </p:cNvPicPr>
          <p:nvPr/>
        </p:nvPicPr>
        <p:blipFill>
          <a:blip r:embed="rId2"/>
          <a:stretch>
            <a:fillRect/>
          </a:stretch>
        </p:blipFill>
        <p:spPr>
          <a:xfrm>
            <a:off x="0" y="646666"/>
            <a:ext cx="12192000" cy="1353911"/>
          </a:xfrm>
          <a:prstGeom prst="rect">
            <a:avLst/>
          </a:prstGeom>
        </p:spPr>
      </p:pic>
      <p:pic>
        <p:nvPicPr>
          <p:cNvPr id="6" name="Imagen 5">
            <a:extLst>
              <a:ext uri="{FF2B5EF4-FFF2-40B4-BE49-F238E27FC236}">
                <a16:creationId xmlns:a16="http://schemas.microsoft.com/office/drawing/2014/main" id="{BDC071AF-D4B3-F6B2-5B2E-7E65DDA80706}"/>
              </a:ext>
            </a:extLst>
          </p:cNvPr>
          <p:cNvPicPr>
            <a:picLocks noChangeAspect="1"/>
          </p:cNvPicPr>
          <p:nvPr/>
        </p:nvPicPr>
        <p:blipFill>
          <a:blip r:embed="rId3"/>
          <a:stretch>
            <a:fillRect/>
          </a:stretch>
        </p:blipFill>
        <p:spPr>
          <a:xfrm>
            <a:off x="261176" y="2582829"/>
            <a:ext cx="10964805" cy="3439005"/>
          </a:xfrm>
          <a:prstGeom prst="rect">
            <a:avLst/>
          </a:prstGeom>
        </p:spPr>
      </p:pic>
    </p:spTree>
    <p:extLst>
      <p:ext uri="{BB962C8B-B14F-4D97-AF65-F5344CB8AC3E}">
        <p14:creationId xmlns:p14="http://schemas.microsoft.com/office/powerpoint/2010/main" val="780195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0AB2F0-D8E5-2948-95EA-D0CDD78D02B3}"/>
              </a:ext>
            </a:extLst>
          </p:cNvPr>
          <p:cNvSpPr>
            <a:spLocks noGrp="1"/>
          </p:cNvSpPr>
          <p:nvPr>
            <p:ph type="title"/>
          </p:nvPr>
        </p:nvSpPr>
        <p:spPr/>
        <p:txBody>
          <a:bodyPr/>
          <a:lstStyle/>
          <a:p>
            <a:r>
              <a:rPr lang="es-ES" dirty="0"/>
              <a:t>UPGMA</a:t>
            </a:r>
            <a:endParaRPr lang="es-CO" dirty="0"/>
          </a:p>
        </p:txBody>
      </p:sp>
      <p:sp>
        <p:nvSpPr>
          <p:cNvPr id="3" name="Marcador de contenido 2">
            <a:extLst>
              <a:ext uri="{FF2B5EF4-FFF2-40B4-BE49-F238E27FC236}">
                <a16:creationId xmlns:a16="http://schemas.microsoft.com/office/drawing/2014/main" id="{BEB6E857-C0B6-34F5-F115-C893C246F582}"/>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7B72E206-3AB3-570F-ADEB-1CCB786CBEA0}"/>
              </a:ext>
            </a:extLst>
          </p:cNvPr>
          <p:cNvPicPr>
            <a:picLocks noChangeAspect="1"/>
          </p:cNvPicPr>
          <p:nvPr/>
        </p:nvPicPr>
        <p:blipFill>
          <a:blip r:embed="rId2"/>
          <a:stretch>
            <a:fillRect/>
          </a:stretch>
        </p:blipFill>
        <p:spPr>
          <a:xfrm>
            <a:off x="4175554" y="0"/>
            <a:ext cx="8016446" cy="6858000"/>
          </a:xfrm>
          <a:prstGeom prst="rect">
            <a:avLst/>
          </a:prstGeom>
        </p:spPr>
      </p:pic>
    </p:spTree>
    <p:extLst>
      <p:ext uri="{BB962C8B-B14F-4D97-AF65-F5344CB8AC3E}">
        <p14:creationId xmlns:p14="http://schemas.microsoft.com/office/powerpoint/2010/main" val="2498600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2A5091-24D0-E92D-5A2C-8BC7C70E1A6F}"/>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EAD8CECA-BC69-664B-1332-B05699DD06EF}"/>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6F7E2F04-A415-3C47-672B-E51180C8786E}"/>
              </a:ext>
            </a:extLst>
          </p:cNvPr>
          <p:cNvPicPr>
            <a:picLocks noChangeAspect="1"/>
          </p:cNvPicPr>
          <p:nvPr/>
        </p:nvPicPr>
        <p:blipFill>
          <a:blip r:embed="rId2"/>
          <a:stretch>
            <a:fillRect/>
          </a:stretch>
        </p:blipFill>
        <p:spPr>
          <a:xfrm>
            <a:off x="1299740" y="0"/>
            <a:ext cx="9592519" cy="6858000"/>
          </a:xfrm>
          <a:prstGeom prst="rect">
            <a:avLst/>
          </a:prstGeom>
        </p:spPr>
      </p:pic>
    </p:spTree>
    <p:extLst>
      <p:ext uri="{BB962C8B-B14F-4D97-AF65-F5344CB8AC3E}">
        <p14:creationId xmlns:p14="http://schemas.microsoft.com/office/powerpoint/2010/main" val="3408742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3E2B79-5EC3-18CB-D450-8B024806BE00}"/>
              </a:ext>
            </a:extLst>
          </p:cNvPr>
          <p:cNvSpPr>
            <a:spLocks noGrp="1"/>
          </p:cNvSpPr>
          <p:nvPr>
            <p:ph type="title"/>
          </p:nvPr>
        </p:nvSpPr>
        <p:spPr/>
        <p:txBody>
          <a:bodyPr/>
          <a:lstStyle/>
          <a:p>
            <a:r>
              <a:rPr lang="es-ES" dirty="0"/>
              <a:t>NJ</a:t>
            </a:r>
            <a:endParaRPr lang="es-CO" dirty="0"/>
          </a:p>
        </p:txBody>
      </p:sp>
      <p:sp>
        <p:nvSpPr>
          <p:cNvPr id="3" name="Marcador de contenido 2">
            <a:extLst>
              <a:ext uri="{FF2B5EF4-FFF2-40B4-BE49-F238E27FC236}">
                <a16:creationId xmlns:a16="http://schemas.microsoft.com/office/drawing/2014/main" id="{05607B6B-7A82-4A42-7F3D-5DDAFCCB5C64}"/>
              </a:ext>
            </a:extLst>
          </p:cNvPr>
          <p:cNvSpPr>
            <a:spLocks noGrp="1"/>
          </p:cNvSpPr>
          <p:nvPr>
            <p:ph idx="1"/>
          </p:nvPr>
        </p:nvSpPr>
        <p:spPr/>
        <p:txBody>
          <a:bodyPr/>
          <a:lstStyle/>
          <a:p>
            <a:endParaRPr lang="es-CO"/>
          </a:p>
        </p:txBody>
      </p:sp>
      <p:pic>
        <p:nvPicPr>
          <p:cNvPr id="7" name="Imagen 6">
            <a:extLst>
              <a:ext uri="{FF2B5EF4-FFF2-40B4-BE49-F238E27FC236}">
                <a16:creationId xmlns:a16="http://schemas.microsoft.com/office/drawing/2014/main" id="{E2DC6604-1481-E386-D45D-584C67818AB3}"/>
              </a:ext>
            </a:extLst>
          </p:cNvPr>
          <p:cNvPicPr>
            <a:picLocks noChangeAspect="1"/>
          </p:cNvPicPr>
          <p:nvPr/>
        </p:nvPicPr>
        <p:blipFill>
          <a:blip r:embed="rId2"/>
          <a:stretch>
            <a:fillRect/>
          </a:stretch>
        </p:blipFill>
        <p:spPr>
          <a:xfrm>
            <a:off x="2188421" y="0"/>
            <a:ext cx="9722615" cy="6858000"/>
          </a:xfrm>
          <a:prstGeom prst="rect">
            <a:avLst/>
          </a:prstGeom>
        </p:spPr>
      </p:pic>
    </p:spTree>
    <p:extLst>
      <p:ext uri="{BB962C8B-B14F-4D97-AF65-F5344CB8AC3E}">
        <p14:creationId xmlns:p14="http://schemas.microsoft.com/office/powerpoint/2010/main" val="390504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519F68-C984-79EA-F504-0062D5D43AED}"/>
              </a:ext>
            </a:extLst>
          </p:cNvPr>
          <p:cNvSpPr>
            <a:spLocks noGrp="1"/>
          </p:cNvSpPr>
          <p:nvPr>
            <p:ph type="title"/>
          </p:nvPr>
        </p:nvSpPr>
        <p:spPr>
          <a:xfrm>
            <a:off x="838200" y="365125"/>
            <a:ext cx="3940277" cy="1325563"/>
          </a:xfrm>
        </p:spPr>
        <p:txBody>
          <a:bodyPr/>
          <a:lstStyle/>
          <a:p>
            <a:r>
              <a:rPr lang="es-ES" dirty="0" err="1"/>
              <a:t>Maximum</a:t>
            </a:r>
            <a:r>
              <a:rPr lang="es-ES" dirty="0"/>
              <a:t> </a:t>
            </a:r>
            <a:r>
              <a:rPr lang="es-ES" dirty="0" err="1"/>
              <a:t>parsimony</a:t>
            </a:r>
            <a:endParaRPr lang="es-CO" dirty="0"/>
          </a:p>
        </p:txBody>
      </p:sp>
      <p:sp>
        <p:nvSpPr>
          <p:cNvPr id="3" name="Marcador de contenido 2">
            <a:extLst>
              <a:ext uri="{FF2B5EF4-FFF2-40B4-BE49-F238E27FC236}">
                <a16:creationId xmlns:a16="http://schemas.microsoft.com/office/drawing/2014/main" id="{392D790E-3084-3E48-4391-61BE52FFAAFD}"/>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21EA3D12-FFF2-3F5D-E77F-756D19174C4A}"/>
              </a:ext>
            </a:extLst>
          </p:cNvPr>
          <p:cNvPicPr>
            <a:picLocks noChangeAspect="1"/>
          </p:cNvPicPr>
          <p:nvPr/>
        </p:nvPicPr>
        <p:blipFill>
          <a:blip r:embed="rId2"/>
          <a:stretch>
            <a:fillRect/>
          </a:stretch>
        </p:blipFill>
        <p:spPr>
          <a:xfrm>
            <a:off x="4974196" y="0"/>
            <a:ext cx="6923762" cy="6858000"/>
          </a:xfrm>
          <a:prstGeom prst="rect">
            <a:avLst/>
          </a:prstGeom>
        </p:spPr>
      </p:pic>
    </p:spTree>
    <p:extLst>
      <p:ext uri="{BB962C8B-B14F-4D97-AF65-F5344CB8AC3E}">
        <p14:creationId xmlns:p14="http://schemas.microsoft.com/office/powerpoint/2010/main" val="3810350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996219-2BD1-5544-D489-07550C35ACF3}"/>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739F5F04-E322-1011-35F9-235AFFF39FFB}"/>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CC7013A8-E1A4-143A-74BE-F4BED9E5A2E8}"/>
              </a:ext>
            </a:extLst>
          </p:cNvPr>
          <p:cNvPicPr>
            <a:picLocks noChangeAspect="1"/>
          </p:cNvPicPr>
          <p:nvPr/>
        </p:nvPicPr>
        <p:blipFill>
          <a:blip r:embed="rId2"/>
          <a:stretch>
            <a:fillRect/>
          </a:stretch>
        </p:blipFill>
        <p:spPr>
          <a:xfrm>
            <a:off x="1266151" y="42390"/>
            <a:ext cx="9659698" cy="6773220"/>
          </a:xfrm>
          <a:prstGeom prst="rect">
            <a:avLst/>
          </a:prstGeom>
        </p:spPr>
      </p:pic>
    </p:spTree>
    <p:extLst>
      <p:ext uri="{BB962C8B-B14F-4D97-AF65-F5344CB8AC3E}">
        <p14:creationId xmlns:p14="http://schemas.microsoft.com/office/powerpoint/2010/main" val="1382267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CF0751-C8CD-FA1F-F3F2-8CD88CC6BBBB}"/>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15FC9ED0-B616-19FA-5B8D-8B2A1A2A31BD}"/>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90853709-92FB-E5E4-B453-ED652084C9FA}"/>
              </a:ext>
            </a:extLst>
          </p:cNvPr>
          <p:cNvPicPr>
            <a:picLocks noChangeAspect="1"/>
          </p:cNvPicPr>
          <p:nvPr/>
        </p:nvPicPr>
        <p:blipFill>
          <a:blip r:embed="rId2"/>
          <a:stretch>
            <a:fillRect/>
          </a:stretch>
        </p:blipFill>
        <p:spPr>
          <a:xfrm>
            <a:off x="1766283" y="75732"/>
            <a:ext cx="8659433" cy="6706536"/>
          </a:xfrm>
          <a:prstGeom prst="rect">
            <a:avLst/>
          </a:prstGeom>
        </p:spPr>
      </p:pic>
    </p:spTree>
    <p:extLst>
      <p:ext uri="{BB962C8B-B14F-4D97-AF65-F5344CB8AC3E}">
        <p14:creationId xmlns:p14="http://schemas.microsoft.com/office/powerpoint/2010/main" val="1324946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09C120-D7CC-798B-95B3-A64A74EFB1B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16EB83A2-B8B7-1C3D-ABB7-BB4E6D89BA22}"/>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2E6CCEC3-3DAF-2CA8-5E0F-5C2E80823663}"/>
              </a:ext>
            </a:extLst>
          </p:cNvPr>
          <p:cNvPicPr>
            <a:picLocks noChangeAspect="1"/>
          </p:cNvPicPr>
          <p:nvPr/>
        </p:nvPicPr>
        <p:blipFill>
          <a:blip r:embed="rId2"/>
          <a:stretch>
            <a:fillRect/>
          </a:stretch>
        </p:blipFill>
        <p:spPr>
          <a:xfrm>
            <a:off x="1129540" y="0"/>
            <a:ext cx="9932919" cy="6858000"/>
          </a:xfrm>
          <a:prstGeom prst="rect">
            <a:avLst/>
          </a:prstGeom>
        </p:spPr>
      </p:pic>
    </p:spTree>
    <p:extLst>
      <p:ext uri="{BB962C8B-B14F-4D97-AF65-F5344CB8AC3E}">
        <p14:creationId xmlns:p14="http://schemas.microsoft.com/office/powerpoint/2010/main" val="155857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4F494A-CF08-93CB-7A28-A41EF8BF4F21}"/>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EF821B36-3B2B-098A-EFB3-8B4C87467BBD}"/>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7BA66B33-1627-989F-E80D-7F5EB79BB1CD}"/>
              </a:ext>
            </a:extLst>
          </p:cNvPr>
          <p:cNvPicPr>
            <a:picLocks noChangeAspect="1"/>
          </p:cNvPicPr>
          <p:nvPr/>
        </p:nvPicPr>
        <p:blipFill>
          <a:blip r:embed="rId2"/>
          <a:stretch>
            <a:fillRect/>
          </a:stretch>
        </p:blipFill>
        <p:spPr>
          <a:xfrm>
            <a:off x="1213756" y="4284"/>
            <a:ext cx="9764488" cy="6849431"/>
          </a:xfrm>
          <a:prstGeom prst="rect">
            <a:avLst/>
          </a:prstGeom>
        </p:spPr>
      </p:pic>
    </p:spTree>
    <p:extLst>
      <p:ext uri="{BB962C8B-B14F-4D97-AF65-F5344CB8AC3E}">
        <p14:creationId xmlns:p14="http://schemas.microsoft.com/office/powerpoint/2010/main" val="2304167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0BD01-482C-AFC4-9E5A-556046180EFD}"/>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71911B6F-1904-9119-A6FA-6D235A9D0B93}"/>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560B4308-B86E-71FA-F1FF-C95BA9FE1073}"/>
              </a:ext>
            </a:extLst>
          </p:cNvPr>
          <p:cNvPicPr>
            <a:picLocks noChangeAspect="1"/>
          </p:cNvPicPr>
          <p:nvPr/>
        </p:nvPicPr>
        <p:blipFill>
          <a:blip r:embed="rId2"/>
          <a:stretch>
            <a:fillRect/>
          </a:stretch>
        </p:blipFill>
        <p:spPr>
          <a:xfrm>
            <a:off x="1185177" y="356759"/>
            <a:ext cx="9821646" cy="6144482"/>
          </a:xfrm>
          <a:prstGeom prst="rect">
            <a:avLst/>
          </a:prstGeom>
        </p:spPr>
      </p:pic>
    </p:spTree>
    <p:extLst>
      <p:ext uri="{BB962C8B-B14F-4D97-AF65-F5344CB8AC3E}">
        <p14:creationId xmlns:p14="http://schemas.microsoft.com/office/powerpoint/2010/main" val="82967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F8BA70-1A34-1D2F-359A-BCB624954298}"/>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B7071B54-DA61-A0A6-4CF1-571353CCCB3F}"/>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62D8922B-BCCE-49AE-CBC0-A03E30CCC852}"/>
              </a:ext>
            </a:extLst>
          </p:cNvPr>
          <p:cNvPicPr>
            <a:picLocks noChangeAspect="1"/>
          </p:cNvPicPr>
          <p:nvPr/>
        </p:nvPicPr>
        <p:blipFill>
          <a:blip r:embed="rId2"/>
          <a:stretch>
            <a:fillRect/>
          </a:stretch>
        </p:blipFill>
        <p:spPr>
          <a:xfrm>
            <a:off x="504044" y="490127"/>
            <a:ext cx="11183911" cy="5877745"/>
          </a:xfrm>
          <a:prstGeom prst="rect">
            <a:avLst/>
          </a:prstGeom>
        </p:spPr>
      </p:pic>
    </p:spTree>
    <p:extLst>
      <p:ext uri="{BB962C8B-B14F-4D97-AF65-F5344CB8AC3E}">
        <p14:creationId xmlns:p14="http://schemas.microsoft.com/office/powerpoint/2010/main" val="3659312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DAAF3A-38BF-A7E0-7AA0-FCFA91CCBB2C}"/>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8401B9A4-5CFB-213E-9148-835DCAF38990}"/>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4266DC69-FEB1-D067-5986-5C6D3EEEFC6A}"/>
              </a:ext>
            </a:extLst>
          </p:cNvPr>
          <p:cNvPicPr>
            <a:picLocks noChangeAspect="1"/>
          </p:cNvPicPr>
          <p:nvPr/>
        </p:nvPicPr>
        <p:blipFill>
          <a:blip r:embed="rId2"/>
          <a:stretch>
            <a:fillRect/>
          </a:stretch>
        </p:blipFill>
        <p:spPr>
          <a:xfrm>
            <a:off x="947019" y="237679"/>
            <a:ext cx="10297962" cy="6382641"/>
          </a:xfrm>
          <a:prstGeom prst="rect">
            <a:avLst/>
          </a:prstGeom>
        </p:spPr>
      </p:pic>
    </p:spTree>
    <p:extLst>
      <p:ext uri="{BB962C8B-B14F-4D97-AF65-F5344CB8AC3E}">
        <p14:creationId xmlns:p14="http://schemas.microsoft.com/office/powerpoint/2010/main" val="32127952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D76B1F-68CA-B73F-CA58-75783A9094B4}"/>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BF1C5739-B4ED-8BB9-B018-06B002EE33FD}"/>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A880D2B7-009A-F260-1EC8-91CC05211EF3}"/>
              </a:ext>
            </a:extLst>
          </p:cNvPr>
          <p:cNvPicPr>
            <a:picLocks noChangeAspect="1"/>
          </p:cNvPicPr>
          <p:nvPr/>
        </p:nvPicPr>
        <p:blipFill>
          <a:blip r:embed="rId2"/>
          <a:stretch>
            <a:fillRect/>
          </a:stretch>
        </p:blipFill>
        <p:spPr>
          <a:xfrm>
            <a:off x="894624" y="37626"/>
            <a:ext cx="10402752" cy="6782747"/>
          </a:xfrm>
          <a:prstGeom prst="rect">
            <a:avLst/>
          </a:prstGeom>
        </p:spPr>
      </p:pic>
    </p:spTree>
    <p:extLst>
      <p:ext uri="{BB962C8B-B14F-4D97-AF65-F5344CB8AC3E}">
        <p14:creationId xmlns:p14="http://schemas.microsoft.com/office/powerpoint/2010/main" val="2281749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89711D-4FF8-F554-D307-AECB18CEA3D7}"/>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9F772CCF-EF8B-6525-CA61-01040D62183E}"/>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80BFB1FA-AE0C-12AC-B841-E6D8BCBF1E1B}"/>
              </a:ext>
            </a:extLst>
          </p:cNvPr>
          <p:cNvPicPr>
            <a:picLocks noChangeAspect="1"/>
          </p:cNvPicPr>
          <p:nvPr/>
        </p:nvPicPr>
        <p:blipFill>
          <a:blip r:embed="rId2"/>
          <a:stretch>
            <a:fillRect/>
          </a:stretch>
        </p:blipFill>
        <p:spPr>
          <a:xfrm>
            <a:off x="947019" y="290074"/>
            <a:ext cx="10297962" cy="6277851"/>
          </a:xfrm>
          <a:prstGeom prst="rect">
            <a:avLst/>
          </a:prstGeom>
        </p:spPr>
      </p:pic>
    </p:spTree>
    <p:extLst>
      <p:ext uri="{BB962C8B-B14F-4D97-AF65-F5344CB8AC3E}">
        <p14:creationId xmlns:p14="http://schemas.microsoft.com/office/powerpoint/2010/main" val="13504310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F92136-58D6-4468-D4CE-198E12813763}"/>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9DF11A7D-97FB-8D8E-B270-AAD0BE02104F}"/>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F65B429E-C840-2053-DE6F-4F779248C966}"/>
              </a:ext>
            </a:extLst>
          </p:cNvPr>
          <p:cNvPicPr>
            <a:picLocks noChangeAspect="1"/>
          </p:cNvPicPr>
          <p:nvPr/>
        </p:nvPicPr>
        <p:blipFill>
          <a:blip r:embed="rId2"/>
          <a:stretch>
            <a:fillRect/>
          </a:stretch>
        </p:blipFill>
        <p:spPr>
          <a:xfrm>
            <a:off x="1651000" y="0"/>
            <a:ext cx="8890000" cy="6858000"/>
          </a:xfrm>
          <a:prstGeom prst="rect">
            <a:avLst/>
          </a:prstGeom>
        </p:spPr>
      </p:pic>
    </p:spTree>
    <p:extLst>
      <p:ext uri="{BB962C8B-B14F-4D97-AF65-F5344CB8AC3E}">
        <p14:creationId xmlns:p14="http://schemas.microsoft.com/office/powerpoint/2010/main" val="24362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D23B75-9840-88D1-F8EA-15D117324995}"/>
              </a:ext>
            </a:extLst>
          </p:cNvPr>
          <p:cNvSpPr>
            <a:spLocks noGrp="1"/>
          </p:cNvSpPr>
          <p:nvPr>
            <p:ph type="title"/>
          </p:nvPr>
        </p:nvSpPr>
        <p:spPr/>
        <p:txBody>
          <a:bodyPr/>
          <a:lstStyle/>
          <a:p>
            <a:r>
              <a:rPr lang="es-ES" dirty="0" err="1"/>
              <a:t>Boostraping</a:t>
            </a:r>
            <a:endParaRPr lang="es-CO" dirty="0"/>
          </a:p>
        </p:txBody>
      </p:sp>
      <p:sp>
        <p:nvSpPr>
          <p:cNvPr id="3" name="Marcador de contenido 2">
            <a:extLst>
              <a:ext uri="{FF2B5EF4-FFF2-40B4-BE49-F238E27FC236}">
                <a16:creationId xmlns:a16="http://schemas.microsoft.com/office/drawing/2014/main" id="{984FA769-6217-EC8A-E501-97E1F04D745C}"/>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2E7ACB6A-1214-B718-9B80-27D34E2BFD70}"/>
              </a:ext>
            </a:extLst>
          </p:cNvPr>
          <p:cNvPicPr>
            <a:picLocks noChangeAspect="1"/>
          </p:cNvPicPr>
          <p:nvPr/>
        </p:nvPicPr>
        <p:blipFill>
          <a:blip r:embed="rId2"/>
          <a:stretch>
            <a:fillRect/>
          </a:stretch>
        </p:blipFill>
        <p:spPr>
          <a:xfrm>
            <a:off x="2017069" y="1562409"/>
            <a:ext cx="7744906" cy="4382112"/>
          </a:xfrm>
          <a:prstGeom prst="rect">
            <a:avLst/>
          </a:prstGeom>
        </p:spPr>
      </p:pic>
    </p:spTree>
    <p:extLst>
      <p:ext uri="{BB962C8B-B14F-4D97-AF65-F5344CB8AC3E}">
        <p14:creationId xmlns:p14="http://schemas.microsoft.com/office/powerpoint/2010/main" val="19180885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60261E-8EDE-FB87-73E5-33904DB7D29A}"/>
              </a:ext>
            </a:extLst>
          </p:cNvPr>
          <p:cNvSpPr>
            <a:spLocks noGrp="1"/>
          </p:cNvSpPr>
          <p:nvPr>
            <p:ph type="title"/>
          </p:nvPr>
        </p:nvSpPr>
        <p:spPr/>
        <p:txBody>
          <a:bodyPr/>
          <a:lstStyle/>
          <a:p>
            <a:r>
              <a:rPr lang="es-CO" b="1" dirty="0"/>
              <a:t>incomplete </a:t>
            </a:r>
            <a:r>
              <a:rPr lang="es-CO" b="1" dirty="0" err="1"/>
              <a:t>lineage</a:t>
            </a:r>
            <a:br>
              <a:rPr lang="es-CO" b="1" dirty="0"/>
            </a:br>
            <a:r>
              <a:rPr lang="es-CO" b="1" dirty="0" err="1"/>
              <a:t>sorting</a:t>
            </a:r>
            <a:r>
              <a:rPr lang="es-CO" b="1" dirty="0"/>
              <a:t> </a:t>
            </a:r>
            <a:r>
              <a:rPr lang="es-CO" dirty="0"/>
              <a:t>(ILS)</a:t>
            </a:r>
          </a:p>
        </p:txBody>
      </p:sp>
      <p:sp>
        <p:nvSpPr>
          <p:cNvPr id="3" name="Marcador de contenido 2">
            <a:extLst>
              <a:ext uri="{FF2B5EF4-FFF2-40B4-BE49-F238E27FC236}">
                <a16:creationId xmlns:a16="http://schemas.microsoft.com/office/drawing/2014/main" id="{19DA6664-C814-4934-0402-2C02D99CCF2B}"/>
              </a:ext>
            </a:extLst>
          </p:cNvPr>
          <p:cNvSpPr>
            <a:spLocks noGrp="1"/>
          </p:cNvSpPr>
          <p:nvPr>
            <p:ph idx="1"/>
          </p:nvPr>
        </p:nvSpPr>
        <p:spPr/>
        <p:txBody>
          <a:bodyPr/>
          <a:lstStyle/>
          <a:p>
            <a:endParaRPr lang="es-CO" dirty="0"/>
          </a:p>
        </p:txBody>
      </p:sp>
      <p:pic>
        <p:nvPicPr>
          <p:cNvPr id="5" name="Imagen 4">
            <a:extLst>
              <a:ext uri="{FF2B5EF4-FFF2-40B4-BE49-F238E27FC236}">
                <a16:creationId xmlns:a16="http://schemas.microsoft.com/office/drawing/2014/main" id="{98CC5C4A-60C0-C8D7-C50F-57EBE219CD9B}"/>
              </a:ext>
            </a:extLst>
          </p:cNvPr>
          <p:cNvPicPr>
            <a:picLocks noChangeAspect="1"/>
          </p:cNvPicPr>
          <p:nvPr/>
        </p:nvPicPr>
        <p:blipFill>
          <a:blip r:embed="rId2"/>
          <a:stretch>
            <a:fillRect/>
          </a:stretch>
        </p:blipFill>
        <p:spPr>
          <a:xfrm>
            <a:off x="1862681" y="2604407"/>
            <a:ext cx="7621064" cy="3143689"/>
          </a:xfrm>
          <a:prstGeom prst="rect">
            <a:avLst/>
          </a:prstGeom>
        </p:spPr>
      </p:pic>
    </p:spTree>
    <p:extLst>
      <p:ext uri="{BB962C8B-B14F-4D97-AF65-F5344CB8AC3E}">
        <p14:creationId xmlns:p14="http://schemas.microsoft.com/office/powerpoint/2010/main" val="989998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9A850-5CA9-712C-B313-7D1E42F92D6E}"/>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4296409B-EE35-2BFF-F74F-263245AA0321}"/>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178741C3-BF30-169A-E982-E0674BB4E03F}"/>
              </a:ext>
            </a:extLst>
          </p:cNvPr>
          <p:cNvPicPr>
            <a:picLocks noChangeAspect="1"/>
          </p:cNvPicPr>
          <p:nvPr/>
        </p:nvPicPr>
        <p:blipFill>
          <a:blip r:embed="rId2"/>
          <a:stretch>
            <a:fillRect/>
          </a:stretch>
        </p:blipFill>
        <p:spPr>
          <a:xfrm>
            <a:off x="1031488" y="0"/>
            <a:ext cx="10129024" cy="6858000"/>
          </a:xfrm>
          <a:prstGeom prst="rect">
            <a:avLst/>
          </a:prstGeom>
        </p:spPr>
      </p:pic>
    </p:spTree>
    <p:extLst>
      <p:ext uri="{BB962C8B-B14F-4D97-AF65-F5344CB8AC3E}">
        <p14:creationId xmlns:p14="http://schemas.microsoft.com/office/powerpoint/2010/main" val="373337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324C52-890F-6ED1-DADA-7993B8C13BF8}"/>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88EBF0BF-BEEB-0413-44AC-BA6992D20252}"/>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A31A53B7-D7E7-1543-F039-429A52D87029}"/>
              </a:ext>
            </a:extLst>
          </p:cNvPr>
          <p:cNvPicPr>
            <a:picLocks noChangeAspect="1"/>
          </p:cNvPicPr>
          <p:nvPr/>
        </p:nvPicPr>
        <p:blipFill>
          <a:blip r:embed="rId2"/>
          <a:stretch>
            <a:fillRect/>
          </a:stretch>
        </p:blipFill>
        <p:spPr>
          <a:xfrm>
            <a:off x="3204759" y="1180786"/>
            <a:ext cx="5782482" cy="4496427"/>
          </a:xfrm>
          <a:prstGeom prst="rect">
            <a:avLst/>
          </a:prstGeom>
        </p:spPr>
      </p:pic>
    </p:spTree>
    <p:extLst>
      <p:ext uri="{BB962C8B-B14F-4D97-AF65-F5344CB8AC3E}">
        <p14:creationId xmlns:p14="http://schemas.microsoft.com/office/powerpoint/2010/main" val="2046464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2791B8-F5A8-03FD-98E7-30E74144AA01}"/>
              </a:ext>
            </a:extLst>
          </p:cNvPr>
          <p:cNvSpPr>
            <a:spLocks noGrp="1"/>
          </p:cNvSpPr>
          <p:nvPr>
            <p:ph type="title"/>
          </p:nvPr>
        </p:nvSpPr>
        <p:spPr/>
        <p:txBody>
          <a:bodyPr/>
          <a:lstStyle/>
          <a:p>
            <a:r>
              <a:rPr lang="es-ES" dirty="0" err="1"/>
              <a:t>Aplications</a:t>
            </a:r>
            <a:endParaRPr lang="es-CO" dirty="0"/>
          </a:p>
        </p:txBody>
      </p:sp>
      <p:sp>
        <p:nvSpPr>
          <p:cNvPr id="3" name="Marcador de contenido 2">
            <a:extLst>
              <a:ext uri="{FF2B5EF4-FFF2-40B4-BE49-F238E27FC236}">
                <a16:creationId xmlns:a16="http://schemas.microsoft.com/office/drawing/2014/main" id="{C6E6838D-FA9A-765B-C09D-FFE0B6AF927A}"/>
              </a:ext>
            </a:extLst>
          </p:cNvPr>
          <p:cNvSpPr>
            <a:spLocks noGrp="1"/>
          </p:cNvSpPr>
          <p:nvPr>
            <p:ph idx="1"/>
          </p:nvPr>
        </p:nvSpPr>
        <p:spPr/>
        <p:txBody>
          <a:bodyPr/>
          <a:lstStyle/>
          <a:p>
            <a:endParaRPr lang="es-CO"/>
          </a:p>
        </p:txBody>
      </p:sp>
      <p:pic>
        <p:nvPicPr>
          <p:cNvPr id="1026" name="Picture 2">
            <a:extLst>
              <a:ext uri="{FF2B5EF4-FFF2-40B4-BE49-F238E27FC236}">
                <a16:creationId xmlns:a16="http://schemas.microsoft.com/office/drawing/2014/main" id="{5A9596BD-8109-DBE9-7407-AB43B9E97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2723" y="1453356"/>
            <a:ext cx="9753600" cy="509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990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569AF1-D926-3BD5-D934-DCC6A169D10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BD25768A-94FA-84AA-73E2-B906956E8D97}"/>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E5931AC3-6719-1D00-3709-8356C906F5FF}"/>
              </a:ext>
            </a:extLst>
          </p:cNvPr>
          <p:cNvPicPr>
            <a:picLocks noChangeAspect="1"/>
          </p:cNvPicPr>
          <p:nvPr/>
        </p:nvPicPr>
        <p:blipFill>
          <a:blip r:embed="rId2"/>
          <a:stretch>
            <a:fillRect/>
          </a:stretch>
        </p:blipFill>
        <p:spPr>
          <a:xfrm>
            <a:off x="884904" y="2176556"/>
            <a:ext cx="10795819" cy="4477676"/>
          </a:xfrm>
          <a:prstGeom prst="rect">
            <a:avLst/>
          </a:prstGeom>
        </p:spPr>
      </p:pic>
      <p:pic>
        <p:nvPicPr>
          <p:cNvPr id="7" name="Imagen 6">
            <a:extLst>
              <a:ext uri="{FF2B5EF4-FFF2-40B4-BE49-F238E27FC236}">
                <a16:creationId xmlns:a16="http://schemas.microsoft.com/office/drawing/2014/main" id="{E8166A56-DB1D-3977-FE02-E9AAC52A657D}"/>
              </a:ext>
            </a:extLst>
          </p:cNvPr>
          <p:cNvPicPr>
            <a:picLocks noChangeAspect="1"/>
          </p:cNvPicPr>
          <p:nvPr/>
        </p:nvPicPr>
        <p:blipFill>
          <a:blip r:embed="rId3"/>
          <a:stretch>
            <a:fillRect/>
          </a:stretch>
        </p:blipFill>
        <p:spPr>
          <a:xfrm>
            <a:off x="511277" y="-120745"/>
            <a:ext cx="9242322" cy="2297301"/>
          </a:xfrm>
          <a:prstGeom prst="rect">
            <a:avLst/>
          </a:prstGeom>
        </p:spPr>
      </p:pic>
    </p:spTree>
    <p:extLst>
      <p:ext uri="{BB962C8B-B14F-4D97-AF65-F5344CB8AC3E}">
        <p14:creationId xmlns:p14="http://schemas.microsoft.com/office/powerpoint/2010/main" val="2154278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ECBFC-7C98-F700-A49C-BD17D5BD2554}"/>
              </a:ext>
            </a:extLst>
          </p:cNvPr>
          <p:cNvSpPr>
            <a:spLocks noGrp="1"/>
          </p:cNvSpPr>
          <p:nvPr>
            <p:ph type="title"/>
          </p:nvPr>
        </p:nvSpPr>
        <p:spPr/>
        <p:txBody>
          <a:bodyPr/>
          <a:lstStyle/>
          <a:p>
            <a:endParaRPr lang="es-CO"/>
          </a:p>
        </p:txBody>
      </p:sp>
      <p:pic>
        <p:nvPicPr>
          <p:cNvPr id="5" name="Imagen 4">
            <a:extLst>
              <a:ext uri="{FF2B5EF4-FFF2-40B4-BE49-F238E27FC236}">
                <a16:creationId xmlns:a16="http://schemas.microsoft.com/office/drawing/2014/main" id="{A57E968E-FE64-451B-9C0B-17E54416A2D1}"/>
              </a:ext>
            </a:extLst>
          </p:cNvPr>
          <p:cNvPicPr>
            <a:picLocks noChangeAspect="1"/>
          </p:cNvPicPr>
          <p:nvPr/>
        </p:nvPicPr>
        <p:blipFill>
          <a:blip r:embed="rId2"/>
          <a:stretch>
            <a:fillRect/>
          </a:stretch>
        </p:blipFill>
        <p:spPr>
          <a:xfrm>
            <a:off x="359832" y="112780"/>
            <a:ext cx="8326012" cy="1971950"/>
          </a:xfrm>
          <a:prstGeom prst="rect">
            <a:avLst/>
          </a:prstGeom>
        </p:spPr>
      </p:pic>
      <p:pic>
        <p:nvPicPr>
          <p:cNvPr id="3074" name="Picture 2" descr="Schematic comparing phylogenetic trees">
            <a:extLst>
              <a:ext uri="{FF2B5EF4-FFF2-40B4-BE49-F238E27FC236}">
                <a16:creationId xmlns:a16="http://schemas.microsoft.com/office/drawing/2014/main" id="{CC59FE97-420F-A30C-C846-95E53F08DB5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221019" y="2547240"/>
            <a:ext cx="4746801" cy="2048112"/>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0F6ABB91-45E6-E72A-A359-1BDE5C11389F}"/>
              </a:ext>
            </a:extLst>
          </p:cNvPr>
          <p:cNvPicPr>
            <a:picLocks noChangeAspect="1"/>
          </p:cNvPicPr>
          <p:nvPr/>
        </p:nvPicPr>
        <p:blipFill>
          <a:blip r:embed="rId4"/>
          <a:stretch>
            <a:fillRect/>
          </a:stretch>
        </p:blipFill>
        <p:spPr>
          <a:xfrm>
            <a:off x="2455722" y="4663820"/>
            <a:ext cx="9345329" cy="1829055"/>
          </a:xfrm>
          <a:prstGeom prst="rect">
            <a:avLst/>
          </a:prstGeom>
        </p:spPr>
      </p:pic>
    </p:spTree>
    <p:extLst>
      <p:ext uri="{BB962C8B-B14F-4D97-AF65-F5344CB8AC3E}">
        <p14:creationId xmlns:p14="http://schemas.microsoft.com/office/powerpoint/2010/main" val="876019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EDF873-9EE8-5629-2F19-270955E68DBA}"/>
              </a:ext>
            </a:extLst>
          </p:cNvPr>
          <p:cNvSpPr>
            <a:spLocks noGrp="1"/>
          </p:cNvSpPr>
          <p:nvPr>
            <p:ph type="title"/>
          </p:nvPr>
        </p:nvSpPr>
        <p:spPr/>
        <p:txBody>
          <a:bodyPr/>
          <a:lstStyle/>
          <a:p>
            <a:r>
              <a:rPr lang="es-CO" dirty="0" err="1"/>
              <a:t>Blomberg’s</a:t>
            </a:r>
            <a:r>
              <a:rPr lang="es-CO" dirty="0"/>
              <a:t> K</a:t>
            </a:r>
          </a:p>
        </p:txBody>
      </p:sp>
      <p:sp>
        <p:nvSpPr>
          <p:cNvPr id="3" name="Marcador de contenido 2">
            <a:extLst>
              <a:ext uri="{FF2B5EF4-FFF2-40B4-BE49-F238E27FC236}">
                <a16:creationId xmlns:a16="http://schemas.microsoft.com/office/drawing/2014/main" id="{1ED7E971-B1D9-4EA8-3B02-9E185D113BC9}"/>
              </a:ext>
            </a:extLst>
          </p:cNvPr>
          <p:cNvSpPr>
            <a:spLocks noGrp="1"/>
          </p:cNvSpPr>
          <p:nvPr>
            <p:ph idx="1"/>
          </p:nvPr>
        </p:nvSpPr>
        <p:spPr>
          <a:xfrm>
            <a:off x="838200" y="2506662"/>
            <a:ext cx="10515600" cy="4351338"/>
          </a:xfrm>
        </p:spPr>
        <p:txBody>
          <a:bodyPr/>
          <a:lstStyle/>
          <a:p>
            <a:r>
              <a:rPr lang="en-US" dirty="0"/>
              <a:t> Expresses the strength of phylogenetic signal</a:t>
            </a:r>
          </a:p>
          <a:p>
            <a:r>
              <a:rPr lang="en-US" dirty="0"/>
              <a:t>ratio of the mean squared error of the tip data (MSE0) measured from the phylogenetic corrected mean and the mean squared error based on the variance–covariance matrix derived from the given phylogeny under the assumption of BM</a:t>
            </a:r>
            <a:endParaRPr lang="es-CO" dirty="0"/>
          </a:p>
        </p:txBody>
      </p:sp>
      <p:pic>
        <p:nvPicPr>
          <p:cNvPr id="5" name="Imagen 4">
            <a:extLst>
              <a:ext uri="{FF2B5EF4-FFF2-40B4-BE49-F238E27FC236}">
                <a16:creationId xmlns:a16="http://schemas.microsoft.com/office/drawing/2014/main" id="{D77AA6EF-2689-816D-8400-651E9B9B2EFA}"/>
              </a:ext>
            </a:extLst>
          </p:cNvPr>
          <p:cNvPicPr>
            <a:picLocks noChangeAspect="1"/>
          </p:cNvPicPr>
          <p:nvPr/>
        </p:nvPicPr>
        <p:blipFill>
          <a:blip r:embed="rId2"/>
          <a:stretch>
            <a:fillRect/>
          </a:stretch>
        </p:blipFill>
        <p:spPr>
          <a:xfrm>
            <a:off x="1768983" y="4854022"/>
            <a:ext cx="6126816" cy="1163320"/>
          </a:xfrm>
          <a:prstGeom prst="rect">
            <a:avLst/>
          </a:prstGeom>
        </p:spPr>
      </p:pic>
      <p:pic>
        <p:nvPicPr>
          <p:cNvPr id="7" name="Imagen 6">
            <a:extLst>
              <a:ext uri="{FF2B5EF4-FFF2-40B4-BE49-F238E27FC236}">
                <a16:creationId xmlns:a16="http://schemas.microsoft.com/office/drawing/2014/main" id="{5508DC0E-C802-705C-1846-3C8791CE9316}"/>
              </a:ext>
            </a:extLst>
          </p:cNvPr>
          <p:cNvPicPr>
            <a:picLocks noChangeAspect="1"/>
          </p:cNvPicPr>
          <p:nvPr/>
        </p:nvPicPr>
        <p:blipFill>
          <a:blip r:embed="rId3"/>
          <a:stretch>
            <a:fillRect/>
          </a:stretch>
        </p:blipFill>
        <p:spPr>
          <a:xfrm>
            <a:off x="4316361" y="20382"/>
            <a:ext cx="7754878" cy="2015047"/>
          </a:xfrm>
          <a:prstGeom prst="rect">
            <a:avLst/>
          </a:prstGeom>
        </p:spPr>
      </p:pic>
    </p:spTree>
    <p:extLst>
      <p:ext uri="{BB962C8B-B14F-4D97-AF65-F5344CB8AC3E}">
        <p14:creationId xmlns:p14="http://schemas.microsoft.com/office/powerpoint/2010/main" val="8763835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DAD41C-CF94-9473-EF7F-29AD51EA39B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84BE3F6D-3573-B9D4-4E4D-6E8BB5FEC82D}"/>
              </a:ext>
            </a:extLst>
          </p:cNvPr>
          <p:cNvSpPr>
            <a:spLocks noGrp="1"/>
          </p:cNvSpPr>
          <p:nvPr>
            <p:ph idx="1"/>
          </p:nvPr>
        </p:nvSpPr>
        <p:spPr/>
        <p:txBody>
          <a:bodyPr/>
          <a:lstStyle/>
          <a:p>
            <a:endParaRPr lang="es-CO" dirty="0"/>
          </a:p>
        </p:txBody>
      </p:sp>
      <p:pic>
        <p:nvPicPr>
          <p:cNvPr id="5" name="Imagen 4">
            <a:extLst>
              <a:ext uri="{FF2B5EF4-FFF2-40B4-BE49-F238E27FC236}">
                <a16:creationId xmlns:a16="http://schemas.microsoft.com/office/drawing/2014/main" id="{42621518-6B35-DEA0-609D-2C4E60A5A500}"/>
              </a:ext>
            </a:extLst>
          </p:cNvPr>
          <p:cNvPicPr>
            <a:picLocks noChangeAspect="1"/>
          </p:cNvPicPr>
          <p:nvPr/>
        </p:nvPicPr>
        <p:blipFill>
          <a:blip r:embed="rId2"/>
          <a:stretch>
            <a:fillRect/>
          </a:stretch>
        </p:blipFill>
        <p:spPr>
          <a:xfrm>
            <a:off x="495251" y="70931"/>
            <a:ext cx="8707065" cy="3715268"/>
          </a:xfrm>
          <a:prstGeom prst="rect">
            <a:avLst/>
          </a:prstGeom>
        </p:spPr>
      </p:pic>
      <p:pic>
        <p:nvPicPr>
          <p:cNvPr id="7" name="Imagen 6">
            <a:extLst>
              <a:ext uri="{FF2B5EF4-FFF2-40B4-BE49-F238E27FC236}">
                <a16:creationId xmlns:a16="http://schemas.microsoft.com/office/drawing/2014/main" id="{C5B2F565-069C-68C7-9941-54CB0C5E1BF6}"/>
              </a:ext>
            </a:extLst>
          </p:cNvPr>
          <p:cNvPicPr>
            <a:picLocks noChangeAspect="1"/>
          </p:cNvPicPr>
          <p:nvPr/>
        </p:nvPicPr>
        <p:blipFill>
          <a:blip r:embed="rId3"/>
          <a:stretch>
            <a:fillRect/>
          </a:stretch>
        </p:blipFill>
        <p:spPr>
          <a:xfrm>
            <a:off x="916858" y="3910118"/>
            <a:ext cx="8021169" cy="2876951"/>
          </a:xfrm>
          <a:prstGeom prst="rect">
            <a:avLst/>
          </a:prstGeom>
        </p:spPr>
      </p:pic>
    </p:spTree>
    <p:extLst>
      <p:ext uri="{BB962C8B-B14F-4D97-AF65-F5344CB8AC3E}">
        <p14:creationId xmlns:p14="http://schemas.microsoft.com/office/powerpoint/2010/main" val="27524572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DD5456-6926-BF4B-D471-27B15DF5A68F}"/>
              </a:ext>
            </a:extLst>
          </p:cNvPr>
          <p:cNvSpPr>
            <a:spLocks noGrp="1"/>
          </p:cNvSpPr>
          <p:nvPr>
            <p:ph type="title"/>
          </p:nvPr>
        </p:nvSpPr>
        <p:spPr>
          <a:xfrm>
            <a:off x="838200" y="365124"/>
            <a:ext cx="10515600" cy="1325563"/>
          </a:xfrm>
        </p:spPr>
        <p:txBody>
          <a:bodyPr/>
          <a:lstStyle/>
          <a:p>
            <a:endParaRPr lang="es-CO" dirty="0"/>
          </a:p>
        </p:txBody>
      </p:sp>
      <p:sp>
        <p:nvSpPr>
          <p:cNvPr id="3" name="Marcador de contenido 2">
            <a:extLst>
              <a:ext uri="{FF2B5EF4-FFF2-40B4-BE49-F238E27FC236}">
                <a16:creationId xmlns:a16="http://schemas.microsoft.com/office/drawing/2014/main" id="{2F895BC9-CCFE-0370-8370-8274C242BD2D}"/>
              </a:ext>
            </a:extLst>
          </p:cNvPr>
          <p:cNvSpPr>
            <a:spLocks noGrp="1"/>
          </p:cNvSpPr>
          <p:nvPr>
            <p:ph idx="1"/>
          </p:nvPr>
        </p:nvSpPr>
        <p:spPr>
          <a:xfrm>
            <a:off x="8502474" y="959080"/>
            <a:ext cx="3365062" cy="573446"/>
          </a:xfrm>
        </p:spPr>
        <p:txBody>
          <a:bodyPr>
            <a:normAutofit fontScale="92500" lnSpcReduction="10000"/>
          </a:bodyPr>
          <a:lstStyle/>
          <a:p>
            <a:pPr marL="0" indent="0">
              <a:buNone/>
            </a:pPr>
            <a:r>
              <a:rPr lang="es-ES" sz="2000" dirty="0"/>
              <a:t>K&gt;1 </a:t>
            </a:r>
            <a:r>
              <a:rPr lang="es-ES" sz="2000" dirty="0" err="1"/>
              <a:t>Phylogenetic</a:t>
            </a:r>
            <a:r>
              <a:rPr lang="es-ES" sz="2000" dirty="0"/>
              <a:t> </a:t>
            </a:r>
            <a:r>
              <a:rPr lang="es-ES" sz="2000" dirty="0" err="1"/>
              <a:t>conservatism</a:t>
            </a:r>
            <a:endParaRPr lang="es-CO" sz="2000" dirty="0"/>
          </a:p>
        </p:txBody>
      </p:sp>
      <p:pic>
        <p:nvPicPr>
          <p:cNvPr id="5" name="Imagen 4">
            <a:extLst>
              <a:ext uri="{FF2B5EF4-FFF2-40B4-BE49-F238E27FC236}">
                <a16:creationId xmlns:a16="http://schemas.microsoft.com/office/drawing/2014/main" id="{23537988-786C-DCD5-D32C-E3557D325691}"/>
              </a:ext>
            </a:extLst>
          </p:cNvPr>
          <p:cNvPicPr>
            <a:picLocks noChangeAspect="1"/>
          </p:cNvPicPr>
          <p:nvPr/>
        </p:nvPicPr>
        <p:blipFill>
          <a:blip r:embed="rId2"/>
          <a:stretch>
            <a:fillRect/>
          </a:stretch>
        </p:blipFill>
        <p:spPr>
          <a:xfrm>
            <a:off x="221198" y="296104"/>
            <a:ext cx="7259063" cy="4382112"/>
          </a:xfrm>
          <a:prstGeom prst="rect">
            <a:avLst/>
          </a:prstGeom>
        </p:spPr>
      </p:pic>
      <p:sp>
        <p:nvSpPr>
          <p:cNvPr id="9" name="Flecha: a la derecha 8">
            <a:extLst>
              <a:ext uri="{FF2B5EF4-FFF2-40B4-BE49-F238E27FC236}">
                <a16:creationId xmlns:a16="http://schemas.microsoft.com/office/drawing/2014/main" id="{6CA71F28-CDE5-D876-F06F-1A3DE98199A3}"/>
              </a:ext>
            </a:extLst>
          </p:cNvPr>
          <p:cNvSpPr/>
          <p:nvPr/>
        </p:nvSpPr>
        <p:spPr>
          <a:xfrm rot="10800000">
            <a:off x="7089415" y="1027906"/>
            <a:ext cx="1295429" cy="2564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Marcador de contenido 2">
            <a:extLst>
              <a:ext uri="{FF2B5EF4-FFF2-40B4-BE49-F238E27FC236}">
                <a16:creationId xmlns:a16="http://schemas.microsoft.com/office/drawing/2014/main" id="{1C1664D7-5876-0522-8FA8-20F7F3650DD5}"/>
              </a:ext>
            </a:extLst>
          </p:cNvPr>
          <p:cNvSpPr txBox="1">
            <a:spLocks/>
          </p:cNvSpPr>
          <p:nvPr/>
        </p:nvSpPr>
        <p:spPr>
          <a:xfrm>
            <a:off x="8066153" y="1986398"/>
            <a:ext cx="3365062" cy="5734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2000" dirty="0"/>
              <a:t>K≈0 </a:t>
            </a:r>
            <a:r>
              <a:rPr lang="es-ES" sz="2000" dirty="0" err="1"/>
              <a:t>Independent</a:t>
            </a:r>
            <a:r>
              <a:rPr lang="es-ES" sz="2000" dirty="0"/>
              <a:t> </a:t>
            </a:r>
            <a:r>
              <a:rPr lang="es-ES" sz="2000" dirty="0" err="1"/>
              <a:t>traits</a:t>
            </a:r>
            <a:endParaRPr lang="es-CO" sz="2000" dirty="0"/>
          </a:p>
        </p:txBody>
      </p:sp>
      <p:sp>
        <p:nvSpPr>
          <p:cNvPr id="11" name="Flecha: a la derecha 10">
            <a:extLst>
              <a:ext uri="{FF2B5EF4-FFF2-40B4-BE49-F238E27FC236}">
                <a16:creationId xmlns:a16="http://schemas.microsoft.com/office/drawing/2014/main" id="{6E981944-5D20-A396-7591-66494487BEA5}"/>
              </a:ext>
            </a:extLst>
          </p:cNvPr>
          <p:cNvSpPr/>
          <p:nvPr/>
        </p:nvSpPr>
        <p:spPr>
          <a:xfrm rot="10800000">
            <a:off x="6302476" y="2045239"/>
            <a:ext cx="1650605" cy="308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27794493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TotalTime>
  <Words>342</Words>
  <Application>Microsoft Office PowerPoint</Application>
  <PresentationFormat>Panorámica</PresentationFormat>
  <Paragraphs>51</Paragraphs>
  <Slides>47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47</vt:i4>
      </vt:variant>
    </vt:vector>
  </HeadingPairs>
  <TitlesOfParts>
    <vt:vector size="53" baseType="lpstr">
      <vt:lpstr>Aptos</vt:lpstr>
      <vt:lpstr>Aptos Display</vt:lpstr>
      <vt:lpstr>Arial</vt:lpstr>
      <vt:lpstr>PalatinoLTStd-Bold</vt:lpstr>
      <vt:lpstr>PalatinoLTStd-Roman</vt:lpstr>
      <vt:lpstr>Tema de Office</vt:lpstr>
      <vt:lpstr>Molecular basis of evolution</vt:lpstr>
      <vt:lpstr>Presentación de PowerPoint</vt:lpstr>
      <vt:lpstr>Presentación de PowerPoint</vt:lpstr>
      <vt:lpstr>nucleotide diversity</vt:lpstr>
      <vt:lpstr>segregating sites</vt:lpstr>
      <vt:lpstr>Tajima´s D</vt:lpstr>
      <vt:lpstr>Genome scan (Sliding Windows)</vt:lpstr>
      <vt:lpstr>Modes of speciation</vt:lpstr>
      <vt:lpstr>Molecular basis of evolution</vt:lpstr>
      <vt:lpstr>Presentación de PowerPoint</vt:lpstr>
      <vt:lpstr>Phylogenetic species concept!</vt:lpstr>
      <vt:lpstr>Presentación de PowerPoint</vt:lpstr>
      <vt:lpstr>Presentación de PowerPoint</vt:lpstr>
      <vt:lpstr>What a phylogenetic tree looks like?</vt:lpstr>
      <vt:lpstr> Newick format</vt:lpstr>
      <vt:lpstr>Presentación de PowerPoint</vt:lpstr>
      <vt:lpstr>The unrooted trees issue</vt:lpstr>
      <vt:lpstr>Why do you need to  use a model of substitution</vt:lpstr>
      <vt:lpstr>Presentación de PowerPoint</vt:lpstr>
      <vt:lpstr>Presentación de PowerPoint</vt:lpstr>
      <vt:lpstr>Presentación de PowerPoint</vt:lpstr>
      <vt:lpstr>Presentación de PowerPoint</vt:lpstr>
      <vt:lpstr>Presentación de PowerPoint</vt:lpstr>
      <vt:lpstr>UPGMA</vt:lpstr>
      <vt:lpstr>Presentación de PowerPoint</vt:lpstr>
      <vt:lpstr>NJ</vt:lpstr>
      <vt:lpstr>Maximum parsimony</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Boostraping</vt:lpstr>
      <vt:lpstr>incomplete lineage sorting (ILS)</vt:lpstr>
      <vt:lpstr>Presentación de PowerPoint</vt:lpstr>
      <vt:lpstr>Presentación de PowerPoint</vt:lpstr>
      <vt:lpstr>Aplications</vt:lpstr>
      <vt:lpstr>Presentación de PowerPoint</vt:lpstr>
      <vt:lpstr>Presentación de PowerPoint</vt:lpstr>
      <vt:lpstr>Blomberg’s K</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Chrystian Camilo Sosa Arango</dc:creator>
  <cp:lastModifiedBy>Chrystian Camilo Sosa Arango</cp:lastModifiedBy>
  <cp:revision>90</cp:revision>
  <dcterms:created xsi:type="dcterms:W3CDTF">2025-11-10T14:23:37Z</dcterms:created>
  <dcterms:modified xsi:type="dcterms:W3CDTF">2025-11-11T04:04:20Z</dcterms:modified>
</cp:coreProperties>
</file>