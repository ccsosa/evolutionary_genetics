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3" r:id="rId2"/>
    <p:sldId id="465" r:id="rId3"/>
    <p:sldId id="301" r:id="rId4"/>
    <p:sldId id="320" r:id="rId5"/>
    <p:sldId id="479" r:id="rId6"/>
    <p:sldId id="274" r:id="rId7"/>
    <p:sldId id="275" r:id="rId8"/>
    <p:sldId id="276" r:id="rId9"/>
    <p:sldId id="278" r:id="rId10"/>
    <p:sldId id="279" r:id="rId11"/>
    <p:sldId id="482" r:id="rId12"/>
    <p:sldId id="280" r:id="rId13"/>
    <p:sldId id="466" r:id="rId14"/>
    <p:sldId id="281" r:id="rId15"/>
    <p:sldId id="283" r:id="rId16"/>
    <p:sldId id="284" r:id="rId17"/>
    <p:sldId id="282" r:id="rId18"/>
    <p:sldId id="285" r:id="rId19"/>
    <p:sldId id="471" r:id="rId20"/>
    <p:sldId id="286" r:id="rId21"/>
    <p:sldId id="292" r:id="rId22"/>
    <p:sldId id="287" r:id="rId23"/>
    <p:sldId id="288" r:id="rId24"/>
    <p:sldId id="290" r:id="rId25"/>
    <p:sldId id="472" r:id="rId26"/>
    <p:sldId id="289" r:id="rId27"/>
    <p:sldId id="473" r:id="rId28"/>
    <p:sldId id="474" r:id="rId29"/>
    <p:sldId id="480" r:id="rId30"/>
    <p:sldId id="481" r:id="rId31"/>
    <p:sldId id="475" r:id="rId32"/>
    <p:sldId id="477" r:id="rId33"/>
    <p:sldId id="476" r:id="rId34"/>
    <p:sldId id="478" r:id="rId35"/>
    <p:sldId id="467" r:id="rId36"/>
    <p:sldId id="468" r:id="rId37"/>
    <p:sldId id="469" r:id="rId38"/>
    <p:sldId id="470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84782-876B-4D81-A345-C9A1B316903E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1F85D-1DE0-498D-95D2-7B1D22DDDB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482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1F85D-1DE0-498D-95D2-7B1D22DDDB7D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525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0D0FF2-28F3-0846-3B35-B579292D0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3D2B6D-2131-25EA-CCE5-60952B323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CACAFB-AA43-F269-3FFB-104B12AC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B4FE8-1EC1-E54B-D9DF-01491B6F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D78B4E-C9B1-2934-0BF2-B184A806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440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23409-6892-DD92-5EE9-2C9374AE4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0D8E98-2CCA-529A-241E-A216BE498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03AD38-C3CF-B559-6658-78BDF99B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F8F10-78F3-1EA5-D316-2D759B64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B83073-9A02-7107-89AE-6604AEA8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2191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91CD1-E603-3DE4-C813-0E5EC346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260A55-8559-325E-9C47-CE6E2A60C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34F044-8FCB-D909-4F9C-C5DFC738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03CBFB-D38B-47D7-B5C3-9201A459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81351-F922-1D91-30E6-015D8218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460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EAE6A-07E9-C1BC-C777-81162644C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526A9-58AC-CB5D-3539-13874E162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E35E21-6709-421F-5944-63BCE9B26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880954-509E-04C7-304F-A594CC1F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3F86B5-2A11-768D-A18A-C833D4DC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20F538-C9A0-0A84-3503-DF1BB3D7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591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36734-1BF4-1C80-59F2-9C521D66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698292-B08C-6EF8-67B8-5D8719908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F7EBE-2FB8-EA27-EAB7-34093B24A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EA8337-11B5-DB78-915A-134E0E30A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E28E83-B97E-4E9E-48DF-0354F6F61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5F8943-DFA3-9D65-0B48-780A2299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F41A87-3F69-4211-467A-30630265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16E0E9B-F819-F2F7-A3EA-3050975C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433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AB4D4-1F5D-F8A4-426D-356046FF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495EAB-DBD2-FC57-E8EA-D1676DE64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EF3F23-CFC7-86C8-38DD-033F12A03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2C5D98-1ED5-A7F6-90F6-6AD86035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692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3F18B6-2568-A5B5-0D1D-C77A2ED6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DE7CD8-83BD-B2C1-DAA2-B890C53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DC580E-ED28-6592-3CC0-BA071FC7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28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50467-E89B-EBA0-F456-C82EAEA6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E96CF0-95C4-9FD5-4300-3E4A02269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43CDD9-F339-E514-A3BA-6E4D0888E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8905EA-E231-0E36-8C71-0DD7CB70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6AC06D-43E4-FAEF-9C7A-4A616F50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BEB70C-EAF2-8744-36A2-23FC1D39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043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36491-F642-DD32-D211-620B5D5D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3C6C03-7219-6F44-E77B-85F40583B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C90D1A-3154-195F-80CB-AB375024D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2AEC97-6559-DABC-E40E-BFE43FD9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952764-7FEE-FF14-DE3E-3FCE1026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D46045-DCC7-540F-2BA5-E76082ED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998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B6C4A-942B-5664-022A-EF265C25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B200E5-3B88-223C-5B2B-7FFD0877F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B2B199-9E4A-1BBB-74F3-EACBD4F2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876757-EF31-C501-F6EB-DDDFC26F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65AF5-0B78-B7EA-6787-AE741DAC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023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038AA3-8341-859F-788E-7DA5AB8D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16DA6C-13BA-5B01-6C1A-EC879A1F2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A636C9-18F1-8579-DC3B-D7E2FBF6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8E3910-387D-F357-3D1F-2126C5AB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9836AB-1C7A-1715-9925-B6A269B9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171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267F50-A73F-F062-E195-750D8D0F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D77DE9-9587-1BBB-97E6-4EE503791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D3AB9-8CCA-0488-5306-1F3323097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4003F-2C46-443C-AC31-A161672E5098}" type="datetimeFigureOut">
              <a:rPr lang="es-CO" smtClean="0"/>
              <a:t>8/09/2025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52968A-4933-B441-6EE8-18338D958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75717-52AF-2DCB-9B37-E13A03ECE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DC591-5DD1-4BCA-AC24-A202898257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844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C9939095-097C-8124-1C1E-5B4A11D38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75" y="78658"/>
            <a:ext cx="88741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7CA193-75D8-BD6E-10A8-7F0ACD100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Natural </a:t>
            </a:r>
            <a:r>
              <a:rPr lang="es-ES" dirty="0" err="1"/>
              <a:t>selection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3580E9-4A8A-9ABD-72B5-876F4465A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50395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2">
            <a:extLst>
              <a:ext uri="{FF2B5EF4-FFF2-40B4-BE49-F238E27FC236}">
                <a16:creationId xmlns:a16="http://schemas.microsoft.com/office/drawing/2014/main" id="{8D76F5FC-FEBF-DC11-9508-F94172985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838201"/>
            <a:ext cx="4611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0000FF"/>
                </a:solidFill>
                <a:latin typeface="Arial" panose="020B0604020202020204" pitchFamily="34" charset="0"/>
              </a:rPr>
              <a:t>The Hardy-Weinberg Law</a:t>
            </a:r>
          </a:p>
        </p:txBody>
      </p:sp>
      <p:sp>
        <p:nvSpPr>
          <p:cNvPr id="28674" name="Text Box 3">
            <a:extLst>
              <a:ext uri="{FF2B5EF4-FFF2-40B4-BE49-F238E27FC236}">
                <a16:creationId xmlns:a16="http://schemas.microsoft.com/office/drawing/2014/main" id="{78C0FC15-4062-C183-E509-727D7FF0F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3764" y="1876425"/>
            <a:ext cx="78644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Arial" panose="020B0604020202020204" pitchFamily="34" charset="0"/>
              </a:rPr>
              <a:t>A single generation of random mating establishes H-W equilibrium genotype frequencies, and neither these frequencies nor the gene frequencies will change in subsequent generations.</a:t>
            </a:r>
          </a:p>
        </p:txBody>
      </p:sp>
      <p:pic>
        <p:nvPicPr>
          <p:cNvPr id="28675" name="Picture 4" descr="hardy">
            <a:extLst>
              <a:ext uri="{FF2B5EF4-FFF2-40B4-BE49-F238E27FC236}">
                <a16:creationId xmlns:a16="http://schemas.microsoft.com/office/drawing/2014/main" id="{37DF2B53-C171-588A-AB11-3B0D93BB2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581400"/>
            <a:ext cx="1957388" cy="2590800"/>
          </a:xfrm>
          <a:prstGeom prst="rect">
            <a:avLst/>
          </a:prstGeom>
          <a:noFill/>
          <a:ln w="38100">
            <a:solidFill>
              <a:srgbClr val="FFCC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6" name="Text Box 6">
            <a:extLst>
              <a:ext uri="{FF2B5EF4-FFF2-40B4-BE49-F238E27FC236}">
                <a16:creationId xmlns:a16="http://schemas.microsoft.com/office/drawing/2014/main" id="{C3FA9D33-DF1A-0542-5474-5050223F4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248400"/>
            <a:ext cx="998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Hardy</a:t>
            </a:r>
          </a:p>
        </p:txBody>
      </p:sp>
      <p:grpSp>
        <p:nvGrpSpPr>
          <p:cNvPr id="28677" name="Group 9">
            <a:extLst>
              <a:ext uri="{FF2B5EF4-FFF2-40B4-BE49-F238E27FC236}">
                <a16:creationId xmlns:a16="http://schemas.microsoft.com/office/drawing/2014/main" id="{F480AFA9-32A9-1FD0-0B70-F9A3BC830267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419600"/>
            <a:ext cx="3810000" cy="685800"/>
            <a:chOff x="1248" y="2975"/>
            <a:chExt cx="2400" cy="432"/>
          </a:xfrm>
        </p:grpSpPr>
        <p:sp>
          <p:nvSpPr>
            <p:cNvPr id="28678" name="Text Box 5">
              <a:extLst>
                <a:ext uri="{FF2B5EF4-FFF2-40B4-BE49-F238E27FC236}">
                  <a16:creationId xmlns:a16="http://schemas.microsoft.com/office/drawing/2014/main" id="{45775019-15B0-E9E2-7A68-B820099C6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5" y="3008"/>
              <a:ext cx="211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latin typeface="Arial" panose="020B0604020202020204" pitchFamily="34" charset="0"/>
                </a:rPr>
                <a:t>p</a:t>
              </a:r>
              <a:r>
                <a:rPr lang="en-US" altLang="en-US" b="1" baseline="30000">
                  <a:latin typeface="Arial" panose="020B0604020202020204" pitchFamily="34" charset="0"/>
                </a:rPr>
                <a:t>2</a:t>
              </a:r>
              <a:r>
                <a:rPr lang="en-US" altLang="en-US" b="1">
                  <a:latin typeface="Arial" panose="020B0604020202020204" pitchFamily="34" charset="0"/>
                </a:rPr>
                <a:t> + 2pq + q</a:t>
              </a:r>
              <a:r>
                <a:rPr lang="en-US" altLang="en-US" b="1" baseline="30000">
                  <a:latin typeface="Arial" panose="020B0604020202020204" pitchFamily="34" charset="0"/>
                </a:rPr>
                <a:t>2</a:t>
              </a:r>
              <a:r>
                <a:rPr lang="en-US" altLang="en-US" b="1">
                  <a:latin typeface="Arial" panose="020B0604020202020204" pitchFamily="34" charset="0"/>
                </a:rPr>
                <a:t> = 1</a:t>
              </a:r>
            </a:p>
          </p:txBody>
        </p:sp>
        <p:sp>
          <p:nvSpPr>
            <p:cNvPr id="28679" name="Rectangle 8">
              <a:extLst>
                <a:ext uri="{FF2B5EF4-FFF2-40B4-BE49-F238E27FC236}">
                  <a16:creationId xmlns:a16="http://schemas.microsoft.com/office/drawing/2014/main" id="{34767FBF-9989-C1BE-03D4-93D687DDE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975"/>
              <a:ext cx="2400" cy="432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2925" y="538836"/>
                <a:ext cx="9670869" cy="5894212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3800" b="1" dirty="0">
                    <a:cs typeface="Calibri"/>
                  </a:rPr>
                  <a:t>How do we measure population structure?</a:t>
                </a:r>
                <a:endParaRPr lang="en-US" sz="3800" dirty="0">
                  <a:latin typeface="Calibri"/>
                  <a:cs typeface="Calibri"/>
                </a:endParaRPr>
              </a:p>
              <a:p>
                <a:endParaRPr lang="en-US" dirty="0">
                  <a:latin typeface="Calibri"/>
                  <a:cs typeface="Calibri"/>
                </a:endParaRPr>
              </a:p>
              <a:p>
                <a:r>
                  <a:rPr lang="en-US" sz="2800" dirty="0">
                    <a:latin typeface="Calibri"/>
                    <a:cs typeface="Calibri"/>
                  </a:rPr>
                  <a:t>We use F statistics.</a:t>
                </a:r>
              </a:p>
              <a:p>
                <a:pPr marL="0" indent="0">
                  <a:buNone/>
                </a:pPr>
                <a:endParaRPr lang="en-US" sz="1400" i="1" dirty="0">
                  <a:latin typeface="Calibri"/>
                  <a:cs typeface="Calibri"/>
                </a:endParaRPr>
              </a:p>
              <a:p>
                <a:r>
                  <a:rPr lang="en-US" sz="2800" i="1" dirty="0" err="1">
                    <a:latin typeface="Calibri"/>
                    <a:cs typeface="Calibri"/>
                  </a:rPr>
                  <a:t>F</a:t>
                </a:r>
                <a:r>
                  <a:rPr lang="en-US" sz="2800" i="1" cap="small" baseline="-25000" dirty="0" err="1">
                    <a:latin typeface="Calibri"/>
                    <a:cs typeface="Calibri"/>
                  </a:rPr>
                  <a:t>st</a:t>
                </a:r>
                <a:r>
                  <a:rPr lang="en-US" sz="2800" dirty="0">
                    <a:latin typeface="Calibri"/>
                    <a:cs typeface="Calibri"/>
                  </a:rPr>
                  <a:t> = Sewall Wright’s Fixation Index</a:t>
                </a:r>
              </a:p>
              <a:p>
                <a:endParaRPr lang="en-US" sz="1400" dirty="0">
                  <a:latin typeface="Calibri"/>
                  <a:cs typeface="Calibri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2800" i="1" dirty="0" err="1">
                    <a:cs typeface="Calibri"/>
                  </a:rPr>
                  <a:t>F</a:t>
                </a:r>
                <a:r>
                  <a:rPr lang="en-US" sz="2800" i="1" cap="small" baseline="-25000" dirty="0" err="1">
                    <a:cs typeface="Calibri"/>
                  </a:rPr>
                  <a:t>st</a:t>
                </a:r>
                <a:r>
                  <a:rPr lang="en-US" sz="2800" dirty="0">
                    <a:cs typeface="Calibri"/>
                  </a:rPr>
                  <a:t> =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% reduction in heterozygosity due to genetic differentiation among populations.</a:t>
                </a:r>
                <a:endParaRPr lang="en-US" sz="2800" dirty="0">
                  <a:cs typeface="Calibri"/>
                </a:endParaRPr>
              </a:p>
              <a:p>
                <a:endParaRPr lang="en-US" sz="1400" dirty="0">
                  <a:cs typeface="Calibri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𝑆𝑇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i="1" cap="small" baseline="-25000" dirty="0">
                  <a:cs typeface="Calibri"/>
                </a:endParaRPr>
              </a:p>
              <a:p>
                <a:pPr marL="0" indent="0" algn="ctr">
                  <a:buNone/>
                </a:pPr>
                <a:endParaRPr lang="en-US" sz="2800" i="1" cap="small" baseline="-25000" dirty="0">
                  <a:cs typeface="Calibri"/>
                </a:endParaRPr>
              </a:p>
              <a:p>
                <a:pPr marL="0" indent="0">
                  <a:buNone/>
                </a:pPr>
                <a:r>
                  <a:rPr lang="en-US" sz="2300" dirty="0">
                    <a:latin typeface="Calibri"/>
                    <a:cs typeface="Calibri"/>
                  </a:rPr>
                  <a:t>	*</a:t>
                </a:r>
                <a:r>
                  <a:rPr lang="en-US" sz="2300" i="1" dirty="0">
                    <a:latin typeface="Calibri"/>
                    <a:cs typeface="Calibri"/>
                  </a:rPr>
                  <a:t>H</a:t>
                </a:r>
                <a:r>
                  <a:rPr lang="en-US" sz="2300" i="1" baseline="-25000" dirty="0">
                    <a:latin typeface="Calibri"/>
                    <a:cs typeface="Calibri"/>
                  </a:rPr>
                  <a:t>T</a:t>
                </a:r>
                <a:r>
                  <a:rPr lang="en-US" sz="2300" dirty="0">
                    <a:latin typeface="Calibri"/>
                    <a:cs typeface="Calibri"/>
                  </a:rPr>
                  <a:t> = Expected heterozygosity in total population (ignoring subdivision)</a:t>
                </a:r>
              </a:p>
              <a:p>
                <a:pPr marL="0" indent="0">
                  <a:buNone/>
                </a:pPr>
                <a:r>
                  <a:rPr lang="en-US" sz="2300" dirty="0">
                    <a:latin typeface="Calibri"/>
                    <a:cs typeface="Calibri"/>
                  </a:rPr>
                  <a:t>	*</a:t>
                </a:r>
                <a:r>
                  <a:rPr lang="en-US" sz="2300" i="1" dirty="0">
                    <a:latin typeface="Calibri"/>
                    <a:cs typeface="Calibri"/>
                  </a:rPr>
                  <a:t>H</a:t>
                </a:r>
                <a:r>
                  <a:rPr lang="en-US" sz="2300" i="1" baseline="-25000" dirty="0">
                    <a:latin typeface="Calibri"/>
                    <a:cs typeface="Calibri"/>
                  </a:rPr>
                  <a:t>S</a:t>
                </a:r>
                <a:r>
                  <a:rPr lang="en-US" sz="2300" dirty="0">
                    <a:latin typeface="Calibri"/>
                    <a:cs typeface="Calibri"/>
                  </a:rPr>
                  <a:t> = Average heterozygosity within subpopulations</a:t>
                </a:r>
              </a:p>
              <a:p>
                <a:pPr marL="0" indent="0">
                  <a:buNone/>
                </a:pPr>
                <a:endParaRPr lang="en-US" sz="1400" dirty="0">
                  <a:latin typeface="Calibri"/>
                  <a:cs typeface="Calibri"/>
                </a:endParaRPr>
              </a:p>
              <a:p>
                <a:r>
                  <a:rPr lang="en-US" sz="2800" i="1" dirty="0" err="1">
                    <a:cs typeface="Calibri"/>
                  </a:rPr>
                  <a:t>F</a:t>
                </a:r>
                <a:r>
                  <a:rPr lang="en-US" sz="2800" i="1" cap="small" baseline="-25000" dirty="0" err="1">
                    <a:cs typeface="Calibri"/>
                  </a:rPr>
                  <a:t>st</a:t>
                </a:r>
                <a:r>
                  <a:rPr lang="en-US" sz="2800" dirty="0">
                    <a:cs typeface="Calibri"/>
                  </a:rPr>
                  <a:t> is b</a:t>
                </a:r>
                <a:r>
                  <a:rPr lang="en-US" sz="2800" dirty="0">
                    <a:latin typeface="Calibri"/>
                    <a:cs typeface="Calibri"/>
                  </a:rPr>
                  <a:t>ounded by 0 and 1</a:t>
                </a:r>
              </a:p>
              <a:p>
                <a:endParaRPr lang="en-US" sz="1400" dirty="0">
                  <a:latin typeface="Calibri"/>
                  <a:cs typeface="Calibri"/>
                </a:endParaRPr>
              </a:p>
              <a:p>
                <a:pPr marL="457200" lvl="1" indent="0">
                  <a:buNone/>
                </a:pPr>
                <a:r>
                  <a:rPr lang="en-US" sz="2400" dirty="0">
                    <a:latin typeface="Calibri"/>
                    <a:cs typeface="Calibri"/>
                  </a:rPr>
                  <a:t>0 = populations have identical allelic frequencies.</a:t>
                </a:r>
              </a:p>
              <a:p>
                <a:pPr lvl="1"/>
                <a:endParaRPr lang="en-US" sz="1100" dirty="0">
                  <a:latin typeface="Calibri"/>
                  <a:cs typeface="Calibri"/>
                </a:endParaRPr>
              </a:p>
              <a:p>
                <a:pPr marL="457200" lvl="1" indent="0">
                  <a:buNone/>
                </a:pPr>
                <a:r>
                  <a:rPr lang="en-US" sz="2400" dirty="0">
                    <a:latin typeface="Calibri"/>
                    <a:cs typeface="Calibri"/>
                  </a:rPr>
                  <a:t>1 = populations fixed for different alleles.</a:t>
                </a:r>
              </a:p>
              <a:p>
                <a:endParaRPr lang="en-US" sz="1600" dirty="0">
                  <a:latin typeface="Calibri"/>
                  <a:cs typeface="Calibri"/>
                </a:endParaRPr>
              </a:p>
              <a:p>
                <a:pPr marL="0" indent="0" algn="ctr">
                  <a:buNone/>
                </a:pPr>
                <a:endParaRPr lang="en-US" dirty="0">
                  <a:latin typeface="Calibri"/>
                  <a:cs typeface="Calibri"/>
                </a:endParaRPr>
              </a:p>
              <a:p>
                <a:endParaRPr lang="en-US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2925" y="538836"/>
                <a:ext cx="9670869" cy="5894212"/>
              </a:xfrm>
              <a:blipFill>
                <a:blip r:embed="rId2"/>
                <a:stretch>
                  <a:fillRect l="-1197" t="-2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8096156" y="2892514"/>
            <a:ext cx="3733837" cy="3390599"/>
            <a:chOff x="4749308" y="782573"/>
            <a:chExt cx="5450705" cy="4949649"/>
          </a:xfrm>
        </p:grpSpPr>
        <p:grpSp>
          <p:nvGrpSpPr>
            <p:cNvPr id="4" name="Group 3"/>
            <p:cNvGrpSpPr>
              <a:grpSpLocks noChangeAspect="1"/>
            </p:cNvGrpSpPr>
            <p:nvPr/>
          </p:nvGrpSpPr>
          <p:grpSpPr>
            <a:xfrm>
              <a:off x="6781800" y="1219200"/>
              <a:ext cx="1210554" cy="1371600"/>
              <a:chOff x="2074408" y="1123950"/>
              <a:chExt cx="4035192" cy="4572000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4408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6" name="Oval 5"/>
              <p:cNvSpPr/>
              <p:nvPr/>
            </p:nvSpPr>
            <p:spPr>
              <a:xfrm>
                <a:off x="3056709" y="459812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3422469" y="476794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3869935" y="484658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317401" y="481726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4704972" y="470262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056709" y="41474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056709" y="369678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3056709" y="324612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3056709" y="280796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056709" y="235730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489448" y="431101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489448" y="386034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489448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3489448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3489448" y="252085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3909124" y="431101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909124" y="386034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3909124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3909124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3909124" y="252085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4314074" y="430434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314074" y="385367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4314074" y="340300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4314074" y="29648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314074" y="251418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720687" y="425195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4720687" y="380129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4720687" y="33506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4720687" y="291247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4720687" y="246180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672328" y="215509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4131194" y="2148836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38" name="Group 37"/>
            <p:cNvGrpSpPr>
              <a:grpSpLocks noChangeAspect="1"/>
            </p:cNvGrpSpPr>
            <p:nvPr/>
          </p:nvGrpSpPr>
          <p:grpSpPr>
            <a:xfrm>
              <a:off x="7740549" y="1214062"/>
              <a:ext cx="1210558" cy="1371600"/>
              <a:chOff x="5440065" y="1123950"/>
              <a:chExt cx="4035192" cy="4572000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0065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40" name="Oval 39"/>
              <p:cNvSpPr/>
              <p:nvPr/>
            </p:nvSpPr>
            <p:spPr>
              <a:xfrm>
                <a:off x="6422366" y="459812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6788126" y="476794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7235592" y="48465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7683058" y="481726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8070629" y="470262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6422366" y="414745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6422366" y="36967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6422366" y="324612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6422366" y="280796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6422366" y="235730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6855105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6855105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6855105" y="340967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855105" y="29715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6855105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7274781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7274781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7274781" y="340967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7274781" y="29715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7274781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7679731" y="430434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7679731" y="385367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7679731" y="340300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7679731" y="296485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7679731" y="25141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8086344" y="425195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8086344" y="380129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8086344" y="33506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8086344" y="291247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8086344" y="246180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7037985" y="215509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7496851" y="2148836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72" name="Group 71"/>
            <p:cNvGrpSpPr>
              <a:grpSpLocks noChangeAspect="1"/>
            </p:cNvGrpSpPr>
            <p:nvPr/>
          </p:nvGrpSpPr>
          <p:grpSpPr>
            <a:xfrm>
              <a:off x="6846077" y="4360622"/>
              <a:ext cx="1210554" cy="1371600"/>
              <a:chOff x="2074408" y="1123950"/>
              <a:chExt cx="4035192" cy="4572000"/>
            </a:xfrm>
          </p:grpSpPr>
          <p:pic>
            <p:nvPicPr>
              <p:cNvPr id="73" name="Picture 7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4408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74" name="Oval 73"/>
              <p:cNvSpPr/>
              <p:nvPr/>
            </p:nvSpPr>
            <p:spPr>
              <a:xfrm>
                <a:off x="3056709" y="459812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3422469" y="476794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3869935" y="48465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4317401" y="481726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4704972" y="470262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3056709" y="41474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3056709" y="36967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056709" y="324612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3056709" y="280796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3056709" y="235730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489448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3489448" y="386034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3489448" y="340967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3489448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3489448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3909124" y="431101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3909124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3909124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3909124" y="29715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3909124" y="252085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4314074" y="430434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4314074" y="385367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4314074" y="340300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4314074" y="29648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4314074" y="25141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4720687" y="425195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4720687" y="380129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4720687" y="33506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4720687" y="291247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4720687" y="246180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3672328" y="215509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4131194" y="2148836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06" name="Group 105"/>
            <p:cNvGrpSpPr>
              <a:grpSpLocks noChangeAspect="1"/>
            </p:cNvGrpSpPr>
            <p:nvPr/>
          </p:nvGrpSpPr>
          <p:grpSpPr>
            <a:xfrm>
              <a:off x="7878711" y="4358540"/>
              <a:ext cx="1210554" cy="1371600"/>
              <a:chOff x="2074408" y="1123950"/>
              <a:chExt cx="4035192" cy="4572000"/>
            </a:xfrm>
          </p:grpSpPr>
          <p:pic>
            <p:nvPicPr>
              <p:cNvPr id="107" name="Picture 10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4408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108" name="Oval 107"/>
              <p:cNvSpPr/>
              <p:nvPr/>
            </p:nvSpPr>
            <p:spPr>
              <a:xfrm>
                <a:off x="3056709" y="459812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3422469" y="476794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3869935" y="48465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4317401" y="481726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4704972" y="470262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3056709" y="41474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3056709" y="36967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3056709" y="324612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3056709" y="280796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3056709" y="235730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3489448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3489448" y="386034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3489448" y="340967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3489448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3489448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3909124" y="431101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3909124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3909124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3909124" y="29715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3909124" y="252085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8" name="Oval 127"/>
              <p:cNvSpPr/>
              <p:nvPr/>
            </p:nvSpPr>
            <p:spPr>
              <a:xfrm>
                <a:off x="4314074" y="430434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4314074" y="385367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4314074" y="340300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1" name="Oval 130"/>
              <p:cNvSpPr/>
              <p:nvPr/>
            </p:nvSpPr>
            <p:spPr>
              <a:xfrm>
                <a:off x="4314074" y="29648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4314074" y="25141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4720687" y="425195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4720687" y="380129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4720687" y="33506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4720687" y="291247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4720687" y="246180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3672328" y="215509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4131194" y="2148836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40" name="Group 139"/>
            <p:cNvGrpSpPr>
              <a:grpSpLocks noChangeAspect="1"/>
            </p:cNvGrpSpPr>
            <p:nvPr/>
          </p:nvGrpSpPr>
          <p:grpSpPr>
            <a:xfrm>
              <a:off x="5515110" y="2887255"/>
              <a:ext cx="1210554" cy="1371600"/>
              <a:chOff x="2074408" y="1123950"/>
              <a:chExt cx="4035192" cy="4572000"/>
            </a:xfrm>
          </p:grpSpPr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4408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142" name="Oval 141"/>
              <p:cNvSpPr/>
              <p:nvPr/>
            </p:nvSpPr>
            <p:spPr>
              <a:xfrm>
                <a:off x="3056709" y="459812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3422469" y="476794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3869935" y="484658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4317401" y="481726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6" name="Oval 145"/>
              <p:cNvSpPr/>
              <p:nvPr/>
            </p:nvSpPr>
            <p:spPr>
              <a:xfrm>
                <a:off x="4704972" y="470262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3056709" y="41474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3056709" y="36967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3056709" y="324612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3056709" y="280796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3056709" y="235730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3489448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3489448" y="386034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3489448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5" name="Oval 154"/>
              <p:cNvSpPr/>
              <p:nvPr/>
            </p:nvSpPr>
            <p:spPr>
              <a:xfrm>
                <a:off x="3489448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3489448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3909124" y="431101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3909124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3909124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3909124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3909124" y="252085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2" name="Oval 161"/>
              <p:cNvSpPr/>
              <p:nvPr/>
            </p:nvSpPr>
            <p:spPr>
              <a:xfrm>
                <a:off x="4314074" y="430434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3" name="Oval 162"/>
              <p:cNvSpPr/>
              <p:nvPr/>
            </p:nvSpPr>
            <p:spPr>
              <a:xfrm>
                <a:off x="4314074" y="385367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4" name="Oval 163"/>
              <p:cNvSpPr/>
              <p:nvPr/>
            </p:nvSpPr>
            <p:spPr>
              <a:xfrm>
                <a:off x="4314074" y="340300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5" name="Oval 164"/>
              <p:cNvSpPr/>
              <p:nvPr/>
            </p:nvSpPr>
            <p:spPr>
              <a:xfrm>
                <a:off x="4314074" y="29648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4314074" y="25141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4720687" y="425195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4720687" y="380129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4720687" y="33506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4720687" y="291247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4720687" y="246180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3672328" y="215509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4131194" y="2148836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74" name="Group 173"/>
            <p:cNvGrpSpPr>
              <a:grpSpLocks noChangeAspect="1"/>
            </p:cNvGrpSpPr>
            <p:nvPr/>
          </p:nvGrpSpPr>
          <p:grpSpPr>
            <a:xfrm>
              <a:off x="6547745" y="2885173"/>
              <a:ext cx="1210554" cy="1371600"/>
              <a:chOff x="2074408" y="1123950"/>
              <a:chExt cx="4035192" cy="4572000"/>
            </a:xfrm>
          </p:grpSpPr>
          <p:pic>
            <p:nvPicPr>
              <p:cNvPr id="175" name="Picture 17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4408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176" name="Oval 175"/>
              <p:cNvSpPr/>
              <p:nvPr/>
            </p:nvSpPr>
            <p:spPr>
              <a:xfrm>
                <a:off x="3056709" y="459812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3422469" y="476794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8" name="Oval 177"/>
              <p:cNvSpPr/>
              <p:nvPr/>
            </p:nvSpPr>
            <p:spPr>
              <a:xfrm>
                <a:off x="3869935" y="48465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4317401" y="481726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4704972" y="470262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3056709" y="414745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3056709" y="36967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3056709" y="324612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3056709" y="280796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3056709" y="235730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6" name="Oval 185"/>
              <p:cNvSpPr/>
              <p:nvPr/>
            </p:nvSpPr>
            <p:spPr>
              <a:xfrm>
                <a:off x="3489448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7" name="Oval 186"/>
              <p:cNvSpPr/>
              <p:nvPr/>
            </p:nvSpPr>
            <p:spPr>
              <a:xfrm>
                <a:off x="3489448" y="386034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8" name="Oval 187"/>
              <p:cNvSpPr/>
              <p:nvPr/>
            </p:nvSpPr>
            <p:spPr>
              <a:xfrm>
                <a:off x="3489448" y="340967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3489448" y="29715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0" name="Oval 189"/>
              <p:cNvSpPr/>
              <p:nvPr/>
            </p:nvSpPr>
            <p:spPr>
              <a:xfrm>
                <a:off x="3489448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1" name="Oval 190"/>
              <p:cNvSpPr/>
              <p:nvPr/>
            </p:nvSpPr>
            <p:spPr>
              <a:xfrm>
                <a:off x="3909124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2" name="Oval 191"/>
              <p:cNvSpPr/>
              <p:nvPr/>
            </p:nvSpPr>
            <p:spPr>
              <a:xfrm>
                <a:off x="3909124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3" name="Oval 192"/>
              <p:cNvSpPr/>
              <p:nvPr/>
            </p:nvSpPr>
            <p:spPr>
              <a:xfrm>
                <a:off x="3909124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4" name="Oval 193"/>
              <p:cNvSpPr/>
              <p:nvPr/>
            </p:nvSpPr>
            <p:spPr>
              <a:xfrm>
                <a:off x="3909124" y="29715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5" name="Oval 194"/>
              <p:cNvSpPr/>
              <p:nvPr/>
            </p:nvSpPr>
            <p:spPr>
              <a:xfrm>
                <a:off x="3909124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6" name="Oval 195"/>
              <p:cNvSpPr/>
              <p:nvPr/>
            </p:nvSpPr>
            <p:spPr>
              <a:xfrm>
                <a:off x="4314074" y="430434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7" name="Oval 196"/>
              <p:cNvSpPr/>
              <p:nvPr/>
            </p:nvSpPr>
            <p:spPr>
              <a:xfrm>
                <a:off x="4314074" y="385367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8" name="Oval 197"/>
              <p:cNvSpPr/>
              <p:nvPr/>
            </p:nvSpPr>
            <p:spPr>
              <a:xfrm>
                <a:off x="4314074" y="340300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9" name="Oval 198"/>
              <p:cNvSpPr/>
              <p:nvPr/>
            </p:nvSpPr>
            <p:spPr>
              <a:xfrm>
                <a:off x="4314074" y="29648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0" name="Oval 199"/>
              <p:cNvSpPr/>
              <p:nvPr/>
            </p:nvSpPr>
            <p:spPr>
              <a:xfrm>
                <a:off x="4314074" y="25141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1" name="Oval 200"/>
              <p:cNvSpPr/>
              <p:nvPr/>
            </p:nvSpPr>
            <p:spPr>
              <a:xfrm>
                <a:off x="4720687" y="425195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2" name="Oval 201"/>
              <p:cNvSpPr/>
              <p:nvPr/>
            </p:nvSpPr>
            <p:spPr>
              <a:xfrm>
                <a:off x="4720687" y="380129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3" name="Oval 202"/>
              <p:cNvSpPr/>
              <p:nvPr/>
            </p:nvSpPr>
            <p:spPr>
              <a:xfrm>
                <a:off x="4720687" y="33506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4" name="Oval 203"/>
              <p:cNvSpPr/>
              <p:nvPr/>
            </p:nvSpPr>
            <p:spPr>
              <a:xfrm>
                <a:off x="4720687" y="291247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5" name="Oval 204"/>
              <p:cNvSpPr/>
              <p:nvPr/>
            </p:nvSpPr>
            <p:spPr>
              <a:xfrm>
                <a:off x="4720687" y="246180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6" name="Oval 205"/>
              <p:cNvSpPr/>
              <p:nvPr/>
            </p:nvSpPr>
            <p:spPr>
              <a:xfrm>
                <a:off x="3672328" y="215509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7" name="Oval 206"/>
              <p:cNvSpPr/>
              <p:nvPr/>
            </p:nvSpPr>
            <p:spPr>
              <a:xfrm>
                <a:off x="4131194" y="2148836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08" name="Group 207"/>
            <p:cNvGrpSpPr>
              <a:grpSpLocks noChangeAspect="1"/>
            </p:cNvGrpSpPr>
            <p:nvPr/>
          </p:nvGrpSpPr>
          <p:grpSpPr>
            <a:xfrm>
              <a:off x="8030705" y="2850795"/>
              <a:ext cx="1210554" cy="1371600"/>
              <a:chOff x="2074408" y="1123950"/>
              <a:chExt cx="4035192" cy="4572000"/>
            </a:xfrm>
          </p:grpSpPr>
          <p:pic>
            <p:nvPicPr>
              <p:cNvPr id="209" name="Picture 20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4408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210" name="Oval 209"/>
              <p:cNvSpPr/>
              <p:nvPr/>
            </p:nvSpPr>
            <p:spPr>
              <a:xfrm>
                <a:off x="3056709" y="459812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1" name="Oval 210"/>
              <p:cNvSpPr/>
              <p:nvPr/>
            </p:nvSpPr>
            <p:spPr>
              <a:xfrm>
                <a:off x="3422469" y="476794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2" name="Oval 211"/>
              <p:cNvSpPr/>
              <p:nvPr/>
            </p:nvSpPr>
            <p:spPr>
              <a:xfrm>
                <a:off x="3869935" y="4846589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3" name="Oval 212"/>
              <p:cNvSpPr/>
              <p:nvPr/>
            </p:nvSpPr>
            <p:spPr>
              <a:xfrm>
                <a:off x="4317401" y="481726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4" name="Oval 213"/>
              <p:cNvSpPr/>
              <p:nvPr/>
            </p:nvSpPr>
            <p:spPr>
              <a:xfrm>
                <a:off x="4704972" y="470262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5" name="Oval 214"/>
              <p:cNvSpPr/>
              <p:nvPr/>
            </p:nvSpPr>
            <p:spPr>
              <a:xfrm>
                <a:off x="3056709" y="414745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6" name="Oval 215"/>
              <p:cNvSpPr/>
              <p:nvPr/>
            </p:nvSpPr>
            <p:spPr>
              <a:xfrm>
                <a:off x="3056709" y="369678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7" name="Oval 216"/>
              <p:cNvSpPr/>
              <p:nvPr/>
            </p:nvSpPr>
            <p:spPr>
              <a:xfrm>
                <a:off x="3056709" y="3246121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8" name="Oval 217"/>
              <p:cNvSpPr/>
              <p:nvPr/>
            </p:nvSpPr>
            <p:spPr>
              <a:xfrm>
                <a:off x="3056709" y="280796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9" name="Oval 218"/>
              <p:cNvSpPr/>
              <p:nvPr/>
            </p:nvSpPr>
            <p:spPr>
              <a:xfrm>
                <a:off x="3056709" y="2357301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0" name="Oval 219"/>
              <p:cNvSpPr/>
              <p:nvPr/>
            </p:nvSpPr>
            <p:spPr>
              <a:xfrm>
                <a:off x="3489448" y="431101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1" name="Oval 220"/>
              <p:cNvSpPr/>
              <p:nvPr/>
            </p:nvSpPr>
            <p:spPr>
              <a:xfrm>
                <a:off x="3489448" y="3860343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2" name="Oval 221"/>
              <p:cNvSpPr/>
              <p:nvPr/>
            </p:nvSpPr>
            <p:spPr>
              <a:xfrm>
                <a:off x="3489448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3489448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4" name="Oval 223"/>
              <p:cNvSpPr/>
              <p:nvPr/>
            </p:nvSpPr>
            <p:spPr>
              <a:xfrm>
                <a:off x="3489448" y="252085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5" name="Oval 224"/>
              <p:cNvSpPr/>
              <p:nvPr/>
            </p:nvSpPr>
            <p:spPr>
              <a:xfrm>
                <a:off x="3909124" y="431101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6" name="Oval 225"/>
              <p:cNvSpPr/>
              <p:nvPr/>
            </p:nvSpPr>
            <p:spPr>
              <a:xfrm>
                <a:off x="3909124" y="386034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7" name="Oval 226"/>
              <p:cNvSpPr/>
              <p:nvPr/>
            </p:nvSpPr>
            <p:spPr>
              <a:xfrm>
                <a:off x="3909124" y="340967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8" name="Oval 227"/>
              <p:cNvSpPr/>
              <p:nvPr/>
            </p:nvSpPr>
            <p:spPr>
              <a:xfrm>
                <a:off x="3909124" y="29715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9" name="Oval 228"/>
              <p:cNvSpPr/>
              <p:nvPr/>
            </p:nvSpPr>
            <p:spPr>
              <a:xfrm>
                <a:off x="3909124" y="252085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0" name="Oval 229"/>
              <p:cNvSpPr/>
              <p:nvPr/>
            </p:nvSpPr>
            <p:spPr>
              <a:xfrm>
                <a:off x="4314074" y="430434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1" name="Oval 230"/>
              <p:cNvSpPr/>
              <p:nvPr/>
            </p:nvSpPr>
            <p:spPr>
              <a:xfrm>
                <a:off x="4314074" y="3853677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2" name="Oval 231"/>
              <p:cNvSpPr/>
              <p:nvPr/>
            </p:nvSpPr>
            <p:spPr>
              <a:xfrm>
                <a:off x="4314074" y="340300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3" name="Oval 232"/>
              <p:cNvSpPr/>
              <p:nvPr/>
            </p:nvSpPr>
            <p:spPr>
              <a:xfrm>
                <a:off x="4314074" y="2964857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4" name="Oval 233"/>
              <p:cNvSpPr/>
              <p:nvPr/>
            </p:nvSpPr>
            <p:spPr>
              <a:xfrm>
                <a:off x="4314074" y="251418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5" name="Oval 234"/>
              <p:cNvSpPr/>
              <p:nvPr/>
            </p:nvSpPr>
            <p:spPr>
              <a:xfrm>
                <a:off x="4720687" y="4251959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6" name="Oval 235"/>
              <p:cNvSpPr/>
              <p:nvPr/>
            </p:nvSpPr>
            <p:spPr>
              <a:xfrm>
                <a:off x="4720687" y="3801291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7" name="Oval 236"/>
              <p:cNvSpPr/>
              <p:nvPr/>
            </p:nvSpPr>
            <p:spPr>
              <a:xfrm>
                <a:off x="4720687" y="335062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8" name="Oval 237"/>
              <p:cNvSpPr/>
              <p:nvPr/>
            </p:nvSpPr>
            <p:spPr>
              <a:xfrm>
                <a:off x="4720687" y="2912471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9" name="Oval 238"/>
              <p:cNvSpPr/>
              <p:nvPr/>
            </p:nvSpPr>
            <p:spPr>
              <a:xfrm>
                <a:off x="4720687" y="2461803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0" name="Oval 239"/>
              <p:cNvSpPr/>
              <p:nvPr/>
            </p:nvSpPr>
            <p:spPr>
              <a:xfrm>
                <a:off x="3672328" y="2155095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1" name="Oval 240"/>
              <p:cNvSpPr/>
              <p:nvPr/>
            </p:nvSpPr>
            <p:spPr>
              <a:xfrm>
                <a:off x="4131194" y="2148836"/>
                <a:ext cx="365760" cy="36576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242" name="Group 241"/>
            <p:cNvGrpSpPr>
              <a:grpSpLocks noChangeAspect="1"/>
            </p:cNvGrpSpPr>
            <p:nvPr/>
          </p:nvGrpSpPr>
          <p:grpSpPr>
            <a:xfrm>
              <a:off x="8989455" y="2845657"/>
              <a:ext cx="1210558" cy="1371600"/>
              <a:chOff x="5440065" y="1123950"/>
              <a:chExt cx="4035192" cy="4572000"/>
            </a:xfrm>
          </p:grpSpPr>
          <p:pic>
            <p:nvPicPr>
              <p:cNvPr id="243" name="Picture 24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0065" y="1123950"/>
                <a:ext cx="4035192" cy="4572000"/>
              </a:xfrm>
              <a:prstGeom prst="rect">
                <a:avLst/>
              </a:prstGeom>
            </p:spPr>
          </p:pic>
          <p:sp>
            <p:nvSpPr>
              <p:cNvPr id="244" name="Oval 243"/>
              <p:cNvSpPr/>
              <p:nvPr/>
            </p:nvSpPr>
            <p:spPr>
              <a:xfrm>
                <a:off x="6422366" y="459812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5" name="Oval 244"/>
              <p:cNvSpPr/>
              <p:nvPr/>
            </p:nvSpPr>
            <p:spPr>
              <a:xfrm>
                <a:off x="6788126" y="476794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6" name="Oval 245"/>
              <p:cNvSpPr/>
              <p:nvPr/>
            </p:nvSpPr>
            <p:spPr>
              <a:xfrm>
                <a:off x="7235592" y="48465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7" name="Oval 246"/>
              <p:cNvSpPr/>
              <p:nvPr/>
            </p:nvSpPr>
            <p:spPr>
              <a:xfrm>
                <a:off x="7683058" y="4817267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8" name="Oval 247"/>
              <p:cNvSpPr/>
              <p:nvPr/>
            </p:nvSpPr>
            <p:spPr>
              <a:xfrm>
                <a:off x="8070629" y="470262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9" name="Oval 248"/>
              <p:cNvSpPr/>
              <p:nvPr/>
            </p:nvSpPr>
            <p:spPr>
              <a:xfrm>
                <a:off x="6422366" y="414745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0" name="Oval 249"/>
              <p:cNvSpPr/>
              <p:nvPr/>
            </p:nvSpPr>
            <p:spPr>
              <a:xfrm>
                <a:off x="6422366" y="3696789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1" name="Oval 250"/>
              <p:cNvSpPr/>
              <p:nvPr/>
            </p:nvSpPr>
            <p:spPr>
              <a:xfrm>
                <a:off x="6422366" y="324612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2" name="Oval 251"/>
              <p:cNvSpPr/>
              <p:nvPr/>
            </p:nvSpPr>
            <p:spPr>
              <a:xfrm>
                <a:off x="6422366" y="280796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3" name="Oval 252"/>
              <p:cNvSpPr/>
              <p:nvPr/>
            </p:nvSpPr>
            <p:spPr>
              <a:xfrm>
                <a:off x="6422366" y="2357301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4" name="Oval 253"/>
              <p:cNvSpPr/>
              <p:nvPr/>
            </p:nvSpPr>
            <p:spPr>
              <a:xfrm>
                <a:off x="6855105" y="431101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5" name="Oval 254"/>
              <p:cNvSpPr/>
              <p:nvPr/>
            </p:nvSpPr>
            <p:spPr>
              <a:xfrm>
                <a:off x="6855105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6" name="Oval 255"/>
              <p:cNvSpPr/>
              <p:nvPr/>
            </p:nvSpPr>
            <p:spPr>
              <a:xfrm>
                <a:off x="6855105" y="340967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7" name="Oval 256"/>
              <p:cNvSpPr/>
              <p:nvPr/>
            </p:nvSpPr>
            <p:spPr>
              <a:xfrm>
                <a:off x="6855105" y="2971523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8" name="Oval 257"/>
              <p:cNvSpPr/>
              <p:nvPr/>
            </p:nvSpPr>
            <p:spPr>
              <a:xfrm>
                <a:off x="6855105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9" name="Oval 258"/>
              <p:cNvSpPr/>
              <p:nvPr/>
            </p:nvSpPr>
            <p:spPr>
              <a:xfrm>
                <a:off x="7274781" y="4311011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0" name="Oval 259"/>
              <p:cNvSpPr/>
              <p:nvPr/>
            </p:nvSpPr>
            <p:spPr>
              <a:xfrm>
                <a:off x="7274781" y="386034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1" name="Oval 260"/>
              <p:cNvSpPr/>
              <p:nvPr/>
            </p:nvSpPr>
            <p:spPr>
              <a:xfrm>
                <a:off x="7274781" y="340967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2" name="Oval 261"/>
              <p:cNvSpPr/>
              <p:nvPr/>
            </p:nvSpPr>
            <p:spPr>
              <a:xfrm>
                <a:off x="7274781" y="29715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3" name="Oval 262"/>
              <p:cNvSpPr/>
              <p:nvPr/>
            </p:nvSpPr>
            <p:spPr>
              <a:xfrm>
                <a:off x="7274781" y="252085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4" name="Oval 263"/>
              <p:cNvSpPr/>
              <p:nvPr/>
            </p:nvSpPr>
            <p:spPr>
              <a:xfrm>
                <a:off x="7679731" y="430434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5" name="Oval 264"/>
              <p:cNvSpPr/>
              <p:nvPr/>
            </p:nvSpPr>
            <p:spPr>
              <a:xfrm>
                <a:off x="7679731" y="3853677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6" name="Oval 265"/>
              <p:cNvSpPr/>
              <p:nvPr/>
            </p:nvSpPr>
            <p:spPr>
              <a:xfrm>
                <a:off x="7679731" y="340300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7" name="Oval 266"/>
              <p:cNvSpPr/>
              <p:nvPr/>
            </p:nvSpPr>
            <p:spPr>
              <a:xfrm>
                <a:off x="7679731" y="2964857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8" name="Oval 267"/>
              <p:cNvSpPr/>
              <p:nvPr/>
            </p:nvSpPr>
            <p:spPr>
              <a:xfrm>
                <a:off x="7679731" y="251418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9" name="Oval 268"/>
              <p:cNvSpPr/>
              <p:nvPr/>
            </p:nvSpPr>
            <p:spPr>
              <a:xfrm>
                <a:off x="8086344" y="4251959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0" name="Oval 269"/>
              <p:cNvSpPr/>
              <p:nvPr/>
            </p:nvSpPr>
            <p:spPr>
              <a:xfrm>
                <a:off x="8086344" y="3801291"/>
                <a:ext cx="365760" cy="365760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1" name="Oval 270"/>
              <p:cNvSpPr/>
              <p:nvPr/>
            </p:nvSpPr>
            <p:spPr>
              <a:xfrm>
                <a:off x="8086344" y="335062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2" name="Oval 271"/>
              <p:cNvSpPr/>
              <p:nvPr/>
            </p:nvSpPr>
            <p:spPr>
              <a:xfrm>
                <a:off x="8086344" y="2912471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3" name="Oval 272"/>
              <p:cNvSpPr/>
              <p:nvPr/>
            </p:nvSpPr>
            <p:spPr>
              <a:xfrm>
                <a:off x="8086344" y="2461803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4" name="Oval 273"/>
              <p:cNvSpPr/>
              <p:nvPr/>
            </p:nvSpPr>
            <p:spPr>
              <a:xfrm>
                <a:off x="7037985" y="2155095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75" name="Oval 274"/>
              <p:cNvSpPr/>
              <p:nvPr/>
            </p:nvSpPr>
            <p:spPr>
              <a:xfrm>
                <a:off x="7496851" y="2148836"/>
                <a:ext cx="365760" cy="36576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276" name="TextBox 275"/>
            <p:cNvSpPr txBox="1"/>
            <p:nvPr/>
          </p:nvSpPr>
          <p:spPr>
            <a:xfrm>
              <a:off x="7661931" y="3370087"/>
              <a:ext cx="4539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or</a:t>
              </a:r>
            </a:p>
          </p:txBody>
        </p:sp>
        <p:cxnSp>
          <p:nvCxnSpPr>
            <p:cNvPr id="277" name="Straight Connector 276"/>
            <p:cNvCxnSpPr/>
            <p:nvPr/>
          </p:nvCxnSpPr>
          <p:spPr>
            <a:xfrm flipH="1">
              <a:off x="5469940" y="1865485"/>
              <a:ext cx="9797" cy="33197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/>
            <p:cNvSpPr txBox="1"/>
            <p:nvPr/>
          </p:nvSpPr>
          <p:spPr>
            <a:xfrm>
              <a:off x="4749308" y="782573"/>
              <a:ext cx="815942" cy="4740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 err="1">
                  <a:cs typeface="Calibri"/>
                </a:rPr>
                <a:t>F</a:t>
              </a:r>
              <a:r>
                <a:rPr lang="en-US" sz="2400" i="1" cap="small" baseline="-25000" dirty="0" err="1">
                  <a:cs typeface="Calibri"/>
                </a:rPr>
                <a:t>st</a:t>
              </a:r>
              <a:r>
                <a:rPr lang="en-US" sz="2400" i="1" cap="small" baseline="-25000" dirty="0">
                  <a:cs typeface="Calibri"/>
                </a:rPr>
                <a:t> </a:t>
              </a:r>
            </a:p>
            <a:p>
              <a:endParaRPr lang="en-US" sz="2400" i="1" cap="small" baseline="-25000" dirty="0">
                <a:cs typeface="Calibri"/>
              </a:endParaRPr>
            </a:p>
            <a:p>
              <a:r>
                <a:rPr lang="en-US" sz="1500" dirty="0"/>
                <a:t>1.0</a:t>
              </a:r>
            </a:p>
            <a:p>
              <a:endParaRPr lang="en-US" sz="1500" dirty="0"/>
            </a:p>
            <a:p>
              <a:endParaRPr lang="en-US" sz="1500" dirty="0"/>
            </a:p>
            <a:p>
              <a:endParaRPr lang="en-US" sz="1500" dirty="0"/>
            </a:p>
            <a:p>
              <a:endParaRPr lang="en-US" sz="1500" dirty="0"/>
            </a:p>
            <a:p>
              <a:r>
                <a:rPr lang="en-US" sz="1500" dirty="0"/>
                <a:t>0.5</a:t>
              </a:r>
            </a:p>
            <a:p>
              <a:endParaRPr lang="en-US" sz="1500" dirty="0"/>
            </a:p>
            <a:p>
              <a:endParaRPr lang="en-US" sz="1500" dirty="0"/>
            </a:p>
            <a:p>
              <a:endParaRPr lang="en-US" sz="1500" dirty="0"/>
            </a:p>
            <a:p>
              <a:endParaRPr lang="en-US" sz="1500" dirty="0"/>
            </a:p>
            <a:p>
              <a:r>
                <a:rPr lang="en-US" sz="1500" dirty="0"/>
                <a:t>0.0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84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2EE450-24D4-1149-8850-63BAF946E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68016"/>
            <a:ext cx="9144000" cy="43219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848737-8483-AD46-8FAC-7C4572956EF0}"/>
              </a:ext>
            </a:extLst>
          </p:cNvPr>
          <p:cNvSpPr txBox="1"/>
          <p:nvPr/>
        </p:nvSpPr>
        <p:spPr>
          <a:xfrm>
            <a:off x="1623536" y="372979"/>
            <a:ext cx="90444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mic Sans MS" panose="030F0902030302020204" pitchFamily="66" charset="0"/>
              </a:rPr>
              <a:t>Gene flow is the transfer of alleles from one population to another.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4468E-A1BB-6E4D-AC7B-E6BDA481045F}"/>
              </a:ext>
            </a:extLst>
          </p:cNvPr>
          <p:cNvSpPr txBox="1"/>
          <p:nvPr/>
        </p:nvSpPr>
        <p:spPr>
          <a:xfrm>
            <a:off x="4678869" y="4153144"/>
            <a:ext cx="29338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mic Sans MS" panose="030F0902030302020204" pitchFamily="66" charset="0"/>
              </a:rPr>
              <a:t>Alleles are maladapted to</a:t>
            </a:r>
          </a:p>
          <a:p>
            <a:pPr algn="ctr"/>
            <a:r>
              <a:rPr lang="en-US" dirty="0">
                <a:latin typeface="Comic Sans MS" panose="030F0902030302020204" pitchFamily="66" charset="0"/>
              </a:rPr>
              <a:t>the opposite “non-native”</a:t>
            </a:r>
          </a:p>
          <a:p>
            <a:pPr algn="ctr"/>
            <a:r>
              <a:rPr lang="en-US" dirty="0">
                <a:latin typeface="Comic Sans MS" panose="030F0902030302020204" pitchFamily="66" charset="0"/>
              </a:rPr>
              <a:t>environment.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63888-B0F3-1E4F-B27F-D8866489F59C}"/>
              </a:ext>
            </a:extLst>
          </p:cNvPr>
          <p:cNvSpPr txBox="1"/>
          <p:nvPr/>
        </p:nvSpPr>
        <p:spPr>
          <a:xfrm rot="1264686">
            <a:off x="3500399" y="2185124"/>
            <a:ext cx="1933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Transfer of H allele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CE6F8-A2A0-F149-842E-FDAE88774F44}"/>
              </a:ext>
            </a:extLst>
          </p:cNvPr>
          <p:cNvSpPr txBox="1"/>
          <p:nvPr/>
        </p:nvSpPr>
        <p:spPr>
          <a:xfrm rot="20074617">
            <a:off x="6540012" y="2040025"/>
            <a:ext cx="191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Transfer of h allele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2F27FF-56C4-A649-9F58-35D65DCB83C1}"/>
              </a:ext>
            </a:extLst>
          </p:cNvPr>
          <p:cNvSpPr txBox="1"/>
          <p:nvPr/>
        </p:nvSpPr>
        <p:spPr>
          <a:xfrm>
            <a:off x="2856375" y="5686753"/>
            <a:ext cx="6604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ic Sans MS" panose="030F0902030302020204" pitchFamily="66" charset="0"/>
              </a:rPr>
              <a:t>Each population has low frequency of heterozygotes due to immigrants backcrossing to other population.</a:t>
            </a:r>
          </a:p>
        </p:txBody>
      </p:sp>
      <p:sp>
        <p:nvSpPr>
          <p:cNvPr id="2" name="Rectangle 1"/>
          <p:cNvSpPr/>
          <p:nvPr/>
        </p:nvSpPr>
        <p:spPr>
          <a:xfrm>
            <a:off x="2011680" y="5076474"/>
            <a:ext cx="2495006" cy="5657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942217" y="4905500"/>
            <a:ext cx="2753510" cy="736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82091" y="4905500"/>
            <a:ext cx="1258389" cy="5657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78869" y="4153144"/>
            <a:ext cx="293381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59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AB5B-833B-DE27-87DD-09B41D21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A7ABCF62-040F-FEB6-BC46-73B66C944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75" y="78658"/>
            <a:ext cx="88741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51A33D-341D-BD0B-439C-F23C231E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Natural </a:t>
            </a:r>
            <a:r>
              <a:rPr lang="es-ES" dirty="0" err="1"/>
              <a:t>selection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3BE606-96E2-A43E-D22E-7C9242B4F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36320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9417D-9F02-A987-364B-1004A4A8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 pool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35B8DC-6897-DB0E-65D9-79434B481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alleles</a:t>
            </a:r>
            <a:r>
              <a:rPr lang="es-ES" dirty="0"/>
              <a:t> at a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different</a:t>
            </a:r>
            <a:r>
              <a:rPr lang="es-ES" dirty="0"/>
              <a:t> genes </a:t>
            </a:r>
            <a:r>
              <a:rPr lang="es-ES" dirty="0" err="1"/>
              <a:t>segregating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generations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0440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790A2-A082-10D2-8940-78639721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Effective</a:t>
            </a:r>
            <a:r>
              <a:rPr lang="es-ES" dirty="0"/>
              <a:t> </a:t>
            </a:r>
            <a:r>
              <a:rPr lang="es-ES" dirty="0" err="1"/>
              <a:t>population</a:t>
            </a:r>
            <a:r>
              <a:rPr lang="es-ES" dirty="0"/>
              <a:t> </a:t>
            </a:r>
            <a:r>
              <a:rPr lang="es-ES" dirty="0" err="1"/>
              <a:t>size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FE45D9-D9A5-6A44-D9C9-6AFEC9448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Total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individual </a:t>
            </a:r>
            <a:r>
              <a:rPr lang="es-ES" dirty="0" err="1"/>
              <a:t>vary</a:t>
            </a:r>
            <a:r>
              <a:rPr lang="es-ES" dirty="0"/>
              <a:t> in reproductive output and </a:t>
            </a:r>
            <a:r>
              <a:rPr lang="es-ES" dirty="0" err="1"/>
              <a:t>someindividual</a:t>
            </a:r>
            <a:r>
              <a:rPr lang="es-ES" dirty="0"/>
              <a:t> </a:t>
            </a:r>
            <a:r>
              <a:rPr lang="es-ES" dirty="0" err="1"/>
              <a:t>don´t</a:t>
            </a:r>
            <a:r>
              <a:rPr lang="es-ES" dirty="0"/>
              <a:t> reproduce -&gt; </a:t>
            </a:r>
            <a:r>
              <a:rPr lang="es-ES" dirty="0" err="1"/>
              <a:t>Population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as Poor predictor</a:t>
            </a:r>
          </a:p>
          <a:p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loci in </a:t>
            </a:r>
            <a:r>
              <a:rPr lang="es-ES" dirty="0" err="1"/>
              <a:t>the</a:t>
            </a:r>
            <a:r>
              <a:rPr lang="es-ES" dirty="0"/>
              <a:t> genoma are </a:t>
            </a:r>
            <a:r>
              <a:rPr lang="es-ES" dirty="0" err="1"/>
              <a:t>diploid</a:t>
            </a:r>
            <a:endParaRPr lang="es-ES" dirty="0"/>
          </a:p>
          <a:p>
            <a:r>
              <a:rPr lang="es-ES" dirty="0" err="1"/>
              <a:t>Mitochondrias</a:t>
            </a:r>
            <a:r>
              <a:rPr lang="es-ES" dirty="0"/>
              <a:t> and </a:t>
            </a:r>
            <a:r>
              <a:rPr lang="es-ES" dirty="0" err="1"/>
              <a:t>chloroplasts</a:t>
            </a:r>
            <a:r>
              <a:rPr lang="es-ES" dirty="0"/>
              <a:t> are </a:t>
            </a:r>
            <a:r>
              <a:rPr lang="es-ES" dirty="0" err="1"/>
              <a:t>maternally</a:t>
            </a:r>
            <a:r>
              <a:rPr lang="es-ES" dirty="0"/>
              <a:t> </a:t>
            </a:r>
            <a:r>
              <a:rPr lang="es-ES" dirty="0" err="1"/>
              <a:t>inherited</a:t>
            </a:r>
            <a:endParaRPr lang="es-ES" dirty="0"/>
          </a:p>
          <a:p>
            <a:r>
              <a:rPr lang="es-CO" dirty="0"/>
              <a:t>A locus </a:t>
            </a:r>
            <a:r>
              <a:rPr lang="es-CO" dirty="0" err="1"/>
              <a:t>under</a:t>
            </a:r>
            <a:r>
              <a:rPr lang="es-CO" dirty="0"/>
              <a:t> </a:t>
            </a:r>
            <a:r>
              <a:rPr lang="es-CO" dirty="0" err="1"/>
              <a:t>directional</a:t>
            </a:r>
            <a:r>
              <a:rPr lang="es-CO" dirty="0"/>
              <a:t> </a:t>
            </a:r>
            <a:r>
              <a:rPr lang="es-CO" dirty="0" err="1"/>
              <a:t>selection</a:t>
            </a:r>
            <a:r>
              <a:rPr lang="es-CO" dirty="0"/>
              <a:t> -&gt; </a:t>
            </a:r>
            <a:r>
              <a:rPr lang="es-CO" dirty="0" err="1"/>
              <a:t>Fewer</a:t>
            </a:r>
            <a:r>
              <a:rPr lang="es-CO" dirty="0"/>
              <a:t> </a:t>
            </a:r>
            <a:r>
              <a:rPr lang="es-CO" dirty="0" err="1"/>
              <a:t>alleles</a:t>
            </a:r>
            <a:endParaRPr lang="es-CO" dirty="0"/>
          </a:p>
          <a:p>
            <a:endParaRPr lang="es-CO" dirty="0"/>
          </a:p>
          <a:p>
            <a:pPr marL="0" indent="0">
              <a:buNone/>
            </a:pPr>
            <a:r>
              <a:rPr lang="es-CO" dirty="0" err="1">
                <a:highlight>
                  <a:srgbClr val="FFFF00"/>
                </a:highlight>
              </a:rPr>
              <a:t>Then</a:t>
            </a:r>
            <a:r>
              <a:rPr lang="es-CO" dirty="0">
                <a:highlight>
                  <a:srgbClr val="FFFF00"/>
                </a:highlight>
              </a:rPr>
              <a:t>: Ne = </a:t>
            </a:r>
            <a:r>
              <a:rPr lang="es-CO" dirty="0" err="1">
                <a:highlight>
                  <a:srgbClr val="FFFF00"/>
                </a:highlight>
              </a:rPr>
              <a:t>number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of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breedings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individuals</a:t>
            </a:r>
            <a:r>
              <a:rPr lang="es-CO" dirty="0">
                <a:highlight>
                  <a:srgbClr val="FFFF00"/>
                </a:highlight>
              </a:rPr>
              <a:t> in </a:t>
            </a:r>
            <a:r>
              <a:rPr lang="es-CO" dirty="0" err="1">
                <a:highlight>
                  <a:srgbClr val="FFFF00"/>
                </a:highlight>
              </a:rPr>
              <a:t>an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indealized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population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that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would</a:t>
            </a:r>
            <a:r>
              <a:rPr lang="es-CO" dirty="0">
                <a:highlight>
                  <a:srgbClr val="FFFF00"/>
                </a:highlight>
              </a:rPr>
              <a:t> show </a:t>
            </a:r>
            <a:r>
              <a:rPr lang="es-CO" dirty="0" err="1">
                <a:highlight>
                  <a:srgbClr val="FFFF00"/>
                </a:highlight>
              </a:rPr>
              <a:t>the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same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amount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of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genetic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drift</a:t>
            </a:r>
            <a:r>
              <a:rPr lang="es-CO" dirty="0">
                <a:highlight>
                  <a:srgbClr val="FFFF00"/>
                </a:highlight>
              </a:rPr>
              <a:t> as </a:t>
            </a:r>
            <a:r>
              <a:rPr lang="es-CO" dirty="0" err="1">
                <a:highlight>
                  <a:srgbClr val="FFFF00"/>
                </a:highlight>
              </a:rPr>
              <a:t>the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population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under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consideration</a:t>
            </a:r>
            <a:endParaRPr lang="es-CO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3714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942FE-B746-39E4-7BC8-D6519A9C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Features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A564FD-D78B-0006-ACEE-30C23F24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S" dirty="0" err="1"/>
              <a:t>Randon</a:t>
            </a:r>
            <a:r>
              <a:rPr lang="es-ES" dirty="0"/>
              <a:t> </a:t>
            </a:r>
            <a:r>
              <a:rPr lang="es-ES" dirty="0" err="1"/>
              <a:t>mating</a:t>
            </a:r>
            <a:endParaRPr lang="es-ES" dirty="0"/>
          </a:p>
          <a:p>
            <a:r>
              <a:rPr lang="es-ES" dirty="0" err="1"/>
              <a:t>Equal</a:t>
            </a:r>
            <a:r>
              <a:rPr lang="es-ES" dirty="0"/>
              <a:t> </a:t>
            </a:r>
            <a:r>
              <a:rPr lang="es-ES" dirty="0" err="1"/>
              <a:t>contribution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reproduction</a:t>
            </a:r>
            <a:endParaRPr lang="es-ES" dirty="0"/>
          </a:p>
          <a:p>
            <a:r>
              <a:rPr lang="es-ES" dirty="0" err="1"/>
              <a:t>Equal</a:t>
            </a:r>
            <a:r>
              <a:rPr lang="es-ES" dirty="0"/>
              <a:t> sex ratio</a:t>
            </a:r>
          </a:p>
          <a:p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population</a:t>
            </a:r>
            <a:endParaRPr lang="es-ES" dirty="0"/>
          </a:p>
          <a:p>
            <a:r>
              <a:rPr lang="es-ES" dirty="0"/>
              <a:t>No </a:t>
            </a:r>
            <a:r>
              <a:rPr lang="es-ES" dirty="0" err="1"/>
              <a:t>selection</a:t>
            </a:r>
            <a:endParaRPr lang="es-ES" dirty="0"/>
          </a:p>
          <a:p>
            <a:r>
              <a:rPr lang="es-ES" dirty="0"/>
              <a:t>Non </a:t>
            </a:r>
            <a:r>
              <a:rPr lang="es-ES" dirty="0" err="1"/>
              <a:t>overlapping</a:t>
            </a:r>
            <a:r>
              <a:rPr lang="es-ES" dirty="0"/>
              <a:t> </a:t>
            </a:r>
            <a:r>
              <a:rPr lang="es-ES" dirty="0" err="1"/>
              <a:t>generations</a:t>
            </a:r>
            <a:endParaRPr lang="es-ES" dirty="0"/>
          </a:p>
          <a:p>
            <a:r>
              <a:rPr lang="es-ES" dirty="0" err="1"/>
              <a:t>Smaller</a:t>
            </a:r>
            <a:r>
              <a:rPr lang="es-ES" dirty="0"/>
              <a:t> </a:t>
            </a:r>
            <a:r>
              <a:rPr lang="es-ES" dirty="0" err="1"/>
              <a:t>than</a:t>
            </a:r>
            <a:r>
              <a:rPr lang="es-ES" dirty="0"/>
              <a:t> N (</a:t>
            </a:r>
            <a:r>
              <a:rPr lang="es-ES" dirty="0" err="1"/>
              <a:t>Census</a:t>
            </a:r>
            <a:r>
              <a:rPr lang="es-ES" dirty="0"/>
              <a:t> </a:t>
            </a:r>
            <a:r>
              <a:rPr lang="es-ES" dirty="0" err="1"/>
              <a:t>size</a:t>
            </a:r>
            <a:r>
              <a:rPr lang="es-ES" dirty="0"/>
              <a:t>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4088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72A1F-3B17-A035-5EA9-CDEBA9F3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757CA-FBF4-CA3F-26DE-E19715295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825625"/>
            <a:ext cx="10515600" cy="4351338"/>
          </a:xfrm>
        </p:spPr>
        <p:txBody>
          <a:bodyPr/>
          <a:lstStyle/>
          <a:p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many</a:t>
            </a:r>
            <a:r>
              <a:rPr lang="es-ES" dirty="0"/>
              <a:t> copies </a:t>
            </a:r>
            <a:r>
              <a:rPr lang="es-ES" dirty="0" err="1"/>
              <a:t>of</a:t>
            </a:r>
            <a:r>
              <a:rPr lang="es-ES" dirty="0"/>
              <a:t> a locus are </a:t>
            </a:r>
            <a:r>
              <a:rPr lang="es-ES" dirty="0" err="1"/>
              <a:t>segregating</a:t>
            </a:r>
            <a:r>
              <a:rPr lang="es-ES" dirty="0"/>
              <a:t> in a </a:t>
            </a:r>
            <a:r>
              <a:rPr lang="es-ES" dirty="0" err="1"/>
              <a:t>population</a:t>
            </a:r>
            <a:r>
              <a:rPr lang="es-ES" dirty="0"/>
              <a:t> </a:t>
            </a:r>
          </a:p>
          <a:p>
            <a:r>
              <a:rPr lang="es-ES" dirty="0"/>
              <a:t>2Ne (Copies in </a:t>
            </a:r>
            <a:r>
              <a:rPr lang="es-ES" dirty="0" err="1"/>
              <a:t>circulation</a:t>
            </a:r>
            <a:r>
              <a:rPr lang="es-ES" dirty="0"/>
              <a:t>)</a:t>
            </a:r>
          </a:p>
          <a:p>
            <a:r>
              <a:rPr lang="es-ES" dirty="0" err="1"/>
              <a:t>Variance</a:t>
            </a:r>
            <a:r>
              <a:rPr lang="es-ES" dirty="0"/>
              <a:t> </a:t>
            </a:r>
          </a:p>
          <a:p>
            <a:r>
              <a:rPr lang="es-ES" dirty="0"/>
              <a:t>Ne = </a:t>
            </a:r>
            <a:r>
              <a:rPr lang="es-ES" dirty="0" err="1"/>
              <a:t>Size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idealized</a:t>
            </a:r>
            <a:r>
              <a:rPr lang="es-ES" dirty="0"/>
              <a:t> </a:t>
            </a:r>
            <a:r>
              <a:rPr lang="es-ES" dirty="0" err="1"/>
              <a:t>population</a:t>
            </a:r>
            <a:r>
              <a:rPr lang="es-ES" dirty="0"/>
              <a:t> </a:t>
            </a:r>
            <a:r>
              <a:rPr lang="es-CO" i="1" dirty="0" err="1"/>
              <a:t>Videal</a:t>
            </a:r>
            <a:r>
              <a:rPr lang="es-CO" i="1" dirty="0"/>
              <a:t> </a:t>
            </a:r>
            <a:r>
              <a:rPr lang="es-CO" dirty="0"/>
              <a:t>= </a:t>
            </a:r>
            <a:r>
              <a:rPr lang="es-CO" i="1" dirty="0" err="1"/>
              <a:t>Vactual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4339C3A-2053-908A-2419-2DFD0AFAE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66" y="4001294"/>
            <a:ext cx="3853559" cy="183392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E38BEF1-A9ED-0360-1319-4EC2D96E8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802" y="2681400"/>
            <a:ext cx="129558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15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89459-CE02-8CBB-C814-8840D575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E0BD9-5C1E-2AD0-4534-EAA9567CB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2" y="1825625"/>
            <a:ext cx="5698930" cy="4351338"/>
          </a:xfrm>
        </p:spPr>
        <p:txBody>
          <a:bodyPr/>
          <a:lstStyle/>
          <a:p>
            <a:r>
              <a:rPr lang="es-ES" dirty="0"/>
              <a:t>100 </a:t>
            </a:r>
            <a:r>
              <a:rPr lang="es-ES" dirty="0" err="1"/>
              <a:t>Flasks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6 males and 6 </a:t>
            </a:r>
            <a:r>
              <a:rPr lang="es-ES" dirty="0" err="1"/>
              <a:t>females</a:t>
            </a:r>
            <a:r>
              <a:rPr lang="es-ES" dirty="0"/>
              <a:t>. N=12</a:t>
            </a:r>
          </a:p>
          <a:p>
            <a:r>
              <a:rPr lang="es-ES" dirty="0"/>
              <a:t>p=q=0.5</a:t>
            </a:r>
          </a:p>
          <a:p>
            <a:r>
              <a:rPr lang="es-ES" dirty="0" err="1"/>
              <a:t>Vactual</a:t>
            </a:r>
            <a:r>
              <a:rPr lang="es-ES" dirty="0"/>
              <a:t>= 0.015</a:t>
            </a:r>
          </a:p>
          <a:p>
            <a:endParaRPr lang="es-CO" dirty="0"/>
          </a:p>
        </p:txBody>
      </p:sp>
      <p:sp>
        <p:nvSpPr>
          <p:cNvPr id="4" name="AutoShape 2" descr="Imagen de salida">
            <a:extLst>
              <a:ext uri="{FF2B5EF4-FFF2-40B4-BE49-F238E27FC236}">
                <a16:creationId xmlns:a16="http://schemas.microsoft.com/office/drawing/2014/main" id="{71141ED6-A241-CF03-DEC4-A56CD830D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23F2A0-3302-EB07-EFFF-B1B16BFED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501" y="2633098"/>
            <a:ext cx="6501397" cy="41285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DE974D7-5D15-1B84-F9CE-9B2F64B64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92" y="4109449"/>
            <a:ext cx="3853559" cy="183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6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FAD4F-DD3E-FCB8-57C3-AB8E2C115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natural </a:t>
            </a:r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acting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F70DBF-8233-8528-7E3E-0FFBE4C6A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5035CB-0832-BB32-AA77-8BD16B9093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96"/>
          <a:stretch>
            <a:fillRect/>
          </a:stretch>
        </p:blipFill>
        <p:spPr>
          <a:xfrm>
            <a:off x="4096257" y="1399058"/>
            <a:ext cx="7928507" cy="53489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19C11C-61CA-3522-731B-960D40E64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4141"/>
            <a:ext cx="5302552" cy="215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25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897AF-B981-607A-37A4-3AF71777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Fitness</a:t>
            </a:r>
            <a:br>
              <a:rPr lang="es-ES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D18441-45C4-657F-C8DD-2ACF1497F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/>
              <a:t>Fitness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genotypes</a:t>
            </a:r>
            <a:endParaRPr lang="es-ES" dirty="0"/>
          </a:p>
          <a:p>
            <a:r>
              <a:rPr lang="es-CO" dirty="0" err="1"/>
              <a:t>It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phenotypic</a:t>
            </a:r>
            <a:r>
              <a:rPr lang="es-CO" dirty="0"/>
              <a:t> </a:t>
            </a:r>
            <a:r>
              <a:rPr lang="es-CO" dirty="0" err="1"/>
              <a:t>effect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genotypes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survive</a:t>
            </a:r>
            <a:r>
              <a:rPr lang="es-CO" dirty="0"/>
              <a:t>!</a:t>
            </a:r>
          </a:p>
          <a:p>
            <a:r>
              <a:rPr lang="en-US" dirty="0"/>
              <a:t>A</a:t>
            </a:r>
            <a:r>
              <a:rPr lang="en-US" sz="2400" dirty="0"/>
              <a:t>1</a:t>
            </a:r>
            <a:r>
              <a:rPr lang="en-US" dirty="0"/>
              <a:t>A</a:t>
            </a:r>
            <a:r>
              <a:rPr lang="en-US" sz="2400" dirty="0"/>
              <a:t>1</a:t>
            </a:r>
            <a:r>
              <a:rPr lang="en-US" dirty="0"/>
              <a:t> will have a higher fitness than those with </a:t>
            </a:r>
            <a:r>
              <a:rPr lang="es-CO" dirty="0"/>
              <a:t>A</a:t>
            </a:r>
            <a:r>
              <a:rPr lang="es-CO" sz="2400" dirty="0"/>
              <a:t>2</a:t>
            </a:r>
            <a:r>
              <a:rPr lang="es-CO" dirty="0"/>
              <a:t>A</a:t>
            </a:r>
            <a:r>
              <a:rPr lang="es-CO" sz="2400" dirty="0"/>
              <a:t>2</a:t>
            </a:r>
            <a:r>
              <a:rPr lang="es-CO" dirty="0"/>
              <a:t> </a:t>
            </a:r>
            <a:r>
              <a:rPr lang="es-CO" dirty="0" err="1"/>
              <a:t>it</a:t>
            </a:r>
            <a:r>
              <a:rPr lang="es-CO" dirty="0"/>
              <a:t> </a:t>
            </a:r>
            <a:r>
              <a:rPr lang="es-CO" dirty="0" err="1"/>
              <a:t>yhey</a:t>
            </a:r>
            <a:r>
              <a:rPr lang="es-CO" dirty="0"/>
              <a:t> produce more </a:t>
            </a:r>
            <a:r>
              <a:rPr lang="es-CO" dirty="0" err="1"/>
              <a:t>surviving</a:t>
            </a:r>
            <a:r>
              <a:rPr lang="es-CO" dirty="0"/>
              <a:t> </a:t>
            </a:r>
            <a:r>
              <a:rPr lang="es-CO" dirty="0" err="1"/>
              <a:t>offspring</a:t>
            </a:r>
            <a:r>
              <a:rPr lang="es-CO" dirty="0"/>
              <a:t>!</a:t>
            </a:r>
          </a:p>
          <a:p>
            <a:endParaRPr lang="es-CO" dirty="0"/>
          </a:p>
          <a:p>
            <a:r>
              <a:rPr lang="es-CO" dirty="0">
                <a:highlight>
                  <a:srgbClr val="FFFF00"/>
                </a:highlight>
              </a:rPr>
              <a:t>Absolute fitness: </a:t>
            </a:r>
            <a:r>
              <a:rPr lang="en-US" dirty="0">
                <a:highlight>
                  <a:srgbClr val="FFFF00"/>
                </a:highlight>
              </a:rPr>
              <a:t>measure of the growth rate of a genetically defined group within a population over the course of one or more generations</a:t>
            </a:r>
          </a:p>
          <a:p>
            <a:r>
              <a:rPr lang="en-US" dirty="0">
                <a:highlight>
                  <a:srgbClr val="FFFF00"/>
                </a:highlight>
              </a:rPr>
              <a:t>Relative fitness: Fitness relative to other genotypes!</a:t>
            </a:r>
          </a:p>
          <a:p>
            <a:pPr marL="0" indent="0">
              <a:buNone/>
            </a:pPr>
            <a:r>
              <a:rPr lang="es-CO" dirty="0">
                <a:highlight>
                  <a:srgbClr val="FFFF00"/>
                </a:highlight>
              </a:rPr>
              <a:t>Natural </a:t>
            </a:r>
            <a:r>
              <a:rPr lang="es-CO" dirty="0" err="1">
                <a:highlight>
                  <a:srgbClr val="FFFF00"/>
                </a:highlight>
              </a:rPr>
              <a:t>Selection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is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the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differential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reproduction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or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survival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of</a:t>
            </a:r>
            <a:r>
              <a:rPr lang="es-CO" dirty="0">
                <a:highlight>
                  <a:srgbClr val="FFFF00"/>
                </a:highlight>
              </a:rPr>
              <a:t> </a:t>
            </a:r>
            <a:r>
              <a:rPr lang="es-CO" dirty="0" err="1">
                <a:highlight>
                  <a:srgbClr val="FFFF00"/>
                </a:highlight>
              </a:rPr>
              <a:t>types</a:t>
            </a:r>
            <a:r>
              <a:rPr lang="es-CO" dirty="0">
                <a:highlight>
                  <a:srgbClr val="FFFF00"/>
                </a:highlight>
              </a:rPr>
              <a:t>!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5539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34CB60-A285-79AC-DE6F-E5F416BAA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948"/>
            <a:ext cx="10515600" cy="5705015"/>
          </a:xfrm>
        </p:spPr>
        <p:txBody>
          <a:bodyPr/>
          <a:lstStyle/>
          <a:p>
            <a:r>
              <a:rPr lang="en-US" dirty="0"/>
              <a:t>average multiplication rate per generation (</a:t>
            </a:r>
            <a:r>
              <a:rPr lang="en-US" i="1" dirty="0"/>
              <a:t>λ</a:t>
            </a:r>
            <a:r>
              <a:rPr lang="en-US" dirty="0"/>
              <a:t>)</a:t>
            </a:r>
          </a:p>
          <a:p>
            <a:r>
              <a:rPr lang="en-US" dirty="0"/>
              <a:t>Difference between the relative fitness of a genotype and that of the reference genotype (s) </a:t>
            </a:r>
          </a:p>
          <a:p>
            <a:r>
              <a:rPr lang="en-US" dirty="0"/>
              <a:t>s=1  (Lethal genotype)</a:t>
            </a:r>
          </a:p>
          <a:p>
            <a:r>
              <a:rPr lang="en-US" dirty="0"/>
              <a:t>Relative fitness (W)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821EFB-1C1C-5E37-1E6F-53175118C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6229"/>
            <a:ext cx="10009163" cy="331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92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DF6D3-F768-B6A3-3F24-9B6BEEF6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DA1EF5-285C-AF90-973C-DEE456B1C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86E1B4-1298-B1AE-9821-84A49A57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955016" cy="631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37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373CE-F7B7-4A0F-894D-D06E471E5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Fitness </a:t>
            </a:r>
            <a:r>
              <a:rPr lang="es-ES" dirty="0" err="1"/>
              <a:t>function:Relationship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phenotype</a:t>
            </a:r>
            <a:r>
              <a:rPr lang="es-ES" dirty="0"/>
              <a:t> and output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95B3FB-16C1-8D65-2C9B-BEA49F583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b="1" dirty="0" err="1"/>
              <a:t>Stabilizing</a:t>
            </a:r>
            <a:r>
              <a:rPr lang="es-ES" sz="2400" b="1" dirty="0"/>
              <a:t> </a:t>
            </a:r>
            <a:r>
              <a:rPr lang="es-ES" sz="2400" b="1" dirty="0" err="1"/>
              <a:t>selection</a:t>
            </a:r>
            <a:r>
              <a:rPr lang="es-ES" sz="2400" dirty="0"/>
              <a:t>: Extreme </a:t>
            </a:r>
            <a:r>
              <a:rPr lang="es-ES" sz="2400" dirty="0" err="1"/>
              <a:t>trait</a:t>
            </a:r>
            <a:r>
              <a:rPr lang="es-ES" sz="2400" dirty="0"/>
              <a:t> </a:t>
            </a:r>
            <a:r>
              <a:rPr lang="es-ES" sz="2400" dirty="0" err="1"/>
              <a:t>values</a:t>
            </a:r>
            <a:r>
              <a:rPr lang="es-ES" sz="2400" dirty="0"/>
              <a:t> </a:t>
            </a:r>
            <a:r>
              <a:rPr lang="es-ES" sz="2400" dirty="0" err="1"/>
              <a:t>selected</a:t>
            </a:r>
            <a:r>
              <a:rPr lang="es-ES" sz="2400" dirty="0"/>
              <a:t>/</a:t>
            </a:r>
            <a:r>
              <a:rPr lang="es-ES" sz="2400" dirty="0" err="1"/>
              <a:t>Intermediate</a:t>
            </a:r>
            <a:r>
              <a:rPr lang="es-ES" sz="2400" dirty="0"/>
              <a:t> </a:t>
            </a:r>
            <a:r>
              <a:rPr lang="es-ES" sz="2400" dirty="0" err="1"/>
              <a:t>trait</a:t>
            </a:r>
            <a:r>
              <a:rPr lang="es-ES" sz="2400" dirty="0"/>
              <a:t> </a:t>
            </a:r>
            <a:r>
              <a:rPr lang="es-ES" sz="2400" dirty="0" err="1"/>
              <a:t>favoured</a:t>
            </a:r>
            <a:endParaRPr lang="es-ES" sz="2400" dirty="0"/>
          </a:p>
          <a:p>
            <a:r>
              <a:rPr lang="es-ES" sz="2400" b="1" dirty="0"/>
              <a:t>Disruptive </a:t>
            </a:r>
            <a:r>
              <a:rPr lang="es-ES" sz="2400" b="1" dirty="0" err="1"/>
              <a:t>selection</a:t>
            </a:r>
            <a:r>
              <a:rPr lang="es-ES" sz="2400" b="1" dirty="0"/>
              <a:t>: </a:t>
            </a:r>
            <a:r>
              <a:rPr lang="es-ES" sz="2400" dirty="0" err="1"/>
              <a:t>Intermediate</a:t>
            </a:r>
            <a:r>
              <a:rPr lang="es-ES" sz="2400" dirty="0"/>
              <a:t> </a:t>
            </a:r>
            <a:r>
              <a:rPr lang="es-ES" sz="2400" dirty="0" err="1"/>
              <a:t>trait</a:t>
            </a:r>
            <a:r>
              <a:rPr lang="es-ES" sz="2400" dirty="0"/>
              <a:t> </a:t>
            </a:r>
            <a:r>
              <a:rPr lang="es-ES" sz="2400" dirty="0" err="1"/>
              <a:t>values</a:t>
            </a:r>
            <a:r>
              <a:rPr lang="es-ES" sz="2400" dirty="0"/>
              <a:t> are </a:t>
            </a:r>
            <a:r>
              <a:rPr lang="es-ES" sz="2400" dirty="0" err="1"/>
              <a:t>selected</a:t>
            </a:r>
            <a:r>
              <a:rPr lang="es-ES" sz="2400" dirty="0"/>
              <a:t>/Extreme </a:t>
            </a:r>
            <a:r>
              <a:rPr lang="es-ES" sz="2400" dirty="0" err="1"/>
              <a:t>values</a:t>
            </a:r>
            <a:r>
              <a:rPr lang="es-ES" sz="2400" dirty="0"/>
              <a:t> are </a:t>
            </a:r>
            <a:r>
              <a:rPr lang="es-ES" sz="2400" dirty="0" err="1"/>
              <a:t>favoured</a:t>
            </a:r>
            <a:endParaRPr lang="es-ES" sz="2400" dirty="0"/>
          </a:p>
          <a:p>
            <a:r>
              <a:rPr lang="es-ES" sz="2400" b="1" dirty="0" err="1"/>
              <a:t>Directional</a:t>
            </a:r>
            <a:r>
              <a:rPr lang="es-ES" sz="2400" b="1" dirty="0"/>
              <a:t> </a:t>
            </a:r>
            <a:r>
              <a:rPr lang="es-ES" sz="2400" b="1" dirty="0" err="1"/>
              <a:t>selection</a:t>
            </a:r>
            <a:r>
              <a:rPr lang="es-ES" sz="2400" dirty="0"/>
              <a:t>: </a:t>
            </a:r>
            <a:r>
              <a:rPr lang="es-ES" sz="2400" dirty="0" err="1"/>
              <a:t>Trait</a:t>
            </a:r>
            <a:r>
              <a:rPr lang="es-ES" sz="2400" dirty="0"/>
              <a:t> </a:t>
            </a:r>
            <a:r>
              <a:rPr lang="es-ES" sz="2400" dirty="0" err="1"/>
              <a:t>values</a:t>
            </a:r>
            <a:r>
              <a:rPr lang="es-ES" sz="2400" dirty="0"/>
              <a:t> </a:t>
            </a:r>
            <a:r>
              <a:rPr lang="es-ES" sz="2400" dirty="0" err="1"/>
              <a:t>higher</a:t>
            </a:r>
            <a:r>
              <a:rPr lang="es-ES" sz="2400" dirty="0"/>
              <a:t> </a:t>
            </a:r>
            <a:r>
              <a:rPr lang="es-ES" sz="2400" dirty="0" err="1"/>
              <a:t>or</a:t>
            </a:r>
            <a:r>
              <a:rPr lang="es-ES" sz="2400" dirty="0"/>
              <a:t> </a:t>
            </a:r>
            <a:r>
              <a:rPr lang="es-ES" sz="2400" dirty="0" err="1"/>
              <a:t>lower</a:t>
            </a:r>
            <a:r>
              <a:rPr lang="es-ES" sz="2400" dirty="0"/>
              <a:t>/</a:t>
            </a:r>
            <a:r>
              <a:rPr lang="es-ES" sz="2400" dirty="0" err="1"/>
              <a:t>Than</a:t>
            </a:r>
            <a:r>
              <a:rPr lang="es-ES" sz="2400" dirty="0"/>
              <a:t> </a:t>
            </a:r>
            <a:r>
              <a:rPr lang="es-ES" sz="2400" dirty="0" err="1"/>
              <a:t>the</a:t>
            </a:r>
            <a:r>
              <a:rPr lang="es-ES" sz="2400" dirty="0"/>
              <a:t> </a:t>
            </a:r>
            <a:r>
              <a:rPr lang="es-ES" sz="2400" dirty="0" err="1"/>
              <a:t>current</a:t>
            </a:r>
            <a:r>
              <a:rPr lang="es-ES" sz="2400" dirty="0"/>
              <a:t> </a:t>
            </a:r>
            <a:r>
              <a:rPr lang="es-ES" sz="2400" dirty="0" err="1"/>
              <a:t>population</a:t>
            </a:r>
            <a:r>
              <a:rPr lang="es-ES" sz="2400" dirty="0"/>
              <a:t> are </a:t>
            </a:r>
            <a:r>
              <a:rPr lang="es-ES" sz="2400" dirty="0" err="1"/>
              <a:t>favoured</a:t>
            </a:r>
            <a:endParaRPr lang="es-E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9ED01A-830E-144E-0FD6-729F905E6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501" y="4263655"/>
            <a:ext cx="5582429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42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FAE5F-DA72-73FC-860C-E12918FB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9C96C0-F51E-FAC4-4265-DAF613517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09DA8D2-9075-1E7A-AACF-5DE81CD72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75" y="0"/>
            <a:ext cx="5554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604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7D663-3C08-3587-EACA-2C05417E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542A9B-9614-C31B-FF39-9F7B2E87A3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noProof="0" dirty="0"/>
                  <a:t>Absolute fitness:  Expected reproductive success </a:t>
                </a:r>
              </a:p>
              <a:p>
                <a:pPr marL="0" indent="0">
                  <a:buNone/>
                </a:pPr>
                <a:r>
                  <a:rPr lang="en-US" noProof="0" dirty="0"/>
                  <a:t>(NO CONVENIENT!)</a:t>
                </a:r>
              </a:p>
              <a:p>
                <a:r>
                  <a:rPr lang="en-US" noProof="0" dirty="0"/>
                  <a:t>Relative fitness: How well one genotype fares relative to other genotypes!</a:t>
                </a:r>
              </a:p>
              <a:p>
                <a:pPr marL="0" indent="0">
                  <a:buNone/>
                </a:pPr>
                <a:r>
                  <a:rPr lang="en-US" noProof="0" dirty="0" err="1"/>
                  <a:t>W</a:t>
                </a:r>
                <a:r>
                  <a:rPr lang="en-US" sz="2400" noProof="0" dirty="0" err="1"/>
                  <a:t>ij</a:t>
                </a:r>
                <a:r>
                  <a:rPr lang="en-US" noProof="0" dirty="0"/>
                  <a:t>= relative fi</a:t>
                </a:r>
                <a:r>
                  <a:rPr lang="en-US" dirty="0" err="1"/>
                  <a:t>tness</a:t>
                </a:r>
                <a:r>
                  <a:rPr lang="en-US" dirty="0"/>
                  <a:t> of </a:t>
                </a:r>
                <a:r>
                  <a:rPr lang="en-US" dirty="0" err="1"/>
                  <a:t>AiAj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Mean population fitness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b="0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3542A9B-9614-C31B-FF39-9F7B2E87A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80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C58B-64C6-32AC-C45B-EAB13259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Fitness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638FFCD-063D-F675-5026-00BB97A2C8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Relative fitness =</a:t>
                </a:r>
                <a:r>
                  <a:rPr lang="en-US" dirty="0" err="1"/>
                  <a:t>Wij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Genotype = A1A1 -&gt; 4 surviving offspring</a:t>
                </a:r>
              </a:p>
              <a:p>
                <a:pPr lvl="1"/>
                <a:r>
                  <a:rPr lang="en-US" dirty="0" err="1"/>
                  <a:t>Genoype</a:t>
                </a:r>
                <a:r>
                  <a:rPr lang="en-US" dirty="0"/>
                  <a:t> = A1A2 -&gt; 3 surviving offspring</a:t>
                </a:r>
              </a:p>
              <a:p>
                <a:pPr lvl="1"/>
                <a:r>
                  <a:rPr lang="en-US" dirty="0"/>
                  <a:t>W11=4/4 and W12=3/4 </a:t>
                </a:r>
              </a:p>
              <a:p>
                <a:r>
                  <a:rPr lang="en-US" dirty="0"/>
                  <a:t>Mean population fitness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b="0" dirty="0"/>
              </a:p>
              <a:p>
                <a:pPr lvl="1"/>
                <a:r>
                  <a:rPr lang="en-US" dirty="0"/>
                  <a:t>Let's imagine A1A1=70% in the population and </a:t>
                </a:r>
                <a:r>
                  <a:rPr lang="en-US" dirty="0" err="1"/>
                  <a:t>wij</a:t>
                </a:r>
                <a:r>
                  <a:rPr lang="en-US" dirty="0"/>
                  <a:t> = 1 </a:t>
                </a:r>
                <a:r>
                  <a:rPr lang="en-US" sz="2000" dirty="0"/>
                  <a:t>(All offspring survive!)</a:t>
                </a:r>
                <a:endParaRPr lang="en-US" dirty="0"/>
              </a:p>
              <a:p>
                <a:pPr lvl="1"/>
                <a:r>
                  <a:rPr lang="en-US" dirty="0"/>
                  <a:t>Let's imagine A1A2=20% in the population and </a:t>
                </a:r>
                <a:r>
                  <a:rPr lang="en-US" dirty="0" err="1"/>
                  <a:t>wij</a:t>
                </a:r>
                <a:r>
                  <a:rPr lang="en-US" dirty="0"/>
                  <a:t> = 1</a:t>
                </a:r>
              </a:p>
              <a:p>
                <a:pPr lvl="1"/>
                <a:r>
                  <a:rPr lang="en-US" dirty="0"/>
                  <a:t>Let's imagine A2A2=10% in the population and </a:t>
                </a:r>
                <a:r>
                  <a:rPr lang="en-US" dirty="0" err="1"/>
                  <a:t>wij</a:t>
                </a:r>
                <a:r>
                  <a:rPr lang="en-US" dirty="0"/>
                  <a:t> = 0.75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s-E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= (0.7*1) + (0.2*1)+(0.1*0.75) = 0.975</a:t>
                </a:r>
                <a:endParaRPr lang="es-ES" b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638FFCD-063D-F675-5026-00BB97A2C8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39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94365F5-52AE-79CC-7566-AC926DAB86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Mean population fitness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94365F5-52AE-79CC-7566-AC926DAB86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B19B8E-06BD-0C6F-6B5C-B5F1F54048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CO" dirty="0"/>
                  <a:t>A1A1 = 70%, A2A2=20%, A1A2=10%</a:t>
                </a:r>
              </a:p>
              <a:p>
                <a:pPr marL="0" indent="0">
                  <a:buNone/>
                </a:pPr>
                <a:r>
                  <a:rPr lang="es-CO" dirty="0" err="1"/>
                  <a:t>Offspings</a:t>
                </a:r>
                <a:r>
                  <a:rPr lang="es-CO" dirty="0"/>
                  <a:t> 1= 4, </a:t>
                </a:r>
                <a:r>
                  <a:rPr lang="es-CO" dirty="0" err="1"/>
                  <a:t>Offsprings</a:t>
                </a:r>
                <a:r>
                  <a:rPr lang="es-CO" dirty="0"/>
                  <a:t> 2= 4,Offsprings 3= 3</a:t>
                </a:r>
              </a:p>
              <a:p>
                <a:pPr marL="0" indent="0">
                  <a:buNone/>
                </a:pPr>
                <a:r>
                  <a:rPr lang="es-CO" dirty="0"/>
                  <a:t>w11 </a:t>
                </a:r>
                <a:r>
                  <a:rPr lang="es-CO"/>
                  <a:t>= 4/4</a:t>
                </a:r>
                <a:r>
                  <a:rPr lang="es-CO" dirty="0"/>
                  <a:t>, w12=4/4, w13=3/4</a:t>
                </a:r>
                <a:endParaRPr lang="es-ES" dirty="0"/>
              </a:p>
              <a:p>
                <a:pPr marL="0" indent="0">
                  <a:buNone/>
                </a:pPr>
                <a:r>
                  <a:rPr lang="es-CO" dirty="0"/>
                  <a:t>w11 = 1, w12=1, w13=0.75</a:t>
                </a:r>
                <a:endParaRPr lang="es-ES" dirty="0"/>
              </a:p>
              <a:p>
                <a:endParaRPr lang="es-CO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pl-PL" i="1" dirty="0"/>
                  <a:t> </a:t>
                </a:r>
                <a:r>
                  <a:rPr lang="pl-PL" dirty="0"/>
                  <a:t>= 0.7 ×1 + 0.2 ×1 + 0.1× 0.75 = </a:t>
                </a:r>
                <a:r>
                  <a:rPr lang="pl-PL" b="1" dirty="0">
                    <a:highlight>
                      <a:srgbClr val="FFFF00"/>
                    </a:highlight>
                  </a:rPr>
                  <a:t>0.975</a:t>
                </a:r>
                <a:endParaRPr lang="es-CO" b="1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1B19B8E-06BD-0C6F-6B5C-B5F1F54048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73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A69D9-5DA2-74F0-8E29-F2208E76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B1375B4-E87B-209C-5643-014BB9FAB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 err="1"/>
                  <a:t>Remember</a:t>
                </a:r>
                <a:r>
                  <a:rPr lang="es-ES" dirty="0"/>
                  <a:t> fitness </a:t>
                </a:r>
                <a:r>
                  <a:rPr lang="es-ES" dirty="0" err="1"/>
                  <a:t>acts</a:t>
                </a:r>
                <a:r>
                  <a:rPr lang="es-ES" dirty="0"/>
                  <a:t> </a:t>
                </a:r>
                <a:r>
                  <a:rPr lang="es-ES" dirty="0" err="1"/>
                  <a:t>on</a:t>
                </a:r>
                <a:r>
                  <a:rPr lang="es-ES" dirty="0"/>
                  <a:t> </a:t>
                </a:r>
                <a:r>
                  <a:rPr lang="es-ES" dirty="0" err="1"/>
                  <a:t>phenotypes</a:t>
                </a:r>
                <a:r>
                  <a:rPr lang="es-ES" dirty="0"/>
                  <a:t>!</a:t>
                </a:r>
              </a:p>
              <a:p>
                <a:r>
                  <a:rPr lang="es-ES" b="1" dirty="0"/>
                  <a:t>Marginal fitness</a:t>
                </a:r>
                <a:r>
                  <a:rPr lang="es-ES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s-CO" dirty="0"/>
                  <a:t>= </a:t>
                </a:r>
                <a:r>
                  <a:rPr lang="es-CO" dirty="0" err="1"/>
                  <a:t>Average</a:t>
                </a:r>
                <a:r>
                  <a:rPr lang="es-CO" dirty="0"/>
                  <a:t> fitness </a:t>
                </a:r>
                <a:r>
                  <a:rPr lang="es-CO" dirty="0" err="1"/>
                  <a:t>of</a:t>
                </a:r>
                <a:r>
                  <a:rPr lang="es-CO" dirty="0"/>
                  <a:t> </a:t>
                </a:r>
                <a:r>
                  <a:rPr lang="es-CO" dirty="0" err="1"/>
                  <a:t>an</a:t>
                </a:r>
                <a:r>
                  <a:rPr lang="es-CO" dirty="0"/>
                  <a:t> </a:t>
                </a:r>
                <a:r>
                  <a:rPr lang="es-CO" dirty="0" err="1"/>
                  <a:t>allle</a:t>
                </a:r>
                <a:r>
                  <a:rPr lang="es-CO" dirty="0"/>
                  <a:t> in </a:t>
                </a:r>
                <a:r>
                  <a:rPr lang="es-CO" dirty="0" err="1"/>
                  <a:t>the</a:t>
                </a:r>
                <a:r>
                  <a:rPr lang="es-CO" dirty="0"/>
                  <a:t> </a:t>
                </a:r>
                <a:r>
                  <a:rPr lang="es-CO" dirty="0" err="1"/>
                  <a:t>population</a:t>
                </a:r>
                <a:endParaRPr lang="es-CO" dirty="0"/>
              </a:p>
              <a:p>
                <a:r>
                  <a:rPr lang="es-CO" dirty="0">
                    <a:highlight>
                      <a:srgbClr val="FFFF00"/>
                    </a:highlight>
                  </a:rPr>
                  <a:t>P and q are </a:t>
                </a:r>
                <a:r>
                  <a:rPr lang="es-CO" dirty="0" err="1">
                    <a:highlight>
                      <a:srgbClr val="FFFF00"/>
                    </a:highlight>
                  </a:rPr>
                  <a:t>alleles</a:t>
                </a:r>
                <a:r>
                  <a:rPr lang="es-CO" dirty="0">
                    <a:highlight>
                      <a:srgbClr val="FFFF00"/>
                    </a:highlight>
                  </a:rPr>
                  <a:t>! And w </a:t>
                </a:r>
                <a:r>
                  <a:rPr lang="es-CO" dirty="0" err="1">
                    <a:highlight>
                      <a:srgbClr val="FFFF00"/>
                    </a:highlight>
                  </a:rPr>
                  <a:t>is</a:t>
                </a:r>
                <a:r>
                  <a:rPr lang="es-CO" dirty="0">
                    <a:highlight>
                      <a:srgbClr val="FFFF00"/>
                    </a:highlight>
                  </a:rPr>
                  <a:t> fitness</a:t>
                </a:r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B1375B4-E87B-209C-5643-014BB9FAB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81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D8A60084-81D1-3367-1217-FCD9131F3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651" y="3759541"/>
            <a:ext cx="2753109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31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C512B-FD0D-5227-5783-83608F61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CB8B13-DEF7-7956-0309-F723E650D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888D45-693B-0F5A-989B-BB6D7A144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371048"/>
            <a:ext cx="11326806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89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FEDFC-A1E7-992C-5A19-F84E0DD6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One</a:t>
            </a:r>
            <a:r>
              <a:rPr lang="es-ES" dirty="0"/>
              <a:t> locus </a:t>
            </a:r>
            <a:r>
              <a:rPr lang="es-ES" dirty="0" err="1"/>
              <a:t>viability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147F98A-73F9-50FB-2E32-5AEB5C6F56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 err="1"/>
                  <a:t>Frequency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A</a:t>
                </a:r>
                <a:r>
                  <a:rPr lang="es-ES" sz="2000" dirty="0"/>
                  <a:t>1 </a:t>
                </a:r>
                <a:r>
                  <a:rPr lang="es-ES" dirty="0"/>
                  <a:t>after </a:t>
                </a:r>
                <a:r>
                  <a:rPr lang="es-ES" dirty="0" err="1"/>
                  <a:t>one</a:t>
                </a:r>
                <a:r>
                  <a:rPr lang="es-ES" dirty="0"/>
                  <a:t> </a:t>
                </a:r>
                <a:r>
                  <a:rPr lang="es-ES" dirty="0" err="1"/>
                  <a:t>generation</a:t>
                </a:r>
                <a:r>
                  <a:rPr lang="es-ES" dirty="0"/>
                  <a:t> </a:t>
                </a:r>
                <a:r>
                  <a:rPr lang="es-ES" dirty="0" err="1"/>
                  <a:t>of</a:t>
                </a:r>
                <a:r>
                  <a:rPr lang="es-ES" dirty="0"/>
                  <a:t> </a:t>
                </a:r>
                <a:r>
                  <a:rPr lang="es-ES" dirty="0" err="1"/>
                  <a:t>selection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d>
                          <m:d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b>
                    </m:sSub>
                  </m:oMath>
                </a14:m>
                <a:endParaRPr lang="es-CO" dirty="0"/>
              </a:p>
              <a:p>
                <a:r>
                  <a:rPr lang="es-CO" dirty="0" err="1"/>
                  <a:t>If</a:t>
                </a:r>
                <a:r>
                  <a:rPr lang="es-CO" dirty="0"/>
                  <a:t> </a:t>
                </a:r>
                <a:r>
                  <a:rPr lang="es-CO" dirty="0" err="1"/>
                  <a:t>on</a:t>
                </a:r>
                <a:r>
                  <a:rPr lang="es-CO" dirty="0"/>
                  <a:t> </a:t>
                </a:r>
                <a:r>
                  <a:rPr lang="es-CO" dirty="0" err="1"/>
                  <a:t>average</a:t>
                </a:r>
                <a:r>
                  <a:rPr lang="es-CO" dirty="0"/>
                  <a:t> </a:t>
                </a:r>
                <a:r>
                  <a:rPr lang="es-ES" dirty="0"/>
                  <a:t>A</a:t>
                </a:r>
                <a:r>
                  <a:rPr lang="es-ES" sz="2000" dirty="0"/>
                  <a:t>1 </a:t>
                </a:r>
                <a:r>
                  <a:rPr lang="es-CO" dirty="0" err="1"/>
                  <a:t>have</a:t>
                </a:r>
                <a:r>
                  <a:rPr lang="es-CO" dirty="0"/>
                  <a:t> </a:t>
                </a:r>
                <a:r>
                  <a:rPr lang="es-CO" dirty="0" err="1"/>
                  <a:t>better</a:t>
                </a:r>
                <a:r>
                  <a:rPr lang="es-CO" dirty="0"/>
                  <a:t> fitness -&gt; </a:t>
                </a:r>
                <a:r>
                  <a:rPr lang="es-CO" dirty="0" err="1"/>
                  <a:t>Increase</a:t>
                </a:r>
                <a:r>
                  <a:rPr lang="es-CO" dirty="0"/>
                  <a:t> in </a:t>
                </a:r>
                <a:r>
                  <a:rPr lang="es-CO" dirty="0" err="1"/>
                  <a:t>frequency</a:t>
                </a: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147F98A-73F9-50FB-2E32-5AEB5C6F5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8ADE2E12-991F-6A7C-4353-86FCAFBFE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666" y="0"/>
            <a:ext cx="5487053" cy="17814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37CA191-9BDD-0637-082E-88EAA26F6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79" y="3644056"/>
            <a:ext cx="4020111" cy="714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E1C35D9-BA12-E27B-CC5B-53655AFC9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585" y="5206194"/>
            <a:ext cx="2200981" cy="11057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A6D0EB2-B0E1-8DCD-95EB-B36334A1307F}"/>
              </a:ext>
            </a:extLst>
          </p:cNvPr>
          <p:cNvSpPr txBox="1"/>
          <p:nvPr/>
        </p:nvSpPr>
        <p:spPr>
          <a:xfrm>
            <a:off x="1125638" y="4439420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 err="1"/>
              <a:t>One</a:t>
            </a:r>
            <a:r>
              <a:rPr lang="es-ES" sz="2800" dirty="0"/>
              <a:t> locus </a:t>
            </a:r>
            <a:r>
              <a:rPr lang="es-ES" sz="2800" dirty="0" err="1"/>
              <a:t>viability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835833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70A0BC7-B683-34E5-0C65-59A70B91C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856" y="0"/>
            <a:ext cx="6692144" cy="327251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90BCFB7-B814-8844-F144-F97CA1B35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23835"/>
            <a:ext cx="5499855" cy="715041"/>
          </a:xfrm>
          <a:prstGeom prst="rect">
            <a:avLst/>
          </a:prstGeom>
        </p:spPr>
      </p:pic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219C6AC5-E9EB-5095-58EC-69433500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S" dirty="0"/>
              <a:t>p0=0.01</a:t>
            </a:r>
            <a:endParaRPr lang="es-CO" dirty="0"/>
          </a:p>
          <a:p>
            <a:r>
              <a:rPr lang="es-CO" dirty="0" err="1"/>
              <a:t>wAA</a:t>
            </a:r>
            <a:r>
              <a:rPr lang="es-CO" dirty="0"/>
              <a:t>=1</a:t>
            </a:r>
          </a:p>
          <a:p>
            <a:r>
              <a:rPr lang="es-CO" dirty="0" err="1"/>
              <a:t>wAa</a:t>
            </a:r>
            <a:r>
              <a:rPr lang="es-CO" dirty="0"/>
              <a:t>=0.8</a:t>
            </a:r>
          </a:p>
          <a:p>
            <a:r>
              <a:rPr lang="es-CO" dirty="0" err="1"/>
              <a:t>waa</a:t>
            </a:r>
            <a:r>
              <a:rPr lang="es-CO" dirty="0"/>
              <a:t>=0.8</a:t>
            </a:r>
            <a:endParaRPr lang="es-E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D633AE3-B786-D553-2696-82BE157B5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6096000" cy="2961381"/>
          </a:xfrm>
          <a:prstGeom prst="rect">
            <a:avLst/>
          </a:prstGeom>
        </p:spPr>
      </p:pic>
      <p:sp>
        <p:nvSpPr>
          <p:cNvPr id="20" name="Flecha: hacia abajo 19">
            <a:extLst>
              <a:ext uri="{FF2B5EF4-FFF2-40B4-BE49-F238E27FC236}">
                <a16:creationId xmlns:a16="http://schemas.microsoft.com/office/drawing/2014/main" id="{A4B024F8-78AB-A84C-BEF9-71433D931A06}"/>
              </a:ext>
            </a:extLst>
          </p:cNvPr>
          <p:cNvSpPr/>
          <p:nvPr/>
        </p:nvSpPr>
        <p:spPr>
          <a:xfrm rot="15330914">
            <a:off x="10037117" y="552058"/>
            <a:ext cx="520860" cy="7736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3D1BB6A-53D0-61B6-8FFE-C889727D14A5}"/>
              </a:ext>
            </a:extLst>
          </p:cNvPr>
          <p:cNvSpPr txBox="1"/>
          <p:nvPr/>
        </p:nvSpPr>
        <p:spPr>
          <a:xfrm>
            <a:off x="7526439" y="137203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Pt+1 =p (</a:t>
            </a:r>
            <a:r>
              <a:rPr lang="es-ES" dirty="0" err="1"/>
              <a:t>Equlibria</a:t>
            </a:r>
            <a:r>
              <a:rPr lang="es-ES" dirty="0"/>
              <a:t>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60302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AFE31-B693-89C4-AB53-0F0DB128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 all possible equilibria using </a:t>
            </a:r>
            <a:r>
              <a:rPr lang="en-US" b="1" dirty="0" err="1"/>
              <a:t>Δp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6DC-6951-6F8A-5406-007CC4024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Equilibria</a:t>
            </a:r>
            <a:r>
              <a:rPr lang="es-ES" dirty="0"/>
              <a:t>= No </a:t>
            </a:r>
            <a:r>
              <a:rPr lang="es-ES" dirty="0" err="1"/>
              <a:t>changesn</a:t>
            </a:r>
            <a:r>
              <a:rPr lang="es-ES" dirty="0"/>
              <a:t> in </a:t>
            </a:r>
            <a:r>
              <a:rPr lang="es-ES" dirty="0" err="1"/>
              <a:t>allele</a:t>
            </a:r>
            <a:r>
              <a:rPr lang="es-ES" dirty="0"/>
              <a:t> </a:t>
            </a:r>
            <a:r>
              <a:rPr lang="es-ES" dirty="0" err="1"/>
              <a:t>frequency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generation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next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B99D7B-0CEA-091C-D329-D9CC2FEA1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8257"/>
            <a:ext cx="6335009" cy="18576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E973F5-01EF-349F-BFF9-F3356AF1F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128" y="3068204"/>
            <a:ext cx="2048161" cy="2057687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54B4C63-1E28-A4F7-A4FE-9A8371D3F802}"/>
              </a:ext>
            </a:extLst>
          </p:cNvPr>
          <p:cNvSpPr txBox="1">
            <a:spLocks/>
          </p:cNvSpPr>
          <p:nvPr/>
        </p:nvSpPr>
        <p:spPr>
          <a:xfrm>
            <a:off x="8534137" y="40012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-Equilibro interno</a:t>
            </a:r>
          </a:p>
          <a:p>
            <a:r>
              <a:rPr lang="es-ES" dirty="0"/>
              <a:t>-Fijación</a:t>
            </a:r>
          </a:p>
          <a:p>
            <a:r>
              <a:rPr lang="es-ES" dirty="0"/>
              <a:t>-Ausencia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24086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A19ED-9082-66FB-E473-B85A6DB9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Invasion</a:t>
            </a:r>
            <a:r>
              <a:rPr lang="es-ES" dirty="0"/>
              <a:t> fitness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0AF654-4C4C-218D-EBFB-EED79B0A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Heterozygote</a:t>
            </a:r>
            <a:r>
              <a:rPr lang="es-ES" dirty="0"/>
              <a:t> has a </a:t>
            </a:r>
            <a:r>
              <a:rPr lang="es-ES" dirty="0" err="1"/>
              <a:t>higher</a:t>
            </a:r>
            <a:r>
              <a:rPr lang="es-ES" dirty="0"/>
              <a:t> fitness (</a:t>
            </a:r>
            <a:r>
              <a:rPr lang="es-ES" dirty="0" err="1"/>
              <a:t>Heterozygote</a:t>
            </a:r>
            <a:r>
              <a:rPr lang="es-ES" dirty="0"/>
              <a:t> </a:t>
            </a:r>
            <a:r>
              <a:rPr lang="es-ES" dirty="0" err="1"/>
              <a:t>advantage</a:t>
            </a:r>
            <a:r>
              <a:rPr lang="es-ES" dirty="0"/>
              <a:t>)</a:t>
            </a:r>
          </a:p>
          <a:p>
            <a:r>
              <a:rPr lang="es-ES" dirty="0" err="1"/>
              <a:t>There</a:t>
            </a:r>
            <a:r>
              <a:rPr lang="es-ES" dirty="0"/>
              <a:t> are cases </a:t>
            </a:r>
            <a:r>
              <a:rPr lang="es-ES" dirty="0" err="1"/>
              <a:t>where</a:t>
            </a:r>
            <a:r>
              <a:rPr lang="es-ES" dirty="0"/>
              <a:t> A2 </a:t>
            </a:r>
            <a:r>
              <a:rPr lang="es-ES" dirty="0" err="1"/>
              <a:t>is</a:t>
            </a:r>
            <a:r>
              <a:rPr lang="es-ES" dirty="0"/>
              <a:t> rare</a:t>
            </a:r>
          </a:p>
          <a:p>
            <a:r>
              <a:rPr lang="es-ES" dirty="0" err="1"/>
              <a:t>Unstable</a:t>
            </a:r>
            <a:r>
              <a:rPr lang="es-ES" dirty="0"/>
              <a:t> </a:t>
            </a:r>
            <a:r>
              <a:rPr lang="es-ES" dirty="0" err="1"/>
              <a:t>equilibrium</a:t>
            </a:r>
            <a:r>
              <a:rPr lang="es-ES" dirty="0"/>
              <a:t>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00030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EF90-D0A4-50CB-71DD-0F533D6D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337"/>
            <a:ext cx="10515600" cy="1325563"/>
          </a:xfrm>
        </p:spPr>
        <p:txBody>
          <a:bodyPr/>
          <a:lstStyle/>
          <a:p>
            <a:r>
              <a:rPr lang="es-ES" dirty="0" err="1"/>
              <a:t>Invasion</a:t>
            </a:r>
            <a:r>
              <a:rPr lang="es-ES" dirty="0"/>
              <a:t>  fitness</a:t>
            </a:r>
            <a:br>
              <a:rPr lang="es-ES" dirty="0"/>
            </a:br>
            <a:r>
              <a:rPr lang="es-ES" dirty="0"/>
              <a:t>Compare </a:t>
            </a:r>
            <a:r>
              <a:rPr lang="es-ES" dirty="0" err="1"/>
              <a:t>with</a:t>
            </a:r>
            <a:r>
              <a:rPr lang="es-ES" dirty="0"/>
              <a:t> a rare </a:t>
            </a:r>
            <a:r>
              <a:rPr lang="es-ES" dirty="0" err="1"/>
              <a:t>mutant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4504D3-0C9B-5651-B1F3-9AE446C94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092510-84E2-7D58-B107-7D7314B7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23" y="2963738"/>
            <a:ext cx="1667108" cy="14861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C9AD642-E4EB-7E16-FE72-CD72F03E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003" y="2624669"/>
            <a:ext cx="7955666" cy="38269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A91B6C7-F10A-589D-CA03-45E82BA69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343" y="76657"/>
            <a:ext cx="3889891" cy="227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943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B450E-D2A3-CE09-6BF0-CDE1D9F6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When</a:t>
            </a:r>
            <a:r>
              <a:rPr lang="es-ES" dirty="0"/>
              <a:t> fitness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contant</a:t>
            </a:r>
            <a:r>
              <a:rPr lang="es-ES" dirty="0"/>
              <a:t>: </a:t>
            </a:r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maximize</a:t>
            </a:r>
            <a:r>
              <a:rPr lang="es-ES" dirty="0"/>
              <a:t> mean </a:t>
            </a:r>
            <a:r>
              <a:rPr lang="es-ES" dirty="0" err="1"/>
              <a:t>population</a:t>
            </a:r>
            <a:r>
              <a:rPr lang="es-ES" dirty="0"/>
              <a:t> fitness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473961-5334-1C59-40BA-B7D86B71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Allele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 per </a:t>
            </a:r>
            <a:r>
              <a:rPr lang="es-ES" dirty="0" err="1"/>
              <a:t>generatioin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partly</a:t>
            </a:r>
            <a:r>
              <a:rPr lang="es-ES" dirty="0"/>
              <a:t> </a:t>
            </a:r>
            <a:r>
              <a:rPr lang="es-ES" dirty="0" err="1"/>
              <a:t>determined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genotypic</a:t>
            </a:r>
            <a:r>
              <a:rPr lang="es-ES" dirty="0"/>
              <a:t> </a:t>
            </a:r>
            <a:r>
              <a:rPr lang="es-ES" dirty="0" err="1"/>
              <a:t>variance</a:t>
            </a:r>
            <a:endParaRPr lang="es-ES" dirty="0"/>
          </a:p>
          <a:p>
            <a:r>
              <a:rPr lang="el-GR" dirty="0"/>
              <a:t>Δ</a:t>
            </a:r>
            <a:r>
              <a:rPr lang="es-CO" dirty="0"/>
              <a:t>p </a:t>
            </a:r>
            <a:r>
              <a:rPr lang="es-CO" dirty="0" err="1"/>
              <a:t>tend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be </a:t>
            </a:r>
            <a:r>
              <a:rPr lang="es-CO" dirty="0" err="1"/>
              <a:t>faster</a:t>
            </a:r>
            <a:r>
              <a:rPr lang="es-CO" dirty="0"/>
              <a:t>,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higher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variance</a:t>
            </a:r>
            <a:endParaRPr lang="es-CO" dirty="0"/>
          </a:p>
          <a:p>
            <a:r>
              <a:rPr lang="es-CO" dirty="0" err="1"/>
              <a:t>Direction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change</a:t>
            </a:r>
            <a:r>
              <a:rPr lang="es-CO" dirty="0"/>
              <a:t> in </a:t>
            </a:r>
            <a:r>
              <a:rPr lang="es-CO" dirty="0" err="1"/>
              <a:t>allele</a:t>
            </a:r>
            <a:r>
              <a:rPr lang="es-CO" dirty="0"/>
              <a:t> </a:t>
            </a:r>
            <a:r>
              <a:rPr lang="es-CO" dirty="0" err="1"/>
              <a:t>frequency</a:t>
            </a:r>
            <a:r>
              <a:rPr lang="es-CO" dirty="0"/>
              <a:t>  </a:t>
            </a:r>
            <a:r>
              <a:rPr lang="es-CO" dirty="0" err="1"/>
              <a:t>related</a:t>
            </a:r>
            <a:r>
              <a:rPr lang="es-CO" dirty="0"/>
              <a:t> </a:t>
            </a:r>
            <a:r>
              <a:rPr lang="es-CO" dirty="0" err="1"/>
              <a:t>with</a:t>
            </a:r>
            <a:r>
              <a:rPr lang="es-CO" dirty="0"/>
              <a:t> </a:t>
            </a:r>
            <a:r>
              <a:rPr lang="es-CO" dirty="0" err="1"/>
              <a:t>slope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AA7927-B190-9CD8-2C30-7EC94C0F5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40" y="3620381"/>
            <a:ext cx="6618494" cy="28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29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7A308-1269-BF52-51A9-3C6BD63F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Adaptative </a:t>
            </a:r>
            <a:r>
              <a:rPr lang="es-ES" b="1" dirty="0" err="1"/>
              <a:t>landscape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34922F-86FF-F254-62A4-0A0E26DD4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</a:rPr>
              <a:t>Compare </a:t>
            </a:r>
            <a:r>
              <a:rPr lang="es-ES" dirty="0" err="1">
                <a:highlight>
                  <a:srgbClr val="FFFF00"/>
                </a:highlight>
              </a:rPr>
              <a:t>Freq</a:t>
            </a:r>
            <a:r>
              <a:rPr lang="es-ES" dirty="0">
                <a:highlight>
                  <a:srgbClr val="FFFF00"/>
                </a:highlight>
              </a:rPr>
              <a:t> vs Fitness</a:t>
            </a:r>
          </a:p>
          <a:p>
            <a:pPr marL="0" indent="0">
              <a:buNone/>
            </a:pPr>
            <a:endParaRPr lang="es-ES" dirty="0">
              <a:highlight>
                <a:srgbClr val="FFFF00"/>
              </a:highlight>
            </a:endParaRPr>
          </a:p>
          <a:p>
            <a:endParaRPr lang="es-CO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75C01A7-E940-0B3F-DE1D-00EB46F19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40" y="3620381"/>
            <a:ext cx="6618494" cy="28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26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CD97-195F-803F-A636-E15A8E6A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85C82-F650-6A97-3439-C53B27EC2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Adaptative</a:t>
            </a:r>
            <a:br>
              <a:rPr lang="es-ES" b="1" dirty="0"/>
            </a:br>
            <a:r>
              <a:rPr lang="es-ES" b="1" dirty="0" err="1"/>
              <a:t>landscape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F7B42C-FE41-3664-48AB-30065F28D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</a:rPr>
              <a:t>Compare </a:t>
            </a:r>
            <a:r>
              <a:rPr lang="es-ES" dirty="0" err="1">
                <a:highlight>
                  <a:srgbClr val="FFFF00"/>
                </a:highlight>
              </a:rPr>
              <a:t>Freq</a:t>
            </a:r>
            <a:r>
              <a:rPr lang="es-ES" dirty="0">
                <a:highlight>
                  <a:srgbClr val="FFFF00"/>
                </a:highlight>
              </a:rPr>
              <a:t> vs Fitness</a:t>
            </a:r>
          </a:p>
          <a:p>
            <a:r>
              <a:rPr lang="es-ES" dirty="0"/>
              <a:t>A1 </a:t>
            </a:r>
            <a:r>
              <a:rPr lang="es-ES" dirty="0" err="1"/>
              <a:t>dominant</a:t>
            </a:r>
            <a:r>
              <a:rPr lang="es-ES" dirty="0"/>
              <a:t> (blue)</a:t>
            </a:r>
          </a:p>
          <a:p>
            <a:r>
              <a:rPr lang="es-ES" dirty="0"/>
              <a:t>W11=W12</a:t>
            </a:r>
          </a:p>
          <a:p>
            <a:r>
              <a:rPr lang="es-ES" dirty="0" err="1"/>
              <a:t>Additive</a:t>
            </a:r>
            <a:r>
              <a:rPr lang="es-ES" dirty="0"/>
              <a:t> </a:t>
            </a:r>
            <a:r>
              <a:rPr lang="es-ES" dirty="0" err="1"/>
              <a:t>inheritance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dirty="0"/>
              <a:t>(red)</a:t>
            </a:r>
          </a:p>
          <a:p>
            <a:pPr marL="0" indent="0">
              <a:buNone/>
            </a:pPr>
            <a:r>
              <a:rPr lang="es-ES" dirty="0"/>
              <a:t>A1 </a:t>
            </a:r>
            <a:r>
              <a:rPr lang="es-ES" dirty="0" err="1"/>
              <a:t>recessive</a:t>
            </a:r>
            <a:r>
              <a:rPr lang="es-ES" dirty="0"/>
              <a:t> (</a:t>
            </a:r>
            <a:r>
              <a:rPr lang="es-ES" dirty="0" err="1"/>
              <a:t>green</a:t>
            </a:r>
            <a:r>
              <a:rPr lang="es-ES" dirty="0"/>
              <a:t>)</a:t>
            </a:r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F22967-CE17-88A5-7899-89032A14D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560" y="365125"/>
            <a:ext cx="7240291" cy="6187674"/>
          </a:xfrm>
          <a:prstGeom prst="rect">
            <a:avLst/>
          </a:prstGeom>
        </p:spPr>
      </p:pic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2CAFD248-580F-C44A-9577-C920B6FF4FD1}"/>
              </a:ext>
            </a:extLst>
          </p:cNvPr>
          <p:cNvSpPr/>
          <p:nvPr/>
        </p:nvSpPr>
        <p:spPr>
          <a:xfrm rot="8434494">
            <a:off x="7297008" y="4571248"/>
            <a:ext cx="152400" cy="4114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937293A-6375-7BF1-067C-F879682A9171}"/>
              </a:ext>
            </a:extLst>
          </p:cNvPr>
          <p:cNvSpPr txBox="1"/>
          <p:nvPr/>
        </p:nvSpPr>
        <p:spPr>
          <a:xfrm>
            <a:off x="7183687" y="51192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Slow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A1 </a:t>
            </a:r>
            <a:r>
              <a:rPr lang="es-ES" dirty="0" err="1"/>
              <a:t>is</a:t>
            </a:r>
            <a:r>
              <a:rPr lang="es-ES" dirty="0"/>
              <a:t> rare</a:t>
            </a:r>
            <a:endParaRPr lang="es-CO" dirty="0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856B8B66-C28F-6D47-0D42-D82C889C0F24}"/>
              </a:ext>
            </a:extLst>
          </p:cNvPr>
          <p:cNvSpPr/>
          <p:nvPr/>
        </p:nvSpPr>
        <p:spPr>
          <a:xfrm rot="17605699" flipH="1">
            <a:off x="9911386" y="559509"/>
            <a:ext cx="653886" cy="4037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ECB32D2-3990-B270-C779-7EED27D2ECAD}"/>
              </a:ext>
            </a:extLst>
          </p:cNvPr>
          <p:cNvSpPr txBox="1"/>
          <p:nvPr/>
        </p:nvSpPr>
        <p:spPr>
          <a:xfrm>
            <a:off x="6687409" y="472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Shallow</a:t>
            </a:r>
            <a:r>
              <a:rPr lang="es-ES" dirty="0"/>
              <a:t>  </a:t>
            </a:r>
            <a:r>
              <a:rPr lang="es-ES" dirty="0" err="1"/>
              <a:t>when</a:t>
            </a:r>
            <a:r>
              <a:rPr lang="es-ES" dirty="0"/>
              <a:t> A1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dominant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46185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0F54F-4D2C-2DB4-0A5A-3006BD3A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6ACA5C-03C0-12A5-D757-E9B74C76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735D92-4A27-0CAC-3CBC-DCD8BF02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880" y="1978025"/>
            <a:ext cx="7207120" cy="3357992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93B29815-3AA2-4EF5-53BC-4631B50A9DF0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dirty="0">
                <a:highlight>
                  <a:srgbClr val="FFFF00"/>
                </a:highlight>
              </a:rPr>
              <a:t>Compare </a:t>
            </a:r>
            <a:r>
              <a:rPr lang="es-ES" dirty="0" err="1">
                <a:highlight>
                  <a:srgbClr val="FFFF00"/>
                </a:highlight>
              </a:rPr>
              <a:t>Freq</a:t>
            </a:r>
            <a:r>
              <a:rPr lang="es-ES" dirty="0">
                <a:highlight>
                  <a:srgbClr val="FFFF00"/>
                </a:highlight>
              </a:rPr>
              <a:t> vs Fitness</a:t>
            </a:r>
          </a:p>
          <a:p>
            <a:r>
              <a:rPr lang="es-ES" dirty="0"/>
              <a:t>A1 </a:t>
            </a:r>
            <a:r>
              <a:rPr lang="es-ES" dirty="0" err="1"/>
              <a:t>dominant</a:t>
            </a:r>
            <a:r>
              <a:rPr lang="es-ES" dirty="0"/>
              <a:t> (blue)</a:t>
            </a:r>
          </a:p>
          <a:p>
            <a:r>
              <a:rPr lang="es-ES" dirty="0"/>
              <a:t>W11=W12</a:t>
            </a:r>
          </a:p>
          <a:p>
            <a:r>
              <a:rPr lang="es-ES" dirty="0" err="1"/>
              <a:t>Additive</a:t>
            </a:r>
            <a:r>
              <a:rPr lang="es-ES" dirty="0"/>
              <a:t> </a:t>
            </a:r>
            <a:r>
              <a:rPr lang="es-ES" dirty="0" err="1"/>
              <a:t>inheritance</a:t>
            </a:r>
            <a:r>
              <a:rPr lang="es-ES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(red)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A1 </a:t>
            </a:r>
            <a:r>
              <a:rPr lang="es-ES" dirty="0" err="1"/>
              <a:t>recessive</a:t>
            </a:r>
            <a:r>
              <a:rPr lang="es-ES" dirty="0"/>
              <a:t> (</a:t>
            </a:r>
            <a:r>
              <a:rPr lang="es-ES" dirty="0" err="1"/>
              <a:t>green</a:t>
            </a:r>
            <a:r>
              <a:rPr lang="es-ES" dirty="0"/>
              <a:t>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19136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FEC58-7A74-6976-62B9-F1C9EDED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Biological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46BF90-D55A-2AF8-F92B-7484D9AD8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highlight>
                  <a:srgbClr val="FFFF00"/>
                </a:highlight>
              </a:rPr>
              <a:t>When an allele is rare and mating is random, most carriers of the allele will be heterozygous.</a:t>
            </a:r>
          </a:p>
          <a:p>
            <a:r>
              <a:rPr lang="en-US" sz="4000" dirty="0">
                <a:highlight>
                  <a:srgbClr val="FFFF00"/>
                </a:highlight>
              </a:rPr>
              <a:t>S shaped adaptation (Adaptation from low o high frequency of </a:t>
            </a:r>
            <a:r>
              <a:rPr lang="en-US" sz="4000" dirty="0" err="1">
                <a:highlight>
                  <a:srgbClr val="FFFF00"/>
                </a:highlight>
              </a:rPr>
              <a:t>favoured</a:t>
            </a:r>
            <a:r>
              <a:rPr lang="en-US" sz="4000" dirty="0">
                <a:highlight>
                  <a:srgbClr val="FFFF00"/>
                </a:highlight>
              </a:rPr>
              <a:t> allele is fast!)</a:t>
            </a:r>
            <a:endParaRPr lang="es-CO" sz="4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03768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FBA1C-AF5B-6D56-CDE6-2D4FB3F2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Divergent</a:t>
            </a:r>
            <a:r>
              <a:rPr lang="es-ES" dirty="0"/>
              <a:t> </a:t>
            </a:r>
            <a:r>
              <a:rPr lang="es-ES" dirty="0" err="1"/>
              <a:t>selection</a:t>
            </a:r>
            <a:r>
              <a:rPr lang="es-ES" dirty="0"/>
              <a:t>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E91C0-C95C-A55B-8997-20F79DFF0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directional</a:t>
            </a:r>
            <a:r>
              <a:rPr lang="es-ES" dirty="0"/>
              <a:t> </a:t>
            </a:r>
            <a:r>
              <a:rPr lang="es-ES" dirty="0" err="1"/>
              <a:t>selection</a:t>
            </a:r>
            <a:r>
              <a:rPr lang="es-ES" dirty="0"/>
              <a:t> drives </a:t>
            </a:r>
            <a:r>
              <a:rPr lang="es-ES" dirty="0" err="1"/>
              <a:t>population</a:t>
            </a:r>
            <a:r>
              <a:rPr lang="es-ES" dirty="0"/>
              <a:t> in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directions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B4A610-E81E-4F39-14D5-903F1A178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77" y="2443242"/>
            <a:ext cx="3967323" cy="404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C50DF-8110-CC6E-5985-1DC135F1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Overdominance</a:t>
            </a:r>
            <a:r>
              <a:rPr lang="es-CO" b="1" dirty="0"/>
              <a:t> (</a:t>
            </a:r>
            <a:r>
              <a:rPr lang="es-CO" b="1" dirty="0" err="1"/>
              <a:t>Balancing</a:t>
            </a:r>
            <a:r>
              <a:rPr lang="es-CO" b="1" dirty="0"/>
              <a:t>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43C744-2002-DA5A-D610-C43849BCB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" y="14598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 err="1"/>
              <a:t>phenotypic</a:t>
            </a:r>
            <a:r>
              <a:rPr lang="es-CO" dirty="0"/>
              <a:t> </a:t>
            </a:r>
            <a:r>
              <a:rPr lang="es-CO" dirty="0" err="1"/>
              <a:t>value</a:t>
            </a:r>
            <a:r>
              <a:rPr lang="es-CO" dirty="0"/>
              <a:t> </a:t>
            </a:r>
            <a:r>
              <a:rPr lang="en-US" dirty="0"/>
              <a:t>and/or fitness of the heterozygote exceeds those of </a:t>
            </a:r>
            <a:r>
              <a:rPr lang="es-CO" dirty="0" err="1"/>
              <a:t>either</a:t>
            </a:r>
            <a:r>
              <a:rPr lang="es-CO" dirty="0"/>
              <a:t> </a:t>
            </a:r>
            <a:r>
              <a:rPr lang="es-CO" dirty="0" err="1"/>
              <a:t>homozygote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189455-D203-3360-29AB-59327E022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3031"/>
            <a:ext cx="5330411" cy="39978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101586D-8305-A983-0C8F-03D32DD7B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840" y="2172184"/>
            <a:ext cx="5532120" cy="45908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828DB82-63B4-BC68-E485-F0136EDC0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023" y="2640937"/>
            <a:ext cx="1318377" cy="12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13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D6C0C-55FA-F83B-3406-7424FBA60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Underdominance</a:t>
            </a:r>
            <a:r>
              <a:rPr lang="es-CO" b="1" dirty="0"/>
              <a:t> (Disruptive)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2C84B8-61D7-904D-F64A-D3B4256E5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Heterozygote</a:t>
            </a:r>
            <a:r>
              <a:rPr lang="es-CO" dirty="0"/>
              <a:t> </a:t>
            </a:r>
            <a:r>
              <a:rPr lang="en-US" dirty="0"/>
              <a:t>has a lower phenotypic value and/or fitness than </a:t>
            </a:r>
            <a:r>
              <a:rPr lang="es-CO" dirty="0" err="1"/>
              <a:t>either</a:t>
            </a:r>
            <a:r>
              <a:rPr lang="es-CO" dirty="0"/>
              <a:t> </a:t>
            </a:r>
            <a:r>
              <a:rPr lang="es-CO" dirty="0" err="1"/>
              <a:t>homozygote</a:t>
            </a:r>
            <a:r>
              <a:rPr lang="es-CO" dirty="0"/>
              <a:t> (</a:t>
            </a:r>
            <a:r>
              <a:rPr lang="es-CO" dirty="0" err="1"/>
              <a:t>Fixation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allele</a:t>
            </a:r>
            <a:r>
              <a:rPr lang="es-CO" dirty="0"/>
              <a:t>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D75976-5613-646D-3202-8CE51704F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79" y="3263818"/>
            <a:ext cx="4574719" cy="33503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8429C11-4EE1-2BD5-4BD4-F26BAF632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55527"/>
            <a:ext cx="5127579" cy="385863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814D1CE-F170-D86B-70BB-02FFE6121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759" y="2847334"/>
            <a:ext cx="1227961" cy="116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40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82D277-5344-5100-05A9-5B2098BE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Exercise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40B38AD-33C7-B29C-AC99-2C03AC71B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28" y="1690688"/>
            <a:ext cx="11762302" cy="37807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79E421E-4E13-D03C-FEA3-DB4F78115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70" y="5216504"/>
            <a:ext cx="11034564" cy="17283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67A6E6D-2A34-F4D7-A2B4-A79A3C5A7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8" y="5068684"/>
            <a:ext cx="11034564" cy="172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28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D9E8D-2016-9EDB-57F9-86124B11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BC8882-6E63-E0B5-46FA-33E36C553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13B68F-9328-7AC0-3586-976628BE3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1035"/>
            <a:ext cx="10313037" cy="307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13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79312-CE67-0CAF-0BBD-0C216DA2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¿Letal o no letal?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1BA6E8-576A-C91A-0366-17190C01A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72E0A0-AA6A-408F-BB26-5AAF04F4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044" y="2152924"/>
            <a:ext cx="11453560" cy="255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73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44E0A-61B9-60F8-C9E6-9049F9CA6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C7F305-EF28-635D-367F-D69D107EB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EE6EC5-1EBC-C46D-3681-02E9B4FFD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63" y="681037"/>
            <a:ext cx="11042386" cy="5094760"/>
          </a:xfrm>
          <a:prstGeom prst="rect">
            <a:avLst/>
          </a:prstGeom>
        </p:spPr>
      </p:pic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107506BB-4F5F-D4F3-8E77-9EBB42ABACEC}"/>
              </a:ext>
            </a:extLst>
          </p:cNvPr>
          <p:cNvSpPr/>
          <p:nvPr/>
        </p:nvSpPr>
        <p:spPr>
          <a:xfrm rot="10800000">
            <a:off x="4272772" y="4884517"/>
            <a:ext cx="567160" cy="4166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68527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991</Words>
  <Application>Microsoft Office PowerPoint</Application>
  <PresentationFormat>Panorámica</PresentationFormat>
  <Paragraphs>165</Paragraphs>
  <Slides>38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Cambria Math</vt:lpstr>
      <vt:lpstr>Comic Sans MS</vt:lpstr>
      <vt:lpstr>Wingdings</vt:lpstr>
      <vt:lpstr>Tema de Office</vt:lpstr>
      <vt:lpstr>Natural selection</vt:lpstr>
      <vt:lpstr>Presentación de PowerPoint</vt:lpstr>
      <vt:lpstr>Presentación de PowerPoint</vt:lpstr>
      <vt:lpstr>Presentación de PowerPoint</vt:lpstr>
      <vt:lpstr>Natural selection</vt:lpstr>
      <vt:lpstr>Gene pool</vt:lpstr>
      <vt:lpstr>Effective population size</vt:lpstr>
      <vt:lpstr>Features</vt:lpstr>
      <vt:lpstr>Presentación de PowerPoint</vt:lpstr>
      <vt:lpstr>Presentación de PowerPoint</vt:lpstr>
      <vt:lpstr>How is natural selection acting</vt:lpstr>
      <vt:lpstr>Fitness </vt:lpstr>
      <vt:lpstr>Presentación de PowerPoint</vt:lpstr>
      <vt:lpstr>Presentación de PowerPoint</vt:lpstr>
      <vt:lpstr>Fitness function:Relationship of phenotype and output</vt:lpstr>
      <vt:lpstr>Presentación de PowerPoint</vt:lpstr>
      <vt:lpstr>Presentación de PowerPoint</vt:lpstr>
      <vt:lpstr>Fitness</vt:lpstr>
      <vt:lpstr>Mean population fitness = ω ̅  </vt:lpstr>
      <vt:lpstr>Presentación de PowerPoint</vt:lpstr>
      <vt:lpstr>Presentación de PowerPoint</vt:lpstr>
      <vt:lpstr>One locus viability</vt:lpstr>
      <vt:lpstr>Presentación de PowerPoint</vt:lpstr>
      <vt:lpstr>Finding all possible equilibria using Δp</vt:lpstr>
      <vt:lpstr>Invasion fitness</vt:lpstr>
      <vt:lpstr>Invasion  fitness Compare with a rare mutant</vt:lpstr>
      <vt:lpstr>When fitness is contant: Selection maximize mean population fitness</vt:lpstr>
      <vt:lpstr>Adaptative landscape</vt:lpstr>
      <vt:lpstr>Adaptative landscape</vt:lpstr>
      <vt:lpstr>Presentación de PowerPoint</vt:lpstr>
      <vt:lpstr>Biological meaning </vt:lpstr>
      <vt:lpstr>Divergent selection </vt:lpstr>
      <vt:lpstr>Overdominance (Balancing)</vt:lpstr>
      <vt:lpstr>Underdominance (Disruptive)</vt:lpstr>
      <vt:lpstr>Exercise</vt:lpstr>
      <vt:lpstr>Presentación de PowerPoint</vt:lpstr>
      <vt:lpstr>¿Letal o no letal?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Chrystian Camilo Sosa Arango</dc:creator>
  <cp:lastModifiedBy>Chrystian Camilo Sosa Arango</cp:lastModifiedBy>
  <cp:revision>181</cp:revision>
  <dcterms:created xsi:type="dcterms:W3CDTF">2025-08-27T17:53:22Z</dcterms:created>
  <dcterms:modified xsi:type="dcterms:W3CDTF">2025-09-08T22:19:19Z</dcterms:modified>
</cp:coreProperties>
</file>