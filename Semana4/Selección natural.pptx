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75" r:id="rId4"/>
    <p:sldId id="276" r:id="rId5"/>
    <p:sldId id="278" r:id="rId6"/>
    <p:sldId id="279" r:id="rId7"/>
    <p:sldId id="280" r:id="rId8"/>
    <p:sldId id="281" r:id="rId9"/>
    <p:sldId id="283" r:id="rId10"/>
    <p:sldId id="284" r:id="rId11"/>
    <p:sldId id="282" r:id="rId12"/>
    <p:sldId id="285" r:id="rId13"/>
    <p:sldId id="286" r:id="rId14"/>
    <p:sldId id="292" r:id="rId15"/>
    <p:sldId id="287" r:id="rId16"/>
    <p:sldId id="288" r:id="rId17"/>
    <p:sldId id="290" r:id="rId18"/>
    <p:sldId id="289" r:id="rId19"/>
    <p:sldId id="277" r:id="rId20"/>
    <p:sldId id="291" r:id="rId2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0D0FF2-28F3-0846-3B35-B579292D0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F3D2B6D-2131-25EA-CCE5-60952B323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CACAFB-AA43-F269-3FFB-104B12AC8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C6B4FE8-1EC1-E54B-D9DF-01491B6FE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1D78B4E-C9B1-2934-0BF2-B184A8066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4409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3409-6892-DD92-5EE9-2C9374AE4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0D8E98-2CCA-529A-241E-A216BE49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03AD38-C3CF-B559-6658-78BDF99B0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3F8F10-78F3-1EA5-D316-2D759B642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B83073-9A02-7107-89AE-6604AEA82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82191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91CD1-E603-3DE4-C813-0E5EC346C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E260A55-8559-325E-9C47-CE6E2A60C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334F044-8FCB-D909-4F9C-C5DFC738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03CBFB-D38B-47D7-B5C3-9201A4595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881351-F922-1D91-30E6-015D82181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94602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9EAE6A-07E9-C1BC-C777-81162644C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D526A9-58AC-CB5D-3539-13874E162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EE35E21-6709-421F-5944-63BCE9B26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6880954-509E-04C7-304F-A594CC1F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63F86B5-2A11-768D-A18A-C833D4DC5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20F538-C9A0-0A84-3503-DF1BB3D7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25913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D36734-1BF4-1C80-59F2-9C521D667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698292-B08C-6EF8-67B8-5D8719908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45F7EBE-2FB8-EA27-EAB7-34093B24A7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BEA8337-11B5-DB78-915A-134E0E30A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1E28E83-B97E-4E9E-48DF-0354F6F619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A5F8943-DFA3-9D65-0B48-780A2299E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EF41A87-3F69-4211-467A-30630265D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16E0E9B-F819-F2F7-A3EA-3050975C1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6433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9AB4D4-1F5D-F8A4-426D-356046FF5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6495EAB-DBD2-FC57-E8EA-D1676DE64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1EF3F23-CFC7-86C8-38DD-033F12A0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B2C5D98-1ED5-A7F6-90F6-6AD860350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36929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3F18B6-2568-A5B5-0D1D-C77A2ED6F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EDE7CD8-83BD-B2C1-DAA2-B890C531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DC580E-ED28-6592-3CC0-BA071FC7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77289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050467-E89B-EBA0-F456-C82EAEA6D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E96CF0-95C4-9FD5-4300-3E4A02269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43CDD9-F339-E514-A3BA-6E4D0888E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C8905EA-E231-0E36-8C71-0DD7CB70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E6AC06D-43E4-FAEF-9C7A-4A616F50C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3BEB70C-EAF2-8744-36A2-23FC1D399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0436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036491-F642-DD32-D211-620B5D5DB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33C6C03-7219-6F44-E77B-85F40583B6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C90D1A-3154-195F-80CB-AB375024D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F2AEC97-6559-DABC-E40E-BFE43FD9A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4952764-7FEE-FF14-DE3E-3FCE10264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6D46045-DCC7-540F-2BA5-E76082EDC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89985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5B6C4A-942B-5664-022A-EF265C257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1B200E5-3B88-223C-5B2B-7FFD0877F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B2B199-9E4A-1BBB-74F3-EACBD4F2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876757-EF31-C501-F6EB-DDDFC26FA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465AF5-0B78-B7EA-6787-AE741DAC3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50236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5038AA3-8341-859F-788E-7DA5AB8D28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B16DA6C-13BA-5B01-6C1A-EC879A1F2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A636C9-18F1-8579-DC3B-D7E2FBF67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8E3910-387D-F357-3D1F-2126C5ABC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9836AB-1C7A-1715-9925-B6A269B95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7171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6267F50-A73F-F062-E195-750D8D0F1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2D77DE9-9587-1BBB-97E6-4EE503791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FD3AB9-8CCA-0488-5306-1F33230973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4003F-2C46-443C-AC31-A161672E5098}" type="datetimeFigureOut">
              <a:rPr lang="es-CO" smtClean="0"/>
              <a:t>27/08/2025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52968A-4933-B441-6EE8-18338D958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E75717-52AF-2DCB-9B37-E13A03ECE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8844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C9939095-097C-8124-1C1E-5B4A11D38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875" y="78658"/>
            <a:ext cx="88741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A7CA193-75D8-BD6E-10A8-7F0ACD100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Selección natural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43580E9-4A8A-9ABD-72B5-876F4465A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50395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F9417D-9F02-A987-364B-1004A4A84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Gene pool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35B8DC-6897-DB0E-65D9-79434B481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A </a:t>
            </a:r>
            <a:r>
              <a:rPr lang="es-ES" dirty="0" err="1"/>
              <a:t>number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alleles</a:t>
            </a:r>
            <a:r>
              <a:rPr lang="es-ES" dirty="0"/>
              <a:t> at a </a:t>
            </a:r>
            <a:r>
              <a:rPr lang="es-ES" dirty="0" err="1"/>
              <a:t>number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different</a:t>
            </a:r>
            <a:r>
              <a:rPr lang="es-ES" dirty="0"/>
              <a:t> genes </a:t>
            </a:r>
            <a:r>
              <a:rPr lang="es-ES" dirty="0" err="1"/>
              <a:t>segregating</a:t>
            </a:r>
            <a:r>
              <a:rPr lang="es-ES" dirty="0"/>
              <a:t> </a:t>
            </a:r>
            <a:r>
              <a:rPr lang="es-ES" dirty="0" err="1"/>
              <a:t>over</a:t>
            </a:r>
            <a:r>
              <a:rPr lang="es-ES" dirty="0"/>
              <a:t> </a:t>
            </a:r>
            <a:r>
              <a:rPr lang="es-ES" dirty="0" err="1"/>
              <a:t>generations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04409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790A2-A082-10D2-8940-786397215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Effective</a:t>
            </a:r>
            <a:r>
              <a:rPr lang="es-ES" dirty="0"/>
              <a:t> </a:t>
            </a:r>
            <a:r>
              <a:rPr lang="es-ES" dirty="0" err="1"/>
              <a:t>population</a:t>
            </a:r>
            <a:r>
              <a:rPr lang="es-ES" dirty="0"/>
              <a:t> </a:t>
            </a:r>
            <a:r>
              <a:rPr lang="es-ES" dirty="0" err="1"/>
              <a:t>size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FE45D9-D9A5-6A44-D9C9-6AFEC9448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Total </a:t>
            </a:r>
            <a:r>
              <a:rPr lang="es-ES" dirty="0" err="1"/>
              <a:t>number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individual </a:t>
            </a:r>
            <a:r>
              <a:rPr lang="es-ES" dirty="0" err="1"/>
              <a:t>vary</a:t>
            </a:r>
            <a:r>
              <a:rPr lang="es-ES" dirty="0"/>
              <a:t> in reproductive output and somo individual </a:t>
            </a:r>
            <a:r>
              <a:rPr lang="es-ES" dirty="0" err="1"/>
              <a:t>don´t</a:t>
            </a:r>
            <a:r>
              <a:rPr lang="es-ES" dirty="0"/>
              <a:t> reproduce -&gt; Poor predictor</a:t>
            </a:r>
          </a:p>
          <a:p>
            <a:r>
              <a:rPr lang="es-ES" dirty="0" err="1"/>
              <a:t>Not</a:t>
            </a:r>
            <a:r>
              <a:rPr lang="es-ES" dirty="0"/>
              <a:t> </a:t>
            </a:r>
            <a:r>
              <a:rPr lang="es-ES" dirty="0" err="1"/>
              <a:t>all</a:t>
            </a:r>
            <a:r>
              <a:rPr lang="es-ES" dirty="0"/>
              <a:t> loci in </a:t>
            </a:r>
            <a:r>
              <a:rPr lang="es-ES" dirty="0" err="1"/>
              <a:t>the</a:t>
            </a:r>
            <a:r>
              <a:rPr lang="es-ES" dirty="0"/>
              <a:t> genoma are </a:t>
            </a:r>
            <a:r>
              <a:rPr lang="es-ES" dirty="0" err="1"/>
              <a:t>diploid</a:t>
            </a:r>
            <a:endParaRPr lang="es-ES" dirty="0"/>
          </a:p>
          <a:p>
            <a:r>
              <a:rPr lang="es-ES" dirty="0" err="1"/>
              <a:t>Mitochondrias</a:t>
            </a:r>
            <a:r>
              <a:rPr lang="es-ES" dirty="0"/>
              <a:t> and </a:t>
            </a:r>
            <a:r>
              <a:rPr lang="es-ES" dirty="0" err="1"/>
              <a:t>chloroplasts</a:t>
            </a:r>
            <a:r>
              <a:rPr lang="es-ES" dirty="0"/>
              <a:t> are </a:t>
            </a:r>
            <a:r>
              <a:rPr lang="es-ES" dirty="0" err="1"/>
              <a:t>maternally</a:t>
            </a:r>
            <a:r>
              <a:rPr lang="es-ES" dirty="0"/>
              <a:t> </a:t>
            </a:r>
            <a:r>
              <a:rPr lang="es-ES" dirty="0" err="1"/>
              <a:t>inherited</a:t>
            </a:r>
            <a:endParaRPr lang="es-ES" dirty="0"/>
          </a:p>
          <a:p>
            <a:r>
              <a:rPr lang="es-CO" dirty="0"/>
              <a:t>A locus </a:t>
            </a:r>
            <a:r>
              <a:rPr lang="es-CO" dirty="0" err="1"/>
              <a:t>under</a:t>
            </a:r>
            <a:r>
              <a:rPr lang="es-CO" dirty="0"/>
              <a:t> </a:t>
            </a:r>
            <a:r>
              <a:rPr lang="es-CO" dirty="0" err="1"/>
              <a:t>directional</a:t>
            </a:r>
            <a:r>
              <a:rPr lang="es-CO" dirty="0"/>
              <a:t> </a:t>
            </a:r>
            <a:r>
              <a:rPr lang="es-CO" dirty="0" err="1"/>
              <a:t>selection</a:t>
            </a:r>
            <a:r>
              <a:rPr lang="es-CO" dirty="0"/>
              <a:t> -&gt; </a:t>
            </a:r>
            <a:r>
              <a:rPr lang="es-CO" dirty="0" err="1"/>
              <a:t>Fewer</a:t>
            </a:r>
            <a:r>
              <a:rPr lang="es-CO" dirty="0"/>
              <a:t> </a:t>
            </a:r>
            <a:r>
              <a:rPr lang="es-CO" dirty="0" err="1"/>
              <a:t>alleles</a:t>
            </a:r>
            <a:endParaRPr lang="es-CO" dirty="0"/>
          </a:p>
          <a:p>
            <a:endParaRPr lang="es-CO" dirty="0"/>
          </a:p>
          <a:p>
            <a:pPr marL="0" indent="0">
              <a:buNone/>
            </a:pPr>
            <a:r>
              <a:rPr lang="es-CO" dirty="0" err="1">
                <a:highlight>
                  <a:srgbClr val="FFFF00"/>
                </a:highlight>
              </a:rPr>
              <a:t>Then</a:t>
            </a:r>
            <a:r>
              <a:rPr lang="es-CO" dirty="0">
                <a:highlight>
                  <a:srgbClr val="FFFF00"/>
                </a:highlight>
              </a:rPr>
              <a:t>: Ne = </a:t>
            </a:r>
            <a:r>
              <a:rPr lang="es-CO" dirty="0" err="1">
                <a:highlight>
                  <a:srgbClr val="FFFF00"/>
                </a:highlight>
              </a:rPr>
              <a:t>number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of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breedings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individuals</a:t>
            </a:r>
            <a:r>
              <a:rPr lang="es-CO" dirty="0">
                <a:highlight>
                  <a:srgbClr val="FFFF00"/>
                </a:highlight>
              </a:rPr>
              <a:t> in </a:t>
            </a:r>
            <a:r>
              <a:rPr lang="es-CO" dirty="0" err="1">
                <a:highlight>
                  <a:srgbClr val="FFFF00"/>
                </a:highlight>
              </a:rPr>
              <a:t>an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indealized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population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that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would</a:t>
            </a:r>
            <a:r>
              <a:rPr lang="es-CO" dirty="0">
                <a:highlight>
                  <a:srgbClr val="FFFF00"/>
                </a:highlight>
              </a:rPr>
              <a:t> show </a:t>
            </a:r>
            <a:r>
              <a:rPr lang="es-CO" dirty="0" err="1">
                <a:highlight>
                  <a:srgbClr val="FFFF00"/>
                </a:highlight>
              </a:rPr>
              <a:t>the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same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amount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of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genetic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drift</a:t>
            </a:r>
            <a:r>
              <a:rPr lang="es-CO" dirty="0">
                <a:highlight>
                  <a:srgbClr val="FFFF00"/>
                </a:highlight>
              </a:rPr>
              <a:t> as </a:t>
            </a:r>
            <a:r>
              <a:rPr lang="es-CO" dirty="0" err="1">
                <a:highlight>
                  <a:srgbClr val="FFFF00"/>
                </a:highlight>
              </a:rPr>
              <a:t>the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population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under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consideration</a:t>
            </a:r>
            <a:endParaRPr lang="es-CO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37141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942FE-B746-39E4-7BC8-D6519A9C5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Features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A564FD-D78B-0006-ACEE-30C23F241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Randon</a:t>
            </a:r>
            <a:r>
              <a:rPr lang="es-ES" dirty="0"/>
              <a:t> </a:t>
            </a:r>
            <a:r>
              <a:rPr lang="es-ES" dirty="0" err="1"/>
              <a:t>mating</a:t>
            </a:r>
            <a:endParaRPr lang="es-ES" dirty="0"/>
          </a:p>
          <a:p>
            <a:r>
              <a:rPr lang="es-ES" dirty="0" err="1"/>
              <a:t>Equal</a:t>
            </a:r>
            <a:r>
              <a:rPr lang="es-ES" dirty="0"/>
              <a:t> </a:t>
            </a:r>
            <a:r>
              <a:rPr lang="es-ES" dirty="0" err="1"/>
              <a:t>contribution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reproduction</a:t>
            </a:r>
            <a:endParaRPr lang="es-ES" dirty="0"/>
          </a:p>
          <a:p>
            <a:r>
              <a:rPr lang="es-ES" dirty="0" err="1"/>
              <a:t>Equal</a:t>
            </a:r>
            <a:r>
              <a:rPr lang="es-ES" dirty="0"/>
              <a:t> sex ratio</a:t>
            </a:r>
          </a:p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population</a:t>
            </a:r>
            <a:endParaRPr lang="es-ES" dirty="0"/>
          </a:p>
          <a:p>
            <a:r>
              <a:rPr lang="es-ES" dirty="0"/>
              <a:t>No </a:t>
            </a:r>
            <a:r>
              <a:rPr lang="es-ES" dirty="0" err="1"/>
              <a:t>selection</a:t>
            </a:r>
            <a:endParaRPr lang="es-ES" dirty="0"/>
          </a:p>
          <a:p>
            <a:r>
              <a:rPr lang="es-ES" dirty="0"/>
              <a:t>Non </a:t>
            </a:r>
            <a:r>
              <a:rPr lang="es-ES" dirty="0" err="1"/>
              <a:t>overlapping</a:t>
            </a:r>
            <a:r>
              <a:rPr lang="es-ES" dirty="0"/>
              <a:t> </a:t>
            </a:r>
            <a:r>
              <a:rPr lang="es-ES" dirty="0" err="1"/>
              <a:t>generations</a:t>
            </a:r>
            <a:endParaRPr lang="es-ES" dirty="0"/>
          </a:p>
          <a:p>
            <a:r>
              <a:rPr lang="es-ES" dirty="0" err="1"/>
              <a:t>Smaller</a:t>
            </a:r>
            <a:r>
              <a:rPr lang="es-ES" dirty="0"/>
              <a:t> </a:t>
            </a:r>
            <a:r>
              <a:rPr lang="es-ES" dirty="0" err="1"/>
              <a:t>than</a:t>
            </a:r>
            <a:r>
              <a:rPr lang="es-ES" dirty="0"/>
              <a:t> N (</a:t>
            </a:r>
            <a:r>
              <a:rPr lang="es-ES" dirty="0" err="1"/>
              <a:t>Census</a:t>
            </a:r>
            <a:r>
              <a:rPr lang="es-ES" dirty="0"/>
              <a:t> </a:t>
            </a:r>
            <a:r>
              <a:rPr lang="es-ES" dirty="0" err="1"/>
              <a:t>size</a:t>
            </a:r>
            <a:r>
              <a:rPr lang="es-ES" dirty="0"/>
              <a:t>)</a:t>
            </a:r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4D8858-A759-0256-400B-8B43D94F7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739" y="2983884"/>
            <a:ext cx="3853559" cy="183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8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272A1F-3B17-A035-5EA9-CDEBA9F3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F757CA-FBF4-CA3F-26DE-E19715295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How</a:t>
            </a:r>
            <a:r>
              <a:rPr lang="es-ES" dirty="0"/>
              <a:t> </a:t>
            </a:r>
            <a:r>
              <a:rPr lang="es-ES" dirty="0" err="1"/>
              <a:t>many</a:t>
            </a:r>
            <a:r>
              <a:rPr lang="es-ES" dirty="0"/>
              <a:t> </a:t>
            </a:r>
            <a:r>
              <a:rPr lang="es-ES" dirty="0" err="1"/>
              <a:t>copuies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a locus are </a:t>
            </a:r>
            <a:r>
              <a:rPr lang="es-ES" dirty="0" err="1"/>
              <a:t>segregating</a:t>
            </a:r>
            <a:r>
              <a:rPr lang="es-ES" dirty="0"/>
              <a:t> in a </a:t>
            </a:r>
            <a:r>
              <a:rPr lang="es-ES" dirty="0" err="1"/>
              <a:t>population</a:t>
            </a:r>
            <a:r>
              <a:rPr lang="es-ES" dirty="0"/>
              <a:t> </a:t>
            </a:r>
          </a:p>
          <a:p>
            <a:r>
              <a:rPr lang="es-ES" dirty="0"/>
              <a:t>2Ne (Copies in </a:t>
            </a:r>
            <a:r>
              <a:rPr lang="es-ES" dirty="0" err="1"/>
              <a:t>circulation</a:t>
            </a:r>
            <a:r>
              <a:rPr lang="es-ES" dirty="0"/>
              <a:t>)</a:t>
            </a:r>
          </a:p>
          <a:p>
            <a:r>
              <a:rPr lang="es-ES" dirty="0" err="1"/>
              <a:t>Variance</a:t>
            </a:r>
            <a:r>
              <a:rPr lang="es-ES" dirty="0"/>
              <a:t> </a:t>
            </a:r>
          </a:p>
          <a:p>
            <a:r>
              <a:rPr lang="es-ES" dirty="0"/>
              <a:t>Ne = </a:t>
            </a:r>
            <a:r>
              <a:rPr lang="es-ES" dirty="0" err="1"/>
              <a:t>Size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an</a:t>
            </a:r>
            <a:r>
              <a:rPr lang="es-ES" dirty="0"/>
              <a:t> </a:t>
            </a:r>
            <a:r>
              <a:rPr lang="es-ES" dirty="0" err="1"/>
              <a:t>idealized</a:t>
            </a:r>
            <a:r>
              <a:rPr lang="es-ES" dirty="0"/>
              <a:t> </a:t>
            </a:r>
            <a:r>
              <a:rPr lang="es-ES" dirty="0" err="1"/>
              <a:t>population</a:t>
            </a:r>
            <a:r>
              <a:rPr lang="es-ES" dirty="0"/>
              <a:t> </a:t>
            </a:r>
            <a:r>
              <a:rPr lang="es-CO" i="1" dirty="0" err="1"/>
              <a:t>Videal</a:t>
            </a:r>
            <a:r>
              <a:rPr lang="es-CO" i="1" dirty="0"/>
              <a:t> </a:t>
            </a:r>
            <a:r>
              <a:rPr lang="es-CO" dirty="0"/>
              <a:t>= </a:t>
            </a:r>
            <a:r>
              <a:rPr lang="es-CO" i="1" dirty="0" err="1"/>
              <a:t>Vactual</a:t>
            </a:r>
            <a:endParaRPr lang="es-ES" dirty="0"/>
          </a:p>
          <a:p>
            <a:endParaRPr lang="es-ES" dirty="0"/>
          </a:p>
          <a:p>
            <a:pPr marL="0" indent="0">
              <a:buNone/>
            </a:pPr>
            <a:endParaRPr lang="es-CO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4339C3A-2053-908A-2419-2DFD0AFAE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66" y="4001294"/>
            <a:ext cx="3853559" cy="183392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E38BEF1-A9ED-0360-1319-4EC2D96E8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802" y="2681400"/>
            <a:ext cx="1295581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615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B89459-CE02-8CBB-C814-8840D575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DE0BD9-5C1E-2AD0-4534-EAA9567CB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102" y="1825625"/>
            <a:ext cx="5698930" cy="4351338"/>
          </a:xfrm>
        </p:spPr>
        <p:txBody>
          <a:bodyPr/>
          <a:lstStyle/>
          <a:p>
            <a:r>
              <a:rPr lang="es-ES" dirty="0"/>
              <a:t>100 </a:t>
            </a:r>
            <a:r>
              <a:rPr lang="es-ES" dirty="0" err="1"/>
              <a:t>Flasks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6 males and 6 </a:t>
            </a:r>
            <a:r>
              <a:rPr lang="es-ES" dirty="0" err="1"/>
              <a:t>females</a:t>
            </a:r>
            <a:r>
              <a:rPr lang="es-ES" dirty="0"/>
              <a:t>. N=12</a:t>
            </a:r>
          </a:p>
          <a:p>
            <a:r>
              <a:rPr lang="es-ES" dirty="0"/>
              <a:t>p=q=0.5</a:t>
            </a:r>
          </a:p>
          <a:p>
            <a:r>
              <a:rPr lang="es-ES" dirty="0" err="1"/>
              <a:t>Vactual</a:t>
            </a:r>
            <a:r>
              <a:rPr lang="es-ES" dirty="0"/>
              <a:t>= 0.015</a:t>
            </a:r>
          </a:p>
          <a:p>
            <a:endParaRPr lang="es-CO" dirty="0"/>
          </a:p>
        </p:txBody>
      </p:sp>
      <p:sp>
        <p:nvSpPr>
          <p:cNvPr id="4" name="AutoShape 2" descr="Imagen de salida">
            <a:extLst>
              <a:ext uri="{FF2B5EF4-FFF2-40B4-BE49-F238E27FC236}">
                <a16:creationId xmlns:a16="http://schemas.microsoft.com/office/drawing/2014/main" id="{71141ED6-A241-CF03-DEC4-A56CD830DC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223F2A0-3302-EB07-EFFF-B1B16BFED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501" y="2633098"/>
            <a:ext cx="6501397" cy="412852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DE974D7-5D15-1B84-F9CE-9B2F64B64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92" y="4109449"/>
            <a:ext cx="3853559" cy="183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6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897AF-B981-607A-37A4-3AF717779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Fitness</a:t>
            </a:r>
            <a:br>
              <a:rPr lang="es-ES" dirty="0"/>
            </a:b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4D18441-45C4-657F-C8DD-2ACF1497F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Fitness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related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genotypes</a:t>
            </a:r>
            <a:endParaRPr lang="es-ES" dirty="0"/>
          </a:p>
          <a:p>
            <a:r>
              <a:rPr lang="es-CO" dirty="0" err="1"/>
              <a:t>It</a:t>
            </a:r>
            <a:r>
              <a:rPr lang="es-CO" dirty="0"/>
              <a:t> </a:t>
            </a:r>
            <a:r>
              <a:rPr lang="es-CO" dirty="0" err="1"/>
              <a:t>is</a:t>
            </a:r>
            <a:r>
              <a:rPr lang="es-CO" dirty="0"/>
              <a:t> </a:t>
            </a:r>
            <a:r>
              <a:rPr lang="es-CO" dirty="0" err="1"/>
              <a:t>the</a:t>
            </a:r>
            <a:r>
              <a:rPr lang="es-CO" dirty="0"/>
              <a:t> </a:t>
            </a:r>
            <a:r>
              <a:rPr lang="es-CO" dirty="0" err="1"/>
              <a:t>phenotypic</a:t>
            </a:r>
            <a:r>
              <a:rPr lang="es-CO" dirty="0"/>
              <a:t> </a:t>
            </a:r>
            <a:r>
              <a:rPr lang="es-CO" dirty="0" err="1"/>
              <a:t>effect</a:t>
            </a:r>
            <a:r>
              <a:rPr lang="es-CO" dirty="0"/>
              <a:t> </a:t>
            </a:r>
            <a:r>
              <a:rPr lang="es-CO" dirty="0" err="1"/>
              <a:t>of</a:t>
            </a:r>
            <a:r>
              <a:rPr lang="es-CO" dirty="0"/>
              <a:t> </a:t>
            </a:r>
            <a:r>
              <a:rPr lang="es-CO" dirty="0" err="1"/>
              <a:t>genotypes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</a:t>
            </a:r>
            <a:r>
              <a:rPr lang="es-CO" dirty="0" err="1"/>
              <a:t>survive</a:t>
            </a:r>
            <a:r>
              <a:rPr lang="es-CO" dirty="0"/>
              <a:t>!</a:t>
            </a:r>
          </a:p>
          <a:p>
            <a:r>
              <a:rPr lang="en-US" dirty="0"/>
              <a:t>A</a:t>
            </a:r>
            <a:r>
              <a:rPr lang="en-US" sz="2400" dirty="0"/>
              <a:t>1</a:t>
            </a:r>
            <a:r>
              <a:rPr lang="en-US" dirty="0"/>
              <a:t>A</a:t>
            </a:r>
            <a:r>
              <a:rPr lang="en-US" sz="2400" dirty="0"/>
              <a:t>1</a:t>
            </a:r>
            <a:r>
              <a:rPr lang="en-US" dirty="0"/>
              <a:t> will have a higher fitness than those with </a:t>
            </a:r>
            <a:r>
              <a:rPr lang="es-CO" dirty="0"/>
              <a:t>A</a:t>
            </a:r>
            <a:r>
              <a:rPr lang="es-CO" sz="2400" dirty="0"/>
              <a:t>2</a:t>
            </a:r>
            <a:r>
              <a:rPr lang="es-CO" dirty="0"/>
              <a:t>A</a:t>
            </a:r>
            <a:r>
              <a:rPr lang="es-CO" sz="2400" dirty="0"/>
              <a:t>2</a:t>
            </a:r>
            <a:r>
              <a:rPr lang="es-CO" dirty="0"/>
              <a:t> </a:t>
            </a:r>
            <a:r>
              <a:rPr lang="es-CO" dirty="0" err="1"/>
              <a:t>it</a:t>
            </a:r>
            <a:r>
              <a:rPr lang="es-CO" dirty="0"/>
              <a:t> </a:t>
            </a:r>
            <a:r>
              <a:rPr lang="es-CO" dirty="0" err="1"/>
              <a:t>yhey</a:t>
            </a:r>
            <a:r>
              <a:rPr lang="es-CO" dirty="0"/>
              <a:t> produce more </a:t>
            </a:r>
            <a:r>
              <a:rPr lang="es-CO" dirty="0" err="1"/>
              <a:t>surviving</a:t>
            </a:r>
            <a:r>
              <a:rPr lang="es-CO" dirty="0"/>
              <a:t> </a:t>
            </a:r>
            <a:r>
              <a:rPr lang="es-CO" dirty="0" err="1"/>
              <a:t>offspring</a:t>
            </a:r>
            <a:r>
              <a:rPr lang="es-CO" dirty="0"/>
              <a:t>!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355391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CDF6D3-F768-B6A3-3F24-9B6BEEF6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DA1EF5-285C-AF90-973C-DEE456B1C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D86E1B4-1298-B1AE-9821-84A49A57B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65125"/>
            <a:ext cx="10955016" cy="6313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237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373CE-F7B7-4A0F-894D-D06E471E5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Fitness </a:t>
            </a:r>
            <a:r>
              <a:rPr lang="es-ES" dirty="0" err="1"/>
              <a:t>function:Relationship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phenotype</a:t>
            </a:r>
            <a:r>
              <a:rPr lang="es-ES" dirty="0"/>
              <a:t> and output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95B3FB-16C1-8D65-2C9B-BEA49F583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dirty="0" err="1"/>
              <a:t>Stabilizing</a:t>
            </a:r>
            <a:r>
              <a:rPr lang="es-ES" sz="2400" dirty="0"/>
              <a:t> </a:t>
            </a:r>
            <a:r>
              <a:rPr lang="es-ES" sz="2400" dirty="0" err="1"/>
              <a:t>selection</a:t>
            </a:r>
            <a:r>
              <a:rPr lang="es-ES" sz="2400" dirty="0"/>
              <a:t>: Extreme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values</a:t>
            </a:r>
            <a:r>
              <a:rPr lang="es-ES" sz="2400" dirty="0"/>
              <a:t> </a:t>
            </a:r>
            <a:r>
              <a:rPr lang="es-ES" sz="2400" dirty="0" err="1"/>
              <a:t>selected</a:t>
            </a:r>
            <a:r>
              <a:rPr lang="es-ES" sz="2400" dirty="0"/>
              <a:t>/</a:t>
            </a:r>
            <a:r>
              <a:rPr lang="es-ES" sz="2400" dirty="0" err="1"/>
              <a:t>Intermediate</a:t>
            </a:r>
            <a:r>
              <a:rPr lang="es-ES" sz="2400" dirty="0"/>
              <a:t>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favoured</a:t>
            </a:r>
            <a:endParaRPr lang="es-ES" sz="2400" dirty="0"/>
          </a:p>
          <a:p>
            <a:r>
              <a:rPr lang="es-ES" sz="2400" dirty="0"/>
              <a:t>Disruptive </a:t>
            </a:r>
            <a:r>
              <a:rPr lang="es-ES" sz="2400" dirty="0" err="1"/>
              <a:t>selection</a:t>
            </a:r>
            <a:r>
              <a:rPr lang="es-ES" sz="2400" dirty="0"/>
              <a:t>: </a:t>
            </a:r>
            <a:r>
              <a:rPr lang="es-ES" sz="2400" dirty="0" err="1"/>
              <a:t>Intermediate</a:t>
            </a:r>
            <a:r>
              <a:rPr lang="es-ES" sz="2400" dirty="0"/>
              <a:t>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values</a:t>
            </a:r>
            <a:r>
              <a:rPr lang="es-ES" sz="2400" dirty="0"/>
              <a:t> are </a:t>
            </a:r>
            <a:r>
              <a:rPr lang="es-ES" sz="2400" dirty="0" err="1"/>
              <a:t>selected</a:t>
            </a:r>
            <a:r>
              <a:rPr lang="es-ES" sz="2400" dirty="0"/>
              <a:t>/Extreme </a:t>
            </a:r>
            <a:r>
              <a:rPr lang="es-ES" sz="2400" dirty="0" err="1"/>
              <a:t>values</a:t>
            </a:r>
            <a:r>
              <a:rPr lang="es-ES" sz="2400" dirty="0"/>
              <a:t> are </a:t>
            </a:r>
            <a:r>
              <a:rPr lang="es-ES" sz="2400" dirty="0" err="1"/>
              <a:t>favoured</a:t>
            </a:r>
            <a:endParaRPr lang="es-ES" sz="2400" dirty="0"/>
          </a:p>
          <a:p>
            <a:r>
              <a:rPr lang="es-ES" sz="2400" dirty="0" err="1"/>
              <a:t>Directional</a:t>
            </a:r>
            <a:r>
              <a:rPr lang="es-ES" sz="2400" dirty="0"/>
              <a:t> </a:t>
            </a:r>
            <a:r>
              <a:rPr lang="es-ES" sz="2400" dirty="0" err="1"/>
              <a:t>selection</a:t>
            </a:r>
            <a:r>
              <a:rPr lang="es-ES" sz="2400" dirty="0"/>
              <a:t>: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values</a:t>
            </a:r>
            <a:r>
              <a:rPr lang="es-ES" sz="2400" dirty="0"/>
              <a:t> </a:t>
            </a:r>
            <a:r>
              <a:rPr lang="es-ES" sz="2400" dirty="0" err="1"/>
              <a:t>higher</a:t>
            </a:r>
            <a:r>
              <a:rPr lang="es-ES" sz="2400" dirty="0"/>
              <a:t> </a:t>
            </a:r>
            <a:r>
              <a:rPr lang="es-ES" sz="2400" dirty="0" err="1"/>
              <a:t>or</a:t>
            </a:r>
            <a:r>
              <a:rPr lang="es-ES" sz="2400" dirty="0"/>
              <a:t> </a:t>
            </a:r>
            <a:r>
              <a:rPr lang="es-ES" sz="2400" dirty="0" err="1"/>
              <a:t>lower</a:t>
            </a:r>
            <a:r>
              <a:rPr lang="es-ES" sz="2400" dirty="0"/>
              <a:t>/</a:t>
            </a:r>
            <a:r>
              <a:rPr lang="es-ES" sz="2400" dirty="0" err="1"/>
              <a:t>Than</a:t>
            </a:r>
            <a:r>
              <a:rPr lang="es-ES" sz="2400" dirty="0"/>
              <a:t> </a:t>
            </a:r>
            <a:r>
              <a:rPr lang="es-ES" sz="2400" dirty="0" err="1"/>
              <a:t>the</a:t>
            </a:r>
            <a:r>
              <a:rPr lang="es-ES" sz="2400" dirty="0"/>
              <a:t> </a:t>
            </a:r>
            <a:r>
              <a:rPr lang="es-ES" sz="2400" dirty="0" err="1"/>
              <a:t>current</a:t>
            </a:r>
            <a:r>
              <a:rPr lang="es-ES" sz="2400" dirty="0"/>
              <a:t> </a:t>
            </a:r>
            <a:r>
              <a:rPr lang="es-ES" sz="2400" dirty="0" err="1"/>
              <a:t>population</a:t>
            </a:r>
            <a:r>
              <a:rPr lang="es-ES" sz="2400" dirty="0"/>
              <a:t> are </a:t>
            </a:r>
            <a:r>
              <a:rPr lang="es-ES" sz="2400" dirty="0" err="1"/>
              <a:t>favoured</a:t>
            </a:r>
            <a:endParaRPr lang="es-ES" sz="24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09ED01A-830E-144E-0FD6-729F905E6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01" y="4263655"/>
            <a:ext cx="5582429" cy="238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642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DFAE5F-DA72-73FC-860C-E12918FB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9C96C0-F51E-FAC4-4265-DAF613517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09DA8D2-9075-1E7A-AACF-5DE81CD72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875" y="0"/>
            <a:ext cx="55546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5604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E7D663-3C08-3587-EACA-2C05417E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3542A9B-9614-C31B-FF39-9F7B2E87A3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noProof="0" dirty="0"/>
                  <a:t>Absolute fitness:  Expected reproductive success (NO CONVENIENT!)</a:t>
                </a:r>
              </a:p>
              <a:p>
                <a:r>
                  <a:rPr lang="en-US" noProof="0" dirty="0"/>
                  <a:t>Relative fitness: How well one genotype fares relative to other genotypes!</a:t>
                </a:r>
              </a:p>
              <a:p>
                <a:pPr marL="0" indent="0">
                  <a:buNone/>
                </a:pPr>
                <a:r>
                  <a:rPr lang="en-US" noProof="0" dirty="0" err="1"/>
                  <a:t>W</a:t>
                </a:r>
                <a:r>
                  <a:rPr lang="en-US" sz="2400" noProof="0" dirty="0" err="1"/>
                  <a:t>ij</a:t>
                </a:r>
                <a:r>
                  <a:rPr lang="en-US" noProof="0" dirty="0"/>
                  <a:t>= relative fi</a:t>
                </a:r>
                <a:r>
                  <a:rPr lang="en-US" dirty="0" err="1"/>
                  <a:t>tness</a:t>
                </a:r>
                <a:r>
                  <a:rPr lang="en-US" dirty="0"/>
                  <a:t> of </a:t>
                </a:r>
                <a:r>
                  <a:rPr lang="en-US" dirty="0" err="1"/>
                  <a:t>AiAj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Mean population fitness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s-E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3542A9B-9614-C31B-FF39-9F7B2E87A3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1801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C58B-64C6-32AC-C45B-EAB132595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Fitness</a:t>
            </a:r>
            <a:endParaRPr lang="es-CO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9638FFCD-063D-F675-5026-00BB97A2C8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Relative fitness =</a:t>
                </a:r>
                <a:r>
                  <a:rPr lang="en-US" dirty="0" err="1"/>
                  <a:t>Wij</a:t>
                </a: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Genotype = A1A1 -&gt; 4 surviving offspring</a:t>
                </a:r>
              </a:p>
              <a:p>
                <a:pPr lvl="1"/>
                <a:r>
                  <a:rPr lang="en-US" dirty="0" err="1"/>
                  <a:t>Genoype</a:t>
                </a:r>
                <a:r>
                  <a:rPr lang="en-US" dirty="0"/>
                  <a:t> = A1A2 -&gt; 3 surviving offspring</a:t>
                </a:r>
              </a:p>
              <a:p>
                <a:pPr lvl="1"/>
                <a:r>
                  <a:rPr lang="en-US" dirty="0"/>
                  <a:t>W11=4/4 and W12=3/4 </a:t>
                </a:r>
              </a:p>
              <a:p>
                <a:r>
                  <a:rPr lang="en-US" dirty="0"/>
                  <a:t>Mean population fitness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s-ES" b="0" dirty="0"/>
              </a:p>
              <a:p>
                <a:pPr lvl="1"/>
                <a:r>
                  <a:rPr lang="en-US" dirty="0"/>
                  <a:t>Let's imagine A1A1=70% in the population and </a:t>
                </a:r>
                <a:r>
                  <a:rPr lang="en-US" dirty="0" err="1"/>
                  <a:t>wij</a:t>
                </a:r>
                <a:r>
                  <a:rPr lang="en-US" dirty="0"/>
                  <a:t> = 1 </a:t>
                </a:r>
                <a:r>
                  <a:rPr lang="en-US" sz="2000" dirty="0"/>
                  <a:t>(All offspring survive!)</a:t>
                </a:r>
                <a:endParaRPr lang="en-US" dirty="0"/>
              </a:p>
              <a:p>
                <a:pPr lvl="1"/>
                <a:r>
                  <a:rPr lang="en-US" dirty="0"/>
                  <a:t>Let's imagine A1A2=20% in the population and </a:t>
                </a:r>
                <a:r>
                  <a:rPr lang="en-US" dirty="0" err="1"/>
                  <a:t>wij</a:t>
                </a:r>
                <a:r>
                  <a:rPr lang="en-US" dirty="0"/>
                  <a:t> = 1</a:t>
                </a:r>
              </a:p>
              <a:p>
                <a:pPr lvl="1"/>
                <a:r>
                  <a:rPr lang="en-US" dirty="0"/>
                  <a:t>Let's imagine A2A2=10% in the population and </a:t>
                </a:r>
                <a:r>
                  <a:rPr lang="en-US" dirty="0" err="1"/>
                  <a:t>wij</a:t>
                </a:r>
                <a:r>
                  <a:rPr lang="en-US" dirty="0"/>
                  <a:t> = 0.75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= (0.7*1) + (0.2*1)+(0.1*0.75) = 0.975</a:t>
                </a:r>
                <a:endParaRPr lang="es-ES" b="0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9638FFCD-063D-F675-5026-00BB97A2C8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7394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6A69D9-5DA2-74F0-8E29-F2208E76E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B1375B4-E87B-209C-5643-014BB9FAB6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Remember</a:t>
                </a:r>
                <a:r>
                  <a:rPr lang="es-ES" dirty="0"/>
                  <a:t> fitness </a:t>
                </a:r>
                <a:r>
                  <a:rPr lang="es-ES" dirty="0" err="1"/>
                  <a:t>acts</a:t>
                </a:r>
                <a:r>
                  <a:rPr lang="es-ES" dirty="0"/>
                  <a:t> </a:t>
                </a:r>
                <a:r>
                  <a:rPr lang="es-ES" dirty="0" err="1"/>
                  <a:t>on</a:t>
                </a:r>
                <a:r>
                  <a:rPr lang="es-ES" dirty="0"/>
                  <a:t> </a:t>
                </a:r>
                <a:r>
                  <a:rPr lang="es-ES" dirty="0" err="1"/>
                  <a:t>phenotypes</a:t>
                </a:r>
                <a:r>
                  <a:rPr lang="es-ES" dirty="0"/>
                  <a:t>!</a:t>
                </a:r>
              </a:p>
              <a:p>
                <a:r>
                  <a:rPr lang="es-ES" dirty="0"/>
                  <a:t>Marginal fitness=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s-CO" dirty="0"/>
                  <a:t>= </a:t>
                </a:r>
                <a:r>
                  <a:rPr lang="es-CO" dirty="0" err="1"/>
                  <a:t>Average</a:t>
                </a:r>
                <a:r>
                  <a:rPr lang="es-CO" dirty="0"/>
                  <a:t> fitness </a:t>
                </a:r>
                <a:r>
                  <a:rPr lang="es-CO" dirty="0" err="1"/>
                  <a:t>of</a:t>
                </a:r>
                <a:r>
                  <a:rPr lang="es-CO" dirty="0"/>
                  <a:t> </a:t>
                </a:r>
                <a:r>
                  <a:rPr lang="es-CO" dirty="0" err="1"/>
                  <a:t>an</a:t>
                </a:r>
                <a:r>
                  <a:rPr lang="es-CO" dirty="0"/>
                  <a:t> </a:t>
                </a:r>
                <a:r>
                  <a:rPr lang="es-CO" dirty="0" err="1"/>
                  <a:t>allle</a:t>
                </a:r>
                <a:r>
                  <a:rPr lang="es-CO" dirty="0"/>
                  <a:t> in </a:t>
                </a:r>
                <a:r>
                  <a:rPr lang="es-CO" dirty="0" err="1"/>
                  <a:t>the</a:t>
                </a:r>
                <a:r>
                  <a:rPr lang="es-CO" dirty="0"/>
                  <a:t> </a:t>
                </a:r>
                <a:r>
                  <a:rPr lang="es-CO" dirty="0" err="1"/>
                  <a:t>population</a:t>
                </a:r>
                <a:endParaRPr lang="es-CO" dirty="0"/>
              </a:p>
              <a:p>
                <a:r>
                  <a:rPr lang="es-CO" dirty="0"/>
                  <a:t>P and q are </a:t>
                </a:r>
                <a:r>
                  <a:rPr lang="es-CO" dirty="0" err="1"/>
                  <a:t>alleles</a:t>
                </a:r>
                <a:r>
                  <a:rPr lang="es-CO" dirty="0"/>
                  <a:t>! And w </a:t>
                </a:r>
                <a:r>
                  <a:rPr lang="es-CO" dirty="0" err="1"/>
                  <a:t>is</a:t>
                </a:r>
                <a:r>
                  <a:rPr lang="es-CO" dirty="0"/>
                  <a:t> fitness</a:t>
                </a:r>
              </a:p>
              <a:p>
                <a:endParaRPr lang="es-CO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B1375B4-E87B-209C-5643-014BB9FAB6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n 6">
            <a:extLst>
              <a:ext uri="{FF2B5EF4-FFF2-40B4-BE49-F238E27FC236}">
                <a16:creationId xmlns:a16="http://schemas.microsoft.com/office/drawing/2014/main" id="{D8A60084-81D1-3367-1217-FCD9131F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651" y="3759541"/>
            <a:ext cx="275310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731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5C512B-FD0D-5227-5783-83608F61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ECB8B13-DEF7-7956-0309-F723E650D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888D45-693B-0F5A-989B-BB6D7A144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97" y="371048"/>
            <a:ext cx="11326806" cy="611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189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1FEDFC-A1E7-992C-5A19-F84E0DD66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One</a:t>
            </a:r>
            <a:r>
              <a:rPr lang="es-ES" dirty="0"/>
              <a:t> locus </a:t>
            </a:r>
            <a:r>
              <a:rPr lang="es-ES" dirty="0" err="1"/>
              <a:t>viability</a:t>
            </a:r>
            <a:endParaRPr lang="es-CO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147F98A-73F9-50FB-2E32-5AEB5C6F56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Frequency</a:t>
                </a:r>
                <a:r>
                  <a:rPr lang="es-ES" dirty="0"/>
                  <a:t> </a:t>
                </a:r>
                <a:r>
                  <a:rPr lang="es-ES" dirty="0" err="1"/>
                  <a:t>of</a:t>
                </a:r>
                <a:r>
                  <a:rPr lang="es-ES" dirty="0"/>
                  <a:t> A</a:t>
                </a:r>
                <a:r>
                  <a:rPr lang="es-ES" sz="2000" dirty="0"/>
                  <a:t>1 </a:t>
                </a:r>
                <a:r>
                  <a:rPr lang="es-ES" dirty="0"/>
                  <a:t>after </a:t>
                </a:r>
                <a:r>
                  <a:rPr lang="es-ES" dirty="0" err="1"/>
                  <a:t>one</a:t>
                </a:r>
                <a:r>
                  <a:rPr lang="es-ES" dirty="0"/>
                  <a:t> </a:t>
                </a:r>
                <a:r>
                  <a:rPr lang="es-ES" dirty="0" err="1"/>
                  <a:t>generation</a:t>
                </a:r>
                <a:r>
                  <a:rPr lang="es-ES" dirty="0"/>
                  <a:t> </a:t>
                </a:r>
                <a:r>
                  <a:rPr lang="es-ES" dirty="0" err="1"/>
                  <a:t>of</a:t>
                </a:r>
                <a:r>
                  <a:rPr lang="es-ES" dirty="0"/>
                  <a:t> </a:t>
                </a:r>
                <a:r>
                  <a:rPr lang="es-ES" dirty="0" err="1"/>
                  <a:t>selection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s-E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ES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s-ES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b>
                    </m:sSub>
                  </m:oMath>
                </a14:m>
                <a:endParaRPr lang="es-CO" dirty="0"/>
              </a:p>
              <a:p>
                <a:r>
                  <a:rPr lang="es-CO" dirty="0" err="1"/>
                  <a:t>If</a:t>
                </a:r>
                <a:r>
                  <a:rPr lang="es-CO" dirty="0"/>
                  <a:t> </a:t>
                </a:r>
                <a:r>
                  <a:rPr lang="es-CO" dirty="0" err="1"/>
                  <a:t>on</a:t>
                </a:r>
                <a:r>
                  <a:rPr lang="es-CO" dirty="0"/>
                  <a:t> </a:t>
                </a:r>
                <a:r>
                  <a:rPr lang="es-CO" dirty="0" err="1"/>
                  <a:t>average</a:t>
                </a:r>
                <a:r>
                  <a:rPr lang="es-CO" dirty="0"/>
                  <a:t> </a:t>
                </a:r>
                <a:r>
                  <a:rPr lang="es-ES" dirty="0"/>
                  <a:t>A</a:t>
                </a:r>
                <a:r>
                  <a:rPr lang="es-ES" sz="2000" dirty="0"/>
                  <a:t>1 </a:t>
                </a:r>
                <a:r>
                  <a:rPr lang="es-CO" dirty="0" err="1"/>
                  <a:t>have</a:t>
                </a:r>
                <a:r>
                  <a:rPr lang="es-CO" dirty="0"/>
                  <a:t> </a:t>
                </a:r>
                <a:r>
                  <a:rPr lang="es-CO" dirty="0" err="1"/>
                  <a:t>better</a:t>
                </a:r>
                <a:r>
                  <a:rPr lang="es-CO" dirty="0"/>
                  <a:t> fitness -&gt; </a:t>
                </a:r>
                <a:r>
                  <a:rPr lang="es-CO" dirty="0" err="1"/>
                  <a:t>Increase</a:t>
                </a:r>
                <a:r>
                  <a:rPr lang="es-CO" dirty="0"/>
                  <a:t> in </a:t>
                </a:r>
                <a:r>
                  <a:rPr lang="es-CO" dirty="0" err="1"/>
                  <a:t>frequency</a:t>
                </a:r>
                <a:endParaRPr lang="es-CO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147F98A-73F9-50FB-2E32-5AEB5C6F56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8ADE2E12-991F-6A7C-4353-86FCAFBFE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666" y="0"/>
            <a:ext cx="5487053" cy="178142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37CA191-9BDD-0637-082E-88EAA26F6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641" y="4374653"/>
            <a:ext cx="4020111" cy="714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E1C35D9-BA12-E27B-CC5B-53655AFC9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5820" y="5206194"/>
            <a:ext cx="2200981" cy="1105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833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A70A0BC7-B683-34E5-0C65-59A70B91C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9856" y="0"/>
            <a:ext cx="6692144" cy="3272512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390BCFB7-B814-8844-F144-F97CA1B35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3835"/>
            <a:ext cx="5499855" cy="715041"/>
          </a:xfrm>
          <a:prstGeom prst="rect">
            <a:avLst/>
          </a:prstGeom>
        </p:spPr>
      </p:pic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19C6AC5-E9EB-5095-58EC-694335001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s-ES" dirty="0"/>
              <a:t>p0=0.01</a:t>
            </a:r>
            <a:endParaRPr lang="es-CO" dirty="0"/>
          </a:p>
          <a:p>
            <a:r>
              <a:rPr lang="es-CO" dirty="0" err="1"/>
              <a:t>wAA</a:t>
            </a:r>
            <a:r>
              <a:rPr lang="es-CO" dirty="0"/>
              <a:t>=1</a:t>
            </a:r>
          </a:p>
          <a:p>
            <a:r>
              <a:rPr lang="es-CO" dirty="0" err="1"/>
              <a:t>wAa</a:t>
            </a:r>
            <a:r>
              <a:rPr lang="es-CO" dirty="0"/>
              <a:t>=0.8</a:t>
            </a:r>
          </a:p>
          <a:p>
            <a:r>
              <a:rPr lang="es-CO" dirty="0" err="1"/>
              <a:t>waa</a:t>
            </a:r>
            <a:r>
              <a:rPr lang="es-CO" dirty="0"/>
              <a:t>=0.8</a:t>
            </a:r>
            <a:endParaRPr lang="es-ES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1D633AE3-B786-D553-2696-82BE157B58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29000"/>
            <a:ext cx="6096000" cy="2961381"/>
          </a:xfrm>
          <a:prstGeom prst="rect">
            <a:avLst/>
          </a:prstGeom>
        </p:spPr>
      </p:pic>
      <p:sp>
        <p:nvSpPr>
          <p:cNvPr id="20" name="Flecha: hacia abajo 19">
            <a:extLst>
              <a:ext uri="{FF2B5EF4-FFF2-40B4-BE49-F238E27FC236}">
                <a16:creationId xmlns:a16="http://schemas.microsoft.com/office/drawing/2014/main" id="{A4B024F8-78AB-A84C-BEF9-71433D931A06}"/>
              </a:ext>
            </a:extLst>
          </p:cNvPr>
          <p:cNvSpPr/>
          <p:nvPr/>
        </p:nvSpPr>
        <p:spPr>
          <a:xfrm rot="15330914">
            <a:off x="10037117" y="552058"/>
            <a:ext cx="520860" cy="7736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3D1BB6A-53D0-61B6-8FFE-C889727D14A5}"/>
              </a:ext>
            </a:extLst>
          </p:cNvPr>
          <p:cNvSpPr txBox="1"/>
          <p:nvPr/>
        </p:nvSpPr>
        <p:spPr>
          <a:xfrm>
            <a:off x="7526439" y="1372036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Pt+1 =p (</a:t>
            </a:r>
            <a:r>
              <a:rPr lang="es-ES" dirty="0" err="1"/>
              <a:t>Equlibria</a:t>
            </a:r>
            <a:r>
              <a:rPr lang="es-ES" dirty="0"/>
              <a:t>)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2603027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AFE31-B693-89C4-AB53-0F0DB1287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3816DC-6951-6F8A-5406-007CC4024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EB99D7B-0CEA-091C-D329-D9CC2FEA1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4598"/>
            <a:ext cx="6335009" cy="185763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3E973F5-01EF-349F-BFF9-F3356AF1F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407" y="2029766"/>
            <a:ext cx="2048161" cy="205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086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33EF90-D0A4-50CB-71DD-0F533D6D6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6337"/>
            <a:ext cx="10515600" cy="1325563"/>
          </a:xfrm>
        </p:spPr>
        <p:txBody>
          <a:bodyPr/>
          <a:lstStyle/>
          <a:p>
            <a:r>
              <a:rPr lang="es-ES" dirty="0" err="1"/>
              <a:t>Equilibria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A4504D3-0C9B-5651-B1F3-9AE446C94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7092510-84E2-7D58-B107-7D7314B78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23" y="2963738"/>
            <a:ext cx="1667108" cy="148610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C9AD642-E4EB-7E16-FE72-CD72F03ED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5003" y="2624669"/>
            <a:ext cx="7955666" cy="382699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A91B6C7-F10A-589D-CA03-45E82BA69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291" y="351357"/>
            <a:ext cx="3889891" cy="227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943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5AF087-3625-F2A1-1B42-50FEDC8F9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Unequal numbers of males and females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FB8BDE-931C-4054-60C0-D7E1E2350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5290"/>
            <a:ext cx="10515600" cy="4351338"/>
          </a:xfrm>
        </p:spPr>
        <p:txBody>
          <a:bodyPr/>
          <a:lstStyle/>
          <a:p>
            <a:r>
              <a:rPr lang="en-US" i="1" dirty="0"/>
              <a:t>N</a:t>
            </a:r>
            <a:r>
              <a:rPr lang="en-US" dirty="0"/>
              <a:t>m breeding males and </a:t>
            </a:r>
            <a:r>
              <a:rPr lang="en-US" i="1" dirty="0" err="1"/>
              <a:t>N</a:t>
            </a:r>
            <a:r>
              <a:rPr lang="en-US" dirty="0" err="1"/>
              <a:t>f</a:t>
            </a:r>
            <a:r>
              <a:rPr lang="en-US" dirty="0"/>
              <a:t> breeding females</a:t>
            </a:r>
          </a:p>
          <a:p>
            <a:endParaRPr lang="en-US" dirty="0"/>
          </a:p>
          <a:p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FE6578F-4557-48E2-22AA-97294A56A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725" y="1845290"/>
            <a:ext cx="2938875" cy="1036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651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D2290-B957-15FA-7A80-EDB9C6A74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7E370A-8E59-4DFD-28E8-7684C135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454385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435</Words>
  <Application>Microsoft Office PowerPoint</Application>
  <PresentationFormat>Panorámica</PresentationFormat>
  <Paragraphs>62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Tema de Office</vt:lpstr>
      <vt:lpstr>Selección natural</vt:lpstr>
      <vt:lpstr>Gene pool</vt:lpstr>
      <vt:lpstr>Effective population size</vt:lpstr>
      <vt:lpstr>Features</vt:lpstr>
      <vt:lpstr>Presentación de PowerPoint</vt:lpstr>
      <vt:lpstr>Presentación de PowerPoint</vt:lpstr>
      <vt:lpstr>Fitness </vt:lpstr>
      <vt:lpstr>Presentación de PowerPoint</vt:lpstr>
      <vt:lpstr>Fitness function:Relationship of phenotype and output</vt:lpstr>
      <vt:lpstr>Presentación de PowerPoint</vt:lpstr>
      <vt:lpstr>Presentación de PowerPoint</vt:lpstr>
      <vt:lpstr>Fitness</vt:lpstr>
      <vt:lpstr>Presentación de PowerPoint</vt:lpstr>
      <vt:lpstr>Presentación de PowerPoint</vt:lpstr>
      <vt:lpstr>One locus viability</vt:lpstr>
      <vt:lpstr>Presentación de PowerPoint</vt:lpstr>
      <vt:lpstr>Presentación de PowerPoint</vt:lpstr>
      <vt:lpstr>Equilibria</vt:lpstr>
      <vt:lpstr>Unequal numbers of males and females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Chrystian Camilo Sosa Arango</dc:creator>
  <cp:lastModifiedBy>Chrystian Camilo Sosa Arango</cp:lastModifiedBy>
  <cp:revision>58</cp:revision>
  <dcterms:created xsi:type="dcterms:W3CDTF">2025-08-27T17:53:22Z</dcterms:created>
  <dcterms:modified xsi:type="dcterms:W3CDTF">2025-08-27T20:39:12Z</dcterms:modified>
</cp:coreProperties>
</file>