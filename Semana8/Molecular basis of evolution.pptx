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258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6" r:id="rId13"/>
    <p:sldId id="262" r:id="rId14"/>
    <p:sldId id="278" r:id="rId15"/>
    <p:sldId id="277" r:id="rId16"/>
    <p:sldId id="274" r:id="rId17"/>
    <p:sldId id="279" r:id="rId18"/>
    <p:sldId id="280" r:id="rId19"/>
    <p:sldId id="281" r:id="rId20"/>
    <p:sldId id="282" r:id="rId21"/>
    <p:sldId id="458" r:id="rId22"/>
    <p:sldId id="459" r:id="rId23"/>
    <p:sldId id="320" r:id="rId24"/>
    <p:sldId id="461" r:id="rId25"/>
    <p:sldId id="460" r:id="rId26"/>
    <p:sldId id="462" r:id="rId27"/>
    <p:sldId id="294" r:id="rId28"/>
    <p:sldId id="285" r:id="rId29"/>
    <p:sldId id="324" r:id="rId30"/>
    <p:sldId id="283" r:id="rId31"/>
    <p:sldId id="472" r:id="rId32"/>
    <p:sldId id="473" r:id="rId33"/>
    <p:sldId id="476" r:id="rId34"/>
    <p:sldId id="474" r:id="rId35"/>
    <p:sldId id="475" r:id="rId36"/>
    <p:sldId id="464" r:id="rId37"/>
    <p:sldId id="466" r:id="rId38"/>
    <p:sldId id="467" r:id="rId39"/>
    <p:sldId id="393" r:id="rId40"/>
    <p:sldId id="396" r:id="rId41"/>
    <p:sldId id="300" r:id="rId42"/>
    <p:sldId id="394" r:id="rId43"/>
    <p:sldId id="469" r:id="rId44"/>
    <p:sldId id="470" r:id="rId45"/>
    <p:sldId id="287" r:id="rId46"/>
    <p:sldId id="404" r:id="rId4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6C32B-8BC3-4FC4-942D-306231525A95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4D634-ED2D-46E4-93A7-B902EEAB486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1243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9F5438-E7E1-4D1C-A9A9-FDC466CC5E5E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245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8402F6D0-C014-5741-9C2A-984E7614ED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CDE16D4-7522-2643-A5BE-35262B5799D5}" type="slidenum">
              <a:rPr lang="en-US" altLang="en-US">
                <a:latin typeface="Arial" panose="020B0604020202020204" pitchFamily="34" charset="0"/>
              </a:rPr>
              <a:pPr/>
              <a:t>41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CD02D4FD-898D-764F-A45B-34A1437866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1DE4034-5929-D24D-BB2A-1364D94883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8490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9F5438-E7E1-4D1C-A9A9-FDC466CC5E5E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638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9F5438-E7E1-4D1C-A9A9-FDC466CC5E5E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899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23C0B-CB65-250D-B889-D3F86436A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42DE2B-4807-DAEA-697D-D318AE789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86161A-D377-C3C3-F9C8-5ACDD7006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80E040-7F7A-768D-DE3E-A8F8460B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6FD070-95CA-4389-F780-012E7CAF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887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93D6D-7557-F5DA-A1FE-E4F195ED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8FA6A7-E1C7-E7F6-DCDA-779F16A10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55791D-DA18-634D-78B9-2F3B8ECE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5A8376-2ACA-8D21-ADD0-F63CD124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B3832A-FB97-4710-189E-F55B06A6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64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D795A-CAF8-053A-DC68-CD45C46A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5A77AE-E76A-81FF-236D-06018F26A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393459-5FE1-4E79-D181-3FEDF4AF1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EB71D1-456C-0499-87F8-EDF8F400A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6BC235-05D1-0D33-3C11-D99245C7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000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19E120-77BB-35FC-F925-FF777DE86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C3057B-8C6F-D5E3-B746-62A8DE149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16D4C0-E8C4-74E2-71ED-62CC1ACED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D376A42-507A-4640-2080-43C4BD5E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6C8222-565F-F6A0-03AF-A7FD6AFB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974141-0C71-E32B-BF57-79FE8155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4980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A2D6D-42AB-8366-AA6E-1B01F6E84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5CA8B6-5656-B8BA-983D-E58B85BD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33C3DD-610B-0C15-C409-04036DFD6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03F70B-CB29-85A5-E025-9C1259760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FD5837-8887-AFDB-AC5E-7BD30F722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94ECCB-F419-B0A8-5EF5-34A688E8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CE9BF4-AAFD-B8E6-7A6D-D985C45B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7F2475F-BA71-0BF5-3DDE-605819CF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5080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F3BA3-3B26-2E53-4C05-6A10C9B6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377734-6B1A-EE6B-D900-49A917B5A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05ADEE-127F-9C46-605C-532904F29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8E37D0F-33A3-550B-150F-19E2BCAA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153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F13578-8B83-C78A-7AF6-1E6C73A5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4C38814-022E-59B2-FC49-C4582043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1988B9-947C-BE94-091D-40E493807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307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E7CB8-4100-ABE4-147A-389A8813D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FC35EB-ACB4-4A86-21CE-FD2FC7478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8D32DE-D82B-B922-8790-6A7875DC1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F7E1B0-B95A-8EAA-8CFA-2C11CFA7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5BF9F6-5719-FEFB-5177-B1DF9E4E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0FF997-B7CC-EE27-39F5-45CE0E555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1187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17BAC-3E96-6306-0B84-FE692706C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77DD34-7DB0-7CA7-22CC-BB7B060B5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D9BF77-4CDF-3FF2-CCA3-A477FC88B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69C9F4-7A63-10D6-6D7F-96FBAA5C6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EA0145-5218-A24E-5878-F7AD4F188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8C5DB7-185A-10AA-2C9C-5F529698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655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8436B-17E3-FF12-9983-3E1538E3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F7CE9F-167E-CB82-F4D0-1F7ED0BD3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05DE6D-1715-2AC7-49D0-27AD3009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BC77E1-3900-384E-1564-D5FBADB85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EF2BCA-5342-24DA-8F50-48F04D6B5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8557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9B33068-92A4-CDE9-8B2C-4B9960479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F1C20F-8D97-276C-12CC-8F8B3FAE5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0B347-1C2F-9DB9-B5A6-798E5043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BA00EA-6BC6-5C38-220F-95EC51C1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EA7CC4-8481-E80C-8C15-7AF0F82E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4975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8CA7FB0-2FB8-19D4-2532-C5417964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2F55F5-3E59-B734-7354-FDBA2B56A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7D28E7-2A6C-7CAF-E49A-FA1B2DAD9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7B2AC3-D1C3-4E2B-9063-3F8F4074B253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7BAA74-B71C-59E6-CE7D-7C30994773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74E779-4E86-77A0-AB02-0EE3347D1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20C1B2-F0CE-4F42-879E-525EB8C56A5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783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8.wdp"/><Relationship Id="rId18" Type="http://schemas.microsoft.com/office/2007/relationships/hdphoto" Target="../media/hdphoto13.wdp"/><Relationship Id="rId3" Type="http://schemas.openxmlformats.org/officeDocument/2006/relationships/image" Target="../media/image28.png"/><Relationship Id="rId21" Type="http://schemas.microsoft.com/office/2007/relationships/hdphoto" Target="../media/hdphoto16.wdp"/><Relationship Id="rId7" Type="http://schemas.microsoft.com/office/2007/relationships/hdphoto" Target="../media/hdphoto2.wdp"/><Relationship Id="rId12" Type="http://schemas.microsoft.com/office/2007/relationships/hdphoto" Target="../media/hdphoto7.wdp"/><Relationship Id="rId17" Type="http://schemas.microsoft.com/office/2007/relationships/hdphoto" Target="../media/hdphoto12.wdp"/><Relationship Id="rId2" Type="http://schemas.openxmlformats.org/officeDocument/2006/relationships/image" Target="../media/image27.png"/><Relationship Id="rId16" Type="http://schemas.microsoft.com/office/2007/relationships/hdphoto" Target="../media/hdphoto11.wdp"/><Relationship Id="rId20" Type="http://schemas.microsoft.com/office/2007/relationships/hdphoto" Target="../media/hdphoto15.wdp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11" Type="http://schemas.microsoft.com/office/2007/relationships/hdphoto" Target="../media/hdphoto6.wdp"/><Relationship Id="rId5" Type="http://schemas.microsoft.com/office/2007/relationships/hdphoto" Target="../media/hdphoto1.wdp"/><Relationship Id="rId15" Type="http://schemas.microsoft.com/office/2007/relationships/hdphoto" Target="../media/hdphoto10.wdp"/><Relationship Id="rId10" Type="http://schemas.microsoft.com/office/2007/relationships/hdphoto" Target="../media/hdphoto5.wdp"/><Relationship Id="rId19" Type="http://schemas.microsoft.com/office/2007/relationships/hdphoto" Target="../media/hdphoto14.wdp"/><Relationship Id="rId4" Type="http://schemas.openxmlformats.org/officeDocument/2006/relationships/image" Target="../media/image29.png"/><Relationship Id="rId9" Type="http://schemas.microsoft.com/office/2007/relationships/hdphoto" Target="../media/hdphoto4.wdp"/><Relationship Id="rId14" Type="http://schemas.microsoft.com/office/2007/relationships/hdphoto" Target="../media/hdphoto9.wdp"/><Relationship Id="rId22" Type="http://schemas.microsoft.com/office/2007/relationships/hdphoto" Target="../media/hdphoto17.wd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8376586-732B-577F-FE6D-6874797E93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Multilocus</a:t>
            </a:r>
            <a:r>
              <a:rPr lang="es-ES" dirty="0"/>
              <a:t> </a:t>
            </a:r>
            <a:r>
              <a:rPr lang="es-ES" dirty="0" err="1"/>
              <a:t>evolution</a:t>
            </a:r>
            <a:endParaRPr lang="es-CO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9096C6B5-11C7-05B9-74CD-9732499057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090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27ECF-E778-79B8-E3A1-3BC9063C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82A6B3-083D-D963-CF72-3FE8856AE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Linkage</a:t>
            </a:r>
            <a:r>
              <a:rPr lang="es-ES" dirty="0"/>
              <a:t> </a:t>
            </a:r>
            <a:r>
              <a:rPr lang="es-ES" dirty="0" err="1"/>
              <a:t>equilibrium</a:t>
            </a:r>
            <a:r>
              <a:rPr lang="es-ES" dirty="0"/>
              <a:t> (LE): </a:t>
            </a:r>
            <a:r>
              <a:rPr lang="es-CO" dirty="0" err="1"/>
              <a:t>Two</a:t>
            </a:r>
            <a:r>
              <a:rPr lang="es-CO" dirty="0"/>
              <a:t> loci are </a:t>
            </a:r>
            <a:r>
              <a:rPr lang="en-US" dirty="0"/>
              <a:t>in LE when the genotype at one locus is independent of the genotype at the other locus;</a:t>
            </a:r>
          </a:p>
          <a:p>
            <a:r>
              <a:rPr lang="en-US" dirty="0"/>
              <a:t>Haplotypes: et of alleles at each locus inherited f</a:t>
            </a:r>
            <a:r>
              <a:rPr lang="es-CO" dirty="0"/>
              <a:t>rom a </a:t>
            </a:r>
            <a:r>
              <a:rPr lang="es-CO" dirty="0" err="1"/>
              <a:t>parent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90E178-E6E5-949F-63D2-DFB375003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995" y="3342784"/>
            <a:ext cx="3629532" cy="351521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E6CBEA6-BAC5-AB3E-A628-0CCBBCA1D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62" y="3802478"/>
            <a:ext cx="5553850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7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19BAA-5D0F-FDF5-1ADA-24BB41DFA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https://cloufield.github.io/GWASTutorial/19_ld/#reference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ADF74D-7FEB-562B-2FEB-7888EA6AF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6BCC91-C3C4-A31B-EB95-5346BCBB8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26" y="2067783"/>
            <a:ext cx="8649907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0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D781C-0B89-5B01-B585-14514A80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678571-AC09-A21C-CF7F-5387622D5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606F7D-901F-6B96-A55E-74411343F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9" y="2775307"/>
            <a:ext cx="10849101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99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AEAAD7-A664-F50C-CA20-6FD436887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8BF3BF-B508-8503-F3A3-2E1F7F6F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2640DA-1A14-5B16-85EF-7FAE2754A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20" y="2166761"/>
            <a:ext cx="8306959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6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69F845-DDCF-56DF-8A20-6B59838B8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91F5DB-B323-3DE8-97B8-D56538901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C99D8EA-6198-5068-1584-097959777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024" y="1838103"/>
            <a:ext cx="8602275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9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E2789-EB2E-BBF2-153C-EAAF601C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11FFF5-7048-AAC8-C758-3D9008C2E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D3FC69-76E6-F513-E200-A7BA4CC5E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15" y="1171260"/>
            <a:ext cx="8383170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18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B4681-2C66-9903-BA9E-7764A52B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750558-6EB2-028C-15DF-A1FA4D1D1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https://www.ensembl.org/Homo_sapiens/Tools/LD?db=core</a:t>
            </a:r>
          </a:p>
        </p:txBody>
      </p:sp>
    </p:spTree>
    <p:extLst>
      <p:ext uri="{BB962C8B-B14F-4D97-AF65-F5344CB8AC3E}">
        <p14:creationId xmlns:p14="http://schemas.microsoft.com/office/powerpoint/2010/main" val="1784778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82471-797E-932E-0CF3-E0C45BCF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Factors</a:t>
            </a:r>
            <a:r>
              <a:rPr lang="es-ES" dirty="0"/>
              <a:t> </a:t>
            </a:r>
            <a:r>
              <a:rPr lang="es-ES" dirty="0" err="1"/>
              <a:t>affecting</a:t>
            </a:r>
            <a:r>
              <a:rPr lang="es-ES" dirty="0"/>
              <a:t> LD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850FA3-FD7A-1C11-AC1B-5019EB2C2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445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s-CO" b="1" dirty="0"/>
              <a:t>Non-</a:t>
            </a:r>
            <a:r>
              <a:rPr lang="es-CO" b="1" dirty="0" err="1"/>
              <a:t>random</a:t>
            </a:r>
            <a:r>
              <a:rPr lang="es-CO" b="1" dirty="0"/>
              <a:t> </a:t>
            </a:r>
            <a:r>
              <a:rPr lang="es-CO" b="1" dirty="0" err="1"/>
              <a:t>mating</a:t>
            </a:r>
            <a:r>
              <a:rPr lang="es-CO" b="1" dirty="0"/>
              <a:t>: </a:t>
            </a:r>
          </a:p>
          <a:p>
            <a:pPr marL="0" indent="0">
              <a:buNone/>
            </a:pPr>
            <a:r>
              <a:rPr lang="en-US" dirty="0"/>
              <a:t>inbreeding will similarly reduce the frequency of the double heterozygote genotypes A1B1/A2B2 </a:t>
            </a:r>
            <a:r>
              <a:rPr lang="es-CO" dirty="0"/>
              <a:t>and A1B2/A2B1.</a:t>
            </a:r>
          </a:p>
          <a:p>
            <a:r>
              <a:rPr lang="es-CO" b="1" dirty="0" err="1"/>
              <a:t>Genetic</a:t>
            </a:r>
            <a:r>
              <a:rPr lang="es-CO" b="1" dirty="0"/>
              <a:t> </a:t>
            </a:r>
            <a:r>
              <a:rPr lang="es-CO" b="1" dirty="0" err="1"/>
              <a:t>drift</a:t>
            </a:r>
            <a:endParaRPr lang="es-CO" b="1" dirty="0"/>
          </a:p>
          <a:p>
            <a:pPr marL="0" indent="0">
              <a:buNone/>
            </a:pPr>
            <a:r>
              <a:rPr lang="es-CO" i="1" dirty="0" err="1"/>
              <a:t>Imbalance</a:t>
            </a:r>
            <a:r>
              <a:rPr lang="es-CO" i="1" dirty="0"/>
              <a:t> </a:t>
            </a:r>
            <a:r>
              <a:rPr lang="es-CO" dirty="0"/>
              <a:t>in </a:t>
            </a:r>
            <a:r>
              <a:rPr lang="es-CO" dirty="0" err="1"/>
              <a:t>haplotype</a:t>
            </a:r>
            <a:r>
              <a:rPr lang="es-CO" dirty="0"/>
              <a:t> </a:t>
            </a:r>
            <a:r>
              <a:rPr lang="es-CO" dirty="0" err="1"/>
              <a:t>frequencies</a:t>
            </a:r>
            <a:endParaRPr lang="es-CO" dirty="0"/>
          </a:p>
          <a:p>
            <a:pPr marL="0" indent="0">
              <a:buNone/>
            </a:pPr>
            <a:r>
              <a:rPr lang="es-CO" dirty="0" err="1"/>
              <a:t>two</a:t>
            </a:r>
            <a:r>
              <a:rPr lang="es-CO" dirty="0"/>
              <a:t> loci can </a:t>
            </a:r>
            <a:r>
              <a:rPr lang="es-CO" dirty="0" err="1"/>
              <a:t>only</a:t>
            </a:r>
            <a:r>
              <a:rPr lang="es-CO" dirty="0"/>
              <a:t> </a:t>
            </a:r>
            <a:r>
              <a:rPr lang="en-US" dirty="0"/>
              <a:t>be in LD if they are both polymorphic.</a:t>
            </a:r>
          </a:p>
          <a:p>
            <a:r>
              <a:rPr lang="es-CO" b="1" dirty="0"/>
              <a:t>Natural </a:t>
            </a:r>
            <a:r>
              <a:rPr lang="es-CO" b="1" dirty="0" err="1"/>
              <a:t>selection</a:t>
            </a:r>
            <a:endParaRPr lang="es-CO" b="1" dirty="0"/>
          </a:p>
          <a:p>
            <a:r>
              <a:rPr lang="es-CO" dirty="0"/>
              <a:t>Hill–Robertson </a:t>
            </a:r>
            <a:r>
              <a:rPr lang="es-CO" dirty="0" err="1"/>
              <a:t>effect</a:t>
            </a:r>
            <a:r>
              <a:rPr lang="es-CO" dirty="0"/>
              <a:t>: </a:t>
            </a:r>
            <a:r>
              <a:rPr lang="es-CO" dirty="0" err="1"/>
              <a:t>when</a:t>
            </a:r>
            <a:r>
              <a:rPr lang="es-CO" dirty="0"/>
              <a:t> </a:t>
            </a:r>
            <a:r>
              <a:rPr lang="es-CO" dirty="0" err="1"/>
              <a:t>selection</a:t>
            </a:r>
            <a:r>
              <a:rPr lang="es-CO" dirty="0"/>
              <a:t> </a:t>
            </a:r>
            <a:r>
              <a:rPr lang="es-CO" dirty="0" err="1"/>
              <a:t>is</a:t>
            </a:r>
            <a:r>
              <a:rPr lang="es-CO" dirty="0"/>
              <a:t> </a:t>
            </a:r>
            <a:r>
              <a:rPr lang="es-CO" dirty="0" err="1"/>
              <a:t>affecting</a:t>
            </a:r>
            <a:r>
              <a:rPr lang="es-CO" dirty="0"/>
              <a:t> </a:t>
            </a:r>
            <a:r>
              <a:rPr lang="en-US" dirty="0"/>
              <a:t>two or more loci that are physically linked, genetic drift will create small amounts of LD that has the potential to weaken selection.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78052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BFE79-CB41-D3E0-AFBA-6857AC87D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A6CDBD-C94E-9807-8F01-1CCED58AB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94987" cy="4351338"/>
          </a:xfrm>
        </p:spPr>
        <p:txBody>
          <a:bodyPr>
            <a:normAutofit/>
          </a:bodyPr>
          <a:lstStyle/>
          <a:p>
            <a:r>
              <a:rPr lang="es-CO" b="1" dirty="0" err="1"/>
              <a:t>Mutations</a:t>
            </a:r>
            <a:endParaRPr lang="es-CO" b="1" dirty="0"/>
          </a:p>
          <a:p>
            <a:endParaRPr lang="es-CO" b="1" dirty="0"/>
          </a:p>
          <a:p>
            <a:endParaRPr lang="es-CO" b="1" dirty="0"/>
          </a:p>
          <a:p>
            <a:endParaRPr lang="es-CO" b="1" dirty="0"/>
          </a:p>
          <a:p>
            <a:r>
              <a:rPr lang="es-CO" b="1" dirty="0"/>
              <a:t>Gene </a:t>
            </a:r>
            <a:r>
              <a:rPr lang="es-CO" b="1" dirty="0" err="1"/>
              <a:t>flows</a:t>
            </a:r>
            <a:endParaRPr lang="es-CO" b="1" dirty="0"/>
          </a:p>
          <a:p>
            <a:pPr marL="0" indent="0">
              <a:buNone/>
            </a:pPr>
            <a:r>
              <a:rPr lang="en-US" dirty="0"/>
              <a:t>Random mating between residents and  </a:t>
            </a:r>
          </a:p>
          <a:p>
            <a:pPr marL="0" indent="0">
              <a:buNone/>
            </a:pPr>
            <a:r>
              <a:rPr lang="en-US" dirty="0"/>
              <a:t>immigrants and recombination will eventually counteract </a:t>
            </a:r>
            <a:r>
              <a:rPr lang="es-CO" dirty="0"/>
              <a:t>LD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CD8C78F-714F-2849-E02F-C2AA82044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215" y="123145"/>
            <a:ext cx="4210259" cy="516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36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82D6-7102-D238-685E-13BB48C23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BFC82-36AC-7508-F6DB-190094359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640080"/>
            <a:ext cx="6894576" cy="3566160"/>
          </a:xfrm>
        </p:spPr>
        <p:txBody>
          <a:bodyPr anchor="b">
            <a:normAutofit/>
          </a:bodyPr>
          <a:lstStyle/>
          <a:p>
            <a:pPr algn="l"/>
            <a:r>
              <a:rPr lang="es-CO" sz="6600" dirty="0" err="1"/>
              <a:t>Multilocus</a:t>
            </a:r>
            <a:r>
              <a:rPr lang="es-CO" sz="6600" dirty="0"/>
              <a:t> </a:t>
            </a:r>
            <a:r>
              <a:rPr lang="es-CO" sz="6600" dirty="0" err="1"/>
              <a:t>selection</a:t>
            </a:r>
            <a:endParaRPr lang="es-CO" sz="6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E09D91-F0FA-188D-ECE0-41556704F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6" y="4636008"/>
            <a:ext cx="6894576" cy="1572768"/>
          </a:xfrm>
        </p:spPr>
        <p:txBody>
          <a:bodyPr>
            <a:normAutofit/>
          </a:bodyPr>
          <a:lstStyle/>
          <a:p>
            <a:pPr algn="l"/>
            <a:endParaRPr lang="es-CO"/>
          </a:p>
        </p:txBody>
      </p:sp>
      <p:pic>
        <p:nvPicPr>
          <p:cNvPr id="5" name="Picture 4" descr="Primer plano de un modelo molecular">
            <a:extLst>
              <a:ext uri="{FF2B5EF4-FFF2-40B4-BE49-F238E27FC236}">
                <a16:creationId xmlns:a16="http://schemas.microsoft.com/office/drawing/2014/main" id="{C34E8410-33F4-25A4-532E-DDEDFACEDE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66" r="7745"/>
          <a:stretch>
            <a:fillRect/>
          </a:stretch>
        </p:blipFill>
        <p:spPr>
          <a:xfrm>
            <a:off x="20" y="10"/>
            <a:ext cx="4049786" cy="6857990"/>
          </a:xfrm>
          <a:custGeom>
            <a:avLst/>
            <a:gdLst/>
            <a:ahLst/>
            <a:cxnLst/>
            <a:rect l="l" t="t" r="r" b="b"/>
            <a:pathLst>
              <a:path w="4049806" h="6858000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9646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B754E-6EC4-AF46-ADB1-8E408491C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6E0C1F-17EF-F058-E279-B8305B038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additive fitness: </a:t>
            </a:r>
            <a:r>
              <a:rPr lang="en-US" dirty="0"/>
              <a:t>when fitness is the sum of contributions from alleles at different loci.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BBE70B-7C62-9170-C16C-D6D67225B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119" y="2475610"/>
            <a:ext cx="5465224" cy="406408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9EB239A-A91E-4F7C-3BF8-4F3B4591C756}"/>
              </a:ext>
            </a:extLst>
          </p:cNvPr>
          <p:cNvSpPr txBox="1"/>
          <p:nvPr/>
        </p:nvSpPr>
        <p:spPr>
          <a:xfrm>
            <a:off x="1022555" y="377688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PalatinoLTStd-Roman"/>
              </a:rPr>
              <a:t>The more blue alleles (A</a:t>
            </a:r>
            <a:r>
              <a:rPr lang="en-US" sz="800" b="0" i="0" u="none" strike="noStrike" baseline="0" dirty="0">
                <a:latin typeface="PalatinoLTStd-Roman"/>
              </a:rPr>
              <a:t>1 </a:t>
            </a:r>
            <a:r>
              <a:rPr lang="en-US" sz="1800" b="0" i="0" u="none" strike="noStrike" baseline="0" dirty="0">
                <a:latin typeface="PalatinoLTStd-Roman"/>
              </a:rPr>
              <a:t>and B</a:t>
            </a:r>
            <a:r>
              <a:rPr lang="en-US" sz="800" b="0" i="0" u="none" strike="noStrike" baseline="0" dirty="0">
                <a:latin typeface="PalatinoLTStd-Roman"/>
              </a:rPr>
              <a:t>1</a:t>
            </a:r>
            <a:r>
              <a:rPr lang="en-US" sz="1800" b="0" i="0" u="none" strike="noStrike" baseline="0" dirty="0">
                <a:latin typeface="PalatinoLTStd-Roman"/>
              </a:rPr>
              <a:t>)</a:t>
            </a:r>
          </a:p>
          <a:p>
            <a:pPr algn="l"/>
            <a:r>
              <a:rPr lang="en-US" sz="1800" b="0" i="0" u="none" strike="noStrike" baseline="0" dirty="0">
                <a:latin typeface="PalatinoLTStd-Roman"/>
              </a:rPr>
              <a:t>the individual possesses, the higher fitness.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90478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3909B-95CF-17B1-77A3-CF10844D4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Epistasis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F97030-84BA-9AD2-13C3-F04155640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94471" cy="4351338"/>
          </a:xfrm>
        </p:spPr>
        <p:txBody>
          <a:bodyPr/>
          <a:lstStyle/>
          <a:p>
            <a:r>
              <a:rPr lang="es-CO" dirty="0" err="1"/>
              <a:t>interactionsbetween</a:t>
            </a:r>
            <a:r>
              <a:rPr lang="es-CO" dirty="0"/>
              <a:t> </a:t>
            </a:r>
            <a:r>
              <a:rPr lang="es-CO" dirty="0" err="1"/>
              <a:t>multilocus</a:t>
            </a:r>
            <a:r>
              <a:rPr lang="es-CO" dirty="0"/>
              <a:t> </a:t>
            </a:r>
            <a:r>
              <a:rPr lang="es-CO" dirty="0" err="1"/>
              <a:t>alleles</a:t>
            </a:r>
            <a:r>
              <a:rPr lang="es-CO" dirty="0"/>
              <a:t> </a:t>
            </a:r>
            <a:r>
              <a:rPr lang="es-CO" dirty="0" err="1"/>
              <a:t>on</a:t>
            </a:r>
            <a:r>
              <a:rPr lang="es-CO" dirty="0"/>
              <a:t> </a:t>
            </a:r>
            <a:r>
              <a:rPr lang="es-CO" dirty="0" err="1"/>
              <a:t>phenotype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56B779-95AF-9B45-7AE4-CECD228F4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557" y="624656"/>
            <a:ext cx="5734850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49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FDA52-17FA-70AD-8C76-954ED90F0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5DF0E-6A4F-1D50-4FFF-4C6EA498B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18935" cy="4351338"/>
          </a:xfrm>
        </p:spPr>
        <p:txBody>
          <a:bodyPr>
            <a:normAutofit fontScale="92500" lnSpcReduction="20000"/>
          </a:bodyPr>
          <a:lstStyle/>
          <a:p>
            <a:r>
              <a:rPr lang="es-CO" dirty="0" err="1"/>
              <a:t>Most</a:t>
            </a:r>
            <a:r>
              <a:rPr lang="es-CO" dirty="0"/>
              <a:t> </a:t>
            </a:r>
            <a:r>
              <a:rPr lang="en-US" dirty="0"/>
              <a:t>traits are probably determined by two or more genes interacting in complex ways to produce phenotypes.</a:t>
            </a:r>
          </a:p>
          <a:p>
            <a:endParaRPr lang="en-US" dirty="0"/>
          </a:p>
          <a:p>
            <a:r>
              <a:rPr lang="es-CO" dirty="0" err="1"/>
              <a:t>Epistasis</a:t>
            </a:r>
            <a:r>
              <a:rPr lang="es-CO" dirty="0"/>
              <a:t> </a:t>
            </a:r>
            <a:r>
              <a:rPr lang="es-CO" dirty="0" err="1"/>
              <a:t>is</a:t>
            </a:r>
            <a:r>
              <a:rPr lang="es-CO" dirty="0"/>
              <a:t> </a:t>
            </a:r>
            <a:r>
              <a:rPr lang="es-CO" dirty="0" err="1"/>
              <a:t>thought</a:t>
            </a:r>
            <a:r>
              <a:rPr lang="es-CO" dirty="0"/>
              <a:t> </a:t>
            </a:r>
            <a:r>
              <a:rPr lang="en-US" dirty="0"/>
              <a:t>to often cause such multiple peaks in the adaptive landscape and thus constrain adaptive evolution to </a:t>
            </a:r>
            <a:r>
              <a:rPr lang="es-CO" dirty="0"/>
              <a:t>a particular </a:t>
            </a:r>
            <a:r>
              <a:rPr lang="es-CO" dirty="0" err="1"/>
              <a:t>outcome</a:t>
            </a:r>
            <a:r>
              <a:rPr lang="es-CO"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0EE49A-D063-2174-975B-AFDF02A63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739" y="1825625"/>
            <a:ext cx="6173061" cy="449642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29401AF-BFF9-2DB6-2487-C20E6095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739" y="1805960"/>
            <a:ext cx="6173061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162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D1DE9-6BB1-B59D-46CF-34CF691D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Positive and negative </a:t>
            </a:r>
            <a:r>
              <a:rPr lang="es-ES" dirty="0" err="1"/>
              <a:t>epistasis</a:t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633354-C456-1F23-5A18-3104C5F46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9542" cy="4351338"/>
          </a:xfrm>
        </p:spPr>
        <p:txBody>
          <a:bodyPr/>
          <a:lstStyle/>
          <a:p>
            <a:r>
              <a:rPr lang="es-ES" dirty="0" err="1"/>
              <a:t>Two</a:t>
            </a:r>
            <a:r>
              <a:rPr lang="es-ES" dirty="0"/>
              <a:t> loci can be </a:t>
            </a:r>
            <a:r>
              <a:rPr lang="es-ES" dirty="0" err="1"/>
              <a:t>benefical</a:t>
            </a:r>
            <a:r>
              <a:rPr lang="es-ES" dirty="0"/>
              <a:t> 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harmful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6BBEDC-6C8D-B98A-EEB2-C0EE79C04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743" y="1562553"/>
            <a:ext cx="6058746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1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AE599-C20C-3118-9B4B-D6A3398E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Quantitative</a:t>
            </a:r>
            <a:r>
              <a:rPr lang="es-ES" dirty="0"/>
              <a:t> </a:t>
            </a:r>
            <a:r>
              <a:rPr lang="es-ES" dirty="0" err="1"/>
              <a:t>genetics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AE8EF4-49BA-1D72-E76E-4C7074027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number of phenotypic traits, perhaps the majority, exhibit continuous variation and are affected by a large number of interacting genes, as well as by environmental factors. Such characters are called </a:t>
            </a:r>
            <a:r>
              <a:rPr lang="es-CO" b="1" dirty="0" err="1"/>
              <a:t>quantitative</a:t>
            </a:r>
            <a:r>
              <a:rPr lang="es-CO" b="1" dirty="0"/>
              <a:t> </a:t>
            </a:r>
            <a:r>
              <a:rPr lang="es-CO" b="1" dirty="0" err="1"/>
              <a:t>traits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8253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DCB1C-B01F-7040-E6D5-15D10293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DF8F70-58D5-A5B9-8F5E-38BB0E544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482"/>
            <a:ext cx="10515600" cy="4351338"/>
          </a:xfrm>
        </p:spPr>
        <p:txBody>
          <a:bodyPr/>
          <a:lstStyle/>
          <a:p>
            <a:r>
              <a:rPr lang="es-ES" dirty="0" err="1"/>
              <a:t>Average</a:t>
            </a:r>
            <a:r>
              <a:rPr lang="es-ES" dirty="0"/>
              <a:t>:</a:t>
            </a:r>
          </a:p>
          <a:p>
            <a:r>
              <a:rPr lang="es-ES" dirty="0" err="1"/>
              <a:t>Variance</a:t>
            </a:r>
            <a:endParaRPr lang="es-ES" dirty="0"/>
          </a:p>
          <a:p>
            <a:endParaRPr lang="es-ES" dirty="0"/>
          </a:p>
          <a:p>
            <a:r>
              <a:rPr lang="es-ES" dirty="0"/>
              <a:t>V</a:t>
            </a:r>
            <a:r>
              <a:rPr lang="es-ES" sz="1800" dirty="0"/>
              <a:t>P</a:t>
            </a:r>
            <a:r>
              <a:rPr lang="es-ES" dirty="0"/>
              <a:t> = </a:t>
            </a:r>
            <a:r>
              <a:rPr lang="es-ES" dirty="0" err="1"/>
              <a:t>Variance</a:t>
            </a:r>
            <a:r>
              <a:rPr lang="es-ES" dirty="0"/>
              <a:t> in </a:t>
            </a:r>
            <a:r>
              <a:rPr lang="es-ES" dirty="0" err="1"/>
              <a:t>population</a:t>
            </a:r>
            <a:r>
              <a:rPr lang="es-ES" dirty="0"/>
              <a:t>; </a:t>
            </a:r>
            <a:r>
              <a:rPr lang="es-ES" dirty="0" err="1"/>
              <a:t>Variance</a:t>
            </a:r>
            <a:r>
              <a:rPr lang="es-ES" dirty="0"/>
              <a:t> </a:t>
            </a:r>
            <a:r>
              <a:rPr lang="es-ES" dirty="0" err="1"/>
              <a:t>genetic</a:t>
            </a:r>
            <a:r>
              <a:rPr lang="es-ES" dirty="0"/>
              <a:t> factor (V</a:t>
            </a:r>
            <a:r>
              <a:rPr lang="es-ES" sz="1800" dirty="0"/>
              <a:t>G</a:t>
            </a:r>
            <a:r>
              <a:rPr lang="es-ES" dirty="0"/>
              <a:t>); </a:t>
            </a:r>
            <a:r>
              <a:rPr lang="es-ES" dirty="0" err="1"/>
              <a:t>Variance</a:t>
            </a:r>
            <a:r>
              <a:rPr lang="es-ES" dirty="0"/>
              <a:t> </a:t>
            </a:r>
            <a:r>
              <a:rPr lang="es-ES" dirty="0" err="1"/>
              <a:t>environment</a:t>
            </a:r>
            <a:r>
              <a:rPr lang="es-ES" dirty="0"/>
              <a:t> (V</a:t>
            </a:r>
            <a:r>
              <a:rPr lang="es-ES" sz="1800" dirty="0"/>
              <a:t>E</a:t>
            </a:r>
            <a:r>
              <a:rPr lang="es-ES" dirty="0"/>
              <a:t>)</a:t>
            </a:r>
          </a:p>
          <a:p>
            <a:r>
              <a:rPr lang="es-ES" dirty="0"/>
              <a:t> 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E0EF16-3F86-A120-9386-86D8553B0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186" y="1817482"/>
            <a:ext cx="933580" cy="4858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845D406-CE67-2953-7DDB-36A30948E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484" y="2438262"/>
            <a:ext cx="3705742" cy="99073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655B9DC-3342-A8D4-3662-3E6907801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088" y="3859253"/>
            <a:ext cx="1124107" cy="38105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A5CC8F2-C4E5-7DFD-F26D-DCEFFCD24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451" y="4575826"/>
            <a:ext cx="2172003" cy="41915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ADDE3114-653B-70AE-883C-D35EB4696F8F}"/>
              </a:ext>
            </a:extLst>
          </p:cNvPr>
          <p:cNvSpPr txBox="1"/>
          <p:nvPr/>
        </p:nvSpPr>
        <p:spPr>
          <a:xfrm>
            <a:off x="2522484" y="5212570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i="0" u="none" strike="noStrike" baseline="0" dirty="0" err="1">
                <a:latin typeface="PalatinoLTStd-Bold"/>
              </a:rPr>
              <a:t>Additive</a:t>
            </a:r>
            <a:r>
              <a:rPr lang="es-CO" sz="1800" b="1" i="0" u="none" strike="noStrike" baseline="0" dirty="0">
                <a:latin typeface="PalatinoLTStd-Bold"/>
              </a:rPr>
              <a:t> </a:t>
            </a:r>
            <a:r>
              <a:rPr lang="es-CO" sz="1800" b="1" i="0" u="none" strike="noStrike" baseline="0" dirty="0" err="1">
                <a:latin typeface="PalatinoLTStd-Bold"/>
              </a:rPr>
              <a:t>variance</a:t>
            </a:r>
            <a:endParaRPr lang="es-CO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DB026F9-4D8F-A1C7-CB1E-38905834B252}"/>
              </a:ext>
            </a:extLst>
          </p:cNvPr>
          <p:cNvSpPr txBox="1"/>
          <p:nvPr/>
        </p:nvSpPr>
        <p:spPr>
          <a:xfrm>
            <a:off x="4688451" y="52125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i="0" u="none" strike="noStrike" baseline="0" dirty="0" err="1">
                <a:latin typeface="PalatinoLTStd-Bold"/>
              </a:rPr>
              <a:t>Dominance</a:t>
            </a:r>
            <a:r>
              <a:rPr lang="es-CO" sz="1800" b="1" i="0" u="none" strike="noStrike" baseline="0" dirty="0">
                <a:latin typeface="PalatinoLTStd-Bold"/>
              </a:rPr>
              <a:t> </a:t>
            </a:r>
            <a:r>
              <a:rPr lang="es-CO" sz="1800" b="1" i="0" u="none" strike="noStrike" baseline="0" dirty="0" err="1">
                <a:latin typeface="PalatinoLTStd-Bold"/>
              </a:rPr>
              <a:t>variance</a:t>
            </a:r>
            <a:endParaRPr lang="es-CO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8BAD2AD-8822-CBDD-81A3-2214DB4E7F78}"/>
              </a:ext>
            </a:extLst>
          </p:cNvPr>
          <p:cNvSpPr txBox="1"/>
          <p:nvPr/>
        </p:nvSpPr>
        <p:spPr>
          <a:xfrm>
            <a:off x="6956592" y="52125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b="1" i="0" u="none" strike="noStrike" baseline="0" dirty="0" err="1">
                <a:latin typeface="PalatinoLTStd-Bold"/>
              </a:rPr>
              <a:t>epistatic</a:t>
            </a:r>
            <a:r>
              <a:rPr lang="es-CO" sz="1800" b="1" i="0" u="none" strike="noStrike" baseline="0" dirty="0">
                <a:latin typeface="PalatinoLTStd-Bold"/>
              </a:rPr>
              <a:t> </a:t>
            </a:r>
            <a:r>
              <a:rPr lang="es-CO" sz="1800" b="1" i="0" u="none" strike="noStrike" baseline="0" dirty="0" err="1">
                <a:latin typeface="PalatinoLTStd-Bold"/>
              </a:rPr>
              <a:t>variance</a:t>
            </a:r>
            <a:endParaRPr lang="es-CO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B693023-F7A1-9486-B2ED-BE3CCA1224D8}"/>
              </a:ext>
            </a:extLst>
          </p:cNvPr>
          <p:cNvCxnSpPr>
            <a:endCxn id="11" idx="2"/>
          </p:cNvCxnSpPr>
          <p:nvPr/>
        </p:nvCxnSpPr>
        <p:spPr>
          <a:xfrm flipV="1">
            <a:off x="3893574" y="4994984"/>
            <a:ext cx="1880879" cy="217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3E3B2AA-8B6B-669A-DE11-A19FC13FC34C}"/>
              </a:ext>
            </a:extLst>
          </p:cNvPr>
          <p:cNvCxnSpPr>
            <a:cxnSpLocks/>
          </p:cNvCxnSpPr>
          <p:nvPr/>
        </p:nvCxnSpPr>
        <p:spPr>
          <a:xfrm flipV="1">
            <a:off x="6027174" y="4994984"/>
            <a:ext cx="68826" cy="217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2E1EEA02-4698-43E6-1C37-C76E45346F3A}"/>
              </a:ext>
            </a:extLst>
          </p:cNvPr>
          <p:cNvCxnSpPr>
            <a:cxnSpLocks/>
          </p:cNvCxnSpPr>
          <p:nvPr/>
        </p:nvCxnSpPr>
        <p:spPr>
          <a:xfrm flipH="1" flipV="1">
            <a:off x="6569330" y="4994984"/>
            <a:ext cx="686876" cy="217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783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CE221-0A8D-A0A7-30BF-7CB96F80D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DFBADF-BC8C-4B61-4DEE-A131C4FB6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6829"/>
            <a:ext cx="10515600" cy="4351338"/>
          </a:xfrm>
        </p:spPr>
        <p:txBody>
          <a:bodyPr/>
          <a:lstStyle/>
          <a:p>
            <a:r>
              <a:rPr lang="es-ES" dirty="0" err="1"/>
              <a:t>Heredability</a:t>
            </a:r>
            <a:r>
              <a:rPr lang="es-ES" dirty="0"/>
              <a:t>: </a:t>
            </a:r>
            <a:r>
              <a:rPr lang="en-US" dirty="0"/>
              <a:t>The proportion of the total variance in a trait that</a:t>
            </a:r>
          </a:p>
          <a:p>
            <a:r>
              <a:rPr lang="en-US" dirty="0"/>
              <a:t>is due to additive variance in a population</a:t>
            </a:r>
          </a:p>
          <a:p>
            <a:r>
              <a:rPr lang="es-CO" b="1" dirty="0" err="1"/>
              <a:t>breeder’s</a:t>
            </a:r>
            <a:r>
              <a:rPr lang="es-CO" b="1" dirty="0"/>
              <a:t> </a:t>
            </a:r>
            <a:r>
              <a:rPr lang="es-CO" b="1" dirty="0" err="1"/>
              <a:t>equation</a:t>
            </a:r>
            <a:r>
              <a:rPr lang="es-CO" b="1" dirty="0"/>
              <a:t>: 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D64101-43BE-7AAA-548E-5CC7C1F6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580" y="2395173"/>
            <a:ext cx="1381318" cy="40963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94025E1-4134-6AFA-58B0-155F0B227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61" y="2395173"/>
            <a:ext cx="1276528" cy="41915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3B5C43C-AC3A-1C41-89E7-90D8B94EC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191" y="2952726"/>
            <a:ext cx="733527" cy="34294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0407BBB-A629-A579-882B-D0E8DAE7D877}"/>
              </a:ext>
            </a:extLst>
          </p:cNvPr>
          <p:cNvSpPr txBox="1"/>
          <p:nvPr/>
        </p:nvSpPr>
        <p:spPr>
          <a:xfrm>
            <a:off x="5437239" y="356175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1" u="none" strike="noStrike" baseline="0" dirty="0">
                <a:latin typeface="PalatinoLTStd-Italic"/>
              </a:rPr>
              <a:t>S </a:t>
            </a:r>
            <a:r>
              <a:rPr lang="en-US" sz="1800" b="0" i="0" u="none" strike="noStrike" baseline="0" dirty="0">
                <a:latin typeface="PalatinoLTStd-Roman"/>
              </a:rPr>
              <a:t>is equal to the difference in</a:t>
            </a:r>
          </a:p>
          <a:p>
            <a:pPr algn="l"/>
            <a:r>
              <a:rPr lang="es-CO" sz="1800" b="0" i="0" u="none" strike="noStrike" baseline="0" dirty="0">
                <a:latin typeface="PalatinoLTStd-Roman"/>
              </a:rPr>
              <a:t>mean </a:t>
            </a:r>
            <a:r>
              <a:rPr lang="es-CO" sz="1800" b="0" i="0" u="none" strike="noStrike" baseline="0" dirty="0" err="1">
                <a:latin typeface="PalatinoLTStd-Roman"/>
              </a:rPr>
              <a:t>trait</a:t>
            </a:r>
            <a:r>
              <a:rPr lang="es-CO" sz="1800" b="0" i="0" u="none" strike="noStrike" baseline="0" dirty="0">
                <a:latin typeface="PalatinoLTStd-Roman"/>
              </a:rPr>
              <a:t> </a:t>
            </a:r>
            <a:r>
              <a:rPr lang="es-CO" sz="1800" b="0" i="0" u="none" strike="noStrike" baseline="0" dirty="0" err="1">
                <a:latin typeface="PalatinoLTStd-Roman"/>
              </a:rPr>
              <a:t>value</a:t>
            </a:r>
            <a:endParaRPr lang="es-CO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5285552-6352-41AA-652B-F364C41EB198}"/>
              </a:ext>
            </a:extLst>
          </p:cNvPr>
          <p:cNvCxnSpPr>
            <a:cxnSpLocks/>
          </p:cNvCxnSpPr>
          <p:nvPr/>
        </p:nvCxnSpPr>
        <p:spPr>
          <a:xfrm flipH="1" flipV="1">
            <a:off x="5232143" y="3284229"/>
            <a:ext cx="686876" cy="217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n 14">
            <a:extLst>
              <a:ext uri="{FF2B5EF4-FFF2-40B4-BE49-F238E27FC236}">
                <a16:creationId xmlns:a16="http://schemas.microsoft.com/office/drawing/2014/main" id="{4D73197A-FD72-DB73-4A48-D36963A364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7881" y="3355611"/>
            <a:ext cx="962159" cy="609685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A308151-4B41-D4B4-BB4D-2354D4900A25}"/>
              </a:ext>
            </a:extLst>
          </p:cNvPr>
          <p:cNvSpPr txBox="1"/>
          <p:nvPr/>
        </p:nvSpPr>
        <p:spPr>
          <a:xfrm>
            <a:off x="3746090" y="36604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Heredability</a:t>
            </a:r>
            <a:endParaRPr lang="es-CO" dirty="0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E39B5B2-CA14-7CE2-9AB1-F8E5BC93B0D5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4490241" y="3295674"/>
            <a:ext cx="494714" cy="364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689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6E4D0-2394-681A-C11A-39F9D8511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quantitative</a:t>
            </a:r>
            <a:r>
              <a:rPr lang="es-CO" dirty="0"/>
              <a:t> </a:t>
            </a:r>
            <a:r>
              <a:rPr lang="es-CO" dirty="0" err="1"/>
              <a:t>trait</a:t>
            </a:r>
            <a:r>
              <a:rPr lang="es-CO" dirty="0"/>
              <a:t> locus (QTL) </a:t>
            </a:r>
            <a:r>
              <a:rPr lang="es-CO" dirty="0" err="1"/>
              <a:t>analysis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74E306-8D58-5847-893C-6DD2565B2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QTL is simply a specific genomic location that correlates with variation in a quantitative trait because it either harbors a gene that affects the trait or because it is physically linked to such a </a:t>
            </a:r>
            <a:r>
              <a:rPr lang="es-CO" dirty="0"/>
              <a:t>gene. </a:t>
            </a:r>
          </a:p>
          <a:p>
            <a:r>
              <a:rPr lang="es-CO" dirty="0"/>
              <a:t>QTL uses </a:t>
            </a:r>
            <a:r>
              <a:rPr lang="es-CO" dirty="0" err="1"/>
              <a:t>strains</a:t>
            </a:r>
            <a:endParaRPr lang="es-CO" dirty="0"/>
          </a:p>
          <a:p>
            <a:r>
              <a:rPr lang="en-US" dirty="0"/>
              <a:t>The most basic association testis an analysis of variance (ANOVA) test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39763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2B972-7338-50D6-8911-B58F81F0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32112-DE60-41C1-39F8-12D6FAF0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88EC4BF-2F4B-CE01-B3F8-75D66FCFD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499" y="72129"/>
            <a:ext cx="4972744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6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9EAAEC-A369-0249-B022-6AF44E5639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0634" y="932270"/>
            <a:ext cx="9136246" cy="51458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E7229A-76C7-7C4B-9F27-4E111E59D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6142" y="1094014"/>
            <a:ext cx="8871857" cy="2899788"/>
          </a:xfrm>
        </p:spPr>
        <p:txBody>
          <a:bodyPr>
            <a:normAutofit/>
          </a:bodyPr>
          <a:lstStyle/>
          <a:p>
            <a:r>
              <a:rPr lang="es-ES_tradnl" sz="2400" b="1" dirty="0"/>
              <a:t>Universidad ICESI</a:t>
            </a:r>
            <a:br>
              <a:rPr lang="es-ES_tradnl" sz="2400" b="1" dirty="0"/>
            </a:br>
            <a:r>
              <a:rPr lang="es-ES_tradnl" sz="2400" b="1" dirty="0"/>
              <a:t>Maestría de Biotecnología</a:t>
            </a:r>
            <a:br>
              <a:rPr lang="es-ES_tradnl" sz="2400" b="1" dirty="0"/>
            </a:br>
            <a:br>
              <a:rPr lang="es-ES_tradnl" sz="2400" b="1" dirty="0"/>
            </a:br>
            <a:r>
              <a:rPr lang="es-ES_tradnl" sz="2400" b="1" dirty="0"/>
              <a:t>Curso electivo:</a:t>
            </a:r>
            <a:br>
              <a:rPr lang="es-ES_tradnl" sz="2400" b="1" dirty="0"/>
            </a:br>
            <a:r>
              <a:rPr lang="es-ES_tradnl" sz="3600" b="1" dirty="0"/>
              <a:t>Mapeo genético avanzado</a:t>
            </a:r>
            <a:br>
              <a:rPr lang="es-ES_tradnl" sz="3600" b="1" dirty="0"/>
            </a:br>
            <a:br>
              <a:rPr lang="es-ES_tradnl" sz="2000" b="1" dirty="0"/>
            </a:br>
            <a:br>
              <a:rPr lang="es-ES_tradnl" sz="1400" b="1" dirty="0"/>
            </a:br>
            <a:r>
              <a:rPr lang="es-ES_tradnl" sz="1800" b="1" dirty="0"/>
              <a:t>Diciembre 2019</a:t>
            </a:r>
            <a:endParaRPr lang="es-ES_tradnl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77053-225F-264D-A0ED-EDD47D5B6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0250" y="4531178"/>
            <a:ext cx="8531116" cy="1439647"/>
          </a:xfrm>
        </p:spPr>
        <p:txBody>
          <a:bodyPr>
            <a:normAutofit/>
          </a:bodyPr>
          <a:lstStyle/>
          <a:p>
            <a:r>
              <a:rPr lang="es-ES_tradnl" sz="2000" b="1" dirty="0" err="1"/>
              <a:t>Mathias</a:t>
            </a:r>
            <a:r>
              <a:rPr lang="es-ES_tradnl" sz="2000" b="1" dirty="0"/>
              <a:t> Lorieux</a:t>
            </a:r>
          </a:p>
          <a:p>
            <a:r>
              <a:rPr lang="es-ES_tradnl" sz="2000" b="1" dirty="0"/>
              <a:t>IRD – CIAT</a:t>
            </a:r>
          </a:p>
          <a:p>
            <a:r>
              <a:rPr lang="es-ES_tradnl" sz="2000" b="1" dirty="0" err="1"/>
              <a:t>m.lorieux@gmail.com</a:t>
            </a:r>
            <a:endParaRPr lang="es-ES_tradnl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DA3AA-18AA-174D-902E-721D52B7B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16" y="163607"/>
            <a:ext cx="2091900" cy="666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D0F69D-E1A5-1242-A544-F9FAA3908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923" y="6078164"/>
            <a:ext cx="6324153" cy="779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0E9FA9-A4DD-4F43-A92F-606EE8CAF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679" y="174173"/>
            <a:ext cx="4634467" cy="66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78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ES_tradnl" dirty="0"/>
              <a:t>Carácter cuantitativo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1777587" y="1026039"/>
            <a:ext cx="3566160" cy="877887"/>
          </a:xfrm>
        </p:spPr>
        <p:txBody>
          <a:bodyPr/>
          <a:lstStyle/>
          <a:p>
            <a:r>
              <a:rPr lang="fr-CA" dirty="0" err="1"/>
              <a:t>Cualitativo</a:t>
            </a:r>
            <a:endParaRPr lang="fr-CA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5332412" y="1316038"/>
            <a:ext cx="5183188" cy="563183"/>
          </a:xfrm>
        </p:spPr>
        <p:txBody>
          <a:bodyPr/>
          <a:lstStyle/>
          <a:p>
            <a:r>
              <a:rPr lang="fr-CA" dirty="0" err="1"/>
              <a:t>Cuantitativo</a:t>
            </a:r>
            <a:endParaRPr lang="fr-CA" dirty="0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t="7499" b="7499"/>
          <a:stretch>
            <a:fillRect/>
          </a:stretch>
        </p:blipFill>
        <p:spPr>
          <a:xfrm>
            <a:off x="3075668" y="2129155"/>
            <a:ext cx="925633" cy="833459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322" y="2129155"/>
            <a:ext cx="719806" cy="83345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20305" y="239943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x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563320" y="3289182"/>
            <a:ext cx="2956958" cy="1481054"/>
            <a:chOff x="563270" y="3587972"/>
            <a:chExt cx="3366996" cy="168643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3270" y="3587972"/>
              <a:ext cx="719806" cy="833459"/>
            </a:xfrm>
            <a:prstGeom prst="rect">
              <a:avLst/>
            </a:prstGeom>
          </p:spPr>
        </p:pic>
        <p:pic>
          <p:nvPicPr>
            <p:cNvPr id="16" name="Content Placeholder 12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390" b="100000" l="9174" r="89450"/>
                      </a14:imgEffect>
                    </a14:imgLayer>
                  </a14:imgProps>
                </a:ext>
              </a:extLst>
            </a:blip>
            <a:srcRect t="7499" b="7499"/>
            <a:stretch>
              <a:fillRect/>
            </a:stretch>
          </p:blipFill>
          <p:spPr>
            <a:xfrm>
              <a:off x="2578993" y="3587972"/>
              <a:ext cx="925633" cy="833459"/>
            </a:xfrm>
            <a:prstGeom prst="rect">
              <a:avLst/>
            </a:prstGeom>
          </p:spPr>
        </p:pic>
        <p:pic>
          <p:nvPicPr>
            <p:cNvPr id="17" name="Content Placeholder 12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390" b="100000" l="9174" r="89450"/>
                      </a14:imgEffect>
                    </a14:imgLayer>
                  </a14:imgProps>
                </a:ext>
              </a:extLst>
            </a:blip>
            <a:srcRect t="7499" b="7499"/>
            <a:stretch>
              <a:fillRect/>
            </a:stretch>
          </p:blipFill>
          <p:spPr>
            <a:xfrm>
              <a:off x="1539770" y="3587972"/>
              <a:ext cx="925633" cy="833459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201516" y="3587972"/>
              <a:ext cx="719806" cy="833459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2162295" y="3587972"/>
              <a:ext cx="719806" cy="833459"/>
            </a:xfrm>
            <a:prstGeom prst="rect">
              <a:avLst/>
            </a:prstGeom>
          </p:spPr>
        </p:pic>
        <p:pic>
          <p:nvPicPr>
            <p:cNvPr id="20" name="Content Placeholder 12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390" b="100000" l="9174" r="89450"/>
                      </a14:imgEffect>
                    </a14:imgLayer>
                  </a14:imgProps>
                </a:ext>
              </a:extLst>
            </a:blip>
            <a:srcRect t="7499" b="7499"/>
            <a:stretch>
              <a:fillRect/>
            </a:stretch>
          </p:blipFill>
          <p:spPr>
            <a:xfrm flipH="1">
              <a:off x="2296387" y="4440943"/>
              <a:ext cx="925633" cy="833459"/>
            </a:xfrm>
            <a:prstGeom prst="rect">
              <a:avLst/>
            </a:prstGeom>
          </p:spPr>
        </p:pic>
        <p:pic>
          <p:nvPicPr>
            <p:cNvPr id="21" name="Content Placeholder 12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390" b="100000" l="9174" r="89450"/>
                      </a14:imgEffect>
                    </a14:imgLayer>
                  </a14:imgProps>
                </a:ext>
              </a:extLst>
            </a:blip>
            <a:srcRect t="7499" b="7499"/>
            <a:stretch>
              <a:fillRect/>
            </a:stretch>
          </p:blipFill>
          <p:spPr>
            <a:xfrm>
              <a:off x="583306" y="4440943"/>
              <a:ext cx="925633" cy="833459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1123072" y="3587972"/>
              <a:ext cx="719806" cy="833459"/>
            </a:xfrm>
            <a:prstGeom prst="rect">
              <a:avLst/>
            </a:prstGeom>
          </p:spPr>
        </p:pic>
        <p:pic>
          <p:nvPicPr>
            <p:cNvPr id="23" name="Content Placeholder 12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390" b="100000" l="9174" r="89450"/>
                      </a14:imgEffect>
                    </a14:imgLayer>
                  </a14:imgProps>
                </a:ext>
              </a:extLst>
            </a:blip>
            <a:srcRect t="7499" b="7499"/>
            <a:stretch>
              <a:fillRect/>
            </a:stretch>
          </p:blipFill>
          <p:spPr>
            <a:xfrm>
              <a:off x="3004633" y="4440943"/>
              <a:ext cx="925633" cy="833459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91551" y="4440943"/>
              <a:ext cx="719806" cy="833459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1793969" y="4440943"/>
              <a:ext cx="719806" cy="833459"/>
            </a:xfrm>
            <a:prstGeom prst="rect">
              <a:avLst/>
            </a:prstGeom>
          </p:spPr>
        </p:pic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83083" y="2129155"/>
            <a:ext cx="719806" cy="833459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8067858" y="2252919"/>
            <a:ext cx="486386" cy="56318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73054" y="239943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x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66498" y="3125692"/>
            <a:ext cx="936453" cy="108431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89965" y="3297649"/>
            <a:ext cx="817458" cy="94653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48381" y="3382769"/>
            <a:ext cx="742562" cy="85980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5437" y="3457044"/>
            <a:ext cx="678415" cy="78553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90969" y="3548612"/>
            <a:ext cx="607057" cy="70290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85605" y="4191907"/>
            <a:ext cx="635156" cy="735443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63103" y="4268545"/>
            <a:ext cx="576550" cy="66758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61125" y="4345349"/>
            <a:ext cx="510219" cy="59078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65545" y="4481115"/>
            <a:ext cx="456147" cy="52817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61837" y="4622993"/>
            <a:ext cx="371177" cy="429784"/>
          </a:xfrm>
          <a:prstGeom prst="rect">
            <a:avLst/>
          </a:prstGeom>
        </p:spPr>
      </p:pic>
      <p:sp>
        <p:nvSpPr>
          <p:cNvPr id="43" name="Freeform 42"/>
          <p:cNvSpPr/>
          <p:nvPr/>
        </p:nvSpPr>
        <p:spPr>
          <a:xfrm>
            <a:off x="6031402" y="5255986"/>
            <a:ext cx="1693333" cy="1024467"/>
          </a:xfrm>
          <a:custGeom>
            <a:avLst/>
            <a:gdLst>
              <a:gd name="connsiteX0" fmla="*/ 0 w 1701800"/>
              <a:gd name="connsiteY0" fmla="*/ 999067 h 1014629"/>
              <a:gd name="connsiteX1" fmla="*/ 905933 w 1701800"/>
              <a:gd name="connsiteY1" fmla="*/ 905934 h 1014629"/>
              <a:gd name="connsiteX2" fmla="*/ 1439333 w 1701800"/>
              <a:gd name="connsiteY2" fmla="*/ 186267 h 1014629"/>
              <a:gd name="connsiteX3" fmla="*/ 1701800 w 1701800"/>
              <a:gd name="connsiteY3" fmla="*/ 0 h 1014629"/>
              <a:gd name="connsiteX4" fmla="*/ 1701800 w 1701800"/>
              <a:gd name="connsiteY4" fmla="*/ 0 h 1014629"/>
              <a:gd name="connsiteX0" fmla="*/ 0 w 1701800"/>
              <a:gd name="connsiteY0" fmla="*/ 999067 h 1015739"/>
              <a:gd name="connsiteX1" fmla="*/ 905933 w 1701800"/>
              <a:gd name="connsiteY1" fmla="*/ 905934 h 1015739"/>
              <a:gd name="connsiteX2" fmla="*/ 1405467 w 1701800"/>
              <a:gd name="connsiteY2" fmla="*/ 160867 h 1015739"/>
              <a:gd name="connsiteX3" fmla="*/ 1701800 w 1701800"/>
              <a:gd name="connsiteY3" fmla="*/ 0 h 1015739"/>
              <a:gd name="connsiteX4" fmla="*/ 1701800 w 1701800"/>
              <a:gd name="connsiteY4" fmla="*/ 0 h 1015739"/>
              <a:gd name="connsiteX0" fmla="*/ 0 w 1693333"/>
              <a:gd name="connsiteY0" fmla="*/ 1024467 h 1035410"/>
              <a:gd name="connsiteX1" fmla="*/ 897466 w 1693333"/>
              <a:gd name="connsiteY1" fmla="*/ 905934 h 1035410"/>
              <a:gd name="connsiteX2" fmla="*/ 1397000 w 1693333"/>
              <a:gd name="connsiteY2" fmla="*/ 160867 h 1035410"/>
              <a:gd name="connsiteX3" fmla="*/ 1693333 w 1693333"/>
              <a:gd name="connsiteY3" fmla="*/ 0 h 1035410"/>
              <a:gd name="connsiteX4" fmla="*/ 1693333 w 1693333"/>
              <a:gd name="connsiteY4" fmla="*/ 0 h 1035410"/>
              <a:gd name="connsiteX0" fmla="*/ 0 w 1693333"/>
              <a:gd name="connsiteY0" fmla="*/ 1024467 h 1024467"/>
              <a:gd name="connsiteX1" fmla="*/ 897466 w 1693333"/>
              <a:gd name="connsiteY1" fmla="*/ 905934 h 1024467"/>
              <a:gd name="connsiteX2" fmla="*/ 1397000 w 1693333"/>
              <a:gd name="connsiteY2" fmla="*/ 160867 h 1024467"/>
              <a:gd name="connsiteX3" fmla="*/ 1693333 w 1693333"/>
              <a:gd name="connsiteY3" fmla="*/ 0 h 1024467"/>
              <a:gd name="connsiteX4" fmla="*/ 1693333 w 1693333"/>
              <a:gd name="connsiteY4" fmla="*/ 0 h 1024467"/>
              <a:gd name="connsiteX0" fmla="*/ 0 w 1693333"/>
              <a:gd name="connsiteY0" fmla="*/ 1024467 h 1024467"/>
              <a:gd name="connsiteX1" fmla="*/ 897466 w 1693333"/>
              <a:gd name="connsiteY1" fmla="*/ 905934 h 1024467"/>
              <a:gd name="connsiteX2" fmla="*/ 1397000 w 1693333"/>
              <a:gd name="connsiteY2" fmla="*/ 160867 h 1024467"/>
              <a:gd name="connsiteX3" fmla="*/ 1693333 w 1693333"/>
              <a:gd name="connsiteY3" fmla="*/ 0 h 1024467"/>
              <a:gd name="connsiteX4" fmla="*/ 1693333 w 1693333"/>
              <a:gd name="connsiteY4" fmla="*/ 0 h 1024467"/>
              <a:gd name="connsiteX0" fmla="*/ 0 w 1693333"/>
              <a:gd name="connsiteY0" fmla="*/ 1024467 h 1024467"/>
              <a:gd name="connsiteX1" fmla="*/ 897466 w 1693333"/>
              <a:gd name="connsiteY1" fmla="*/ 905934 h 1024467"/>
              <a:gd name="connsiteX2" fmla="*/ 1397000 w 1693333"/>
              <a:gd name="connsiteY2" fmla="*/ 160867 h 1024467"/>
              <a:gd name="connsiteX3" fmla="*/ 1693333 w 1693333"/>
              <a:gd name="connsiteY3" fmla="*/ 0 h 1024467"/>
              <a:gd name="connsiteX4" fmla="*/ 1693333 w 1693333"/>
              <a:gd name="connsiteY4" fmla="*/ 0 h 102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333" h="1024467">
                <a:moveTo>
                  <a:pt x="0" y="1024467"/>
                </a:moveTo>
                <a:cubicBezTo>
                  <a:pt x="476955" y="1020234"/>
                  <a:pt x="664633" y="1049867"/>
                  <a:pt x="897466" y="905934"/>
                </a:cubicBezTo>
                <a:cubicBezTo>
                  <a:pt x="1130299" y="762001"/>
                  <a:pt x="1264355" y="311856"/>
                  <a:pt x="1397000" y="160867"/>
                </a:cubicBezTo>
                <a:cubicBezTo>
                  <a:pt x="1529645" y="9878"/>
                  <a:pt x="1610077" y="1410"/>
                  <a:pt x="1693333" y="0"/>
                </a:cubicBezTo>
                <a:lnTo>
                  <a:pt x="1693333" y="0"/>
                </a:ln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 flipH="1">
            <a:off x="7706786" y="5255986"/>
            <a:ext cx="1693333" cy="1024467"/>
          </a:xfrm>
          <a:custGeom>
            <a:avLst/>
            <a:gdLst>
              <a:gd name="connsiteX0" fmla="*/ 0 w 1701800"/>
              <a:gd name="connsiteY0" fmla="*/ 999067 h 1014629"/>
              <a:gd name="connsiteX1" fmla="*/ 905933 w 1701800"/>
              <a:gd name="connsiteY1" fmla="*/ 905934 h 1014629"/>
              <a:gd name="connsiteX2" fmla="*/ 1439333 w 1701800"/>
              <a:gd name="connsiteY2" fmla="*/ 186267 h 1014629"/>
              <a:gd name="connsiteX3" fmla="*/ 1701800 w 1701800"/>
              <a:gd name="connsiteY3" fmla="*/ 0 h 1014629"/>
              <a:gd name="connsiteX4" fmla="*/ 1701800 w 1701800"/>
              <a:gd name="connsiteY4" fmla="*/ 0 h 1014629"/>
              <a:gd name="connsiteX0" fmla="*/ 0 w 1701800"/>
              <a:gd name="connsiteY0" fmla="*/ 999067 h 1015739"/>
              <a:gd name="connsiteX1" fmla="*/ 905933 w 1701800"/>
              <a:gd name="connsiteY1" fmla="*/ 905934 h 1015739"/>
              <a:gd name="connsiteX2" fmla="*/ 1405467 w 1701800"/>
              <a:gd name="connsiteY2" fmla="*/ 160867 h 1015739"/>
              <a:gd name="connsiteX3" fmla="*/ 1701800 w 1701800"/>
              <a:gd name="connsiteY3" fmla="*/ 0 h 1015739"/>
              <a:gd name="connsiteX4" fmla="*/ 1701800 w 1701800"/>
              <a:gd name="connsiteY4" fmla="*/ 0 h 1015739"/>
              <a:gd name="connsiteX0" fmla="*/ 0 w 1693333"/>
              <a:gd name="connsiteY0" fmla="*/ 1024467 h 1035410"/>
              <a:gd name="connsiteX1" fmla="*/ 897466 w 1693333"/>
              <a:gd name="connsiteY1" fmla="*/ 905934 h 1035410"/>
              <a:gd name="connsiteX2" fmla="*/ 1397000 w 1693333"/>
              <a:gd name="connsiteY2" fmla="*/ 160867 h 1035410"/>
              <a:gd name="connsiteX3" fmla="*/ 1693333 w 1693333"/>
              <a:gd name="connsiteY3" fmla="*/ 0 h 1035410"/>
              <a:gd name="connsiteX4" fmla="*/ 1693333 w 1693333"/>
              <a:gd name="connsiteY4" fmla="*/ 0 h 1035410"/>
              <a:gd name="connsiteX0" fmla="*/ 0 w 1693333"/>
              <a:gd name="connsiteY0" fmla="*/ 1024467 h 1024467"/>
              <a:gd name="connsiteX1" fmla="*/ 897466 w 1693333"/>
              <a:gd name="connsiteY1" fmla="*/ 905934 h 1024467"/>
              <a:gd name="connsiteX2" fmla="*/ 1397000 w 1693333"/>
              <a:gd name="connsiteY2" fmla="*/ 160867 h 1024467"/>
              <a:gd name="connsiteX3" fmla="*/ 1693333 w 1693333"/>
              <a:gd name="connsiteY3" fmla="*/ 0 h 1024467"/>
              <a:gd name="connsiteX4" fmla="*/ 1693333 w 1693333"/>
              <a:gd name="connsiteY4" fmla="*/ 0 h 1024467"/>
              <a:gd name="connsiteX0" fmla="*/ 0 w 1693333"/>
              <a:gd name="connsiteY0" fmla="*/ 1024467 h 1024467"/>
              <a:gd name="connsiteX1" fmla="*/ 897466 w 1693333"/>
              <a:gd name="connsiteY1" fmla="*/ 905934 h 1024467"/>
              <a:gd name="connsiteX2" fmla="*/ 1397000 w 1693333"/>
              <a:gd name="connsiteY2" fmla="*/ 160867 h 1024467"/>
              <a:gd name="connsiteX3" fmla="*/ 1693333 w 1693333"/>
              <a:gd name="connsiteY3" fmla="*/ 0 h 1024467"/>
              <a:gd name="connsiteX4" fmla="*/ 1693333 w 1693333"/>
              <a:gd name="connsiteY4" fmla="*/ 0 h 1024467"/>
              <a:gd name="connsiteX0" fmla="*/ 0 w 1693333"/>
              <a:gd name="connsiteY0" fmla="*/ 1024467 h 1024467"/>
              <a:gd name="connsiteX1" fmla="*/ 897466 w 1693333"/>
              <a:gd name="connsiteY1" fmla="*/ 905934 h 1024467"/>
              <a:gd name="connsiteX2" fmla="*/ 1397000 w 1693333"/>
              <a:gd name="connsiteY2" fmla="*/ 160867 h 1024467"/>
              <a:gd name="connsiteX3" fmla="*/ 1693333 w 1693333"/>
              <a:gd name="connsiteY3" fmla="*/ 0 h 1024467"/>
              <a:gd name="connsiteX4" fmla="*/ 1693333 w 1693333"/>
              <a:gd name="connsiteY4" fmla="*/ 0 h 102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333" h="1024467">
                <a:moveTo>
                  <a:pt x="0" y="1024467"/>
                </a:moveTo>
                <a:cubicBezTo>
                  <a:pt x="476955" y="1020234"/>
                  <a:pt x="664633" y="1049867"/>
                  <a:pt x="897466" y="905934"/>
                </a:cubicBezTo>
                <a:cubicBezTo>
                  <a:pt x="1130299" y="762001"/>
                  <a:pt x="1264355" y="311856"/>
                  <a:pt x="1397000" y="160867"/>
                </a:cubicBezTo>
                <a:cubicBezTo>
                  <a:pt x="1529645" y="9878"/>
                  <a:pt x="1610077" y="1410"/>
                  <a:pt x="1693333" y="0"/>
                </a:cubicBezTo>
                <a:lnTo>
                  <a:pt x="1693333" y="0"/>
                </a:ln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/>
          <p:cNvCxnSpPr/>
          <p:nvPr/>
        </p:nvCxnSpPr>
        <p:spPr>
          <a:xfrm>
            <a:off x="5752060" y="6283627"/>
            <a:ext cx="38522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847338" y="5255985"/>
            <a:ext cx="0" cy="11385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1242622" y="6283627"/>
            <a:ext cx="38522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1337900" y="5255985"/>
            <a:ext cx="0" cy="11385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687283" y="5341412"/>
            <a:ext cx="505868" cy="939041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52000">
                <a:srgbClr val="FFFFFF"/>
              </a:gs>
              <a:gs pos="100000">
                <a:schemeClr val="accent6">
                  <a:lumMod val="75000"/>
                </a:schemeClr>
              </a:gs>
            </a:gsLst>
            <a:lin ang="0" scaled="1"/>
            <a:tileRect/>
          </a:gra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46800" rtlCol="0" anchor="b" anchorCtr="0"/>
          <a:lstStyle/>
          <a:p>
            <a:pPr algn="ctr"/>
            <a:endParaRPr lang="en-US" sz="600" i="1" baseline="-25000" dirty="0"/>
          </a:p>
        </p:txBody>
      </p:sp>
      <p:sp>
        <p:nvSpPr>
          <p:cNvPr id="51" name="Rectangle 50"/>
          <p:cNvSpPr/>
          <p:nvPr/>
        </p:nvSpPr>
        <p:spPr>
          <a:xfrm>
            <a:off x="3885728" y="5493812"/>
            <a:ext cx="505868" cy="786641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</a:schemeClr>
              </a:gs>
              <a:gs pos="52000">
                <a:srgbClr val="FFFFFF"/>
              </a:gs>
              <a:gs pos="100000">
                <a:schemeClr val="accent6">
                  <a:lumMod val="75000"/>
                </a:schemeClr>
              </a:gs>
            </a:gsLst>
            <a:lin ang="0" scaled="1"/>
            <a:tileRect/>
          </a:gra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46800" rtlCol="0" anchor="b" anchorCtr="0"/>
          <a:lstStyle/>
          <a:p>
            <a:pPr algn="ctr"/>
            <a:endParaRPr lang="en-US" sz="600" i="1" baseline="-25000" dirty="0"/>
          </a:p>
        </p:txBody>
      </p:sp>
      <p:sp>
        <p:nvSpPr>
          <p:cNvPr id="52" name="TextBox 51"/>
          <p:cNvSpPr txBox="1"/>
          <p:nvPr/>
        </p:nvSpPr>
        <p:spPr>
          <a:xfrm>
            <a:off x="1807284" y="6302226"/>
            <a:ext cx="22730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9783" y="6302226"/>
            <a:ext cx="22730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81284" y="6279301"/>
            <a:ext cx="4510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/>
              <a:t>Taille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13332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DF7E07-B252-0345-8933-D97B9B9AF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325" y="0"/>
            <a:ext cx="8523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24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Antes de </a:t>
            </a:r>
            <a:r>
              <a:rPr lang="en-US" sz="2800" dirty="0" err="1"/>
              <a:t>empezar</a:t>
            </a:r>
            <a:r>
              <a:rPr lang="en-US" sz="2800" dirty="0"/>
              <a:t>: </a:t>
            </a:r>
            <a:r>
              <a:rPr lang="en-US" sz="2800" dirty="0" err="1"/>
              <a:t>análisis</a:t>
            </a:r>
            <a:r>
              <a:rPr lang="en-US" sz="2800" dirty="0"/>
              <a:t> </a:t>
            </a:r>
            <a:r>
              <a:rPr lang="en-US" sz="2800" dirty="0" err="1"/>
              <a:t>detallado</a:t>
            </a:r>
            <a:r>
              <a:rPr lang="en-US" sz="2800" dirty="0"/>
              <a:t> de los </a:t>
            </a:r>
            <a:r>
              <a:rPr lang="en-US" sz="2800" dirty="0" err="1"/>
              <a:t>datos</a:t>
            </a:r>
            <a:r>
              <a:rPr lang="en-US" sz="2800" dirty="0"/>
              <a:t> </a:t>
            </a:r>
            <a:r>
              <a:rPr lang="en-US" sz="2800" dirty="0" err="1"/>
              <a:t>fenotípicos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112" y="1690688"/>
            <a:ext cx="7077076" cy="4378206"/>
          </a:xfrm>
        </p:spPr>
        <p:txBody>
          <a:bodyPr/>
          <a:lstStyle/>
          <a:p>
            <a:r>
              <a:rPr lang="en-US" dirty="0" err="1"/>
              <a:t>Realizar</a:t>
            </a:r>
            <a:r>
              <a:rPr lang="en-US" dirty="0"/>
              <a:t> un </a:t>
            </a:r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varianza</a:t>
            </a:r>
            <a:r>
              <a:rPr lang="en-US" dirty="0"/>
              <a:t> para </a:t>
            </a:r>
            <a:r>
              <a:rPr lang="en-US" dirty="0" err="1"/>
              <a:t>verificar</a:t>
            </a:r>
            <a:r>
              <a:rPr lang="en-US" dirty="0"/>
              <a:t> la </a:t>
            </a:r>
            <a:r>
              <a:rPr lang="en-US" dirty="0" err="1"/>
              <a:t>existencia</a:t>
            </a:r>
            <a:r>
              <a:rPr lang="en-US" dirty="0"/>
              <a:t> de un </a:t>
            </a:r>
            <a:r>
              <a:rPr lang="en-US" dirty="0" err="1"/>
              <a:t>efecto</a:t>
            </a:r>
            <a:r>
              <a:rPr lang="en-US" dirty="0"/>
              <a:t> </a:t>
            </a:r>
            <a:r>
              <a:rPr lang="en-US" dirty="0" err="1"/>
              <a:t>genotípico</a:t>
            </a:r>
            <a:r>
              <a:rPr lang="en-US" dirty="0"/>
              <a:t>.</a:t>
            </a:r>
          </a:p>
          <a:p>
            <a:r>
              <a:rPr lang="en-US" dirty="0" err="1"/>
              <a:t>Calcular</a:t>
            </a:r>
            <a:r>
              <a:rPr lang="en-US" dirty="0"/>
              <a:t> </a:t>
            </a:r>
            <a:r>
              <a:rPr lang="en-US" dirty="0" err="1"/>
              <a:t>heredabilidad</a:t>
            </a:r>
            <a:endParaRPr lang="en-US" dirty="0"/>
          </a:p>
          <a:p>
            <a:r>
              <a:rPr lang="en-US" dirty="0" err="1"/>
              <a:t>Analizar</a:t>
            </a:r>
            <a:r>
              <a:rPr lang="en-US" dirty="0"/>
              <a:t> las </a:t>
            </a:r>
            <a:r>
              <a:rPr lang="en-US" dirty="0" err="1"/>
              <a:t>correlaciones</a:t>
            </a:r>
            <a:r>
              <a:rPr lang="en-US" dirty="0"/>
              <a:t> (</a:t>
            </a:r>
            <a:r>
              <a:rPr lang="en-US" dirty="0" err="1"/>
              <a:t>genéticas</a:t>
            </a:r>
            <a:r>
              <a:rPr lang="en-US" dirty="0"/>
              <a:t>) entre los </a:t>
            </a:r>
            <a:r>
              <a:rPr lang="en-US" dirty="0" err="1"/>
              <a:t>rasgos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504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Detección</a:t>
            </a:r>
            <a:r>
              <a:rPr lang="en-US" dirty="0"/>
              <a:t> de QTL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" y="4948350"/>
            <a:ext cx="4546600" cy="13889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079" y="2150534"/>
            <a:ext cx="2288454" cy="3670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551" y="1615581"/>
            <a:ext cx="3659546" cy="292255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12050" y="3346450"/>
            <a:ext cx="158750" cy="330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477250" y="4698161"/>
            <a:ext cx="158750" cy="296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229100" y="4546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225147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Mapeo</a:t>
            </a:r>
            <a:r>
              <a:rPr lang="en-US" dirty="0"/>
              <a:t> por </a:t>
            </a:r>
            <a:r>
              <a:rPr lang="en-US" dirty="0" err="1"/>
              <a:t>marcador</a:t>
            </a:r>
            <a:r>
              <a:rPr lang="en-US" dirty="0"/>
              <a:t>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Realizar</a:t>
            </a:r>
            <a:r>
              <a:rPr lang="en-US" dirty="0"/>
              <a:t> una </a:t>
            </a:r>
            <a:r>
              <a:rPr lang="en-US" dirty="0" err="1"/>
              <a:t>prueba</a:t>
            </a:r>
            <a:r>
              <a:rPr lang="en-US" dirty="0"/>
              <a:t> </a:t>
            </a:r>
            <a:r>
              <a:rPr lang="en-US" dirty="0" err="1"/>
              <a:t>estadística</a:t>
            </a:r>
            <a:r>
              <a:rPr lang="en-US" dirty="0"/>
              <a:t> por medio de una </a:t>
            </a:r>
            <a:r>
              <a:rPr lang="en-US" dirty="0" err="1"/>
              <a:t>prueba</a:t>
            </a:r>
            <a:r>
              <a:rPr lang="en-US" dirty="0"/>
              <a:t> </a:t>
            </a:r>
            <a:r>
              <a:rPr lang="en-US" i="1" dirty="0"/>
              <a:t>t </a:t>
            </a:r>
            <a:r>
              <a:rPr lang="en-US" dirty="0"/>
              <a:t>(Backcross) o por ANOVA o </a:t>
            </a:r>
            <a:r>
              <a:rPr lang="en-US" dirty="0" err="1"/>
              <a:t>prueba</a:t>
            </a:r>
            <a:r>
              <a:rPr lang="en-US" dirty="0"/>
              <a:t> F (intercross)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marcador</a:t>
            </a:r>
            <a:r>
              <a:rPr lang="en-US" dirty="0"/>
              <a:t> </a:t>
            </a:r>
            <a:r>
              <a:rPr lang="en-US" dirty="0" err="1"/>
              <a:t>analizado</a:t>
            </a:r>
            <a:r>
              <a:rPr lang="en-US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424" y="3149601"/>
            <a:ext cx="3333750" cy="24934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140" y="3149601"/>
            <a:ext cx="3326436" cy="24934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52901" y="27802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1751" y="27929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2035118" y="4108160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Phenotype 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337C3-0332-1144-8BE1-1370DC869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915" y="1437861"/>
            <a:ext cx="7729299" cy="483492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449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Mapeo por marcador simple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8026" y="1768594"/>
            <a:ext cx="5747774" cy="4497736"/>
          </a:xfrm>
        </p:spPr>
        <p:txBody>
          <a:bodyPr>
            <a:normAutofit lnSpcReduction="10000"/>
          </a:bodyPr>
          <a:lstStyle/>
          <a:p>
            <a:r>
              <a:rPr lang="es-ES_tradnl"/>
              <a:t>La presencia de un QTL se comprueba mediante una puntuación LOD que está directamente relacionada con la prueba F.</a:t>
            </a:r>
            <a:br>
              <a:rPr lang="es-ES_tradnl"/>
            </a:br>
            <a:r>
              <a:rPr lang="es-ES_tradnl"/>
              <a:t>Se puede demostrar que:</a:t>
            </a:r>
          </a:p>
          <a:p>
            <a:endParaRPr lang="es-ES_tradnl"/>
          </a:p>
          <a:p>
            <a:pPr marL="0" indent="0">
              <a:buNone/>
            </a:pPr>
            <a:endParaRPr lang="es-ES_tradnl"/>
          </a:p>
          <a:p>
            <a:r>
              <a:rPr lang="es-ES_tradnl"/>
              <a:t>El mapa genético puede utilizarse para representar el resultado, pero no se utiliza en el análisis.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955" y="2267992"/>
            <a:ext cx="2754121" cy="4417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82958" y="3855341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958" y="3986146"/>
            <a:ext cx="319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solidFill>
                  <a:srgbClr val="FF0000"/>
                </a:solidFill>
              </a:rPr>
              <a:t>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958" y="4107972"/>
            <a:ext cx="3866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solidFill>
                  <a:srgbClr val="FF0000"/>
                </a:solidFill>
              </a:rPr>
              <a:t>***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958" y="4271812"/>
            <a:ext cx="2519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6758" y="3472972"/>
            <a:ext cx="3866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solidFill>
                  <a:srgbClr val="FF0000"/>
                </a:solidFill>
              </a:rPr>
              <a:t>***</a:t>
            </a: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396347" y="3956315"/>
          <a:ext cx="3372660" cy="811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6600" imgH="482600" progId="Equation.3">
                  <p:embed/>
                </p:oleObj>
              </mc:Choice>
              <mc:Fallback>
                <p:oleObj name="Equation" r:id="rId3" imgW="2006600" imgH="482600" progId="Equation.3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96347" y="3956315"/>
                        <a:ext cx="3372660" cy="8111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3928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intervalo</a:t>
            </a:r>
            <a:r>
              <a:rPr lang="en-US" dirty="0"/>
              <a:t> de </a:t>
            </a:r>
            <a:r>
              <a:rPr lang="en-US" dirty="0" err="1"/>
              <a:t>confianza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 err="1"/>
              <a:t>Intervalo</a:t>
            </a:r>
            <a:r>
              <a:rPr lang="en-US" dirty="0"/>
              <a:t> de </a:t>
            </a:r>
            <a:r>
              <a:rPr lang="en-US" dirty="0" err="1"/>
              <a:t>soporte</a:t>
            </a:r>
            <a:r>
              <a:rPr lang="en-US" dirty="0"/>
              <a:t> de LOD</a:t>
            </a:r>
          </a:p>
          <a:p>
            <a:pPr lvl="1"/>
            <a:r>
              <a:rPr lang="en-US" dirty="0" err="1"/>
              <a:t>Intersección</a:t>
            </a:r>
            <a:r>
              <a:rPr lang="en-US" dirty="0"/>
              <a:t> con la </a:t>
            </a:r>
            <a:r>
              <a:rPr lang="en-US" dirty="0" err="1"/>
              <a:t>curva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LOD </a:t>
            </a:r>
            <a:r>
              <a:rPr lang="en-US" dirty="0" err="1"/>
              <a:t>en</a:t>
            </a:r>
            <a:r>
              <a:rPr lang="en-US" dirty="0"/>
              <a:t> LOD</a:t>
            </a:r>
            <a:r>
              <a:rPr lang="en-US" baseline="-25000" dirty="0"/>
              <a:t>max</a:t>
            </a:r>
            <a:r>
              <a:rPr lang="en-US" dirty="0"/>
              <a:t>-1</a:t>
            </a:r>
          </a:p>
          <a:p>
            <a:pPr marL="3759200"/>
            <a:endParaRPr lang="en-US" dirty="0"/>
          </a:p>
          <a:p>
            <a:pPr marL="3759200"/>
            <a:endParaRPr lang="en-US" dirty="0"/>
          </a:p>
          <a:p>
            <a:pPr marL="3759200"/>
            <a:endParaRPr lang="en-US" dirty="0"/>
          </a:p>
          <a:p>
            <a:pPr marL="3759200"/>
            <a:endParaRPr lang="en-US" dirty="0"/>
          </a:p>
          <a:p>
            <a:pPr marL="2514600" indent="0">
              <a:buNone/>
            </a:pPr>
            <a:endParaRPr lang="en-US" dirty="0"/>
          </a:p>
          <a:p>
            <a:pPr marL="2514600" indent="0">
              <a:buNone/>
            </a:pPr>
            <a:r>
              <a:rPr lang="en-US" dirty="0" err="1"/>
              <a:t>Cuidado</a:t>
            </a:r>
            <a:r>
              <a:rPr lang="en-US" dirty="0"/>
              <a:t> con los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obtenidos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CIM</a:t>
            </a:r>
          </a:p>
          <a:p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5686486" y="1971040"/>
            <a:ext cx="4324228" cy="3111500"/>
            <a:chOff x="3233559" y="4565650"/>
            <a:chExt cx="2709261" cy="194945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t="44250"/>
            <a:stretch/>
          </p:blipFill>
          <p:spPr>
            <a:xfrm>
              <a:off x="3233559" y="4565650"/>
              <a:ext cx="2709261" cy="1949450"/>
            </a:xfrm>
            <a:prstGeom prst="rect">
              <a:avLst/>
            </a:prstGeom>
          </p:spPr>
        </p:pic>
        <p:cxnSp>
          <p:nvCxnSpPr>
            <p:cNvPr id="12" name="Straight Arrow Connector 11"/>
            <p:cNvCxnSpPr/>
            <p:nvPr/>
          </p:nvCxnSpPr>
          <p:spPr>
            <a:xfrm>
              <a:off x="3942138" y="5054600"/>
              <a:ext cx="306342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4171950" y="4870450"/>
              <a:ext cx="0" cy="184150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942138" y="4606359"/>
              <a:ext cx="306342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3942312" y="4606359"/>
              <a:ext cx="0" cy="448241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4248480" y="4606359"/>
              <a:ext cx="0" cy="448241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696617" y="4428000"/>
            <a:ext cx="2491113" cy="1980861"/>
            <a:chOff x="6324600" y="4565650"/>
            <a:chExt cx="2491113" cy="198086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/>
            <a:srcRect l="7482" t="47292" b="18316"/>
            <a:stretch/>
          </p:blipFill>
          <p:spPr>
            <a:xfrm>
              <a:off x="6324600" y="4565650"/>
              <a:ext cx="2491113" cy="13462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32550" y="5861050"/>
              <a:ext cx="2336800" cy="685461"/>
            </a:xfrm>
            <a:prstGeom prst="rect">
              <a:avLst/>
            </a:prstGeom>
          </p:spPr>
        </p:pic>
        <p:cxnSp>
          <p:nvCxnSpPr>
            <p:cNvPr id="13" name="Straight Arrow Connector 12"/>
            <p:cNvCxnSpPr/>
            <p:nvPr/>
          </p:nvCxnSpPr>
          <p:spPr>
            <a:xfrm>
              <a:off x="6978650" y="4819650"/>
              <a:ext cx="19685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077710" y="4640580"/>
              <a:ext cx="0" cy="184150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7441261" y="2497602"/>
            <a:ext cx="9573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1 unité de LOD</a:t>
            </a:r>
          </a:p>
        </p:txBody>
      </p:sp>
    </p:spTree>
    <p:extLst>
      <p:ext uri="{BB962C8B-B14F-4D97-AF65-F5344CB8AC3E}">
        <p14:creationId xmlns:p14="http://schemas.microsoft.com/office/powerpoint/2010/main" val="7684372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B8197D-D80D-1140-98F6-6891EC1A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02" y="60156"/>
            <a:ext cx="8343900" cy="774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EF06DC-1A68-0F4A-872E-A906BFBDA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834856"/>
            <a:ext cx="9482536" cy="577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43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100D9-B919-F9E6-5884-997352A0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GWAS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FD5135-BB17-5356-CC0E-E724817AE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ABC317-F876-21CE-B8F8-D2555A7E9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101" y="1690688"/>
            <a:ext cx="7621064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95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B8017-D727-422F-BDB5-2491E6CC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25203B-8E03-8E92-7833-72D3FC6FE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0FBB91-6042-E2EE-746D-40055A78E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06" y="234285"/>
            <a:ext cx="7173326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24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7112F-47D9-F6D9-AF5A-C542DF1DB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6E0F87-20FE-4E80-ABE0-C7BD4992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F47C11-2D5A-8173-C814-333F0849C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074" y="375811"/>
            <a:ext cx="7001852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28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7A1009-021F-DA48-4344-255B33993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8E1EEA-509A-F222-3087-D050D2BFF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Genetics</a:t>
            </a:r>
            <a:endParaRPr lang="es-ES" dirty="0"/>
          </a:p>
          <a:p>
            <a:r>
              <a:rPr lang="es-ES" dirty="0" err="1"/>
              <a:t>Bioinformatics</a:t>
            </a:r>
            <a:endParaRPr lang="es-ES" dirty="0"/>
          </a:p>
          <a:p>
            <a:r>
              <a:rPr lang="es-ES" dirty="0" err="1"/>
              <a:t>Functional</a:t>
            </a:r>
            <a:r>
              <a:rPr lang="es-ES" dirty="0"/>
              <a:t> </a:t>
            </a:r>
            <a:r>
              <a:rPr lang="es-ES" dirty="0" err="1"/>
              <a:t>genomics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72621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A89AD-FBFD-C586-3944-0065890F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EDE2B9-2DA7-302F-E2D3-1545BF025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E8C489-DCE6-83BC-A15C-45549DF78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3434"/>
            <a:ext cx="5468646" cy="2427096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35F88A6-4267-5F03-778A-7E2E14EE03C3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720645" y="1981698"/>
            <a:ext cx="4586201" cy="66034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AD3876-3FD3-C8D3-F576-2493965696B7}"/>
              </a:ext>
            </a:extLst>
          </p:cNvPr>
          <p:cNvSpPr txBox="1"/>
          <p:nvPr/>
        </p:nvSpPr>
        <p:spPr>
          <a:xfrm>
            <a:off x="6306846" y="17970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 is a matrix of covariates including an intercept term,</a:t>
            </a:r>
            <a:endParaRPr lang="es-CO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4CA66427-8DB5-070B-63E4-BEA4D0D64337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1946787" y="2379623"/>
            <a:ext cx="4692445" cy="36063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778E7EF-1F77-B20C-5B19-5C2ABB5434EA}"/>
              </a:ext>
            </a:extLst>
          </p:cNvPr>
          <p:cNvSpPr txBox="1"/>
          <p:nvPr/>
        </p:nvSpPr>
        <p:spPr>
          <a:xfrm>
            <a:off x="6639232" y="2194957"/>
            <a:ext cx="6292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α is a corresponding vector of effect sizes</a:t>
            </a:r>
            <a:endParaRPr lang="es-CO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E5D6645-9434-6B16-84B6-A338ABADA80C}"/>
              </a:ext>
            </a:extLst>
          </p:cNvPr>
          <p:cNvSpPr txBox="1"/>
          <p:nvPr/>
        </p:nvSpPr>
        <p:spPr>
          <a:xfrm>
            <a:off x="6306846" y="2723670"/>
            <a:ext cx="646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Xs</a:t>
            </a:r>
            <a:r>
              <a:rPr lang="en-US" dirty="0"/>
              <a:t> is a vector of genotype values for all individuals at SNPs</a:t>
            </a:r>
            <a:endParaRPr lang="es-CO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EE81714-4611-7AB5-40CA-A30DBB146164}"/>
              </a:ext>
            </a:extLst>
          </p:cNvPr>
          <p:cNvCxnSpPr>
            <a:cxnSpLocks/>
          </p:cNvCxnSpPr>
          <p:nvPr/>
        </p:nvCxnSpPr>
        <p:spPr>
          <a:xfrm flipH="1">
            <a:off x="2172929" y="2953513"/>
            <a:ext cx="4133917" cy="84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9B56C00-892A-C57D-CC90-7AC8B33FCEE9}"/>
              </a:ext>
            </a:extLst>
          </p:cNvPr>
          <p:cNvSpPr txBox="1"/>
          <p:nvPr/>
        </p:nvSpPr>
        <p:spPr>
          <a:xfrm>
            <a:off x="6306846" y="3174633"/>
            <a:ext cx="57081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βs is the corresponding fixed effect size of genetic variant s (also known as the SNP effect size)</a:t>
            </a:r>
            <a:endParaRPr lang="es-CO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DEA98EF-E364-C5AE-C650-E70FA37B0F4C}"/>
              </a:ext>
            </a:extLst>
          </p:cNvPr>
          <p:cNvCxnSpPr>
            <a:cxnSpLocks/>
          </p:cNvCxnSpPr>
          <p:nvPr/>
        </p:nvCxnSpPr>
        <p:spPr>
          <a:xfrm flipH="1" flipV="1">
            <a:off x="2507226" y="3032302"/>
            <a:ext cx="3799620" cy="321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5EBA8CB-26C1-C3F9-5D0D-5F9771C08C57}"/>
              </a:ext>
            </a:extLst>
          </p:cNvPr>
          <p:cNvSpPr txBox="1"/>
          <p:nvPr/>
        </p:nvSpPr>
        <p:spPr>
          <a:xfrm>
            <a:off x="6306846" y="3849136"/>
            <a:ext cx="58851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 is a random effect that captures the polygenic effect of other SNPs</a:t>
            </a:r>
            <a:endParaRPr lang="es-CO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D9884894-105F-09D1-8BB1-ACF4E97B05FB}"/>
              </a:ext>
            </a:extLst>
          </p:cNvPr>
          <p:cNvCxnSpPr>
            <a:cxnSpLocks/>
          </p:cNvCxnSpPr>
          <p:nvPr/>
        </p:nvCxnSpPr>
        <p:spPr>
          <a:xfrm flipH="1" flipV="1">
            <a:off x="2812026" y="3032302"/>
            <a:ext cx="3494820" cy="99892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409D1A2-BE13-8E0A-F206-BC12D8119B86}"/>
              </a:ext>
            </a:extLst>
          </p:cNvPr>
          <p:cNvSpPr txBox="1"/>
          <p:nvPr/>
        </p:nvSpPr>
        <p:spPr>
          <a:xfrm>
            <a:off x="6306846" y="4545196"/>
            <a:ext cx="646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 is a random effect of residual errors</a:t>
            </a:r>
            <a:endParaRPr lang="es-CO" dirty="0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96224A3C-4E41-8F45-4354-DB2686AF3804}"/>
              </a:ext>
            </a:extLst>
          </p:cNvPr>
          <p:cNvCxnSpPr>
            <a:cxnSpLocks/>
          </p:cNvCxnSpPr>
          <p:nvPr/>
        </p:nvCxnSpPr>
        <p:spPr>
          <a:xfrm flipH="1" flipV="1">
            <a:off x="3067665" y="2953513"/>
            <a:ext cx="3165987" cy="16512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5744859-E71C-854F-9045-85A5F3FE03B0}"/>
              </a:ext>
            </a:extLst>
          </p:cNvPr>
          <p:cNvSpPr txBox="1"/>
          <p:nvPr/>
        </p:nvSpPr>
        <p:spPr>
          <a:xfrm>
            <a:off x="6233652" y="5355057"/>
            <a:ext cx="646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ψ is the standard genetic relationship matrix</a:t>
            </a:r>
            <a:endParaRPr lang="es-CO" dirty="0"/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B3793430-C4CE-C3B2-F5E3-6B9574A30176}"/>
              </a:ext>
            </a:extLst>
          </p:cNvPr>
          <p:cNvCxnSpPr>
            <a:cxnSpLocks/>
          </p:cNvCxnSpPr>
          <p:nvPr/>
        </p:nvCxnSpPr>
        <p:spPr>
          <a:xfrm flipH="1" flipV="1">
            <a:off x="2172929" y="3625106"/>
            <a:ext cx="4054711" cy="142014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1EB0601-002F-057C-3B3C-6F73AD926345}"/>
              </a:ext>
            </a:extLst>
          </p:cNvPr>
          <p:cNvSpPr txBox="1"/>
          <p:nvPr/>
        </p:nvSpPr>
        <p:spPr>
          <a:xfrm>
            <a:off x="6233652" y="4847502"/>
            <a:ext cx="5034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σA</a:t>
            </a:r>
            <a:r>
              <a:rPr lang="en-US" dirty="0"/>
              <a:t> 2 measures the additive genetic variation of the phenotype</a:t>
            </a:r>
            <a:endParaRPr lang="es-CO" dirty="0"/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9D69A433-AAA9-8CD0-A1AC-DB65E69C6050}"/>
              </a:ext>
            </a:extLst>
          </p:cNvPr>
          <p:cNvCxnSpPr>
            <a:cxnSpLocks/>
          </p:cNvCxnSpPr>
          <p:nvPr/>
        </p:nvCxnSpPr>
        <p:spPr>
          <a:xfrm flipH="1" flipV="1">
            <a:off x="2406446" y="3667561"/>
            <a:ext cx="3979606" cy="202456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8C223DC-C0A1-0294-EE73-F6A1601F722C}"/>
              </a:ext>
            </a:extLst>
          </p:cNvPr>
          <p:cNvSpPr txBox="1"/>
          <p:nvPr/>
        </p:nvSpPr>
        <p:spPr>
          <a:xfrm>
            <a:off x="1163895" y="5606602"/>
            <a:ext cx="646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σe</a:t>
            </a:r>
            <a:r>
              <a:rPr lang="en-US" dirty="0"/>
              <a:t> 2 measures residual variance</a:t>
            </a:r>
            <a:endParaRPr lang="es-CO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7D3467F-E6D0-2F67-3CDE-CCD056251D2E}"/>
              </a:ext>
            </a:extLst>
          </p:cNvPr>
          <p:cNvSpPr txBox="1"/>
          <p:nvPr/>
        </p:nvSpPr>
        <p:spPr>
          <a:xfrm>
            <a:off x="2163098" y="5002488"/>
            <a:ext cx="6464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 is an identity matrix</a:t>
            </a:r>
            <a:endParaRPr lang="es-CO" dirty="0"/>
          </a:p>
        </p:txBody>
      </p: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AB407D96-BFC1-92B5-2F12-A8E344A6FD31}"/>
              </a:ext>
            </a:extLst>
          </p:cNvPr>
          <p:cNvCxnSpPr>
            <a:cxnSpLocks/>
          </p:cNvCxnSpPr>
          <p:nvPr/>
        </p:nvCxnSpPr>
        <p:spPr>
          <a:xfrm flipH="1" flipV="1">
            <a:off x="2354826" y="4255548"/>
            <a:ext cx="304800" cy="7100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37CCBF87-6C9F-6474-3B2C-B2C561950D15}"/>
              </a:ext>
            </a:extLst>
          </p:cNvPr>
          <p:cNvCxnSpPr>
            <a:cxnSpLocks/>
          </p:cNvCxnSpPr>
          <p:nvPr/>
        </p:nvCxnSpPr>
        <p:spPr>
          <a:xfrm flipV="1">
            <a:off x="1692104" y="4181869"/>
            <a:ext cx="401619" cy="14678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388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CC947-5D3D-7A62-9236-21565F16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2F67B1-9187-0681-CA48-4D66C2B16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4DE80D3-3DCD-846F-3CEC-D329D4A53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9" y="1035001"/>
            <a:ext cx="3981151" cy="478799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8882E8B-E0BE-06E2-62C5-EDDAE746E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129" y="288676"/>
            <a:ext cx="4324954" cy="6496957"/>
          </a:xfrm>
          <a:prstGeom prst="rect">
            <a:avLst/>
          </a:prstGeom>
        </p:spPr>
      </p:pic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31EE8D6B-E42E-D440-FB08-233010CBE319}"/>
              </a:ext>
            </a:extLst>
          </p:cNvPr>
          <p:cNvSpPr/>
          <p:nvPr/>
        </p:nvSpPr>
        <p:spPr>
          <a:xfrm>
            <a:off x="4424516" y="2802194"/>
            <a:ext cx="1583613" cy="11110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33826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9EAAEC-A369-0249-B022-6AF44E5639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60634" y="932270"/>
            <a:ext cx="9136246" cy="51458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E7229A-76C7-7C4B-9F27-4E111E59D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6142" y="1094014"/>
            <a:ext cx="8871857" cy="2899788"/>
          </a:xfrm>
        </p:spPr>
        <p:txBody>
          <a:bodyPr>
            <a:normAutofit/>
          </a:bodyPr>
          <a:lstStyle/>
          <a:p>
            <a:r>
              <a:rPr lang="es-ES_tradnl" sz="2400" b="1" dirty="0"/>
              <a:t>Universidad ICESI</a:t>
            </a:r>
            <a:br>
              <a:rPr lang="es-ES_tradnl" sz="2400" b="1" dirty="0"/>
            </a:br>
            <a:r>
              <a:rPr lang="es-ES_tradnl" sz="2400" b="1" dirty="0"/>
              <a:t>Maestría de Biotecnología</a:t>
            </a:r>
            <a:br>
              <a:rPr lang="es-ES_tradnl" sz="2400" b="1" dirty="0"/>
            </a:br>
            <a:br>
              <a:rPr lang="es-ES_tradnl" sz="2400" b="1" dirty="0"/>
            </a:br>
            <a:r>
              <a:rPr lang="es-ES_tradnl" sz="2400" b="1" dirty="0"/>
              <a:t>Curso electivo:</a:t>
            </a:r>
            <a:br>
              <a:rPr lang="es-ES_tradnl" sz="2400" b="1" dirty="0"/>
            </a:br>
            <a:r>
              <a:rPr lang="es-ES_tradnl" sz="3600" b="1" dirty="0"/>
              <a:t>Mapeo genético avanzado</a:t>
            </a:r>
            <a:br>
              <a:rPr lang="es-ES_tradnl" sz="3600" b="1" dirty="0"/>
            </a:br>
            <a:br>
              <a:rPr lang="es-ES_tradnl" sz="2000" b="1" dirty="0"/>
            </a:br>
            <a:br>
              <a:rPr lang="es-ES_tradnl" sz="1400" b="1" dirty="0"/>
            </a:br>
            <a:r>
              <a:rPr lang="es-ES_tradnl" sz="1800" b="1" dirty="0"/>
              <a:t>Diciembre 2019</a:t>
            </a:r>
            <a:endParaRPr lang="es-ES_tradnl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77053-225F-264D-A0ED-EDD47D5B6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0250" y="4531178"/>
            <a:ext cx="8531116" cy="1439647"/>
          </a:xfrm>
        </p:spPr>
        <p:txBody>
          <a:bodyPr>
            <a:normAutofit/>
          </a:bodyPr>
          <a:lstStyle/>
          <a:p>
            <a:r>
              <a:rPr lang="es-ES_tradnl" sz="2000" b="1" dirty="0" err="1"/>
              <a:t>Mathias</a:t>
            </a:r>
            <a:r>
              <a:rPr lang="es-ES_tradnl" sz="2000" b="1" dirty="0"/>
              <a:t> Lorieux</a:t>
            </a:r>
          </a:p>
          <a:p>
            <a:r>
              <a:rPr lang="es-ES_tradnl" sz="2000" b="1" dirty="0"/>
              <a:t>IRD – CIAT</a:t>
            </a:r>
          </a:p>
          <a:p>
            <a:r>
              <a:rPr lang="es-ES_tradnl" sz="2000" b="1" dirty="0" err="1"/>
              <a:t>m.lorieux@gmail.com</a:t>
            </a:r>
            <a:endParaRPr lang="es-ES_tradnl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DA3AA-18AA-174D-902E-721D52B7B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16" y="163607"/>
            <a:ext cx="2091900" cy="6660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D0F69D-E1A5-1242-A544-F9FAA3908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923" y="6078164"/>
            <a:ext cx="6324153" cy="779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0E9FA9-A4DD-4F43-A92F-606EE8CAF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679" y="174173"/>
            <a:ext cx="4634467" cy="66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393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B8EB-EA40-0B4B-A8F1-56E66510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" y="39215"/>
            <a:ext cx="10515600" cy="1325563"/>
          </a:xfrm>
        </p:spPr>
        <p:txBody>
          <a:bodyPr/>
          <a:lstStyle/>
          <a:p>
            <a:r>
              <a:rPr lang="en-GB" dirty="0" err="1"/>
              <a:t>Associación</a:t>
            </a: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4114800" cy="4708525"/>
          </a:xfrm>
        </p:spPr>
        <p:txBody>
          <a:bodyPr>
            <a:normAutofit lnSpcReduction="10000"/>
          </a:bodyPr>
          <a:lstStyle/>
          <a:p>
            <a:r>
              <a:rPr lang="es-ES_tradnl" dirty="0">
                <a:solidFill>
                  <a:schemeClr val="tx2"/>
                </a:solidFill>
              </a:rPr>
              <a:t>Definición</a:t>
            </a:r>
          </a:p>
          <a:p>
            <a:pPr lvl="1"/>
            <a:r>
              <a:rPr lang="es-ES_tradnl" sz="2200" b="1" i="1" dirty="0">
                <a:solidFill>
                  <a:schemeClr val="accent3"/>
                </a:solidFill>
              </a:rPr>
              <a:t>Cualquier relación entre dos cantidades medidas que las haga estadísticamente dependientes. </a:t>
            </a:r>
          </a:p>
          <a:p>
            <a:endParaRPr lang="es-ES_tradnl" dirty="0">
              <a:solidFill>
                <a:schemeClr val="tx1"/>
              </a:solidFill>
            </a:endParaRPr>
          </a:p>
          <a:p>
            <a:pPr marL="342900" lvl="1" indent="-342900"/>
            <a:r>
              <a:rPr lang="es-ES_tradnl" sz="2800" dirty="0">
                <a:solidFill>
                  <a:schemeClr val="tx2"/>
                </a:solidFill>
              </a:rPr>
              <a:t>Heredabilidad</a:t>
            </a:r>
            <a:endParaRPr lang="es-ES_tradnl" sz="2800" dirty="0">
              <a:solidFill>
                <a:schemeClr val="accent3"/>
              </a:solidFill>
            </a:endParaRPr>
          </a:p>
          <a:p>
            <a:pPr lvl="1"/>
            <a:r>
              <a:rPr lang="es-ES_tradnl" sz="2200" b="1" i="1" dirty="0">
                <a:solidFill>
                  <a:schemeClr val="accent3"/>
                </a:solidFill>
              </a:rPr>
              <a:t>La proporción de varianza explicada por la genética</a:t>
            </a:r>
          </a:p>
          <a:p>
            <a:pPr marL="457200" lvl="1" indent="0">
              <a:buNone/>
            </a:pPr>
            <a:r>
              <a:rPr lang="es-ES_tradnl" sz="2800" dirty="0">
                <a:solidFill>
                  <a:schemeClr val="accent6"/>
                </a:solidFill>
              </a:rPr>
              <a:t>	</a:t>
            </a:r>
            <a:r>
              <a:rPr lang="es-ES_tradnl" sz="2800" i="1" dirty="0">
                <a:solidFill>
                  <a:schemeClr val="accent6"/>
                </a:solidFill>
              </a:rPr>
              <a:t>P</a:t>
            </a:r>
            <a:r>
              <a:rPr lang="es-ES_tradnl" sz="2800" dirty="0">
                <a:solidFill>
                  <a:schemeClr val="accent6"/>
                </a:solidFill>
              </a:rPr>
              <a:t>  =  </a:t>
            </a:r>
            <a:r>
              <a:rPr lang="es-ES_tradnl" sz="2800" i="1" dirty="0">
                <a:solidFill>
                  <a:schemeClr val="accent6"/>
                </a:solidFill>
              </a:rPr>
              <a:t>G</a:t>
            </a:r>
            <a:r>
              <a:rPr lang="es-ES_tradnl" sz="2800" dirty="0">
                <a:solidFill>
                  <a:schemeClr val="accent6"/>
                </a:solidFill>
              </a:rPr>
              <a:t>  +  </a:t>
            </a:r>
            <a:r>
              <a:rPr lang="es-ES_tradnl" sz="2800" i="1" dirty="0">
                <a:solidFill>
                  <a:schemeClr val="accent6"/>
                </a:solidFill>
              </a:rPr>
              <a:t>E</a:t>
            </a:r>
            <a:r>
              <a:rPr lang="es-ES_tradnl" sz="2800" dirty="0">
                <a:solidFill>
                  <a:schemeClr val="accent6"/>
                </a:solidFill>
              </a:rPr>
              <a:t>  +  </a:t>
            </a:r>
            <a:r>
              <a:rPr lang="es-ES_tradnl" sz="2800" i="1" dirty="0" err="1">
                <a:solidFill>
                  <a:schemeClr val="accent6"/>
                </a:solidFill>
              </a:rPr>
              <a:t>G</a:t>
            </a:r>
            <a:r>
              <a:rPr lang="es-ES_tradnl" sz="2800" dirty="0" err="1">
                <a:solidFill>
                  <a:schemeClr val="accent6"/>
                </a:solidFill>
              </a:rPr>
              <a:t>x</a:t>
            </a:r>
            <a:r>
              <a:rPr lang="es-ES_tradnl" sz="2800" i="1" dirty="0" err="1">
                <a:solidFill>
                  <a:schemeClr val="accent6"/>
                </a:solidFill>
              </a:rPr>
              <a:t>E</a:t>
            </a:r>
            <a:endParaRPr lang="es-ES_tradnl" sz="2800" i="1" dirty="0">
              <a:solidFill>
                <a:schemeClr val="accent6"/>
              </a:solidFill>
            </a:endParaRPr>
          </a:p>
          <a:p>
            <a:pPr lvl="2"/>
            <a:r>
              <a:rPr lang="es-ES_tradnl" b="1" dirty="0"/>
              <a:t>Heredabilidad &gt; 0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81200" y="0"/>
            <a:ext cx="8229600" cy="11247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endParaRPr lang="en-GB" sz="4400" dirty="0"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159" y="1285367"/>
            <a:ext cx="2430269" cy="2572254"/>
          </a:xfrm>
          <a:prstGeom prst="rect">
            <a:avLst/>
          </a:prstGeom>
        </p:spPr>
      </p:pic>
      <p:grpSp>
        <p:nvGrpSpPr>
          <p:cNvPr id="44" name="Group 43"/>
          <p:cNvGrpSpPr/>
          <p:nvPr/>
        </p:nvGrpSpPr>
        <p:grpSpPr>
          <a:xfrm>
            <a:off x="6924092" y="1076552"/>
            <a:ext cx="3618402" cy="3016491"/>
            <a:chOff x="5400092" y="1820723"/>
            <a:chExt cx="3618402" cy="3016491"/>
          </a:xfrm>
        </p:grpSpPr>
        <p:cxnSp>
          <p:nvCxnSpPr>
            <p:cNvPr id="10" name="Straight Arrow Connector 9"/>
            <p:cNvCxnSpPr/>
            <p:nvPr/>
          </p:nvCxnSpPr>
          <p:spPr>
            <a:xfrm>
              <a:off x="5984058" y="2093721"/>
              <a:ext cx="250337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5976157" y="2093721"/>
              <a:ext cx="0" cy="237469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8316416" y="1820723"/>
              <a:ext cx="7020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i="1" dirty="0">
                  <a:solidFill>
                    <a:schemeClr val="tx2"/>
                  </a:solidFill>
                  <a:latin typeface="+mj-lt"/>
                </a:rPr>
                <a:t>p</a:t>
              </a:r>
              <a:r>
                <a:rPr lang="en-GB" sz="1500" b="1" dirty="0">
                  <a:latin typeface="+mj-lt"/>
                </a:rPr>
                <a:t> </a:t>
              </a:r>
              <a:r>
                <a:rPr lang="en-GB" sz="1300" i="1" dirty="0">
                  <a:latin typeface="+mj-lt"/>
                </a:rPr>
                <a:t>SNPs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400092" y="4437104"/>
              <a:ext cx="11881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i="1" dirty="0">
                  <a:solidFill>
                    <a:schemeClr val="tx2"/>
                  </a:solidFill>
                  <a:latin typeface="+mj-lt"/>
                </a:rPr>
                <a:t>n</a:t>
              </a:r>
              <a:r>
                <a:rPr lang="en-GB" sz="2000" b="1" dirty="0">
                  <a:latin typeface="+mj-lt"/>
                </a:rPr>
                <a:t> </a:t>
              </a:r>
              <a:r>
                <a:rPr lang="en-GB" sz="1300" i="1" dirty="0" err="1">
                  <a:latin typeface="+mj-lt"/>
                </a:rPr>
                <a:t>individuos</a:t>
              </a:r>
              <a:endParaRPr lang="en-GB" sz="1300" i="1" dirty="0">
                <a:latin typeface="+mj-lt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951984" y="1604708"/>
            <a:ext cx="1368152" cy="1917601"/>
            <a:chOff x="4427984" y="2348879"/>
            <a:chExt cx="1368152" cy="1917601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5742130" y="2348879"/>
              <a:ext cx="0" cy="962716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5796136" y="2348879"/>
              <a:ext cx="0" cy="962716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742130" y="3367947"/>
              <a:ext cx="0" cy="898533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5796136" y="3367947"/>
              <a:ext cx="0" cy="898533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4427984" y="3501008"/>
              <a:ext cx="12241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600" b="1" dirty="0" err="1">
                  <a:solidFill>
                    <a:schemeClr val="accent3"/>
                  </a:solidFill>
                  <a:latin typeface="+mj-lt"/>
                </a:rPr>
                <a:t>Casos</a:t>
              </a:r>
              <a:endParaRPr lang="en-GB" sz="1600" b="1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427984" y="2708920"/>
              <a:ext cx="12241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600" b="1" dirty="0" err="1">
                  <a:solidFill>
                    <a:schemeClr val="tx2"/>
                  </a:solidFill>
                  <a:latin typeface="+mj-lt"/>
                </a:rPr>
                <a:t>Controles</a:t>
              </a:r>
              <a:endParaRPr lang="en-GB" sz="1600" b="1" dirty="0">
                <a:solidFill>
                  <a:schemeClr val="tx2"/>
                </a:solidFill>
                <a:latin typeface="+mj-lt"/>
              </a:endParaRPr>
            </a:p>
          </p:txBody>
        </p:sp>
      </p:grpSp>
      <p:cxnSp>
        <p:nvCxnSpPr>
          <p:cNvPr id="39" name="Straight Connector 38"/>
          <p:cNvCxnSpPr/>
          <p:nvPr/>
        </p:nvCxnSpPr>
        <p:spPr>
          <a:xfrm>
            <a:off x="6258018" y="2536898"/>
            <a:ext cx="4374486" cy="0"/>
          </a:xfrm>
          <a:prstGeom prst="line">
            <a:avLst/>
          </a:prstGeom>
          <a:ln w="539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9570387" y="1146363"/>
            <a:ext cx="360040" cy="2781070"/>
          </a:xfrm>
          <a:prstGeom prst="ellipse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212" y="4555833"/>
            <a:ext cx="1001464" cy="1988026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5045790"/>
            <a:ext cx="1080120" cy="1495166"/>
          </a:xfrm>
          <a:prstGeom prst="rect">
            <a:avLst/>
          </a:prstGeom>
        </p:spPr>
      </p:pic>
      <p:grpSp>
        <p:nvGrpSpPr>
          <p:cNvPr id="48" name="Group 47"/>
          <p:cNvGrpSpPr/>
          <p:nvPr/>
        </p:nvGrpSpPr>
        <p:grpSpPr>
          <a:xfrm>
            <a:off x="7958213" y="5549847"/>
            <a:ext cx="1162123" cy="976301"/>
            <a:chOff x="6434212" y="5549846"/>
            <a:chExt cx="1162123" cy="976301"/>
          </a:xfrm>
        </p:grpSpPr>
        <p:pic>
          <p:nvPicPr>
            <p:cNvPr id="3082" name="Picture 10" descr="http://www.stuartsclipart.co.uk/food_clipart/food_clipart_graphics/banana-clipart-02%5blarge%5d.jp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4212" y="5949280"/>
              <a:ext cx="308025" cy="3920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2" descr="http://www.clipartbest.com/cliparts/9T4/b94/9T4b94rTE.jpeg"/>
            <p:cNvPicPr>
              <a:picLocks noChangeAspect="1" noChangeArrowheads="1"/>
            </p:cNvPicPr>
            <p:nvPr/>
          </p:nvPicPr>
          <p:blipFill>
            <a:blip r:embed="rId7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718343" y="5802532"/>
              <a:ext cx="576064" cy="7236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8" name="Picture 6" descr="http://www.clker.com/cliparts/3/7/5/6/11949861182029597463an_apple_01.svg.hi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7718" y="5549846"/>
              <a:ext cx="448617" cy="4714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74" name="Picture 2" descr="http://www.clipartbest.com/cliparts/9T4/b94/9T4b94rTE.jpeg"/>
          <p:cNvPicPr>
            <a:picLocks noChangeAspect="1" noChangeArrowheads="1"/>
          </p:cNvPicPr>
          <p:nvPr/>
        </p:nvPicPr>
        <p:blipFill>
          <a:blip r:embed="rId9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076" y="5773532"/>
            <a:ext cx="502273" cy="72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298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61E2F3-4B3F-1840-92EC-1FF3F016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56" y="-3435"/>
            <a:ext cx="10515600" cy="1325563"/>
          </a:xfrm>
        </p:spPr>
        <p:txBody>
          <a:bodyPr/>
          <a:lstStyle/>
          <a:p>
            <a:r>
              <a:rPr lang="es-ES_tradnl" dirty="0"/>
              <a:t>Diseño GWAS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4351338"/>
          </a:xfrm>
        </p:spPr>
        <p:txBody>
          <a:bodyPr/>
          <a:lstStyle/>
          <a:p>
            <a:r>
              <a:rPr lang="es-ES_tradnl" dirty="0">
                <a:solidFill>
                  <a:schemeClr val="tx2"/>
                </a:solidFill>
              </a:rPr>
              <a:t>Caso-Control</a:t>
            </a:r>
          </a:p>
          <a:p>
            <a:pPr lvl="1"/>
            <a:r>
              <a:rPr lang="es-ES_tradnl" sz="2000" dirty="0"/>
              <a:t>Un "caso" bien definido</a:t>
            </a:r>
          </a:p>
          <a:p>
            <a:pPr lvl="1"/>
            <a:r>
              <a:rPr lang="es-ES_tradnl" sz="2000" dirty="0"/>
              <a:t>Herencia conocida</a:t>
            </a:r>
          </a:p>
          <a:p>
            <a:endParaRPr lang="es-ES_tradnl" dirty="0">
              <a:solidFill>
                <a:schemeClr val="tx1"/>
              </a:solidFill>
            </a:endParaRPr>
          </a:p>
          <a:p>
            <a:r>
              <a:rPr lang="es-ES_tradnl" dirty="0">
                <a:solidFill>
                  <a:schemeClr val="tx2"/>
                </a:solidFill>
              </a:rPr>
              <a:t>Variaciones</a:t>
            </a:r>
          </a:p>
          <a:p>
            <a:pPr lvl="1"/>
            <a:r>
              <a:rPr lang="es-ES_tradnl" sz="2000" dirty="0"/>
              <a:t>Datos fenotípicos cuantitativos</a:t>
            </a:r>
          </a:p>
          <a:p>
            <a:pPr lvl="2"/>
            <a:r>
              <a:rPr lang="es-ES_tradnl" dirty="0">
                <a:solidFill>
                  <a:schemeClr val="accent6"/>
                </a:solidFill>
              </a:rPr>
              <a:t>Ej. Altura, concentraciones de biomarcadores</a:t>
            </a:r>
          </a:p>
          <a:p>
            <a:pPr lvl="1"/>
            <a:r>
              <a:rPr lang="es-ES_tradnl" sz="2000" dirty="0"/>
              <a:t>Modelos explícitos</a:t>
            </a:r>
          </a:p>
          <a:p>
            <a:pPr lvl="2"/>
            <a:r>
              <a:rPr lang="es-ES_tradnl" dirty="0">
                <a:solidFill>
                  <a:schemeClr val="accent6"/>
                </a:solidFill>
              </a:rPr>
              <a:t>Ej. dominante o recesiva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780" y="1115096"/>
            <a:ext cx="1001292" cy="14366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3" y="1181950"/>
            <a:ext cx="1019685" cy="130293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395" y="1267536"/>
            <a:ext cx="1008112" cy="65642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105" y="1891452"/>
            <a:ext cx="1014039" cy="66028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934" y="2533056"/>
            <a:ext cx="768005" cy="1063118"/>
          </a:xfrm>
          <a:prstGeom prst="rect">
            <a:avLst/>
          </a:prstGeom>
        </p:spPr>
      </p:pic>
      <p:pic>
        <p:nvPicPr>
          <p:cNvPr id="14" name="Picture 2" descr="http://www.clipartbest.com/cliparts/9T4/b94/9T4b94rTE.jpeg"/>
          <p:cNvPicPr>
            <a:picLocks noChangeAspect="1" noChangeArrowheads="1"/>
          </p:cNvPicPr>
          <p:nvPr/>
        </p:nvPicPr>
        <p:blipFill>
          <a:blip r:embed="rId7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507" y="3055229"/>
            <a:ext cx="357135" cy="51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6374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4B4061-D1B6-D643-AE65-4A9C627FF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388" y="0"/>
            <a:ext cx="892722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B141B8-623A-6541-9AD8-08CBC2B03F37}"/>
              </a:ext>
            </a:extLst>
          </p:cNvPr>
          <p:cNvSpPr txBox="1"/>
          <p:nvPr/>
        </p:nvSpPr>
        <p:spPr>
          <a:xfrm>
            <a:off x="7536074" y="1900051"/>
            <a:ext cx="1880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/>
              <a:t>Imputación</a:t>
            </a:r>
          </a:p>
        </p:txBody>
      </p:sp>
    </p:spTree>
    <p:extLst>
      <p:ext uri="{BB962C8B-B14F-4D97-AF65-F5344CB8AC3E}">
        <p14:creationId xmlns:p14="http://schemas.microsoft.com/office/powerpoint/2010/main" val="2337252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C86256-00D9-B241-8A41-E30D1A20D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681" y="0"/>
            <a:ext cx="71026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498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1" name="Object 4">
            <a:extLst>
              <a:ext uri="{FF2B5EF4-FFF2-40B4-BE49-F238E27FC236}">
                <a16:creationId xmlns:a16="http://schemas.microsoft.com/office/drawing/2014/main" id="{74F6502C-5545-7443-A6F8-2602E89B3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2350" y="0"/>
          <a:ext cx="495458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7556500" imgH="10464800" progId="Paint.Picture">
                  <p:embed/>
                </p:oleObj>
              </mc:Choice>
              <mc:Fallback>
                <p:oleObj name="Bitmap Image" r:id="rId3" imgW="7556500" imgH="10464800" progId="Paint.Picture">
                  <p:embed/>
                  <p:pic>
                    <p:nvPicPr>
                      <p:cNvPr id="61441" name="Object 4">
                        <a:extLst>
                          <a:ext uri="{FF2B5EF4-FFF2-40B4-BE49-F238E27FC236}">
                            <a16:creationId xmlns:a16="http://schemas.microsoft.com/office/drawing/2014/main" id="{74F6502C-5545-7443-A6F8-2602E89B3A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0"/>
                        <a:ext cx="4954588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2" name="Text Box 5">
            <a:extLst>
              <a:ext uri="{FF2B5EF4-FFF2-40B4-BE49-F238E27FC236}">
                <a16:creationId xmlns:a16="http://schemas.microsoft.com/office/drawing/2014/main" id="{98D0DAE3-5045-4245-BF94-95503D759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6" y="6051551"/>
            <a:ext cx="1889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 err="1"/>
              <a:t>Kingsmore</a:t>
            </a:r>
            <a:r>
              <a:rPr lang="en-US" altLang="en-US" dirty="0"/>
              <a:t>, 2008</a:t>
            </a:r>
          </a:p>
        </p:txBody>
      </p:sp>
    </p:spTree>
    <p:extLst>
      <p:ext uri="{BB962C8B-B14F-4D97-AF65-F5344CB8AC3E}">
        <p14:creationId xmlns:p14="http://schemas.microsoft.com/office/powerpoint/2010/main" val="15966992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6793F3-5ECB-C44B-AE7B-B063FAC05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171" y="0"/>
            <a:ext cx="7959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636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Fuentes de asociación</a:t>
            </a:r>
          </a:p>
        </p:txBody>
      </p:sp>
      <p:sp>
        <p:nvSpPr>
          <p:cNvPr id="5123" name="Rectangle 10"/>
          <p:cNvSpPr>
            <a:spLocks noGrp="1" noChangeArrowheads="1"/>
          </p:cNvSpPr>
          <p:nvPr>
            <p:ph idx="1"/>
          </p:nvPr>
        </p:nvSpPr>
        <p:spPr>
          <a:xfrm>
            <a:off x="586511" y="1809494"/>
            <a:ext cx="8183772" cy="4351338"/>
          </a:xfrm>
        </p:spPr>
        <p:txBody>
          <a:bodyPr>
            <a:normAutofit lnSpcReduction="10000"/>
          </a:bodyPr>
          <a:lstStyle/>
          <a:p>
            <a:r>
              <a:rPr lang="es-ES_tradnl"/>
              <a:t>Asociación causal</a:t>
            </a:r>
          </a:p>
          <a:p>
            <a:pPr lvl="1"/>
            <a:r>
              <a:rPr lang="es-ES_tradnl"/>
              <a:t>Los alelos de los marcadores genéticos influyen en la susceptibilidad</a:t>
            </a:r>
          </a:p>
          <a:p>
            <a:pPr lvl="1"/>
            <a:endParaRPr lang="es-ES_tradnl"/>
          </a:p>
          <a:p>
            <a:r>
              <a:rPr lang="es-ES_tradnl"/>
              <a:t>Desquilibrio del ligamiento</a:t>
            </a:r>
          </a:p>
          <a:p>
            <a:pPr lvl="1"/>
            <a:r>
              <a:rPr lang="es-ES_tradnl"/>
              <a:t>Alelos de marcadores asociados con otros alelos cercanos que influyen en la susceptibilidad</a:t>
            </a:r>
          </a:p>
          <a:p>
            <a:pPr lvl="1"/>
            <a:endParaRPr lang="es-ES_tradnl"/>
          </a:p>
          <a:p>
            <a:r>
              <a:rPr lang="es-ES_tradnl"/>
              <a:t>Estratificación de la población </a:t>
            </a:r>
          </a:p>
          <a:p>
            <a:pPr lvl="1"/>
            <a:r>
              <a:rPr lang="es-ES_tradnl"/>
              <a:t>El marcador genético no está relacionado con los alelos de la enfermedad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05884" y="1809494"/>
            <a:ext cx="1299605" cy="56114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/>
              <a:t>mejor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05884" y="3254567"/>
            <a:ext cx="1299605" cy="561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/>
              <a:t>útil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04561" y="5002549"/>
            <a:ext cx="1821415" cy="56114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/>
              <a:t>engañosos</a:t>
            </a:r>
          </a:p>
        </p:txBody>
      </p:sp>
    </p:spTree>
    <p:extLst>
      <p:ext uri="{BB962C8B-B14F-4D97-AF65-F5344CB8AC3E}">
        <p14:creationId xmlns:p14="http://schemas.microsoft.com/office/powerpoint/2010/main" val="2699420829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46FD5-1234-554C-8333-ACCE1A37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Estratificación de la población</a:t>
            </a:r>
            <a:br>
              <a:rPr lang="es-ES_tradnl" dirty="0"/>
            </a:br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72966" y="3839977"/>
            <a:ext cx="8229600" cy="2481263"/>
          </a:xfrm>
        </p:spPr>
        <p:txBody>
          <a:bodyPr>
            <a:normAutofit fontScale="92500" lnSpcReduction="10000"/>
          </a:bodyPr>
          <a:lstStyle/>
          <a:p>
            <a:pPr lvl="1"/>
            <a:endParaRPr lang="en-GB" dirty="0">
              <a:solidFill>
                <a:schemeClr val="tx1"/>
              </a:solidFill>
            </a:endParaRPr>
          </a:p>
          <a:p>
            <a:r>
              <a:rPr lang="en-GB" dirty="0" err="1">
                <a:solidFill>
                  <a:schemeClr val="tx2"/>
                </a:solidFill>
              </a:rPr>
              <a:t>Problema</a:t>
            </a:r>
            <a:endParaRPr lang="en-GB" dirty="0">
              <a:solidFill>
                <a:schemeClr val="tx2"/>
              </a:solidFill>
            </a:endParaRPr>
          </a:p>
          <a:p>
            <a:pPr lvl="1"/>
            <a:r>
              <a:rPr lang="en-GB" sz="2000" dirty="0"/>
              <a:t>No </a:t>
            </a:r>
            <a:r>
              <a:rPr lang="en-GB" sz="2000" dirty="0" err="1"/>
              <a:t>respeta</a:t>
            </a:r>
            <a:r>
              <a:rPr lang="en-GB" sz="2000" dirty="0"/>
              <a:t> la </a:t>
            </a:r>
            <a:r>
              <a:rPr lang="en-GB" sz="2000" dirty="0" err="1"/>
              <a:t>supuesta</a:t>
            </a:r>
            <a:r>
              <a:rPr lang="en-GB" sz="2000" dirty="0"/>
              <a:t> </a:t>
            </a:r>
            <a:r>
              <a:rPr lang="en-GB" sz="2000" dirty="0" err="1"/>
              <a:t>homogeneidad</a:t>
            </a:r>
            <a:r>
              <a:rPr lang="en-GB" sz="2000" dirty="0"/>
              <a:t> de la población, </a:t>
            </a:r>
            <a:r>
              <a:rPr lang="en-GB" sz="2000" dirty="0" err="1"/>
              <a:t>observaciones</a:t>
            </a:r>
            <a:r>
              <a:rPr lang="en-GB" sz="2000" dirty="0"/>
              <a:t> </a:t>
            </a:r>
            <a:r>
              <a:rPr lang="en-GB" sz="2000" dirty="0" err="1"/>
              <a:t>independientes</a:t>
            </a:r>
            <a:endParaRPr lang="en-GB" sz="2000" dirty="0"/>
          </a:p>
          <a:p>
            <a:pPr lvl="2"/>
            <a:r>
              <a:rPr lang="en-GB" sz="1800" b="1" dirty="0">
                <a:solidFill>
                  <a:schemeClr val="accent6"/>
                </a:solidFill>
                <a:sym typeface="Wingdings" panose="05000000000000000000" pitchFamily="2" charset="2"/>
              </a:rPr>
              <a:t> </a:t>
            </a:r>
            <a:r>
              <a:rPr lang="en-GB" sz="18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Asociaciones</a:t>
            </a:r>
            <a:r>
              <a:rPr lang="en-GB" sz="1800" b="1" dirty="0">
                <a:solidFill>
                  <a:schemeClr val="accent6"/>
                </a:solidFill>
                <a:sym typeface="Wingdings" panose="05000000000000000000" pitchFamily="2" charset="2"/>
              </a:rPr>
              <a:t> </a:t>
            </a:r>
            <a:r>
              <a:rPr lang="en-GB" sz="18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confusas</a:t>
            </a:r>
            <a:r>
              <a:rPr lang="en-GB" sz="1800" b="1" dirty="0">
                <a:solidFill>
                  <a:schemeClr val="accent6"/>
                </a:solidFill>
                <a:sym typeface="Wingdings" panose="05000000000000000000" pitchFamily="2" charset="2"/>
              </a:rPr>
              <a:t> y </a:t>
            </a:r>
            <a:r>
              <a:rPr lang="en-GB" sz="18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espurias</a:t>
            </a:r>
            <a:endParaRPr lang="en-GB" sz="1800" b="1" dirty="0">
              <a:solidFill>
                <a:schemeClr val="accent6"/>
              </a:solidFill>
              <a:sym typeface="Wingdings" panose="05000000000000000000" pitchFamily="2" charset="2"/>
            </a:endParaRPr>
          </a:p>
          <a:p>
            <a:pPr lvl="1"/>
            <a:r>
              <a:rPr lang="en-GB" sz="2000" dirty="0"/>
              <a:t>Población de </a:t>
            </a:r>
            <a:r>
              <a:rPr lang="en-GB" sz="2000" dirty="0" err="1"/>
              <a:t>casos</a:t>
            </a:r>
            <a:r>
              <a:rPr lang="en-GB" sz="2000" dirty="0"/>
              <a:t> con mayor </a:t>
            </a:r>
            <a:r>
              <a:rPr lang="en-GB" sz="2000" dirty="0" err="1"/>
              <a:t>probabilidad</a:t>
            </a:r>
            <a:r>
              <a:rPr lang="en-GB" sz="2000" dirty="0"/>
              <a:t> de </a:t>
            </a:r>
            <a:r>
              <a:rPr lang="en-GB" sz="2000" dirty="0" err="1"/>
              <a:t>estar</a:t>
            </a:r>
            <a:r>
              <a:rPr lang="en-GB" sz="2000" dirty="0"/>
              <a:t> </a:t>
            </a:r>
            <a:r>
              <a:rPr lang="en-GB" sz="2000" dirty="0" err="1"/>
              <a:t>relacionada</a:t>
            </a:r>
            <a:r>
              <a:rPr lang="en-GB" sz="2000" dirty="0"/>
              <a:t> que la población de control</a:t>
            </a:r>
          </a:p>
          <a:p>
            <a:pPr lvl="2"/>
            <a:r>
              <a:rPr lang="en-GB" sz="1800" b="1" dirty="0">
                <a:solidFill>
                  <a:schemeClr val="accent6"/>
                </a:solidFill>
                <a:sym typeface="Wingdings" panose="05000000000000000000" pitchFamily="2" charset="2"/>
              </a:rPr>
              <a:t> </a:t>
            </a:r>
            <a:r>
              <a:rPr lang="en-GB" sz="18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Sobreestimación</a:t>
            </a:r>
            <a:r>
              <a:rPr lang="en-GB" sz="1800" b="1" dirty="0">
                <a:solidFill>
                  <a:schemeClr val="accent6"/>
                </a:solidFill>
                <a:sym typeface="Wingdings" panose="05000000000000000000" pitchFamily="2" charset="2"/>
              </a:rPr>
              <a:t> de la </a:t>
            </a:r>
            <a:r>
              <a:rPr lang="en-GB" sz="18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importancia</a:t>
            </a:r>
            <a:r>
              <a:rPr lang="en-GB" sz="1800" b="1" dirty="0">
                <a:solidFill>
                  <a:schemeClr val="accent6"/>
                </a:solidFill>
                <a:sym typeface="Wingdings" panose="05000000000000000000" pitchFamily="2" charset="2"/>
              </a:rPr>
              <a:t> de las </a:t>
            </a:r>
            <a:r>
              <a:rPr lang="en-GB" sz="1800" b="1" dirty="0" err="1">
                <a:solidFill>
                  <a:schemeClr val="accent6"/>
                </a:solidFill>
                <a:sym typeface="Wingdings" panose="05000000000000000000" pitchFamily="2" charset="2"/>
              </a:rPr>
              <a:t>asociaciones</a:t>
            </a:r>
            <a:endParaRPr lang="en-GB" sz="1800" b="1" dirty="0">
              <a:solidFill>
                <a:schemeClr val="accent6"/>
              </a:solidFill>
              <a:sym typeface="Wingdings" panose="05000000000000000000" pitchFamily="2" charset="2"/>
            </a:endParaRPr>
          </a:p>
        </p:txBody>
      </p:sp>
      <p:pic>
        <p:nvPicPr>
          <p:cNvPr id="1028" name="Picture 4" descr="http://www.border-wars.com/wp-content/uploads/2008/09/Border_Collie_Stratification_Graph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060" y="980729"/>
            <a:ext cx="381000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/>
          <p:cNvSpPr txBox="1">
            <a:spLocks/>
          </p:cNvSpPr>
          <p:nvPr/>
        </p:nvSpPr>
        <p:spPr>
          <a:xfrm>
            <a:off x="472966" y="1358838"/>
            <a:ext cx="6074979" cy="2481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GB" sz="2800" dirty="0" err="1">
                <a:solidFill>
                  <a:schemeClr val="tx2"/>
                </a:solidFill>
              </a:rPr>
              <a:t>Definición</a:t>
            </a:r>
            <a:endParaRPr lang="en-GB" sz="2800" dirty="0">
              <a:solidFill>
                <a:schemeClr val="tx2"/>
              </a:solidFill>
            </a:endParaRPr>
          </a:p>
          <a:p>
            <a:pPr lvl="1"/>
            <a:r>
              <a:rPr lang="en-GB" sz="2000" b="1" dirty="0">
                <a:solidFill>
                  <a:schemeClr val="accent6"/>
                </a:solidFill>
              </a:rPr>
              <a:t>"</a:t>
            </a:r>
            <a:r>
              <a:rPr lang="en-GB" sz="2000" b="1" dirty="0" err="1">
                <a:solidFill>
                  <a:schemeClr val="accent6"/>
                </a:solidFill>
              </a:rPr>
              <a:t>Estratificación</a:t>
            </a:r>
            <a:r>
              <a:rPr lang="en-GB" sz="2000" b="1" dirty="0">
                <a:solidFill>
                  <a:schemeClr val="accent6"/>
                </a:solidFill>
              </a:rPr>
              <a:t> de la población" = </a:t>
            </a:r>
            <a:r>
              <a:rPr lang="en-GB" sz="2000" b="1" dirty="0" err="1">
                <a:solidFill>
                  <a:schemeClr val="accent6"/>
                </a:solidFill>
              </a:rPr>
              <a:t>estructura</a:t>
            </a:r>
            <a:r>
              <a:rPr lang="en-GB" sz="2000" b="1" dirty="0">
                <a:solidFill>
                  <a:schemeClr val="accent6"/>
                </a:solidFill>
              </a:rPr>
              <a:t> de la población</a:t>
            </a:r>
          </a:p>
          <a:p>
            <a:pPr lvl="1"/>
            <a:r>
              <a:rPr lang="en-GB" sz="2000" b="1" i="1" dirty="0" err="1">
                <a:solidFill>
                  <a:schemeClr val="accent3"/>
                </a:solidFill>
              </a:rPr>
              <a:t>Diferencia</a:t>
            </a:r>
            <a:r>
              <a:rPr lang="en-GB" sz="2000" b="1" i="1" dirty="0">
                <a:solidFill>
                  <a:schemeClr val="accent3"/>
                </a:solidFill>
              </a:rPr>
              <a:t> </a:t>
            </a:r>
            <a:r>
              <a:rPr lang="en-GB" sz="2000" b="1" i="1" dirty="0" err="1">
                <a:solidFill>
                  <a:schemeClr val="accent3"/>
                </a:solidFill>
              </a:rPr>
              <a:t>sistemática</a:t>
            </a:r>
            <a:r>
              <a:rPr lang="en-GB" sz="2000" b="1" i="1" dirty="0">
                <a:solidFill>
                  <a:schemeClr val="accent3"/>
                </a:solidFill>
              </a:rPr>
              <a:t> de </a:t>
            </a:r>
            <a:r>
              <a:rPr lang="en-GB" sz="2000" b="1" i="1" dirty="0" err="1">
                <a:solidFill>
                  <a:schemeClr val="accent3"/>
                </a:solidFill>
              </a:rPr>
              <a:t>frecuencias</a:t>
            </a:r>
            <a:r>
              <a:rPr lang="en-GB" sz="2000" b="1" i="1" dirty="0">
                <a:solidFill>
                  <a:schemeClr val="accent3"/>
                </a:solidFill>
              </a:rPr>
              <a:t> </a:t>
            </a:r>
            <a:r>
              <a:rPr lang="en-GB" sz="2000" b="1" i="1" dirty="0" err="1">
                <a:solidFill>
                  <a:schemeClr val="accent3"/>
                </a:solidFill>
              </a:rPr>
              <a:t>alélicas</a:t>
            </a:r>
            <a:r>
              <a:rPr lang="en-GB" sz="2000" b="1" i="1" dirty="0">
                <a:solidFill>
                  <a:schemeClr val="accent3"/>
                </a:solidFill>
              </a:rPr>
              <a:t> entre las </a:t>
            </a:r>
            <a:r>
              <a:rPr lang="en-GB" sz="2000" b="1" i="1" dirty="0" err="1">
                <a:solidFill>
                  <a:schemeClr val="accent3"/>
                </a:solidFill>
              </a:rPr>
              <a:t>subpoblaciones</a:t>
            </a:r>
            <a:r>
              <a:rPr lang="en-GB" sz="2000" b="1" i="1" dirty="0">
                <a:solidFill>
                  <a:schemeClr val="accent3"/>
                </a:solidFill>
              </a:rPr>
              <a:t>..... </a:t>
            </a:r>
          </a:p>
          <a:p>
            <a:pPr lvl="2"/>
            <a:r>
              <a:rPr lang="en-GB" sz="1800" dirty="0">
                <a:solidFill>
                  <a:schemeClr val="tx1"/>
                </a:solidFill>
              </a:rPr>
              <a:t>... </a:t>
            </a:r>
            <a:r>
              <a:rPr lang="en-GB" sz="1800" dirty="0" err="1">
                <a:solidFill>
                  <a:schemeClr val="tx1"/>
                </a:solidFill>
              </a:rPr>
              <a:t>posiblemente</a:t>
            </a:r>
            <a:r>
              <a:rPr lang="en-GB" sz="1800" dirty="0">
                <a:solidFill>
                  <a:schemeClr val="tx1"/>
                </a:solidFill>
              </a:rPr>
              <a:t> </a:t>
            </a:r>
            <a:r>
              <a:rPr lang="en-GB" sz="1800" dirty="0" err="1">
                <a:solidFill>
                  <a:schemeClr val="tx1"/>
                </a:solidFill>
              </a:rPr>
              <a:t>debido</a:t>
            </a:r>
            <a:r>
              <a:rPr lang="en-GB" sz="1800" dirty="0">
                <a:solidFill>
                  <a:schemeClr val="tx1"/>
                </a:solidFill>
              </a:rPr>
              <a:t> a una </a:t>
            </a:r>
            <a:r>
              <a:rPr lang="en-GB" sz="1800" dirty="0" err="1">
                <a:solidFill>
                  <a:schemeClr val="tx1"/>
                </a:solidFill>
              </a:rPr>
              <a:t>ascendencia</a:t>
            </a:r>
            <a:r>
              <a:rPr lang="en-GB" sz="1800" dirty="0">
                <a:solidFill>
                  <a:schemeClr val="tx1"/>
                </a:solidFill>
              </a:rPr>
              <a:t> </a:t>
            </a:r>
            <a:r>
              <a:rPr lang="en-GB" sz="1800" dirty="0" err="1">
                <a:solidFill>
                  <a:schemeClr val="tx1"/>
                </a:solidFill>
              </a:rPr>
              <a:t>diferente</a:t>
            </a:r>
            <a:endParaRPr lang="en-GB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4040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855" y="1565988"/>
            <a:ext cx="4474840" cy="4525963"/>
          </a:xfrm>
        </p:spPr>
        <p:txBody>
          <a:bodyPr>
            <a:normAutofit lnSpcReduction="10000"/>
          </a:bodyPr>
          <a:lstStyle/>
          <a:p>
            <a:r>
              <a:rPr lang="en-GB" sz="3000" b="1" dirty="0" err="1">
                <a:solidFill>
                  <a:schemeClr val="accent3"/>
                </a:solidFill>
                <a:sym typeface="Wingdings" panose="05000000000000000000" pitchFamily="2" charset="2"/>
              </a:rPr>
              <a:t>Visualizar</a:t>
            </a:r>
            <a:endParaRPr lang="en-GB" sz="3000" b="1" dirty="0">
              <a:solidFill>
                <a:schemeClr val="accent3"/>
              </a:solidFill>
              <a:sym typeface="Wingdings" panose="05000000000000000000" pitchFamily="2" charset="2"/>
            </a:endParaRPr>
          </a:p>
          <a:p>
            <a:pPr lvl="1"/>
            <a:r>
              <a:rPr lang="en-GB" sz="2600" dirty="0" err="1">
                <a:sym typeface="Wingdings" panose="05000000000000000000" pitchFamily="2" charset="2"/>
              </a:rPr>
              <a:t>Filogenética</a:t>
            </a:r>
            <a:endParaRPr lang="en-GB" sz="2600" dirty="0">
              <a:sym typeface="Wingdings" panose="05000000000000000000" pitchFamily="2" charset="2"/>
            </a:endParaRPr>
          </a:p>
          <a:p>
            <a:pPr lvl="1"/>
            <a:r>
              <a:rPr lang="en-GB" sz="2600" dirty="0">
                <a:sym typeface="Wingdings" panose="05000000000000000000" pitchFamily="2" charset="2"/>
              </a:rPr>
              <a:t>ACP</a:t>
            </a:r>
          </a:p>
          <a:p>
            <a:pPr lvl="1"/>
            <a:r>
              <a:rPr lang="en-GB" sz="2600" dirty="0">
                <a:sym typeface="Wingdings" panose="05000000000000000000" pitchFamily="2" charset="2"/>
              </a:rPr>
              <a:t>MDS</a:t>
            </a:r>
          </a:p>
          <a:p>
            <a:pPr lvl="1"/>
            <a:endParaRPr lang="en-GB" sz="1600" dirty="0">
              <a:sym typeface="Wingdings" panose="05000000000000000000" pitchFamily="2" charset="2"/>
            </a:endParaRPr>
          </a:p>
          <a:p>
            <a:pPr lvl="1"/>
            <a:endParaRPr lang="en-GB" sz="1600" dirty="0">
              <a:sym typeface="Wingdings" panose="05000000000000000000" pitchFamily="2" charset="2"/>
            </a:endParaRPr>
          </a:p>
          <a:p>
            <a:r>
              <a:rPr lang="en-GB" sz="3000" b="1" dirty="0" err="1">
                <a:solidFill>
                  <a:schemeClr val="accent3"/>
                </a:solidFill>
                <a:sym typeface="Wingdings" panose="05000000000000000000" pitchFamily="2" charset="2"/>
              </a:rPr>
              <a:t>Corregir</a:t>
            </a:r>
            <a:endParaRPr lang="en-GB" sz="3000" b="1" dirty="0">
              <a:solidFill>
                <a:schemeClr val="accent3"/>
              </a:solidFill>
              <a:sym typeface="Wingdings" panose="05000000000000000000" pitchFamily="2" charset="2"/>
            </a:endParaRPr>
          </a:p>
          <a:p>
            <a:pPr lvl="1"/>
            <a:r>
              <a:rPr lang="en-GB" sz="2600" dirty="0">
                <a:sym typeface="Wingdings" panose="05000000000000000000" pitchFamily="2" charset="2"/>
              </a:rPr>
              <a:t>Control </a:t>
            </a:r>
            <a:r>
              <a:rPr lang="en-GB" sz="2600" dirty="0" err="1">
                <a:sym typeface="Wingdings" panose="05000000000000000000" pitchFamily="2" charset="2"/>
              </a:rPr>
              <a:t>genómico</a:t>
            </a:r>
            <a:endParaRPr lang="en-GB" sz="2600" dirty="0">
              <a:sym typeface="Wingdings" panose="05000000000000000000" pitchFamily="2" charset="2"/>
            </a:endParaRPr>
          </a:p>
          <a:p>
            <a:pPr lvl="1"/>
            <a:r>
              <a:rPr lang="en-GB" sz="2600" dirty="0" err="1">
                <a:sym typeface="Wingdings" panose="05000000000000000000" pitchFamily="2" charset="2"/>
              </a:rPr>
              <a:t>Regresión</a:t>
            </a:r>
            <a:r>
              <a:rPr lang="en-GB" sz="2600" dirty="0">
                <a:sym typeface="Wingdings" panose="05000000000000000000" pitchFamily="2" charset="2"/>
              </a:rPr>
              <a:t> </a:t>
            </a:r>
            <a:r>
              <a:rPr lang="en-GB" sz="2600" dirty="0" err="1">
                <a:sym typeface="Wingdings" panose="05000000000000000000" pitchFamily="2" charset="2"/>
              </a:rPr>
              <a:t>sobre</a:t>
            </a:r>
            <a:r>
              <a:rPr lang="en-GB" sz="2600" dirty="0">
                <a:sym typeface="Wingdings" panose="05000000000000000000" pitchFamily="2" charset="2"/>
              </a:rPr>
              <a:t> los </a:t>
            </a:r>
            <a:r>
              <a:rPr lang="en-GB" sz="2600" dirty="0" err="1">
                <a:sym typeface="Wingdings" panose="05000000000000000000" pitchFamily="2" charset="2"/>
              </a:rPr>
              <a:t>componentes</a:t>
            </a:r>
            <a:r>
              <a:rPr lang="en-GB" sz="2600" dirty="0">
                <a:sym typeface="Wingdings" panose="05000000000000000000" pitchFamily="2" charset="2"/>
              </a:rPr>
              <a:t> </a:t>
            </a:r>
            <a:r>
              <a:rPr lang="en-GB" sz="2600" dirty="0" err="1">
                <a:sym typeface="Wingdings" panose="05000000000000000000" pitchFamily="2" charset="2"/>
              </a:rPr>
              <a:t>principales</a:t>
            </a:r>
            <a:r>
              <a:rPr lang="en-GB" sz="2600" dirty="0">
                <a:sym typeface="Wingdings" panose="05000000000000000000" pitchFamily="2" charset="2"/>
              </a:rPr>
              <a:t> de la ACP o </a:t>
            </a:r>
            <a:r>
              <a:rPr lang="en-GB" sz="2600" dirty="0" err="1">
                <a:sym typeface="Wingdings" panose="05000000000000000000" pitchFamily="2" charset="2"/>
              </a:rPr>
              <a:t>coordenadas</a:t>
            </a:r>
            <a:r>
              <a:rPr lang="en-GB" sz="2600" dirty="0">
                <a:sym typeface="Wingdings" panose="05000000000000000000" pitchFamily="2" charset="2"/>
              </a:rPr>
              <a:t> de MDS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5" y="1052737"/>
            <a:ext cx="2943045" cy="27762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5" y="3861048"/>
            <a:ext cx="2975976" cy="280729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40C8827-EEC8-604C-A5CC-B8D85774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48" y="189654"/>
            <a:ext cx="10515600" cy="1325563"/>
          </a:xfrm>
        </p:spPr>
        <p:txBody>
          <a:bodyPr/>
          <a:lstStyle/>
          <a:p>
            <a:r>
              <a:rPr lang="es-ES_tradnl" dirty="0"/>
              <a:t>Estratificación de la población: soluciones</a:t>
            </a:r>
            <a:br>
              <a:rPr lang="es-ES_tradnl" dirty="0"/>
            </a:b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712735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DE5916-CA13-3043-B0D6-905051906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31" y="0"/>
            <a:ext cx="1180513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5C63A9-B47C-F34B-9B35-1427E32009D3}"/>
              </a:ext>
            </a:extLst>
          </p:cNvPr>
          <p:cNvSpPr txBox="1"/>
          <p:nvPr/>
        </p:nvSpPr>
        <p:spPr>
          <a:xfrm>
            <a:off x="1099595" y="3347977"/>
            <a:ext cx="230101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/>
              <a:t>Modelo mixto</a:t>
            </a:r>
            <a:br>
              <a:rPr lang="es-ES_tradnl" sz="2800" b="1" dirty="0"/>
            </a:br>
            <a:r>
              <a:rPr lang="es-ES_tradnl" b="1" dirty="0"/>
              <a:t>(estructura población)</a:t>
            </a:r>
            <a:endParaRPr lang="es-ES_tradnl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23F99-68F1-B34F-8843-FEAC978C7CDC}"/>
              </a:ext>
            </a:extLst>
          </p:cNvPr>
          <p:cNvSpPr txBox="1"/>
          <p:nvPr/>
        </p:nvSpPr>
        <p:spPr>
          <a:xfrm>
            <a:off x="1099595" y="99564"/>
            <a:ext cx="224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/>
              <a:t>Modelo lineal</a:t>
            </a:r>
          </a:p>
        </p:txBody>
      </p:sp>
    </p:spTree>
    <p:extLst>
      <p:ext uri="{BB962C8B-B14F-4D97-AF65-F5344CB8AC3E}">
        <p14:creationId xmlns:p14="http://schemas.microsoft.com/office/powerpoint/2010/main" val="6280175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1702</TotalTime>
  <Words>991</Words>
  <Application>Microsoft Office PowerPoint</Application>
  <PresentationFormat>Panorámica</PresentationFormat>
  <Paragraphs>175</Paragraphs>
  <Slides>46</Slides>
  <Notes>4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46</vt:i4>
      </vt:variant>
    </vt:vector>
  </HeadingPairs>
  <TitlesOfParts>
    <vt:vector size="56" baseType="lpstr">
      <vt:lpstr>Aptos</vt:lpstr>
      <vt:lpstr>Aptos Display</vt:lpstr>
      <vt:lpstr>Arial</vt:lpstr>
      <vt:lpstr>PalatinoLTStd-Bold</vt:lpstr>
      <vt:lpstr>PalatinoLTStd-Italic</vt:lpstr>
      <vt:lpstr>PalatinoLTStd-Roman</vt:lpstr>
      <vt:lpstr>Wingdings</vt:lpstr>
      <vt:lpstr>Tema de Office</vt:lpstr>
      <vt:lpstr>Equation</vt:lpstr>
      <vt:lpstr>Bitmap Image</vt:lpstr>
      <vt:lpstr>Multilocus evolution</vt:lpstr>
      <vt:lpstr>Presentación de PowerPoint</vt:lpstr>
      <vt:lpstr>https://cloufield.github.io/GWASTutorial/19_ld/#reference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Factors affecting LD</vt:lpstr>
      <vt:lpstr>Presentación de PowerPoint</vt:lpstr>
      <vt:lpstr>Multilocus selection</vt:lpstr>
      <vt:lpstr>Presentación de PowerPoint</vt:lpstr>
      <vt:lpstr>Epistasis</vt:lpstr>
      <vt:lpstr>Presentación de PowerPoint</vt:lpstr>
      <vt:lpstr>Positive and negative epistasis </vt:lpstr>
      <vt:lpstr>Quantitative genetics</vt:lpstr>
      <vt:lpstr>Presentación de PowerPoint</vt:lpstr>
      <vt:lpstr>Presentación de PowerPoint</vt:lpstr>
      <vt:lpstr>quantitative trait locus (QTL) analysis</vt:lpstr>
      <vt:lpstr>Presentación de PowerPoint</vt:lpstr>
      <vt:lpstr>Universidad ICESI Maestría de Biotecnología  Curso electivo: Mapeo genético avanzado   Diciembre 2019</vt:lpstr>
      <vt:lpstr>Carácter cuantitativo</vt:lpstr>
      <vt:lpstr>Presentación de PowerPoint</vt:lpstr>
      <vt:lpstr>Antes de empezar: análisis detallado de los datos fenotípicos</vt:lpstr>
      <vt:lpstr>Detección de QTL</vt:lpstr>
      <vt:lpstr>Mapeo por marcador simple</vt:lpstr>
      <vt:lpstr>Mapeo por marcador simple</vt:lpstr>
      <vt:lpstr>El intervalo de confianza</vt:lpstr>
      <vt:lpstr>Presentación de PowerPoint</vt:lpstr>
      <vt:lpstr>GWAS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Universidad ICESI Maestría de Biotecnología  Curso electivo: Mapeo genético avanzado   Diciembre 2019</vt:lpstr>
      <vt:lpstr>Associación</vt:lpstr>
      <vt:lpstr>Diseño GWAS</vt:lpstr>
      <vt:lpstr>Presentación de PowerPoint</vt:lpstr>
      <vt:lpstr>Presentación de PowerPoint</vt:lpstr>
      <vt:lpstr>Presentación de PowerPoint</vt:lpstr>
      <vt:lpstr>Presentación de PowerPoint</vt:lpstr>
      <vt:lpstr>Fuentes de asociación</vt:lpstr>
      <vt:lpstr>Estratificación de la población </vt:lpstr>
      <vt:lpstr>Estratificación de la población: soluciones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Chrystian Camilo Sosa Arango</dc:creator>
  <cp:lastModifiedBy>Chrystian Camilo Sosa Arango</cp:lastModifiedBy>
  <cp:revision>102</cp:revision>
  <dcterms:created xsi:type="dcterms:W3CDTF">2025-10-14T19:58:55Z</dcterms:created>
  <dcterms:modified xsi:type="dcterms:W3CDTF">2025-11-11T04:05:08Z</dcterms:modified>
</cp:coreProperties>
</file>