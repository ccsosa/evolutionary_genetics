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7" r:id="rId2"/>
    <p:sldId id="258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5" r:id="rId12"/>
    <p:sldId id="276" r:id="rId13"/>
    <p:sldId id="262" r:id="rId14"/>
    <p:sldId id="278" r:id="rId15"/>
    <p:sldId id="277" r:id="rId16"/>
    <p:sldId id="274" r:id="rId17"/>
    <p:sldId id="279" r:id="rId18"/>
    <p:sldId id="280" r:id="rId19"/>
    <p:sldId id="281" r:id="rId20"/>
    <p:sldId id="282" r:id="rId21"/>
    <p:sldId id="458" r:id="rId22"/>
    <p:sldId id="459" r:id="rId23"/>
    <p:sldId id="320" r:id="rId24"/>
    <p:sldId id="461" r:id="rId25"/>
    <p:sldId id="460" r:id="rId26"/>
    <p:sldId id="462" r:id="rId27"/>
    <p:sldId id="294" r:id="rId28"/>
    <p:sldId id="285" r:id="rId29"/>
    <p:sldId id="324" r:id="rId30"/>
    <p:sldId id="283" r:id="rId31"/>
    <p:sldId id="472" r:id="rId32"/>
    <p:sldId id="473" r:id="rId33"/>
    <p:sldId id="476" r:id="rId34"/>
    <p:sldId id="474" r:id="rId35"/>
    <p:sldId id="475" r:id="rId36"/>
    <p:sldId id="464" r:id="rId37"/>
    <p:sldId id="466" r:id="rId38"/>
    <p:sldId id="467" r:id="rId39"/>
    <p:sldId id="393" r:id="rId40"/>
    <p:sldId id="396" r:id="rId41"/>
    <p:sldId id="300" r:id="rId42"/>
    <p:sldId id="394" r:id="rId43"/>
    <p:sldId id="469" r:id="rId44"/>
    <p:sldId id="470" r:id="rId45"/>
    <p:sldId id="287" r:id="rId46"/>
    <p:sldId id="404" r:id="rId47"/>
    <p:sldId id="256" r:id="rId48"/>
    <p:sldId id="263" r:id="rId49"/>
    <p:sldId id="264" r:id="rId50"/>
    <p:sldId id="265" r:id="rId5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6C32B-8BC3-4FC4-942D-306231525A95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4D634-ED2D-46E4-93A7-B902EEAB486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1243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9F5438-E7E1-4D1C-A9A9-FDC466CC5E5E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2455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>
            <a:extLst>
              <a:ext uri="{FF2B5EF4-FFF2-40B4-BE49-F238E27FC236}">
                <a16:creationId xmlns:a16="http://schemas.microsoft.com/office/drawing/2014/main" id="{8402F6D0-C014-5741-9C2A-984E7614ED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fld id="{5CDE16D4-7522-2643-A5BE-35262B5799D5}" type="slidenum">
              <a:rPr lang="en-US" altLang="en-US">
                <a:latin typeface="Arial" panose="020B0604020202020204" pitchFamily="34" charset="0"/>
              </a:rPr>
              <a:pPr/>
              <a:t>41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62466" name="Rectangle 2">
            <a:extLst>
              <a:ext uri="{FF2B5EF4-FFF2-40B4-BE49-F238E27FC236}">
                <a16:creationId xmlns:a16="http://schemas.microsoft.com/office/drawing/2014/main" id="{CD02D4FD-898D-764F-A45B-34A1437866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7" name="Rectangle 3">
            <a:extLst>
              <a:ext uri="{FF2B5EF4-FFF2-40B4-BE49-F238E27FC236}">
                <a16:creationId xmlns:a16="http://schemas.microsoft.com/office/drawing/2014/main" id="{31DE4034-5929-D24D-BB2A-1364D94883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8490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9F5438-E7E1-4D1C-A9A9-FDC466CC5E5E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26386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19F5438-E7E1-4D1C-A9A9-FDC466CC5E5E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99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D23C0B-CB65-250D-B889-D3F86436AE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C42DE2B-4807-DAEA-697D-D318AE789E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B86161A-D377-C3C3-F9C8-5ACDD7006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080E040-7F7A-768D-DE3E-A8F8460BA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6FD070-95CA-4389-F780-012E7CAFC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81887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93D6D-7557-F5DA-A1FE-E4F195ED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C8FA6A7-E1C7-E7F6-DCDA-779F16A10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55791D-DA18-634D-78B9-2F3B8ECE1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85A8376-2ACA-8D21-ADD0-F63CD1244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B3832A-FB97-4710-189E-F55B06A62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0645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D795A-CAF8-053A-DC68-CD45C46A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C5A77AE-E76A-81FF-236D-06018F26A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0393459-5FE1-4E79-D181-3FEDF4AF1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EB71D1-456C-0499-87F8-EDF8F400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96BC235-05D1-0D33-3C11-D99245C7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004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9E120-77BB-35FC-F925-FF777DE86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C3057B-8C6F-D5E3-B746-62A8DE149A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916D4C0-E8C4-74E2-71ED-62CC1ACED5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D376A42-507A-4640-2080-43C4BD5E2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76C8222-565F-F6A0-03AF-A7FD6AFB3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974141-0C71-E32B-BF57-79FE8155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4980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0A2D6D-42AB-8366-AA6E-1B01F6E84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05CA8B6-5656-B8BA-983D-E58B85BD9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633C3DD-610B-0C15-C409-04036DFD62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B03F70B-CB29-85A5-E025-9C12597605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FD5837-8887-AFDB-AC5E-7BD30F7220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794ECCB-F419-B0A8-5EF5-34A688E83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6CE9BF4-AAFD-B8E6-7A6D-D985C45B9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F2475F-BA71-0BF5-3DDE-605819CFA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85080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FF3BA3-3B26-2E53-4C05-6A10C9B69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8377734-6B1A-EE6B-D900-49A917B5A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105ADEE-127F-9C46-605C-532904F29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8E37D0F-33A3-550B-150F-19E2BCAAC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91539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5F13578-8B83-C78A-7AF6-1E6C73A5E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4C38814-022E-59B2-FC49-C45820430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1988B9-947C-BE94-091D-40E493807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43073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AE7CB8-4100-ABE4-147A-389A8813D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FFC35EB-ACB4-4A86-21CE-FD2FC7478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78D32DE-D82B-B922-8790-6A7875DC1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F7E1B0-B95A-8EAA-8CFA-2C11CFA7B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5BF9F6-5719-FEFB-5177-B1DF9E4EB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0FF997-B7CC-EE27-39F5-45CE0E555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21187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D17BAC-3E96-6306-0B84-FE692706C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977DD34-7DB0-7CA7-22CC-BB7B060B56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D9BF77-4CDF-3FF2-CCA3-A477FC88B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A69C9F4-7A63-10D6-6D7F-96FBAA5C6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BEA0145-5218-A24E-5878-F7AD4F188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8C5DB7-185A-10AA-2C9C-5F529698D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56552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88436B-17E3-FF12-9983-3E1538E3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5F7CE9F-167E-CB82-F4D0-1F7ED0BD3B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05DE6D-1715-2AC7-49D0-27AD3009F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BC77E1-3900-384E-1564-D5FBADB85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EF2BCA-5342-24DA-8F50-48F04D6B5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08557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9B33068-92A4-CDE9-8B2C-4B99604799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FF1C20F-8D97-276C-12CC-8F8B3FAE59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00B347-1C2F-9DB9-B5A6-798E5043C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EBA00EA-6BC6-5C38-220F-95EC51C11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EA7CC4-8481-E80C-8C15-7AF0F82E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14975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8CA7FB0-2FB8-19D4-2532-C54179645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12F55F5-3E59-B734-7354-FDBA2B56AD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7D28E7-2A6C-7CAF-E49A-FA1B2DAD91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7B2AC3-D1C3-4E2B-9063-3F8F4074B253}" type="datetimeFigureOut">
              <a:rPr lang="es-CO" smtClean="0"/>
              <a:t>5/11/2025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07BAA74-B71C-59E6-CE7D-7C30994773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74E779-4E86-77A0-AB02-0EE3347D1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20C1B2-F0CE-4F42-879E-525EB8C56A53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07838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microsoft.com/office/2007/relationships/hdphoto" Target="../media/hdphoto8.wdp"/><Relationship Id="rId18" Type="http://schemas.microsoft.com/office/2007/relationships/hdphoto" Target="../media/hdphoto13.wdp"/><Relationship Id="rId3" Type="http://schemas.openxmlformats.org/officeDocument/2006/relationships/image" Target="../media/image28.png"/><Relationship Id="rId21" Type="http://schemas.microsoft.com/office/2007/relationships/hdphoto" Target="../media/hdphoto16.wdp"/><Relationship Id="rId7" Type="http://schemas.microsoft.com/office/2007/relationships/hdphoto" Target="../media/hdphoto2.wdp"/><Relationship Id="rId12" Type="http://schemas.microsoft.com/office/2007/relationships/hdphoto" Target="../media/hdphoto7.wdp"/><Relationship Id="rId17" Type="http://schemas.microsoft.com/office/2007/relationships/hdphoto" Target="../media/hdphoto12.wdp"/><Relationship Id="rId2" Type="http://schemas.openxmlformats.org/officeDocument/2006/relationships/image" Target="../media/image27.png"/><Relationship Id="rId16" Type="http://schemas.microsoft.com/office/2007/relationships/hdphoto" Target="../media/hdphoto11.wdp"/><Relationship Id="rId20" Type="http://schemas.microsoft.com/office/2007/relationships/hdphoto" Target="../media/hdphoto15.wdp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11" Type="http://schemas.microsoft.com/office/2007/relationships/hdphoto" Target="../media/hdphoto6.wdp"/><Relationship Id="rId5" Type="http://schemas.microsoft.com/office/2007/relationships/hdphoto" Target="../media/hdphoto1.wdp"/><Relationship Id="rId15" Type="http://schemas.microsoft.com/office/2007/relationships/hdphoto" Target="../media/hdphoto10.wdp"/><Relationship Id="rId10" Type="http://schemas.microsoft.com/office/2007/relationships/hdphoto" Target="../media/hdphoto5.wdp"/><Relationship Id="rId19" Type="http://schemas.microsoft.com/office/2007/relationships/hdphoto" Target="../media/hdphoto14.wdp"/><Relationship Id="rId4" Type="http://schemas.openxmlformats.org/officeDocument/2006/relationships/image" Target="../media/image29.png"/><Relationship Id="rId9" Type="http://schemas.microsoft.com/office/2007/relationships/hdphoto" Target="../media/hdphoto4.wdp"/><Relationship Id="rId14" Type="http://schemas.microsoft.com/office/2007/relationships/hdphoto" Target="../media/hdphoto9.wdp"/><Relationship Id="rId22" Type="http://schemas.microsoft.com/office/2007/relationships/hdphoto" Target="../media/hdphoto17.wdp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jpe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8376586-732B-577F-FE6D-6874797E93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err="1"/>
              <a:t>Multilocus</a:t>
            </a:r>
            <a:r>
              <a:rPr lang="es-ES" dirty="0"/>
              <a:t> </a:t>
            </a:r>
            <a:r>
              <a:rPr lang="es-ES" dirty="0" err="1"/>
              <a:t>evolution</a:t>
            </a:r>
            <a:endParaRPr lang="es-CO" dirty="0"/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9096C6B5-11C7-05B9-74CD-9732499057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40906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927ECF-E778-79B8-E3A1-3BC9063CB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82A6B3-083D-D963-CF72-3FE8856AE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Linkage</a:t>
            </a:r>
            <a:r>
              <a:rPr lang="es-ES" dirty="0"/>
              <a:t> </a:t>
            </a:r>
            <a:r>
              <a:rPr lang="es-ES" dirty="0" err="1"/>
              <a:t>equilibrium</a:t>
            </a:r>
            <a:r>
              <a:rPr lang="es-ES" dirty="0"/>
              <a:t> (LE): </a:t>
            </a:r>
            <a:r>
              <a:rPr lang="es-CO" dirty="0" err="1"/>
              <a:t>Two</a:t>
            </a:r>
            <a:r>
              <a:rPr lang="es-CO" dirty="0"/>
              <a:t> loci are </a:t>
            </a:r>
            <a:r>
              <a:rPr lang="en-US" dirty="0"/>
              <a:t>in LE when the genotype at one locus is independent of the genotype at the other locus;</a:t>
            </a:r>
          </a:p>
          <a:p>
            <a:r>
              <a:rPr lang="en-US" dirty="0"/>
              <a:t>Haplotypes: et of alleles at each locus inherited f</a:t>
            </a:r>
            <a:r>
              <a:rPr lang="es-CO" dirty="0"/>
              <a:t>rom a </a:t>
            </a:r>
            <a:r>
              <a:rPr lang="es-CO" dirty="0" err="1"/>
              <a:t>parent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090E178-E6E5-949F-63D2-DFB375003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995" y="3342784"/>
            <a:ext cx="3629532" cy="351521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E6CBEA6-BAC5-AB3E-A628-0CCBBCA1D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62" y="3802478"/>
            <a:ext cx="5553850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7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919BAA-5D0F-FDF5-1ADA-24BB41DFA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https://cloufield.github.io/GWASTutorial/19_ld/#reference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ADF74D-7FEB-562B-2FEB-7888EA6AF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E6BCC91-C3C4-A31B-EB95-5346BCBB8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26" y="2067783"/>
            <a:ext cx="8649907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40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CD781C-0B89-5B01-B585-14514A80D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78571-AC09-A21C-CF7F-5387622D5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606F7D-901F-6B96-A55E-74411343F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9" y="2775307"/>
            <a:ext cx="10849101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99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AEAAD7-A664-F50C-CA20-6FD436887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8BF3BF-B508-8503-F3A3-2E1F7F6F4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62640DA-1A14-5B16-85EF-7FAE2754A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520" y="2166761"/>
            <a:ext cx="8306959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668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69F845-DDCF-56DF-8A20-6B59838B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91F5DB-B323-3DE8-97B8-D56538901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C99D8EA-6198-5068-1584-097959777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024" y="1838103"/>
            <a:ext cx="8602275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396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3E2789-EB2E-BBF2-153C-EAAF601CC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1FFF5-7048-AAC8-C758-3D9008C2E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D3FC69-76E6-F513-E200-A7BA4CC5E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15" y="1171260"/>
            <a:ext cx="8383170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718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8B4681-2C66-9903-BA9E-7764A52BB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750558-6EB2-028C-15DF-A1FA4D1D1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https://www.ensembl.org/Homo_sapiens/Tools/LD?db=core</a:t>
            </a:r>
          </a:p>
        </p:txBody>
      </p:sp>
    </p:spTree>
    <p:extLst>
      <p:ext uri="{BB962C8B-B14F-4D97-AF65-F5344CB8AC3E}">
        <p14:creationId xmlns:p14="http://schemas.microsoft.com/office/powerpoint/2010/main" val="17847788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482471-797E-932E-0CF3-E0C45BCFD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Factors</a:t>
            </a:r>
            <a:r>
              <a:rPr lang="es-ES" dirty="0"/>
              <a:t> </a:t>
            </a:r>
            <a:r>
              <a:rPr lang="es-ES" dirty="0" err="1"/>
              <a:t>affecting</a:t>
            </a:r>
            <a:r>
              <a:rPr lang="es-ES" dirty="0"/>
              <a:t> LD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850FA3-FD7A-1C11-AC1B-5019EB2C2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445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Non-</a:t>
            </a:r>
            <a:r>
              <a:rPr lang="es-CO" b="1" dirty="0" err="1"/>
              <a:t>random</a:t>
            </a:r>
            <a:r>
              <a:rPr lang="es-CO" b="1" dirty="0"/>
              <a:t> </a:t>
            </a:r>
            <a:r>
              <a:rPr lang="es-CO" b="1" dirty="0" err="1"/>
              <a:t>mating</a:t>
            </a:r>
            <a:r>
              <a:rPr lang="es-CO" b="1" dirty="0"/>
              <a:t>: </a:t>
            </a:r>
          </a:p>
          <a:p>
            <a:pPr marL="0" indent="0">
              <a:buNone/>
            </a:pPr>
            <a:r>
              <a:rPr lang="en-US" dirty="0"/>
              <a:t>inbreeding will similarly reduce the frequency of the double heterozygote genotypes A1B1/A2B2 </a:t>
            </a:r>
            <a:r>
              <a:rPr lang="es-CO" dirty="0"/>
              <a:t>and A1B2/A2B1.</a:t>
            </a:r>
          </a:p>
          <a:p>
            <a:r>
              <a:rPr lang="es-CO" b="1" dirty="0" err="1"/>
              <a:t>Genetic</a:t>
            </a:r>
            <a:r>
              <a:rPr lang="es-CO" b="1" dirty="0"/>
              <a:t> </a:t>
            </a:r>
            <a:r>
              <a:rPr lang="es-CO" b="1" dirty="0" err="1"/>
              <a:t>drift</a:t>
            </a:r>
            <a:endParaRPr lang="es-CO" b="1" dirty="0"/>
          </a:p>
          <a:p>
            <a:pPr marL="0" indent="0">
              <a:buNone/>
            </a:pPr>
            <a:r>
              <a:rPr lang="es-CO" i="1" dirty="0" err="1"/>
              <a:t>Imbalance</a:t>
            </a:r>
            <a:r>
              <a:rPr lang="es-CO" i="1" dirty="0"/>
              <a:t> </a:t>
            </a:r>
            <a:r>
              <a:rPr lang="es-CO" dirty="0"/>
              <a:t>in </a:t>
            </a:r>
            <a:r>
              <a:rPr lang="es-CO" dirty="0" err="1"/>
              <a:t>haplotype</a:t>
            </a:r>
            <a:r>
              <a:rPr lang="es-CO" dirty="0"/>
              <a:t> </a:t>
            </a:r>
            <a:r>
              <a:rPr lang="es-CO" dirty="0" err="1"/>
              <a:t>frequencies</a:t>
            </a:r>
            <a:endParaRPr lang="es-CO" dirty="0"/>
          </a:p>
          <a:p>
            <a:pPr marL="0" indent="0">
              <a:buNone/>
            </a:pPr>
            <a:r>
              <a:rPr lang="es-CO" dirty="0" err="1"/>
              <a:t>two</a:t>
            </a:r>
            <a:r>
              <a:rPr lang="es-CO" dirty="0"/>
              <a:t> loci can </a:t>
            </a:r>
            <a:r>
              <a:rPr lang="es-CO" dirty="0" err="1"/>
              <a:t>only</a:t>
            </a:r>
            <a:r>
              <a:rPr lang="es-CO" dirty="0"/>
              <a:t> </a:t>
            </a:r>
            <a:r>
              <a:rPr lang="en-US" dirty="0"/>
              <a:t>be in LD if they are both polymorphic.</a:t>
            </a:r>
          </a:p>
          <a:p>
            <a:r>
              <a:rPr lang="es-CO" b="1" dirty="0"/>
              <a:t>Natural </a:t>
            </a:r>
            <a:r>
              <a:rPr lang="es-CO" b="1" dirty="0" err="1"/>
              <a:t>selection</a:t>
            </a:r>
            <a:endParaRPr lang="es-CO" b="1" dirty="0"/>
          </a:p>
          <a:p>
            <a:r>
              <a:rPr lang="es-CO" dirty="0"/>
              <a:t>Hill–Robertson </a:t>
            </a:r>
            <a:r>
              <a:rPr lang="es-CO" dirty="0" err="1"/>
              <a:t>effect</a:t>
            </a:r>
            <a:r>
              <a:rPr lang="es-CO" dirty="0"/>
              <a:t>: </a:t>
            </a:r>
            <a:r>
              <a:rPr lang="es-CO" dirty="0" err="1"/>
              <a:t>when</a:t>
            </a:r>
            <a:r>
              <a:rPr lang="es-CO" dirty="0"/>
              <a:t> </a:t>
            </a:r>
            <a:r>
              <a:rPr lang="es-CO" dirty="0" err="1"/>
              <a:t>selection</a:t>
            </a:r>
            <a:r>
              <a:rPr lang="es-CO" dirty="0"/>
              <a:t> </a:t>
            </a:r>
            <a:r>
              <a:rPr lang="es-CO" dirty="0" err="1"/>
              <a:t>is</a:t>
            </a:r>
            <a:r>
              <a:rPr lang="es-CO" dirty="0"/>
              <a:t> </a:t>
            </a:r>
            <a:r>
              <a:rPr lang="es-CO" dirty="0" err="1"/>
              <a:t>affecting</a:t>
            </a:r>
            <a:r>
              <a:rPr lang="es-CO" dirty="0"/>
              <a:t> </a:t>
            </a:r>
            <a:r>
              <a:rPr lang="en-US" dirty="0"/>
              <a:t>two or more loci that are physically linked, genetic drift will create small amounts of LD that has the potential to weaken selection.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478052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3BFE79-CB41-D3E0-AFBA-6857AC87D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A6CDBD-C94E-9807-8F01-1CCED58AB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94987" cy="4351338"/>
          </a:xfrm>
        </p:spPr>
        <p:txBody>
          <a:bodyPr>
            <a:normAutofit/>
          </a:bodyPr>
          <a:lstStyle/>
          <a:p>
            <a:r>
              <a:rPr lang="es-CO" b="1" dirty="0" err="1"/>
              <a:t>Mutations</a:t>
            </a:r>
            <a:endParaRPr lang="es-CO" b="1" dirty="0"/>
          </a:p>
          <a:p>
            <a:endParaRPr lang="es-CO" b="1" dirty="0"/>
          </a:p>
          <a:p>
            <a:endParaRPr lang="es-CO" b="1" dirty="0"/>
          </a:p>
          <a:p>
            <a:endParaRPr lang="es-CO" b="1" dirty="0"/>
          </a:p>
          <a:p>
            <a:r>
              <a:rPr lang="es-CO" b="1" dirty="0"/>
              <a:t>Gene </a:t>
            </a:r>
            <a:r>
              <a:rPr lang="es-CO" b="1" dirty="0" err="1"/>
              <a:t>flows</a:t>
            </a:r>
            <a:endParaRPr lang="es-CO" b="1" dirty="0"/>
          </a:p>
          <a:p>
            <a:pPr marL="0" indent="0">
              <a:buNone/>
            </a:pPr>
            <a:r>
              <a:rPr lang="en-US" dirty="0"/>
              <a:t>Random mating between residents and  </a:t>
            </a:r>
          </a:p>
          <a:p>
            <a:pPr marL="0" indent="0">
              <a:buNone/>
            </a:pPr>
            <a:r>
              <a:rPr lang="en-US" dirty="0"/>
              <a:t>immigrants and recombination will eventually counteract </a:t>
            </a:r>
            <a:r>
              <a:rPr lang="es-CO" dirty="0"/>
              <a:t>LD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CD8C78F-714F-2849-E02F-C2AA82044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6215" y="123145"/>
            <a:ext cx="4210259" cy="5168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36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D82D6-7102-D238-685E-13BB48C23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DBFC82-36AC-7508-F6DB-190094359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640080"/>
            <a:ext cx="6894576" cy="3566160"/>
          </a:xfrm>
        </p:spPr>
        <p:txBody>
          <a:bodyPr anchor="b">
            <a:normAutofit/>
          </a:bodyPr>
          <a:lstStyle/>
          <a:p>
            <a:pPr algn="l"/>
            <a:r>
              <a:rPr lang="es-CO" sz="6600" dirty="0" err="1"/>
              <a:t>Multilocus</a:t>
            </a:r>
            <a:r>
              <a:rPr lang="es-CO" sz="6600" dirty="0"/>
              <a:t> </a:t>
            </a:r>
            <a:r>
              <a:rPr lang="es-CO" sz="6600" dirty="0" err="1"/>
              <a:t>selection</a:t>
            </a:r>
            <a:endParaRPr lang="es-CO" sz="6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0E09D91-F0FA-188D-ECE0-41556704FF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6" y="4636008"/>
            <a:ext cx="6894576" cy="1572768"/>
          </a:xfrm>
        </p:spPr>
        <p:txBody>
          <a:bodyPr>
            <a:normAutofit/>
          </a:bodyPr>
          <a:lstStyle/>
          <a:p>
            <a:pPr algn="l"/>
            <a:endParaRPr lang="es-CO"/>
          </a:p>
        </p:txBody>
      </p:sp>
      <p:pic>
        <p:nvPicPr>
          <p:cNvPr id="5" name="Picture 4" descr="Primer plano de un modelo molecular">
            <a:extLst>
              <a:ext uri="{FF2B5EF4-FFF2-40B4-BE49-F238E27FC236}">
                <a16:creationId xmlns:a16="http://schemas.microsoft.com/office/drawing/2014/main" id="{C34E8410-33F4-25A4-532E-DDEDFACEDE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966" r="7745"/>
          <a:stretch>
            <a:fillRect/>
          </a:stretch>
        </p:blipFill>
        <p:spPr>
          <a:xfrm>
            <a:off x="20" y="10"/>
            <a:ext cx="4049786" cy="6857990"/>
          </a:xfrm>
          <a:custGeom>
            <a:avLst/>
            <a:gdLst/>
            <a:ahLst/>
            <a:cxnLst/>
            <a:rect l="l" t="t" r="r" b="b"/>
            <a:pathLst>
              <a:path w="4049806" h="6858000">
                <a:moveTo>
                  <a:pt x="0" y="0"/>
                </a:moveTo>
                <a:lnTo>
                  <a:pt x="4018525" y="0"/>
                </a:lnTo>
                <a:lnTo>
                  <a:pt x="4019816" y="10931"/>
                </a:lnTo>
                <a:cubicBezTo>
                  <a:pt x="4034945" y="94836"/>
                  <a:pt x="4032275" y="179884"/>
                  <a:pt x="4036343" y="264297"/>
                </a:cubicBezTo>
                <a:cubicBezTo>
                  <a:pt x="4041301" y="367652"/>
                  <a:pt x="4035072" y="471135"/>
                  <a:pt x="4032911" y="574617"/>
                </a:cubicBezTo>
                <a:cubicBezTo>
                  <a:pt x="4031004" y="662717"/>
                  <a:pt x="4022232" y="750690"/>
                  <a:pt x="4025029" y="838916"/>
                </a:cubicBezTo>
                <a:cubicBezTo>
                  <a:pt x="4025029" y="841968"/>
                  <a:pt x="4025029" y="845019"/>
                  <a:pt x="4025029" y="848070"/>
                </a:cubicBezTo>
                <a:cubicBezTo>
                  <a:pt x="4017020" y="945068"/>
                  <a:pt x="4017020" y="1042576"/>
                  <a:pt x="4025029" y="1139574"/>
                </a:cubicBezTo>
                <a:cubicBezTo>
                  <a:pt x="4027609" y="1179950"/>
                  <a:pt x="4026885" y="1220466"/>
                  <a:pt x="4022868" y="1260728"/>
                </a:cubicBezTo>
                <a:cubicBezTo>
                  <a:pt x="4019054" y="1311960"/>
                  <a:pt x="4006849" y="1364083"/>
                  <a:pt x="4015621" y="1414934"/>
                </a:cubicBezTo>
                <a:cubicBezTo>
                  <a:pt x="4021367" y="1456784"/>
                  <a:pt x="4024558" y="1498940"/>
                  <a:pt x="4025156" y="1541172"/>
                </a:cubicBezTo>
                <a:cubicBezTo>
                  <a:pt x="4029478" y="1635755"/>
                  <a:pt x="4025283" y="1730847"/>
                  <a:pt x="4023757" y="1825685"/>
                </a:cubicBezTo>
                <a:cubicBezTo>
                  <a:pt x="4021850" y="1936286"/>
                  <a:pt x="4024647" y="2046634"/>
                  <a:pt x="4015748" y="2157235"/>
                </a:cubicBezTo>
                <a:cubicBezTo>
                  <a:pt x="4010790" y="2246581"/>
                  <a:pt x="4010790" y="2336130"/>
                  <a:pt x="4015748" y="2425476"/>
                </a:cubicBezTo>
                <a:cubicBezTo>
                  <a:pt x="4018164" y="2507473"/>
                  <a:pt x="4030495" y="2588454"/>
                  <a:pt x="4028461" y="2671214"/>
                </a:cubicBezTo>
                <a:cubicBezTo>
                  <a:pt x="4026046" y="2767832"/>
                  <a:pt x="4014604" y="2863940"/>
                  <a:pt x="4018164" y="2960685"/>
                </a:cubicBezTo>
                <a:cubicBezTo>
                  <a:pt x="4019816" y="3006832"/>
                  <a:pt x="4019944" y="3052980"/>
                  <a:pt x="4020961" y="3099127"/>
                </a:cubicBezTo>
                <a:cubicBezTo>
                  <a:pt x="4021978" y="3154682"/>
                  <a:pt x="4032021" y="3210110"/>
                  <a:pt x="4026427" y="3265665"/>
                </a:cubicBezTo>
                <a:cubicBezTo>
                  <a:pt x="4017147" y="3358087"/>
                  <a:pt x="3993120" y="3448857"/>
                  <a:pt x="4008121" y="3543567"/>
                </a:cubicBezTo>
                <a:cubicBezTo>
                  <a:pt x="4016384" y="3595690"/>
                  <a:pt x="4025791" y="3647940"/>
                  <a:pt x="4030495" y="3700571"/>
                </a:cubicBezTo>
                <a:cubicBezTo>
                  <a:pt x="4034690" y="3747608"/>
                  <a:pt x="4045369" y="3795408"/>
                  <a:pt x="4037233" y="3842191"/>
                </a:cubicBezTo>
                <a:cubicBezTo>
                  <a:pt x="4030368" y="3882237"/>
                  <a:pt x="4034055" y="3922282"/>
                  <a:pt x="4028715" y="3962327"/>
                </a:cubicBezTo>
                <a:cubicBezTo>
                  <a:pt x="4021723" y="4014831"/>
                  <a:pt x="4017910" y="4068352"/>
                  <a:pt x="4012697" y="4121111"/>
                </a:cubicBezTo>
                <a:cubicBezTo>
                  <a:pt x="4007866" y="4169038"/>
                  <a:pt x="4004307" y="4216838"/>
                  <a:pt x="4017020" y="4261841"/>
                </a:cubicBezTo>
                <a:cubicBezTo>
                  <a:pt x="4048039" y="4375112"/>
                  <a:pt x="4031004" y="4487748"/>
                  <a:pt x="4019308" y="4600257"/>
                </a:cubicBezTo>
                <a:cubicBezTo>
                  <a:pt x="4013587" y="4655049"/>
                  <a:pt x="4005197" y="4712765"/>
                  <a:pt x="4017910" y="4762853"/>
                </a:cubicBezTo>
                <a:cubicBezTo>
                  <a:pt x="4041428" y="4851716"/>
                  <a:pt x="4022995" y="4936764"/>
                  <a:pt x="4012824" y="5021432"/>
                </a:cubicBezTo>
                <a:cubicBezTo>
                  <a:pt x="4002654" y="5106099"/>
                  <a:pt x="4000239" y="5189495"/>
                  <a:pt x="4018037" y="5272637"/>
                </a:cubicBezTo>
                <a:cubicBezTo>
                  <a:pt x="4030495" y="5331116"/>
                  <a:pt x="4030495" y="5390612"/>
                  <a:pt x="4032021" y="5449600"/>
                </a:cubicBezTo>
                <a:cubicBezTo>
                  <a:pt x="4032911" y="5486339"/>
                  <a:pt x="4019308" y="5523842"/>
                  <a:pt x="4010282" y="5560582"/>
                </a:cubicBezTo>
                <a:cubicBezTo>
                  <a:pt x="3994009" y="5626943"/>
                  <a:pt x="3988162" y="5694321"/>
                  <a:pt x="4010282" y="5759029"/>
                </a:cubicBezTo>
                <a:cubicBezTo>
                  <a:pt x="4040793" y="5848655"/>
                  <a:pt x="4058336" y="5938407"/>
                  <a:pt x="4045623" y="6033117"/>
                </a:cubicBezTo>
                <a:cubicBezTo>
                  <a:pt x="4038377" y="6091724"/>
                  <a:pt x="4036597" y="6151347"/>
                  <a:pt x="4025664" y="6209190"/>
                </a:cubicBezTo>
                <a:cubicBezTo>
                  <a:pt x="4007358" y="6304790"/>
                  <a:pt x="4013841" y="6399882"/>
                  <a:pt x="4028461" y="6494211"/>
                </a:cubicBezTo>
                <a:cubicBezTo>
                  <a:pt x="4038542" y="6573081"/>
                  <a:pt x="4039610" y="6652829"/>
                  <a:pt x="4031639" y="6731941"/>
                </a:cubicBezTo>
                <a:lnTo>
                  <a:pt x="4022913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96463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8B754E-6EC4-AF46-ADB1-8E408491C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6E0C1F-17EF-F058-E279-B8305B038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additive fitness: </a:t>
            </a:r>
            <a:r>
              <a:rPr lang="en-US" dirty="0"/>
              <a:t>when fitness is the sum of contributions from alleles at different loci.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CBBE70B-7C62-9170-C16C-D6D67225B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119" y="2475610"/>
            <a:ext cx="5465224" cy="4064083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9EB239A-A91E-4F7C-3BF8-4F3B4591C756}"/>
              </a:ext>
            </a:extLst>
          </p:cNvPr>
          <p:cNvSpPr txBox="1"/>
          <p:nvPr/>
        </p:nvSpPr>
        <p:spPr>
          <a:xfrm>
            <a:off x="1022555" y="377688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latin typeface="PalatinoLTStd-Roman"/>
              </a:rPr>
              <a:t>The more blue alleles (A</a:t>
            </a:r>
            <a:r>
              <a:rPr lang="en-US" sz="800" b="0" i="0" u="none" strike="noStrike" baseline="0" dirty="0">
                <a:latin typeface="PalatinoLTStd-Roman"/>
              </a:rPr>
              <a:t>1 </a:t>
            </a:r>
            <a:r>
              <a:rPr lang="en-US" sz="1800" b="0" i="0" u="none" strike="noStrike" baseline="0" dirty="0">
                <a:latin typeface="PalatinoLTStd-Roman"/>
              </a:rPr>
              <a:t>and B</a:t>
            </a:r>
            <a:r>
              <a:rPr lang="en-US" sz="800" b="0" i="0" u="none" strike="noStrike" baseline="0" dirty="0">
                <a:latin typeface="PalatinoLTStd-Roman"/>
              </a:rPr>
              <a:t>1</a:t>
            </a:r>
            <a:r>
              <a:rPr lang="en-US" sz="1800" b="0" i="0" u="none" strike="noStrike" baseline="0" dirty="0">
                <a:latin typeface="PalatinoLTStd-Roman"/>
              </a:rPr>
              <a:t>)</a:t>
            </a:r>
          </a:p>
          <a:p>
            <a:pPr algn="l"/>
            <a:r>
              <a:rPr lang="en-US" sz="1800" b="0" i="0" u="none" strike="noStrike" baseline="0" dirty="0">
                <a:latin typeface="PalatinoLTStd-Roman"/>
              </a:rPr>
              <a:t>the individual possesses, the higher fitness.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290478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F3909B-95CF-17B1-77A3-CF10844D4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Epistasis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F97030-84BA-9AD2-13C3-F04155640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694471" cy="4351338"/>
          </a:xfrm>
        </p:spPr>
        <p:txBody>
          <a:bodyPr/>
          <a:lstStyle/>
          <a:p>
            <a:r>
              <a:rPr lang="es-CO" dirty="0" err="1"/>
              <a:t>interactionsbetween</a:t>
            </a:r>
            <a:r>
              <a:rPr lang="es-CO" dirty="0"/>
              <a:t> </a:t>
            </a:r>
            <a:r>
              <a:rPr lang="es-CO" dirty="0" err="1"/>
              <a:t>multilocus</a:t>
            </a:r>
            <a:r>
              <a:rPr lang="es-CO" dirty="0"/>
              <a:t> </a:t>
            </a:r>
            <a:r>
              <a:rPr lang="es-CO" dirty="0" err="1"/>
              <a:t>alleles</a:t>
            </a:r>
            <a:r>
              <a:rPr lang="es-CO" dirty="0"/>
              <a:t> </a:t>
            </a:r>
            <a:r>
              <a:rPr lang="es-CO" dirty="0" err="1"/>
              <a:t>on</a:t>
            </a:r>
            <a:r>
              <a:rPr lang="es-CO" dirty="0"/>
              <a:t> </a:t>
            </a:r>
            <a:r>
              <a:rPr lang="es-CO" dirty="0" err="1"/>
              <a:t>phenotype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156B779-95AF-9B45-7AE4-CECD228F4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557" y="624656"/>
            <a:ext cx="5734850" cy="58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749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7FDA52-17FA-70AD-8C76-954ED90F0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35DF0E-6A4F-1D50-4FFF-4C6EA498B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18935" cy="4351338"/>
          </a:xfrm>
        </p:spPr>
        <p:txBody>
          <a:bodyPr>
            <a:normAutofit fontScale="92500" lnSpcReduction="20000"/>
          </a:bodyPr>
          <a:lstStyle/>
          <a:p>
            <a:r>
              <a:rPr lang="es-CO" dirty="0" err="1"/>
              <a:t>Most</a:t>
            </a:r>
            <a:r>
              <a:rPr lang="es-CO" dirty="0"/>
              <a:t> </a:t>
            </a:r>
            <a:r>
              <a:rPr lang="en-US" dirty="0"/>
              <a:t>traits are probably determined by two or more genes interacting in complex ways to produce phenotypes.</a:t>
            </a:r>
          </a:p>
          <a:p>
            <a:endParaRPr lang="en-US" dirty="0"/>
          </a:p>
          <a:p>
            <a:r>
              <a:rPr lang="es-CO" dirty="0" err="1"/>
              <a:t>Epistasis</a:t>
            </a:r>
            <a:r>
              <a:rPr lang="es-CO" dirty="0"/>
              <a:t> </a:t>
            </a:r>
            <a:r>
              <a:rPr lang="es-CO" dirty="0" err="1"/>
              <a:t>is</a:t>
            </a:r>
            <a:r>
              <a:rPr lang="es-CO" dirty="0"/>
              <a:t> </a:t>
            </a:r>
            <a:r>
              <a:rPr lang="es-CO" dirty="0" err="1"/>
              <a:t>thought</a:t>
            </a:r>
            <a:r>
              <a:rPr lang="es-CO" dirty="0"/>
              <a:t> </a:t>
            </a:r>
            <a:r>
              <a:rPr lang="en-US" dirty="0"/>
              <a:t>to often cause such multiple peaks in the adaptive landscape and thus constrain adaptive evolution to </a:t>
            </a:r>
            <a:r>
              <a:rPr lang="es-CO" dirty="0"/>
              <a:t>a particular </a:t>
            </a:r>
            <a:r>
              <a:rPr lang="es-CO" dirty="0" err="1"/>
              <a:t>outcome</a:t>
            </a:r>
            <a:r>
              <a:rPr lang="es-CO" dirty="0"/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0EE49A-D063-2174-975B-AFDF02A63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739" y="1825625"/>
            <a:ext cx="6173061" cy="449642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29401AF-BFF9-2DB6-2487-C20E60954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739" y="1805960"/>
            <a:ext cx="6173061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162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8D1DE9-6BB1-B59D-46CF-34CF691D0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Positive and negative </a:t>
            </a:r>
            <a:r>
              <a:rPr lang="es-ES" dirty="0" err="1"/>
              <a:t>epistasis</a:t>
            </a:r>
            <a:br>
              <a:rPr lang="es-CO" dirty="0"/>
            </a:b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633354-C456-1F23-5A18-3104C5F46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9542" cy="4351338"/>
          </a:xfrm>
        </p:spPr>
        <p:txBody>
          <a:bodyPr/>
          <a:lstStyle/>
          <a:p>
            <a:r>
              <a:rPr lang="es-ES" dirty="0" err="1"/>
              <a:t>Two</a:t>
            </a:r>
            <a:r>
              <a:rPr lang="es-ES" dirty="0"/>
              <a:t> loci can be </a:t>
            </a:r>
            <a:r>
              <a:rPr lang="es-ES" dirty="0" err="1"/>
              <a:t>benefical</a:t>
            </a:r>
            <a:r>
              <a:rPr lang="es-ES" dirty="0"/>
              <a:t>  </a:t>
            </a:r>
            <a:r>
              <a:rPr lang="es-ES" dirty="0" err="1"/>
              <a:t>or</a:t>
            </a:r>
            <a:r>
              <a:rPr lang="es-ES" dirty="0"/>
              <a:t> </a:t>
            </a:r>
            <a:r>
              <a:rPr lang="es-ES" dirty="0" err="1"/>
              <a:t>harmful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86BBEDC-6C8D-B98A-EEB2-C0EE79C04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743" y="1562553"/>
            <a:ext cx="6058746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31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CAE599-C20C-3118-9B4B-D6A3398E0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Quantitative</a:t>
            </a:r>
            <a:r>
              <a:rPr lang="es-ES" dirty="0"/>
              <a:t> </a:t>
            </a:r>
            <a:r>
              <a:rPr lang="es-ES" dirty="0" err="1"/>
              <a:t>genetics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AE8EF4-49BA-1D72-E76E-4C7074027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number of phenotypic traits, perhaps the majority, exhibit continuous variation and are affected by a large number of interacting genes, as well as by environmental factors. Such characters are called </a:t>
            </a:r>
            <a:r>
              <a:rPr lang="es-CO" b="1" dirty="0" err="1"/>
              <a:t>quantitative</a:t>
            </a:r>
            <a:r>
              <a:rPr lang="es-CO" b="1" dirty="0"/>
              <a:t> </a:t>
            </a:r>
            <a:r>
              <a:rPr lang="es-CO" b="1" dirty="0" err="1"/>
              <a:t>traits</a:t>
            </a:r>
            <a:r>
              <a:rPr lang="es-CO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82535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DDCB1C-B01F-7040-E6D5-15D10293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DF8F70-58D5-A5B9-8F5E-38BB0E544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482"/>
            <a:ext cx="10515600" cy="4351338"/>
          </a:xfrm>
        </p:spPr>
        <p:txBody>
          <a:bodyPr/>
          <a:lstStyle/>
          <a:p>
            <a:r>
              <a:rPr lang="es-ES" dirty="0" err="1"/>
              <a:t>Average</a:t>
            </a:r>
            <a:r>
              <a:rPr lang="es-ES" dirty="0"/>
              <a:t>:</a:t>
            </a:r>
          </a:p>
          <a:p>
            <a:r>
              <a:rPr lang="es-ES" dirty="0" err="1"/>
              <a:t>Variance</a:t>
            </a:r>
            <a:endParaRPr lang="es-ES" dirty="0"/>
          </a:p>
          <a:p>
            <a:endParaRPr lang="es-ES" dirty="0"/>
          </a:p>
          <a:p>
            <a:r>
              <a:rPr lang="es-ES" dirty="0"/>
              <a:t>V</a:t>
            </a:r>
            <a:r>
              <a:rPr lang="es-ES" sz="1800" dirty="0"/>
              <a:t>P</a:t>
            </a:r>
            <a:r>
              <a:rPr lang="es-ES" dirty="0"/>
              <a:t> = </a:t>
            </a:r>
            <a:r>
              <a:rPr lang="es-ES" dirty="0" err="1"/>
              <a:t>Variance</a:t>
            </a:r>
            <a:r>
              <a:rPr lang="es-ES" dirty="0"/>
              <a:t> in </a:t>
            </a:r>
            <a:r>
              <a:rPr lang="es-ES" dirty="0" err="1"/>
              <a:t>population</a:t>
            </a:r>
            <a:r>
              <a:rPr lang="es-ES" dirty="0"/>
              <a:t>; </a:t>
            </a:r>
            <a:r>
              <a:rPr lang="es-ES" dirty="0" err="1"/>
              <a:t>Variance</a:t>
            </a:r>
            <a:r>
              <a:rPr lang="es-ES" dirty="0"/>
              <a:t> </a:t>
            </a:r>
            <a:r>
              <a:rPr lang="es-ES" dirty="0" err="1"/>
              <a:t>genetic</a:t>
            </a:r>
            <a:r>
              <a:rPr lang="es-ES" dirty="0"/>
              <a:t> factor (V</a:t>
            </a:r>
            <a:r>
              <a:rPr lang="es-ES" sz="1800" dirty="0"/>
              <a:t>G</a:t>
            </a:r>
            <a:r>
              <a:rPr lang="es-ES" dirty="0"/>
              <a:t>); </a:t>
            </a:r>
            <a:r>
              <a:rPr lang="es-ES" dirty="0" err="1"/>
              <a:t>Variance</a:t>
            </a:r>
            <a:r>
              <a:rPr lang="es-ES" dirty="0"/>
              <a:t> </a:t>
            </a:r>
            <a:r>
              <a:rPr lang="es-ES" dirty="0" err="1"/>
              <a:t>environment</a:t>
            </a:r>
            <a:r>
              <a:rPr lang="es-ES" dirty="0"/>
              <a:t> (V</a:t>
            </a:r>
            <a:r>
              <a:rPr lang="es-ES" sz="1800" dirty="0"/>
              <a:t>E</a:t>
            </a:r>
            <a:r>
              <a:rPr lang="es-ES" dirty="0"/>
              <a:t>)</a:t>
            </a:r>
          </a:p>
          <a:p>
            <a:r>
              <a:rPr lang="es-ES" dirty="0"/>
              <a:t> 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8E0EF16-3F86-A120-9386-86D8553B0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186" y="1817482"/>
            <a:ext cx="933580" cy="4858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845D406-CE67-2953-7DDB-36A30948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484" y="2438262"/>
            <a:ext cx="3705742" cy="99073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655B9DC-3342-A8D4-3662-3E69078016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8" y="3859253"/>
            <a:ext cx="1124107" cy="38105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A5CC8F2-C4E5-7DFD-F26D-DCEFFCD24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451" y="4575826"/>
            <a:ext cx="2172003" cy="419158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ADDE3114-653B-70AE-883C-D35EB4696F8F}"/>
              </a:ext>
            </a:extLst>
          </p:cNvPr>
          <p:cNvSpPr txBox="1"/>
          <p:nvPr/>
        </p:nvSpPr>
        <p:spPr>
          <a:xfrm>
            <a:off x="2522484" y="5212570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i="0" u="none" strike="noStrike" baseline="0" dirty="0" err="1">
                <a:latin typeface="PalatinoLTStd-Bold"/>
              </a:rPr>
              <a:t>Additive</a:t>
            </a:r>
            <a:r>
              <a:rPr lang="es-CO" sz="1800" b="1" i="0" u="none" strike="noStrike" baseline="0" dirty="0">
                <a:latin typeface="PalatinoLTStd-Bold"/>
              </a:rPr>
              <a:t> </a:t>
            </a:r>
            <a:r>
              <a:rPr lang="es-CO" sz="1800" b="1" i="0" u="none" strike="noStrike" baseline="0" dirty="0" err="1">
                <a:latin typeface="PalatinoLTStd-Bold"/>
              </a:rPr>
              <a:t>variance</a:t>
            </a:r>
            <a:endParaRPr lang="es-CO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DB026F9-4D8F-A1C7-CB1E-38905834B252}"/>
              </a:ext>
            </a:extLst>
          </p:cNvPr>
          <p:cNvSpPr txBox="1"/>
          <p:nvPr/>
        </p:nvSpPr>
        <p:spPr>
          <a:xfrm>
            <a:off x="4688451" y="5212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i="0" u="none" strike="noStrike" baseline="0" dirty="0" err="1">
                <a:latin typeface="PalatinoLTStd-Bold"/>
              </a:rPr>
              <a:t>Dominance</a:t>
            </a:r>
            <a:r>
              <a:rPr lang="es-CO" sz="1800" b="1" i="0" u="none" strike="noStrike" baseline="0" dirty="0">
                <a:latin typeface="PalatinoLTStd-Bold"/>
              </a:rPr>
              <a:t> </a:t>
            </a:r>
            <a:r>
              <a:rPr lang="es-CO" sz="1800" b="1" i="0" u="none" strike="noStrike" baseline="0" dirty="0" err="1">
                <a:latin typeface="PalatinoLTStd-Bold"/>
              </a:rPr>
              <a:t>variance</a:t>
            </a:r>
            <a:endParaRPr lang="es-CO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8BAD2AD-8822-CBDD-81A3-2214DB4E7F78}"/>
              </a:ext>
            </a:extLst>
          </p:cNvPr>
          <p:cNvSpPr txBox="1"/>
          <p:nvPr/>
        </p:nvSpPr>
        <p:spPr>
          <a:xfrm>
            <a:off x="6956592" y="5212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i="0" u="none" strike="noStrike" baseline="0" dirty="0" err="1">
                <a:latin typeface="PalatinoLTStd-Bold"/>
              </a:rPr>
              <a:t>epistatic</a:t>
            </a:r>
            <a:r>
              <a:rPr lang="es-CO" sz="1800" b="1" i="0" u="none" strike="noStrike" baseline="0" dirty="0">
                <a:latin typeface="PalatinoLTStd-Bold"/>
              </a:rPr>
              <a:t> </a:t>
            </a:r>
            <a:r>
              <a:rPr lang="es-CO" sz="1800" b="1" i="0" u="none" strike="noStrike" baseline="0" dirty="0" err="1">
                <a:latin typeface="PalatinoLTStd-Bold"/>
              </a:rPr>
              <a:t>variance</a:t>
            </a:r>
            <a:endParaRPr lang="es-CO" dirty="0"/>
          </a:p>
        </p:txBody>
      </p: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B693023-F7A1-9486-B2ED-BE3CCA1224D8}"/>
              </a:ext>
            </a:extLst>
          </p:cNvPr>
          <p:cNvCxnSpPr>
            <a:endCxn id="11" idx="2"/>
          </p:cNvCxnSpPr>
          <p:nvPr/>
        </p:nvCxnSpPr>
        <p:spPr>
          <a:xfrm flipV="1">
            <a:off x="3893574" y="4994984"/>
            <a:ext cx="1880879" cy="21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43E3B2AA-8B6B-669A-DE11-A19FC13FC34C}"/>
              </a:ext>
            </a:extLst>
          </p:cNvPr>
          <p:cNvCxnSpPr>
            <a:cxnSpLocks/>
          </p:cNvCxnSpPr>
          <p:nvPr/>
        </p:nvCxnSpPr>
        <p:spPr>
          <a:xfrm flipV="1">
            <a:off x="6027174" y="4994984"/>
            <a:ext cx="68826" cy="21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E1EEA02-4698-43E6-1C37-C76E45346F3A}"/>
              </a:ext>
            </a:extLst>
          </p:cNvPr>
          <p:cNvCxnSpPr>
            <a:cxnSpLocks/>
          </p:cNvCxnSpPr>
          <p:nvPr/>
        </p:nvCxnSpPr>
        <p:spPr>
          <a:xfrm flipH="1" flipV="1">
            <a:off x="6569330" y="4994984"/>
            <a:ext cx="686876" cy="21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37838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CE221-0A8D-A0A7-30BF-7CB96F80D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DFBADF-BC8C-4B61-4DEE-A131C4FB6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6829"/>
            <a:ext cx="10515600" cy="4351338"/>
          </a:xfrm>
        </p:spPr>
        <p:txBody>
          <a:bodyPr/>
          <a:lstStyle/>
          <a:p>
            <a:r>
              <a:rPr lang="es-ES" dirty="0" err="1"/>
              <a:t>Heredability</a:t>
            </a:r>
            <a:r>
              <a:rPr lang="es-ES" dirty="0"/>
              <a:t>: </a:t>
            </a:r>
            <a:r>
              <a:rPr lang="en-US" dirty="0"/>
              <a:t>The proportion of the total variance in a trait that</a:t>
            </a:r>
          </a:p>
          <a:p>
            <a:r>
              <a:rPr lang="en-US" dirty="0"/>
              <a:t>is due to additive variance in a population</a:t>
            </a:r>
          </a:p>
          <a:p>
            <a:r>
              <a:rPr lang="es-CO" b="1" dirty="0" err="1"/>
              <a:t>breeder’s</a:t>
            </a:r>
            <a:r>
              <a:rPr lang="es-CO" b="1" dirty="0"/>
              <a:t> </a:t>
            </a:r>
            <a:r>
              <a:rPr lang="es-CO" b="1" dirty="0" err="1"/>
              <a:t>equation</a:t>
            </a:r>
            <a:r>
              <a:rPr lang="es-CO" b="1" dirty="0"/>
              <a:t>: 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6D64101-43BE-7AAA-548E-5CC7C1F677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580" y="2395173"/>
            <a:ext cx="1381318" cy="40963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94025E1-4134-6AFA-58B0-155F0B2275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8961" y="2395173"/>
            <a:ext cx="1276528" cy="41915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3B5C43C-AC3A-1C41-89E7-90D8B94EC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191" y="2952726"/>
            <a:ext cx="733527" cy="342948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0407BBB-A629-A579-882B-D0E8DAE7D877}"/>
              </a:ext>
            </a:extLst>
          </p:cNvPr>
          <p:cNvSpPr txBox="1"/>
          <p:nvPr/>
        </p:nvSpPr>
        <p:spPr>
          <a:xfrm>
            <a:off x="5437239" y="3561752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1" u="none" strike="noStrike" baseline="0" dirty="0">
                <a:latin typeface="PalatinoLTStd-Italic"/>
              </a:rPr>
              <a:t>S </a:t>
            </a:r>
            <a:r>
              <a:rPr lang="en-US" sz="1800" b="0" i="0" u="none" strike="noStrike" baseline="0" dirty="0">
                <a:latin typeface="PalatinoLTStd-Roman"/>
              </a:rPr>
              <a:t>is equal to the difference in</a:t>
            </a:r>
          </a:p>
          <a:p>
            <a:pPr algn="l"/>
            <a:r>
              <a:rPr lang="es-CO" sz="1800" b="0" i="0" u="none" strike="noStrike" baseline="0" dirty="0">
                <a:latin typeface="PalatinoLTStd-Roman"/>
              </a:rPr>
              <a:t>mean </a:t>
            </a:r>
            <a:r>
              <a:rPr lang="es-CO" sz="1800" b="0" i="0" u="none" strike="noStrike" baseline="0" dirty="0" err="1">
                <a:latin typeface="PalatinoLTStd-Roman"/>
              </a:rPr>
              <a:t>trait</a:t>
            </a:r>
            <a:r>
              <a:rPr lang="es-CO" sz="1800" b="0" i="0" u="none" strike="noStrike" baseline="0" dirty="0">
                <a:latin typeface="PalatinoLTStd-Roman"/>
              </a:rPr>
              <a:t> </a:t>
            </a:r>
            <a:r>
              <a:rPr lang="es-CO" sz="1800" b="0" i="0" u="none" strike="noStrike" baseline="0" dirty="0" err="1">
                <a:latin typeface="PalatinoLTStd-Roman"/>
              </a:rPr>
              <a:t>value</a:t>
            </a:r>
            <a:endParaRPr lang="es-CO" dirty="0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D5285552-6352-41AA-652B-F364C41EB198}"/>
              </a:ext>
            </a:extLst>
          </p:cNvPr>
          <p:cNvCxnSpPr>
            <a:cxnSpLocks/>
          </p:cNvCxnSpPr>
          <p:nvPr/>
        </p:nvCxnSpPr>
        <p:spPr>
          <a:xfrm flipH="1" flipV="1">
            <a:off x="5232143" y="3284229"/>
            <a:ext cx="686876" cy="21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Imagen 14">
            <a:extLst>
              <a:ext uri="{FF2B5EF4-FFF2-40B4-BE49-F238E27FC236}">
                <a16:creationId xmlns:a16="http://schemas.microsoft.com/office/drawing/2014/main" id="{4D73197A-FD72-DB73-4A48-D36963A364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7881" y="3355611"/>
            <a:ext cx="962159" cy="609685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A308151-4B41-D4B4-BB4D-2354D4900A25}"/>
              </a:ext>
            </a:extLst>
          </p:cNvPr>
          <p:cNvSpPr txBox="1"/>
          <p:nvPr/>
        </p:nvSpPr>
        <p:spPr>
          <a:xfrm>
            <a:off x="3746090" y="3660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 err="1"/>
              <a:t>Heredability</a:t>
            </a:r>
            <a:endParaRPr lang="es-CO" dirty="0"/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3E39B5B2-CA14-7CE2-9AB1-F8E5BC93B0D5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4490241" y="3295674"/>
            <a:ext cx="494714" cy="3647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6890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F6E4D0-2394-681A-C11A-39F9D8511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quantitative</a:t>
            </a:r>
            <a:r>
              <a:rPr lang="es-CO" dirty="0"/>
              <a:t> </a:t>
            </a:r>
            <a:r>
              <a:rPr lang="es-CO" dirty="0" err="1"/>
              <a:t>trait</a:t>
            </a:r>
            <a:r>
              <a:rPr lang="es-CO" dirty="0"/>
              <a:t> locus (QTL) </a:t>
            </a:r>
            <a:r>
              <a:rPr lang="es-CO" dirty="0" err="1"/>
              <a:t>analysis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74E306-8D58-5847-893C-6DD2565B2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QTL is simply a specific genomic location that correlates with variation in a quantitative trait because it either harbors a gene that affects the trait or because it is physically linked to such a </a:t>
            </a:r>
            <a:r>
              <a:rPr lang="es-CO" dirty="0"/>
              <a:t>gene. </a:t>
            </a:r>
          </a:p>
          <a:p>
            <a:r>
              <a:rPr lang="es-CO" dirty="0"/>
              <a:t>QTL uses </a:t>
            </a:r>
            <a:r>
              <a:rPr lang="es-CO" dirty="0" err="1"/>
              <a:t>strains</a:t>
            </a:r>
            <a:endParaRPr lang="es-CO" dirty="0"/>
          </a:p>
          <a:p>
            <a:r>
              <a:rPr lang="en-US" dirty="0"/>
              <a:t>The most basic association testis an analysis of variance (ANOVA) test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639763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82B972-7338-50D6-8911-B58F81F0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C432112-DE60-41C1-39F8-12D6FAF0B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88EC4BF-2F4B-CE01-B3F8-75D66FCFD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499" y="72129"/>
            <a:ext cx="4972744" cy="642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367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9EAAEC-A369-0249-B022-6AF44E5639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0634" y="932270"/>
            <a:ext cx="9136246" cy="51458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E7229A-76C7-7C4B-9F27-4E111E59D0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6142" y="1094014"/>
            <a:ext cx="8871857" cy="2899788"/>
          </a:xfrm>
        </p:spPr>
        <p:txBody>
          <a:bodyPr>
            <a:normAutofit/>
          </a:bodyPr>
          <a:lstStyle/>
          <a:p>
            <a:r>
              <a:rPr lang="es-ES_tradnl" sz="2400" b="1" dirty="0"/>
              <a:t>Universidad ICESI</a:t>
            </a:r>
            <a:br>
              <a:rPr lang="es-ES_tradnl" sz="2400" b="1" dirty="0"/>
            </a:br>
            <a:r>
              <a:rPr lang="es-ES_tradnl" sz="2400" b="1" dirty="0"/>
              <a:t>Maestría de Biotecnología</a:t>
            </a:r>
            <a:br>
              <a:rPr lang="es-ES_tradnl" sz="2400" b="1" dirty="0"/>
            </a:br>
            <a:br>
              <a:rPr lang="es-ES_tradnl" sz="2400" b="1" dirty="0"/>
            </a:br>
            <a:r>
              <a:rPr lang="es-ES_tradnl" sz="2400" b="1" dirty="0"/>
              <a:t>Curso electivo:</a:t>
            </a:r>
            <a:br>
              <a:rPr lang="es-ES_tradnl" sz="2400" b="1" dirty="0"/>
            </a:br>
            <a:r>
              <a:rPr lang="es-ES_tradnl" sz="3600" b="1" dirty="0"/>
              <a:t>Mapeo genético avanzado</a:t>
            </a:r>
            <a:br>
              <a:rPr lang="es-ES_tradnl" sz="3600" b="1" dirty="0"/>
            </a:br>
            <a:br>
              <a:rPr lang="es-ES_tradnl" sz="2000" b="1" dirty="0"/>
            </a:br>
            <a:br>
              <a:rPr lang="es-ES_tradnl" sz="1400" b="1" dirty="0"/>
            </a:br>
            <a:r>
              <a:rPr lang="es-ES_tradnl" sz="1800" b="1" dirty="0"/>
              <a:t>Diciembre 2019</a:t>
            </a:r>
            <a:endParaRPr lang="es-ES_tradnl" sz="4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F77053-225F-264D-A0ED-EDD47D5B6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0250" y="4531178"/>
            <a:ext cx="8531116" cy="1439647"/>
          </a:xfrm>
        </p:spPr>
        <p:txBody>
          <a:bodyPr>
            <a:normAutofit/>
          </a:bodyPr>
          <a:lstStyle/>
          <a:p>
            <a:r>
              <a:rPr lang="es-ES_tradnl" sz="2000" b="1" dirty="0" err="1"/>
              <a:t>Mathias</a:t>
            </a:r>
            <a:r>
              <a:rPr lang="es-ES_tradnl" sz="2000" b="1" dirty="0"/>
              <a:t> Lorieux</a:t>
            </a:r>
          </a:p>
          <a:p>
            <a:r>
              <a:rPr lang="es-ES_tradnl" sz="2000" b="1" dirty="0"/>
              <a:t>IRD – CIAT</a:t>
            </a:r>
          </a:p>
          <a:p>
            <a:r>
              <a:rPr lang="es-ES_tradnl" sz="2000" b="1" dirty="0" err="1"/>
              <a:t>m.lorieux@gmail.com</a:t>
            </a:r>
            <a:endParaRPr lang="es-ES_tradnl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6DA3AA-18AA-174D-902E-721D52B7B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16" y="163607"/>
            <a:ext cx="2091900" cy="6660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D0F69D-E1A5-1242-A544-F9FAA390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923" y="6078164"/>
            <a:ext cx="6324153" cy="7798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0E9FA9-A4DD-4F43-A92F-606EE8CAF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679" y="174173"/>
            <a:ext cx="4634467" cy="66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78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s-ES_tradnl" dirty="0"/>
              <a:t>Carácter cuantitativo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>
          <a:xfrm>
            <a:off x="1777587" y="1026039"/>
            <a:ext cx="3566160" cy="877887"/>
          </a:xfrm>
        </p:spPr>
        <p:txBody>
          <a:bodyPr/>
          <a:lstStyle/>
          <a:p>
            <a:r>
              <a:rPr lang="fr-CA" dirty="0" err="1"/>
              <a:t>Cualitativo</a:t>
            </a:r>
            <a:endParaRPr lang="fr-CA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>
          <a:xfrm>
            <a:off x="5332412" y="1316038"/>
            <a:ext cx="5183188" cy="563183"/>
          </a:xfrm>
        </p:spPr>
        <p:txBody>
          <a:bodyPr/>
          <a:lstStyle/>
          <a:p>
            <a:r>
              <a:rPr lang="fr-CA" dirty="0" err="1"/>
              <a:t>Cuantitativo</a:t>
            </a:r>
            <a:endParaRPr lang="fr-CA" dirty="0"/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t="7499" b="7499"/>
          <a:stretch>
            <a:fillRect/>
          </a:stretch>
        </p:blipFill>
        <p:spPr>
          <a:xfrm>
            <a:off x="3075668" y="2129155"/>
            <a:ext cx="925633" cy="833459"/>
          </a:xfr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7322" y="2129155"/>
            <a:ext cx="719806" cy="8334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20305" y="2399430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/>
              <a:t>x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63320" y="3289182"/>
            <a:ext cx="2956958" cy="1481054"/>
            <a:chOff x="563270" y="3587972"/>
            <a:chExt cx="3366996" cy="1686430"/>
          </a:xfrm>
        </p:grpSpPr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63270" y="3587972"/>
              <a:ext cx="719806" cy="833459"/>
            </a:xfrm>
            <a:prstGeom prst="rect">
              <a:avLst/>
            </a:prstGeom>
          </p:spPr>
        </p:pic>
        <p:pic>
          <p:nvPicPr>
            <p:cNvPr id="16" name="Content Placeholder 12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390" b="100000" l="9174" r="89450"/>
                      </a14:imgEffect>
                    </a14:imgLayer>
                  </a14:imgProps>
                </a:ext>
              </a:extLst>
            </a:blip>
            <a:srcRect t="7499" b="7499"/>
            <a:stretch>
              <a:fillRect/>
            </a:stretch>
          </p:blipFill>
          <p:spPr>
            <a:xfrm>
              <a:off x="2578993" y="3587972"/>
              <a:ext cx="925633" cy="833459"/>
            </a:xfrm>
            <a:prstGeom prst="rect">
              <a:avLst/>
            </a:prstGeom>
          </p:spPr>
        </p:pic>
        <p:pic>
          <p:nvPicPr>
            <p:cNvPr id="17" name="Content Placeholder 12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390" b="100000" l="9174" r="89450"/>
                      </a14:imgEffect>
                    </a14:imgLayer>
                  </a14:imgProps>
                </a:ext>
              </a:extLst>
            </a:blip>
            <a:srcRect t="7499" b="7499"/>
            <a:stretch>
              <a:fillRect/>
            </a:stretch>
          </p:blipFill>
          <p:spPr>
            <a:xfrm>
              <a:off x="1539770" y="3587972"/>
              <a:ext cx="925633" cy="833459"/>
            </a:xfrm>
            <a:prstGeom prst="rect">
              <a:avLst/>
            </a:prstGeom>
          </p:spPr>
        </p:pic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201516" y="3587972"/>
              <a:ext cx="719806" cy="833459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2162295" y="3587972"/>
              <a:ext cx="719806" cy="833459"/>
            </a:xfrm>
            <a:prstGeom prst="rect">
              <a:avLst/>
            </a:prstGeom>
          </p:spPr>
        </p:pic>
        <p:pic>
          <p:nvPicPr>
            <p:cNvPr id="20" name="Content Placeholder 12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390" b="100000" l="9174" r="89450"/>
                      </a14:imgEffect>
                    </a14:imgLayer>
                  </a14:imgProps>
                </a:ext>
              </a:extLst>
            </a:blip>
            <a:srcRect t="7499" b="7499"/>
            <a:stretch>
              <a:fillRect/>
            </a:stretch>
          </p:blipFill>
          <p:spPr>
            <a:xfrm flipH="1">
              <a:off x="2296387" y="4440943"/>
              <a:ext cx="925633" cy="833459"/>
            </a:xfrm>
            <a:prstGeom prst="rect">
              <a:avLst/>
            </a:prstGeom>
          </p:spPr>
        </p:pic>
        <p:pic>
          <p:nvPicPr>
            <p:cNvPr id="21" name="Content Placeholder 12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390" b="100000" l="9174" r="89450"/>
                      </a14:imgEffect>
                    </a14:imgLayer>
                  </a14:imgProps>
                </a:ext>
              </a:extLst>
            </a:blip>
            <a:srcRect t="7499" b="7499"/>
            <a:stretch>
              <a:fillRect/>
            </a:stretch>
          </p:blipFill>
          <p:spPr>
            <a:xfrm>
              <a:off x="583306" y="4440943"/>
              <a:ext cx="925633" cy="833459"/>
            </a:xfrm>
            <a:prstGeom prst="rect">
              <a:avLst/>
            </a:prstGeom>
          </p:spPr>
        </p:pic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1123072" y="3587972"/>
              <a:ext cx="719806" cy="833459"/>
            </a:xfrm>
            <a:prstGeom prst="rect">
              <a:avLst/>
            </a:prstGeom>
          </p:spPr>
        </p:pic>
        <p:pic>
          <p:nvPicPr>
            <p:cNvPr id="23" name="Content Placeholder 12"/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390" b="100000" l="9174" r="89450"/>
                      </a14:imgEffect>
                    </a14:imgLayer>
                  </a14:imgProps>
                </a:ext>
              </a:extLst>
            </a:blip>
            <a:srcRect t="7499" b="7499"/>
            <a:stretch>
              <a:fillRect/>
            </a:stretch>
          </p:blipFill>
          <p:spPr>
            <a:xfrm>
              <a:off x="3004633" y="4440943"/>
              <a:ext cx="925633" cy="833459"/>
            </a:xfrm>
            <a:prstGeom prst="rect">
              <a:avLst/>
            </a:prstGeom>
          </p:spPr>
        </p:pic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291551" y="4440943"/>
              <a:ext cx="719806" cy="833459"/>
            </a:xfrm>
            <a:prstGeom prst="rect">
              <a:avLst/>
            </a:prstGeom>
          </p:spPr>
        </p:pic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 flipH="1">
              <a:off x="1793969" y="4440943"/>
              <a:ext cx="719806" cy="833459"/>
            </a:xfrm>
            <a:prstGeom prst="rect">
              <a:avLst/>
            </a:prstGeom>
          </p:spPr>
        </p:pic>
      </p:grpSp>
      <p:pic>
        <p:nvPicPr>
          <p:cNvPr id="26" name="Picture 2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83083" y="2129155"/>
            <a:ext cx="719806" cy="83345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067858" y="2252919"/>
            <a:ext cx="486386" cy="56318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73054" y="2399430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/>
              <a:t>x</a:t>
            </a:r>
          </a:p>
        </p:txBody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66498" y="3125692"/>
            <a:ext cx="936453" cy="108431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89965" y="3297649"/>
            <a:ext cx="817458" cy="946530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48381" y="3382769"/>
            <a:ext cx="742562" cy="859808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55437" y="3457044"/>
            <a:ext cx="678415" cy="7855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990969" y="3548612"/>
            <a:ext cx="607057" cy="702908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85605" y="4191907"/>
            <a:ext cx="635156" cy="735443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063103" y="4268545"/>
            <a:ext cx="576550" cy="667584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61125" y="4345349"/>
            <a:ext cx="510219" cy="590780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65545" y="4481115"/>
            <a:ext cx="456147" cy="528170"/>
          </a:xfrm>
          <a:prstGeom prst="rect">
            <a:avLst/>
          </a:prstGeom>
        </p:spPr>
      </p:pic>
      <p:pic>
        <p:nvPicPr>
          <p:cNvPr id="39" name="Picture 38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61837" y="4622993"/>
            <a:ext cx="371177" cy="429784"/>
          </a:xfrm>
          <a:prstGeom prst="rect">
            <a:avLst/>
          </a:prstGeom>
        </p:spPr>
      </p:pic>
      <p:sp>
        <p:nvSpPr>
          <p:cNvPr id="43" name="Freeform 42"/>
          <p:cNvSpPr/>
          <p:nvPr/>
        </p:nvSpPr>
        <p:spPr>
          <a:xfrm>
            <a:off x="6031402" y="5255986"/>
            <a:ext cx="1693333" cy="1024467"/>
          </a:xfrm>
          <a:custGeom>
            <a:avLst/>
            <a:gdLst>
              <a:gd name="connsiteX0" fmla="*/ 0 w 1701800"/>
              <a:gd name="connsiteY0" fmla="*/ 999067 h 1014629"/>
              <a:gd name="connsiteX1" fmla="*/ 905933 w 1701800"/>
              <a:gd name="connsiteY1" fmla="*/ 905934 h 1014629"/>
              <a:gd name="connsiteX2" fmla="*/ 1439333 w 1701800"/>
              <a:gd name="connsiteY2" fmla="*/ 186267 h 1014629"/>
              <a:gd name="connsiteX3" fmla="*/ 1701800 w 1701800"/>
              <a:gd name="connsiteY3" fmla="*/ 0 h 1014629"/>
              <a:gd name="connsiteX4" fmla="*/ 1701800 w 1701800"/>
              <a:gd name="connsiteY4" fmla="*/ 0 h 1014629"/>
              <a:gd name="connsiteX0" fmla="*/ 0 w 1701800"/>
              <a:gd name="connsiteY0" fmla="*/ 999067 h 1015739"/>
              <a:gd name="connsiteX1" fmla="*/ 905933 w 1701800"/>
              <a:gd name="connsiteY1" fmla="*/ 905934 h 1015739"/>
              <a:gd name="connsiteX2" fmla="*/ 1405467 w 1701800"/>
              <a:gd name="connsiteY2" fmla="*/ 160867 h 1015739"/>
              <a:gd name="connsiteX3" fmla="*/ 1701800 w 1701800"/>
              <a:gd name="connsiteY3" fmla="*/ 0 h 1015739"/>
              <a:gd name="connsiteX4" fmla="*/ 1701800 w 1701800"/>
              <a:gd name="connsiteY4" fmla="*/ 0 h 1015739"/>
              <a:gd name="connsiteX0" fmla="*/ 0 w 1693333"/>
              <a:gd name="connsiteY0" fmla="*/ 1024467 h 1035410"/>
              <a:gd name="connsiteX1" fmla="*/ 897466 w 1693333"/>
              <a:gd name="connsiteY1" fmla="*/ 905934 h 1035410"/>
              <a:gd name="connsiteX2" fmla="*/ 1397000 w 1693333"/>
              <a:gd name="connsiteY2" fmla="*/ 160867 h 1035410"/>
              <a:gd name="connsiteX3" fmla="*/ 1693333 w 1693333"/>
              <a:gd name="connsiteY3" fmla="*/ 0 h 1035410"/>
              <a:gd name="connsiteX4" fmla="*/ 1693333 w 1693333"/>
              <a:gd name="connsiteY4" fmla="*/ 0 h 1035410"/>
              <a:gd name="connsiteX0" fmla="*/ 0 w 1693333"/>
              <a:gd name="connsiteY0" fmla="*/ 1024467 h 1024467"/>
              <a:gd name="connsiteX1" fmla="*/ 897466 w 1693333"/>
              <a:gd name="connsiteY1" fmla="*/ 905934 h 1024467"/>
              <a:gd name="connsiteX2" fmla="*/ 1397000 w 1693333"/>
              <a:gd name="connsiteY2" fmla="*/ 160867 h 1024467"/>
              <a:gd name="connsiteX3" fmla="*/ 1693333 w 1693333"/>
              <a:gd name="connsiteY3" fmla="*/ 0 h 1024467"/>
              <a:gd name="connsiteX4" fmla="*/ 1693333 w 1693333"/>
              <a:gd name="connsiteY4" fmla="*/ 0 h 1024467"/>
              <a:gd name="connsiteX0" fmla="*/ 0 w 1693333"/>
              <a:gd name="connsiteY0" fmla="*/ 1024467 h 1024467"/>
              <a:gd name="connsiteX1" fmla="*/ 897466 w 1693333"/>
              <a:gd name="connsiteY1" fmla="*/ 905934 h 1024467"/>
              <a:gd name="connsiteX2" fmla="*/ 1397000 w 1693333"/>
              <a:gd name="connsiteY2" fmla="*/ 160867 h 1024467"/>
              <a:gd name="connsiteX3" fmla="*/ 1693333 w 1693333"/>
              <a:gd name="connsiteY3" fmla="*/ 0 h 1024467"/>
              <a:gd name="connsiteX4" fmla="*/ 1693333 w 1693333"/>
              <a:gd name="connsiteY4" fmla="*/ 0 h 1024467"/>
              <a:gd name="connsiteX0" fmla="*/ 0 w 1693333"/>
              <a:gd name="connsiteY0" fmla="*/ 1024467 h 1024467"/>
              <a:gd name="connsiteX1" fmla="*/ 897466 w 1693333"/>
              <a:gd name="connsiteY1" fmla="*/ 905934 h 1024467"/>
              <a:gd name="connsiteX2" fmla="*/ 1397000 w 1693333"/>
              <a:gd name="connsiteY2" fmla="*/ 160867 h 1024467"/>
              <a:gd name="connsiteX3" fmla="*/ 1693333 w 1693333"/>
              <a:gd name="connsiteY3" fmla="*/ 0 h 1024467"/>
              <a:gd name="connsiteX4" fmla="*/ 1693333 w 1693333"/>
              <a:gd name="connsiteY4" fmla="*/ 0 h 1024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3333" h="1024467">
                <a:moveTo>
                  <a:pt x="0" y="1024467"/>
                </a:moveTo>
                <a:cubicBezTo>
                  <a:pt x="476955" y="1020234"/>
                  <a:pt x="664633" y="1049867"/>
                  <a:pt x="897466" y="905934"/>
                </a:cubicBezTo>
                <a:cubicBezTo>
                  <a:pt x="1130299" y="762001"/>
                  <a:pt x="1264355" y="311856"/>
                  <a:pt x="1397000" y="160867"/>
                </a:cubicBezTo>
                <a:cubicBezTo>
                  <a:pt x="1529645" y="9878"/>
                  <a:pt x="1610077" y="1410"/>
                  <a:pt x="1693333" y="0"/>
                </a:cubicBezTo>
                <a:lnTo>
                  <a:pt x="1693333" y="0"/>
                </a:lnTo>
              </a:path>
            </a:pathLst>
          </a:cu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 flipH="1">
            <a:off x="7706786" y="5255986"/>
            <a:ext cx="1693333" cy="1024467"/>
          </a:xfrm>
          <a:custGeom>
            <a:avLst/>
            <a:gdLst>
              <a:gd name="connsiteX0" fmla="*/ 0 w 1701800"/>
              <a:gd name="connsiteY0" fmla="*/ 999067 h 1014629"/>
              <a:gd name="connsiteX1" fmla="*/ 905933 w 1701800"/>
              <a:gd name="connsiteY1" fmla="*/ 905934 h 1014629"/>
              <a:gd name="connsiteX2" fmla="*/ 1439333 w 1701800"/>
              <a:gd name="connsiteY2" fmla="*/ 186267 h 1014629"/>
              <a:gd name="connsiteX3" fmla="*/ 1701800 w 1701800"/>
              <a:gd name="connsiteY3" fmla="*/ 0 h 1014629"/>
              <a:gd name="connsiteX4" fmla="*/ 1701800 w 1701800"/>
              <a:gd name="connsiteY4" fmla="*/ 0 h 1014629"/>
              <a:gd name="connsiteX0" fmla="*/ 0 w 1701800"/>
              <a:gd name="connsiteY0" fmla="*/ 999067 h 1015739"/>
              <a:gd name="connsiteX1" fmla="*/ 905933 w 1701800"/>
              <a:gd name="connsiteY1" fmla="*/ 905934 h 1015739"/>
              <a:gd name="connsiteX2" fmla="*/ 1405467 w 1701800"/>
              <a:gd name="connsiteY2" fmla="*/ 160867 h 1015739"/>
              <a:gd name="connsiteX3" fmla="*/ 1701800 w 1701800"/>
              <a:gd name="connsiteY3" fmla="*/ 0 h 1015739"/>
              <a:gd name="connsiteX4" fmla="*/ 1701800 w 1701800"/>
              <a:gd name="connsiteY4" fmla="*/ 0 h 1015739"/>
              <a:gd name="connsiteX0" fmla="*/ 0 w 1693333"/>
              <a:gd name="connsiteY0" fmla="*/ 1024467 h 1035410"/>
              <a:gd name="connsiteX1" fmla="*/ 897466 w 1693333"/>
              <a:gd name="connsiteY1" fmla="*/ 905934 h 1035410"/>
              <a:gd name="connsiteX2" fmla="*/ 1397000 w 1693333"/>
              <a:gd name="connsiteY2" fmla="*/ 160867 h 1035410"/>
              <a:gd name="connsiteX3" fmla="*/ 1693333 w 1693333"/>
              <a:gd name="connsiteY3" fmla="*/ 0 h 1035410"/>
              <a:gd name="connsiteX4" fmla="*/ 1693333 w 1693333"/>
              <a:gd name="connsiteY4" fmla="*/ 0 h 1035410"/>
              <a:gd name="connsiteX0" fmla="*/ 0 w 1693333"/>
              <a:gd name="connsiteY0" fmla="*/ 1024467 h 1024467"/>
              <a:gd name="connsiteX1" fmla="*/ 897466 w 1693333"/>
              <a:gd name="connsiteY1" fmla="*/ 905934 h 1024467"/>
              <a:gd name="connsiteX2" fmla="*/ 1397000 w 1693333"/>
              <a:gd name="connsiteY2" fmla="*/ 160867 h 1024467"/>
              <a:gd name="connsiteX3" fmla="*/ 1693333 w 1693333"/>
              <a:gd name="connsiteY3" fmla="*/ 0 h 1024467"/>
              <a:gd name="connsiteX4" fmla="*/ 1693333 w 1693333"/>
              <a:gd name="connsiteY4" fmla="*/ 0 h 1024467"/>
              <a:gd name="connsiteX0" fmla="*/ 0 w 1693333"/>
              <a:gd name="connsiteY0" fmla="*/ 1024467 h 1024467"/>
              <a:gd name="connsiteX1" fmla="*/ 897466 w 1693333"/>
              <a:gd name="connsiteY1" fmla="*/ 905934 h 1024467"/>
              <a:gd name="connsiteX2" fmla="*/ 1397000 w 1693333"/>
              <a:gd name="connsiteY2" fmla="*/ 160867 h 1024467"/>
              <a:gd name="connsiteX3" fmla="*/ 1693333 w 1693333"/>
              <a:gd name="connsiteY3" fmla="*/ 0 h 1024467"/>
              <a:gd name="connsiteX4" fmla="*/ 1693333 w 1693333"/>
              <a:gd name="connsiteY4" fmla="*/ 0 h 1024467"/>
              <a:gd name="connsiteX0" fmla="*/ 0 w 1693333"/>
              <a:gd name="connsiteY0" fmla="*/ 1024467 h 1024467"/>
              <a:gd name="connsiteX1" fmla="*/ 897466 w 1693333"/>
              <a:gd name="connsiteY1" fmla="*/ 905934 h 1024467"/>
              <a:gd name="connsiteX2" fmla="*/ 1397000 w 1693333"/>
              <a:gd name="connsiteY2" fmla="*/ 160867 h 1024467"/>
              <a:gd name="connsiteX3" fmla="*/ 1693333 w 1693333"/>
              <a:gd name="connsiteY3" fmla="*/ 0 h 1024467"/>
              <a:gd name="connsiteX4" fmla="*/ 1693333 w 1693333"/>
              <a:gd name="connsiteY4" fmla="*/ 0 h 1024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93333" h="1024467">
                <a:moveTo>
                  <a:pt x="0" y="1024467"/>
                </a:moveTo>
                <a:cubicBezTo>
                  <a:pt x="476955" y="1020234"/>
                  <a:pt x="664633" y="1049867"/>
                  <a:pt x="897466" y="905934"/>
                </a:cubicBezTo>
                <a:cubicBezTo>
                  <a:pt x="1130299" y="762001"/>
                  <a:pt x="1264355" y="311856"/>
                  <a:pt x="1397000" y="160867"/>
                </a:cubicBezTo>
                <a:cubicBezTo>
                  <a:pt x="1529645" y="9878"/>
                  <a:pt x="1610077" y="1410"/>
                  <a:pt x="1693333" y="0"/>
                </a:cubicBezTo>
                <a:lnTo>
                  <a:pt x="1693333" y="0"/>
                </a:lnTo>
              </a:path>
            </a:pathLst>
          </a:cu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/>
          <p:cNvCxnSpPr/>
          <p:nvPr/>
        </p:nvCxnSpPr>
        <p:spPr>
          <a:xfrm>
            <a:off x="5752060" y="6283627"/>
            <a:ext cx="38522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847338" y="5255985"/>
            <a:ext cx="0" cy="11385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1242622" y="6283627"/>
            <a:ext cx="38522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1337900" y="5255985"/>
            <a:ext cx="0" cy="11385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687283" y="5341412"/>
            <a:ext cx="505868" cy="9390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</a:schemeClr>
              </a:gs>
              <a:gs pos="52000">
                <a:srgbClr val="FFFFFF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46800" rtlCol="0" anchor="b" anchorCtr="0"/>
          <a:lstStyle/>
          <a:p>
            <a:pPr algn="ctr"/>
            <a:endParaRPr lang="en-US" sz="600" i="1" baseline="-25000" dirty="0"/>
          </a:p>
        </p:txBody>
      </p:sp>
      <p:sp>
        <p:nvSpPr>
          <p:cNvPr id="51" name="Rectangle 50"/>
          <p:cNvSpPr/>
          <p:nvPr/>
        </p:nvSpPr>
        <p:spPr>
          <a:xfrm>
            <a:off x="3885728" y="5493812"/>
            <a:ext cx="505868" cy="7866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</a:schemeClr>
              </a:gs>
              <a:gs pos="52000">
                <a:srgbClr val="FFFFFF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46800" rtlCol="0" anchor="b" anchorCtr="0"/>
          <a:lstStyle/>
          <a:p>
            <a:pPr algn="ctr"/>
            <a:endParaRPr lang="en-US" sz="600" i="1" baseline="-25000" dirty="0"/>
          </a:p>
        </p:txBody>
      </p:sp>
      <p:sp>
        <p:nvSpPr>
          <p:cNvPr id="52" name="TextBox 51"/>
          <p:cNvSpPr txBox="1"/>
          <p:nvPr/>
        </p:nvSpPr>
        <p:spPr>
          <a:xfrm>
            <a:off x="1807284" y="6302226"/>
            <a:ext cx="22730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49783" y="6302226"/>
            <a:ext cx="22730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81284" y="6279301"/>
            <a:ext cx="45100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 err="1"/>
              <a:t>Taille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13332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DF7E07-B252-0345-8933-D97B9B9AF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325" y="0"/>
            <a:ext cx="85233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724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Antes de </a:t>
            </a:r>
            <a:r>
              <a:rPr lang="en-US" sz="2800" dirty="0" err="1"/>
              <a:t>empezar</a:t>
            </a:r>
            <a:r>
              <a:rPr lang="en-US" sz="2800" dirty="0"/>
              <a:t>: </a:t>
            </a:r>
            <a:r>
              <a:rPr lang="en-US" sz="2800" dirty="0" err="1"/>
              <a:t>análisis</a:t>
            </a:r>
            <a:r>
              <a:rPr lang="en-US" sz="2800" dirty="0"/>
              <a:t> </a:t>
            </a:r>
            <a:r>
              <a:rPr lang="en-US" sz="2800" dirty="0" err="1"/>
              <a:t>detallado</a:t>
            </a:r>
            <a:r>
              <a:rPr lang="en-US" sz="2800" dirty="0"/>
              <a:t> de los </a:t>
            </a:r>
            <a:r>
              <a:rPr lang="en-US" sz="2800" dirty="0" err="1"/>
              <a:t>datos</a:t>
            </a:r>
            <a:r>
              <a:rPr lang="en-US" sz="2800" dirty="0"/>
              <a:t> </a:t>
            </a:r>
            <a:r>
              <a:rPr lang="en-US" sz="2800" dirty="0" err="1"/>
              <a:t>fenotípicos</a:t>
            </a:r>
            <a:endParaRPr lang="en-US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112" y="1690688"/>
            <a:ext cx="7077076" cy="4378206"/>
          </a:xfrm>
        </p:spPr>
        <p:txBody>
          <a:bodyPr/>
          <a:lstStyle/>
          <a:p>
            <a:r>
              <a:rPr lang="en-US" dirty="0" err="1"/>
              <a:t>Realizar</a:t>
            </a:r>
            <a:r>
              <a:rPr lang="en-US" dirty="0"/>
              <a:t> un </a:t>
            </a:r>
            <a:r>
              <a:rPr lang="en-US" dirty="0" err="1"/>
              <a:t>análisis</a:t>
            </a:r>
            <a:r>
              <a:rPr lang="en-US" dirty="0"/>
              <a:t> de </a:t>
            </a:r>
            <a:r>
              <a:rPr lang="en-US" dirty="0" err="1"/>
              <a:t>varianza</a:t>
            </a:r>
            <a:r>
              <a:rPr lang="en-US" dirty="0"/>
              <a:t> para </a:t>
            </a:r>
            <a:r>
              <a:rPr lang="en-US" dirty="0" err="1"/>
              <a:t>verificar</a:t>
            </a:r>
            <a:r>
              <a:rPr lang="en-US" dirty="0"/>
              <a:t> la </a:t>
            </a:r>
            <a:r>
              <a:rPr lang="en-US" dirty="0" err="1"/>
              <a:t>existencia</a:t>
            </a:r>
            <a:r>
              <a:rPr lang="en-US" dirty="0"/>
              <a:t> de un </a:t>
            </a:r>
            <a:r>
              <a:rPr lang="en-US" dirty="0" err="1"/>
              <a:t>efecto</a:t>
            </a:r>
            <a:r>
              <a:rPr lang="en-US" dirty="0"/>
              <a:t> </a:t>
            </a:r>
            <a:r>
              <a:rPr lang="en-US" dirty="0" err="1"/>
              <a:t>genotípico</a:t>
            </a:r>
            <a:r>
              <a:rPr lang="en-US" dirty="0"/>
              <a:t>.</a:t>
            </a:r>
          </a:p>
          <a:p>
            <a:r>
              <a:rPr lang="en-US" dirty="0" err="1"/>
              <a:t>Calcular</a:t>
            </a:r>
            <a:r>
              <a:rPr lang="en-US" dirty="0"/>
              <a:t> </a:t>
            </a:r>
            <a:r>
              <a:rPr lang="en-US" dirty="0" err="1"/>
              <a:t>heredabilidad</a:t>
            </a:r>
            <a:endParaRPr lang="en-US" dirty="0"/>
          </a:p>
          <a:p>
            <a:r>
              <a:rPr lang="en-US" dirty="0" err="1"/>
              <a:t>Analizar</a:t>
            </a:r>
            <a:r>
              <a:rPr lang="en-US" dirty="0"/>
              <a:t> las </a:t>
            </a:r>
            <a:r>
              <a:rPr lang="en-US" dirty="0" err="1"/>
              <a:t>correlaciones</a:t>
            </a:r>
            <a:r>
              <a:rPr lang="en-US" dirty="0"/>
              <a:t> (</a:t>
            </a:r>
            <a:r>
              <a:rPr lang="en-US" dirty="0" err="1"/>
              <a:t>genéticas</a:t>
            </a:r>
            <a:r>
              <a:rPr lang="en-US" dirty="0"/>
              <a:t>) entre los </a:t>
            </a:r>
            <a:r>
              <a:rPr lang="en-US" dirty="0" err="1"/>
              <a:t>rasgos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504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Detección</a:t>
            </a:r>
            <a:r>
              <a:rPr lang="en-US" dirty="0"/>
              <a:t> de QTL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" y="4948350"/>
            <a:ext cx="4546600" cy="13889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079" y="2150534"/>
            <a:ext cx="2288454" cy="36703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0551" y="1615581"/>
            <a:ext cx="3659546" cy="292255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512050" y="3346450"/>
            <a:ext cx="158750" cy="330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477250" y="4698161"/>
            <a:ext cx="158750" cy="296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229100" y="45466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25147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Mapeo</a:t>
            </a:r>
            <a:r>
              <a:rPr lang="en-US" dirty="0"/>
              <a:t> por </a:t>
            </a:r>
            <a:r>
              <a:rPr lang="en-US" dirty="0" err="1"/>
              <a:t>marcador</a:t>
            </a:r>
            <a:r>
              <a:rPr lang="en-US" dirty="0"/>
              <a:t> simple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Realizar</a:t>
            </a:r>
            <a:r>
              <a:rPr lang="en-US" dirty="0"/>
              <a:t> una </a:t>
            </a:r>
            <a:r>
              <a:rPr lang="en-US" dirty="0" err="1"/>
              <a:t>prueba</a:t>
            </a:r>
            <a:r>
              <a:rPr lang="en-US" dirty="0"/>
              <a:t> </a:t>
            </a:r>
            <a:r>
              <a:rPr lang="en-US" dirty="0" err="1"/>
              <a:t>estadística</a:t>
            </a:r>
            <a:r>
              <a:rPr lang="en-US" dirty="0"/>
              <a:t> por medio de una </a:t>
            </a:r>
            <a:r>
              <a:rPr lang="en-US" dirty="0" err="1"/>
              <a:t>prueba</a:t>
            </a:r>
            <a:r>
              <a:rPr lang="en-US" dirty="0"/>
              <a:t> </a:t>
            </a:r>
            <a:r>
              <a:rPr lang="en-US" i="1" dirty="0"/>
              <a:t>t </a:t>
            </a:r>
            <a:r>
              <a:rPr lang="en-US" dirty="0"/>
              <a:t>(Backcross) o por ANOVA o </a:t>
            </a:r>
            <a:r>
              <a:rPr lang="en-US" dirty="0" err="1"/>
              <a:t>prueba</a:t>
            </a:r>
            <a:r>
              <a:rPr lang="en-US" dirty="0"/>
              <a:t> F (intercross) para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marcador</a:t>
            </a:r>
            <a:r>
              <a:rPr lang="en-US" dirty="0"/>
              <a:t> </a:t>
            </a:r>
            <a:r>
              <a:rPr lang="en-US" dirty="0" err="1"/>
              <a:t>analizado</a:t>
            </a:r>
            <a:r>
              <a:rPr lang="en-US" dirty="0"/>
              <a:t>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424" y="3149601"/>
            <a:ext cx="3333750" cy="249344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140" y="3149601"/>
            <a:ext cx="3326436" cy="24934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52901" y="2780268"/>
            <a:ext cx="498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51751" y="2792968"/>
            <a:ext cx="498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M2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2035118" y="4108160"/>
            <a:ext cx="8867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Phenotype value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A337C3-0332-1144-8BE1-1370DC8696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1915" y="1437861"/>
            <a:ext cx="7729299" cy="4834923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34494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Mapeo por marcador simple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8026" y="1768594"/>
            <a:ext cx="5747774" cy="4497736"/>
          </a:xfrm>
        </p:spPr>
        <p:txBody>
          <a:bodyPr>
            <a:normAutofit lnSpcReduction="10000"/>
          </a:bodyPr>
          <a:lstStyle/>
          <a:p>
            <a:r>
              <a:rPr lang="es-ES_tradnl"/>
              <a:t>La presencia de un QTL se comprueba mediante una puntuación LOD que está directamente relacionada con la prueba F.</a:t>
            </a:r>
            <a:br>
              <a:rPr lang="es-ES_tradnl"/>
            </a:br>
            <a:r>
              <a:rPr lang="es-ES_tradnl"/>
              <a:t>Se puede demostrar que:</a:t>
            </a:r>
          </a:p>
          <a:p>
            <a:endParaRPr lang="es-ES_tradnl"/>
          </a:p>
          <a:p>
            <a:pPr marL="0" indent="0">
              <a:buNone/>
            </a:pPr>
            <a:endParaRPr lang="es-ES_tradnl"/>
          </a:p>
          <a:p>
            <a:r>
              <a:rPr lang="es-ES_tradnl"/>
              <a:t>El mapa genético puede utilizarse para representar el resultado, pero no se utiliza en el análisis.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5" y="2267992"/>
            <a:ext cx="2754121" cy="4417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82958" y="3855341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2958" y="3986146"/>
            <a:ext cx="31931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>
                <a:solidFill>
                  <a:srgbClr val="FF0000"/>
                </a:solidFill>
              </a:rPr>
              <a:t>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958" y="4107972"/>
            <a:ext cx="386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>
                <a:solidFill>
                  <a:srgbClr val="FF0000"/>
                </a:solidFill>
              </a:rPr>
              <a:t>***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958" y="4271812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6758" y="3472972"/>
            <a:ext cx="386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>
                <a:solidFill>
                  <a:srgbClr val="FF0000"/>
                </a:solidFill>
              </a:rPr>
              <a:t>***</a:t>
            </a:r>
          </a:p>
        </p:txBody>
      </p:sp>
      <p:graphicFrame>
        <p:nvGraphicFramePr>
          <p:cNvPr id="12" name="Object 11"/>
          <p:cNvGraphicFramePr>
            <a:graphicFrameLocks noChangeAspect="1"/>
          </p:cNvGraphicFramePr>
          <p:nvPr/>
        </p:nvGraphicFramePr>
        <p:xfrm>
          <a:off x="2396347" y="3956315"/>
          <a:ext cx="3372660" cy="81114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006600" imgH="482600" progId="Equation.3">
                  <p:embed/>
                </p:oleObj>
              </mc:Choice>
              <mc:Fallback>
                <p:oleObj name="Equation" r:id="rId3" imgW="2006600" imgH="482600" progId="Equation.3">
                  <p:embed/>
                  <p:pic>
                    <p:nvPicPr>
                      <p:cNvPr id="12" name="Object 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96347" y="3956315"/>
                        <a:ext cx="3372660" cy="81114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9392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intervalo</a:t>
            </a:r>
            <a:r>
              <a:rPr lang="en-US" dirty="0"/>
              <a:t> de </a:t>
            </a:r>
            <a:r>
              <a:rPr lang="en-US" dirty="0" err="1"/>
              <a:t>confianza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 err="1"/>
              <a:t>Intervalo</a:t>
            </a:r>
            <a:r>
              <a:rPr lang="en-US" dirty="0"/>
              <a:t> de </a:t>
            </a:r>
            <a:r>
              <a:rPr lang="en-US" dirty="0" err="1"/>
              <a:t>soporte</a:t>
            </a:r>
            <a:r>
              <a:rPr lang="en-US" dirty="0"/>
              <a:t> de LOD</a:t>
            </a:r>
          </a:p>
          <a:p>
            <a:pPr lvl="1"/>
            <a:r>
              <a:rPr lang="en-US" dirty="0" err="1"/>
              <a:t>Intersección</a:t>
            </a:r>
            <a:r>
              <a:rPr lang="en-US" dirty="0"/>
              <a:t> con la </a:t>
            </a:r>
            <a:r>
              <a:rPr lang="en-US" dirty="0" err="1"/>
              <a:t>curva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LOD </a:t>
            </a:r>
            <a:r>
              <a:rPr lang="en-US" dirty="0" err="1"/>
              <a:t>en</a:t>
            </a:r>
            <a:r>
              <a:rPr lang="en-US" dirty="0"/>
              <a:t> LOD</a:t>
            </a:r>
            <a:r>
              <a:rPr lang="en-US" baseline="-25000" dirty="0"/>
              <a:t>max</a:t>
            </a:r>
            <a:r>
              <a:rPr lang="en-US" dirty="0"/>
              <a:t>-1</a:t>
            </a:r>
          </a:p>
          <a:p>
            <a:pPr marL="3759200"/>
            <a:endParaRPr lang="en-US" dirty="0"/>
          </a:p>
          <a:p>
            <a:pPr marL="3759200"/>
            <a:endParaRPr lang="en-US" dirty="0"/>
          </a:p>
          <a:p>
            <a:pPr marL="3759200"/>
            <a:endParaRPr lang="en-US" dirty="0"/>
          </a:p>
          <a:p>
            <a:pPr marL="3759200"/>
            <a:endParaRPr lang="en-US" dirty="0"/>
          </a:p>
          <a:p>
            <a:pPr marL="2514600" indent="0">
              <a:buNone/>
            </a:pPr>
            <a:endParaRPr lang="en-US" dirty="0"/>
          </a:p>
          <a:p>
            <a:pPr marL="2514600" indent="0">
              <a:buNone/>
            </a:pPr>
            <a:r>
              <a:rPr lang="en-US" dirty="0" err="1"/>
              <a:t>Cuidado</a:t>
            </a:r>
            <a:r>
              <a:rPr lang="en-US" dirty="0"/>
              <a:t> con los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obtenidos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CIM</a:t>
            </a:r>
          </a:p>
          <a:p>
            <a:endParaRPr lang="en-US" dirty="0"/>
          </a:p>
        </p:txBody>
      </p:sp>
      <p:grpSp>
        <p:nvGrpSpPr>
          <p:cNvPr id="21" name="Group 20"/>
          <p:cNvGrpSpPr/>
          <p:nvPr/>
        </p:nvGrpSpPr>
        <p:grpSpPr>
          <a:xfrm>
            <a:off x="5686486" y="1971040"/>
            <a:ext cx="4324228" cy="3111500"/>
            <a:chOff x="3233559" y="4565650"/>
            <a:chExt cx="2709261" cy="1949450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 rotWithShape="1">
            <a:blip r:embed="rId2"/>
            <a:srcRect t="44250"/>
            <a:stretch/>
          </p:blipFill>
          <p:spPr>
            <a:xfrm>
              <a:off x="3233559" y="4565650"/>
              <a:ext cx="2709261" cy="1949450"/>
            </a:xfrm>
            <a:prstGeom prst="rect">
              <a:avLst/>
            </a:prstGeom>
          </p:spPr>
        </p:pic>
        <p:cxnSp>
          <p:nvCxnSpPr>
            <p:cNvPr id="12" name="Straight Arrow Connector 11"/>
            <p:cNvCxnSpPr/>
            <p:nvPr/>
          </p:nvCxnSpPr>
          <p:spPr>
            <a:xfrm>
              <a:off x="3942138" y="5054600"/>
              <a:ext cx="306342" cy="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/>
            <p:nvPr/>
          </p:nvCxnSpPr>
          <p:spPr>
            <a:xfrm>
              <a:off x="4171950" y="4870450"/>
              <a:ext cx="0" cy="184150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ash"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3942138" y="4606359"/>
              <a:ext cx="306342" cy="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/>
            <p:nvPr/>
          </p:nvCxnSpPr>
          <p:spPr>
            <a:xfrm>
              <a:off x="3942312" y="4606359"/>
              <a:ext cx="0" cy="448241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ash"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4248480" y="4606359"/>
              <a:ext cx="0" cy="448241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ash"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696617" y="4428000"/>
            <a:ext cx="2491113" cy="1980861"/>
            <a:chOff x="6324600" y="4565650"/>
            <a:chExt cx="2491113" cy="1980861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 rotWithShape="1">
            <a:blip r:embed="rId3"/>
            <a:srcRect l="7482" t="47292" b="18316"/>
            <a:stretch/>
          </p:blipFill>
          <p:spPr>
            <a:xfrm>
              <a:off x="6324600" y="4565650"/>
              <a:ext cx="2491113" cy="1346200"/>
            </a:xfrm>
            <a:prstGeom prst="rect">
              <a:avLst/>
            </a:prstGeom>
          </p:spPr>
        </p:pic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32550" y="5861050"/>
              <a:ext cx="2336800" cy="685461"/>
            </a:xfrm>
            <a:prstGeom prst="rect">
              <a:avLst/>
            </a:prstGeom>
          </p:spPr>
        </p:pic>
        <p:cxnSp>
          <p:nvCxnSpPr>
            <p:cNvPr id="13" name="Straight Arrow Connector 12"/>
            <p:cNvCxnSpPr/>
            <p:nvPr/>
          </p:nvCxnSpPr>
          <p:spPr>
            <a:xfrm>
              <a:off x="6978650" y="4819650"/>
              <a:ext cx="196850" cy="0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7077710" y="4640580"/>
              <a:ext cx="0" cy="184150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ash"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7441261" y="2497602"/>
            <a:ext cx="95731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1 unité de LOD</a:t>
            </a:r>
          </a:p>
        </p:txBody>
      </p:sp>
    </p:spTree>
    <p:extLst>
      <p:ext uri="{BB962C8B-B14F-4D97-AF65-F5344CB8AC3E}">
        <p14:creationId xmlns:p14="http://schemas.microsoft.com/office/powerpoint/2010/main" val="768437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B8197D-D80D-1140-98F6-6891EC1A4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2" y="60156"/>
            <a:ext cx="8343900" cy="774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EF06DC-1A68-0F4A-872E-A906BFBDA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834856"/>
            <a:ext cx="9482536" cy="577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2430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2100D9-B919-F9E6-5884-997352A08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GWAS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1FD5135-BB17-5356-CC0E-E724817AE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8ABC317-F876-21CE-B8F8-D2555A7E9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101" y="1690688"/>
            <a:ext cx="7621064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4953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9B8017-D727-422F-BDB5-2491E6CCF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25203B-8E03-8E92-7833-72D3FC6FE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B0FBB91-6042-E2EE-746D-40055A78E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6" y="234285"/>
            <a:ext cx="7173326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3243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7112F-47D9-F6D9-AF5A-C542DF1D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E0F87-20FE-4E80-ABE0-C7BD49927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F47C11-2D5A-8173-C814-333F0849C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074" y="375811"/>
            <a:ext cx="7001852" cy="6106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8283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7A1009-021F-DA48-4344-255B33993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48E1EEA-509A-F222-3087-D050D2BFF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Genetics</a:t>
            </a:r>
            <a:endParaRPr lang="es-ES" dirty="0"/>
          </a:p>
          <a:p>
            <a:r>
              <a:rPr lang="es-ES" dirty="0" err="1"/>
              <a:t>Bioinformatics</a:t>
            </a:r>
            <a:endParaRPr lang="es-ES" dirty="0"/>
          </a:p>
          <a:p>
            <a:r>
              <a:rPr lang="es-ES" dirty="0" err="1"/>
              <a:t>Functional</a:t>
            </a:r>
            <a:r>
              <a:rPr lang="es-ES" dirty="0"/>
              <a:t> </a:t>
            </a:r>
            <a:r>
              <a:rPr lang="es-ES" dirty="0" err="1"/>
              <a:t>genomics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6726215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9A89AD-FBFD-C586-3944-0065890FB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EDE2B9-2DA7-302F-E2D3-1545BF025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AE8C489-DCE6-83BC-A15C-45549DF78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33434"/>
            <a:ext cx="5468646" cy="2427096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635F88A6-4267-5F03-778A-7E2E14EE03C3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720645" y="1981698"/>
            <a:ext cx="4586201" cy="66034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4AD3876-3FD3-C8D3-F576-2493965696B7}"/>
              </a:ext>
            </a:extLst>
          </p:cNvPr>
          <p:cNvSpPr txBox="1"/>
          <p:nvPr/>
        </p:nvSpPr>
        <p:spPr>
          <a:xfrm>
            <a:off x="6306846" y="17970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 is a matrix of covariates including an intercept term,</a:t>
            </a:r>
            <a:endParaRPr lang="es-CO" dirty="0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CA66427-8DB5-070B-63E4-BEA4D0D64337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946787" y="2379623"/>
            <a:ext cx="4692445" cy="36063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778E7EF-1F77-B20C-5B19-5C2ABB5434EA}"/>
              </a:ext>
            </a:extLst>
          </p:cNvPr>
          <p:cNvSpPr txBox="1"/>
          <p:nvPr/>
        </p:nvSpPr>
        <p:spPr>
          <a:xfrm>
            <a:off x="6639232" y="2194957"/>
            <a:ext cx="62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α is a corresponding vector of effect sizes</a:t>
            </a:r>
            <a:endParaRPr lang="es-CO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7E5D6645-9434-6B16-84B6-A338ABADA80C}"/>
              </a:ext>
            </a:extLst>
          </p:cNvPr>
          <p:cNvSpPr txBox="1"/>
          <p:nvPr/>
        </p:nvSpPr>
        <p:spPr>
          <a:xfrm>
            <a:off x="6306846" y="2723670"/>
            <a:ext cx="6464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Xs</a:t>
            </a:r>
            <a:r>
              <a:rPr lang="en-US" dirty="0"/>
              <a:t> is a vector of genotype values for all individuals at SNPs</a:t>
            </a:r>
            <a:endParaRPr lang="es-CO" dirty="0"/>
          </a:p>
        </p:txBody>
      </p:sp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3EE81714-4611-7AB5-40CA-A30DBB146164}"/>
              </a:ext>
            </a:extLst>
          </p:cNvPr>
          <p:cNvCxnSpPr>
            <a:cxnSpLocks/>
          </p:cNvCxnSpPr>
          <p:nvPr/>
        </p:nvCxnSpPr>
        <p:spPr>
          <a:xfrm flipH="1">
            <a:off x="2172929" y="2953513"/>
            <a:ext cx="4133917" cy="84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9B56C00-892A-C57D-CC90-7AC8B33FCEE9}"/>
              </a:ext>
            </a:extLst>
          </p:cNvPr>
          <p:cNvSpPr txBox="1"/>
          <p:nvPr/>
        </p:nvSpPr>
        <p:spPr>
          <a:xfrm>
            <a:off x="6306846" y="3174633"/>
            <a:ext cx="57081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βs is the corresponding fixed effect size of genetic variant s (also known as the SNP effect size)</a:t>
            </a:r>
            <a:endParaRPr lang="es-CO" dirty="0"/>
          </a:p>
        </p:txBody>
      </p: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5DEA98EF-E364-C5AE-C650-E70FA37B0F4C}"/>
              </a:ext>
            </a:extLst>
          </p:cNvPr>
          <p:cNvCxnSpPr>
            <a:cxnSpLocks/>
          </p:cNvCxnSpPr>
          <p:nvPr/>
        </p:nvCxnSpPr>
        <p:spPr>
          <a:xfrm flipH="1" flipV="1">
            <a:off x="2507226" y="3032302"/>
            <a:ext cx="3799620" cy="3212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5EBA8CB-26C1-C3F9-5D0D-5F9771C08C57}"/>
              </a:ext>
            </a:extLst>
          </p:cNvPr>
          <p:cNvSpPr txBox="1"/>
          <p:nvPr/>
        </p:nvSpPr>
        <p:spPr>
          <a:xfrm>
            <a:off x="6306846" y="3849136"/>
            <a:ext cx="58851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 is a random effect that captures the polygenic effect of other SNPs</a:t>
            </a:r>
            <a:endParaRPr lang="es-CO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D9884894-105F-09D1-8BB1-ACF4E97B05FB}"/>
              </a:ext>
            </a:extLst>
          </p:cNvPr>
          <p:cNvCxnSpPr>
            <a:cxnSpLocks/>
          </p:cNvCxnSpPr>
          <p:nvPr/>
        </p:nvCxnSpPr>
        <p:spPr>
          <a:xfrm flipH="1" flipV="1">
            <a:off x="2812026" y="3032302"/>
            <a:ext cx="3494820" cy="998924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B409D1A2-BE13-8E0A-F206-BC12D8119B86}"/>
              </a:ext>
            </a:extLst>
          </p:cNvPr>
          <p:cNvSpPr txBox="1"/>
          <p:nvPr/>
        </p:nvSpPr>
        <p:spPr>
          <a:xfrm>
            <a:off x="6306846" y="4545196"/>
            <a:ext cx="6464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 is a random effect of residual errors</a:t>
            </a:r>
            <a:endParaRPr lang="es-CO" dirty="0"/>
          </a:p>
        </p:txBody>
      </p: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96224A3C-4E41-8F45-4354-DB2686AF3804}"/>
              </a:ext>
            </a:extLst>
          </p:cNvPr>
          <p:cNvCxnSpPr>
            <a:cxnSpLocks/>
          </p:cNvCxnSpPr>
          <p:nvPr/>
        </p:nvCxnSpPr>
        <p:spPr>
          <a:xfrm flipH="1" flipV="1">
            <a:off x="3067665" y="2953513"/>
            <a:ext cx="3165987" cy="16512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5744859-E71C-854F-9045-85A5F3FE03B0}"/>
              </a:ext>
            </a:extLst>
          </p:cNvPr>
          <p:cNvSpPr txBox="1"/>
          <p:nvPr/>
        </p:nvSpPr>
        <p:spPr>
          <a:xfrm>
            <a:off x="6233652" y="5355057"/>
            <a:ext cx="6464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ψ is the standard genetic relationship matrix</a:t>
            </a:r>
            <a:endParaRPr lang="es-CO" dirty="0"/>
          </a:p>
        </p:txBody>
      </p:sp>
      <p:cxnSp>
        <p:nvCxnSpPr>
          <p:cNvPr id="44" name="Conector recto de flecha 43">
            <a:extLst>
              <a:ext uri="{FF2B5EF4-FFF2-40B4-BE49-F238E27FC236}">
                <a16:creationId xmlns:a16="http://schemas.microsoft.com/office/drawing/2014/main" id="{B3793430-C4CE-C3B2-F5E3-6B9574A30176}"/>
              </a:ext>
            </a:extLst>
          </p:cNvPr>
          <p:cNvCxnSpPr>
            <a:cxnSpLocks/>
          </p:cNvCxnSpPr>
          <p:nvPr/>
        </p:nvCxnSpPr>
        <p:spPr>
          <a:xfrm flipH="1" flipV="1">
            <a:off x="2172929" y="3625106"/>
            <a:ext cx="4054711" cy="142014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uadroTexto 47">
            <a:extLst>
              <a:ext uri="{FF2B5EF4-FFF2-40B4-BE49-F238E27FC236}">
                <a16:creationId xmlns:a16="http://schemas.microsoft.com/office/drawing/2014/main" id="{81EB0601-002F-057C-3B3C-6F73AD926345}"/>
              </a:ext>
            </a:extLst>
          </p:cNvPr>
          <p:cNvSpPr txBox="1"/>
          <p:nvPr/>
        </p:nvSpPr>
        <p:spPr>
          <a:xfrm>
            <a:off x="6233652" y="4847502"/>
            <a:ext cx="5034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σA</a:t>
            </a:r>
            <a:r>
              <a:rPr lang="en-US" dirty="0"/>
              <a:t> 2 measures the additive genetic variation of the phenotype</a:t>
            </a:r>
            <a:endParaRPr lang="es-CO" dirty="0"/>
          </a:p>
        </p:txBody>
      </p: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9D69A433-AAA9-8CD0-A1AC-DB65E69C6050}"/>
              </a:ext>
            </a:extLst>
          </p:cNvPr>
          <p:cNvCxnSpPr>
            <a:cxnSpLocks/>
          </p:cNvCxnSpPr>
          <p:nvPr/>
        </p:nvCxnSpPr>
        <p:spPr>
          <a:xfrm flipH="1" flipV="1">
            <a:off x="2406446" y="3667561"/>
            <a:ext cx="3979606" cy="202456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CuadroTexto 54">
            <a:extLst>
              <a:ext uri="{FF2B5EF4-FFF2-40B4-BE49-F238E27FC236}">
                <a16:creationId xmlns:a16="http://schemas.microsoft.com/office/drawing/2014/main" id="{48C223DC-C0A1-0294-EE73-F6A1601F722C}"/>
              </a:ext>
            </a:extLst>
          </p:cNvPr>
          <p:cNvSpPr txBox="1"/>
          <p:nvPr/>
        </p:nvSpPr>
        <p:spPr>
          <a:xfrm>
            <a:off x="1163895" y="5606602"/>
            <a:ext cx="6464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σe</a:t>
            </a:r>
            <a:r>
              <a:rPr lang="en-US" dirty="0"/>
              <a:t> 2 measures residual variance</a:t>
            </a:r>
            <a:endParaRPr lang="es-CO" dirty="0"/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07D3467F-E6D0-2F67-3CDE-CCD056251D2E}"/>
              </a:ext>
            </a:extLst>
          </p:cNvPr>
          <p:cNvSpPr txBox="1"/>
          <p:nvPr/>
        </p:nvSpPr>
        <p:spPr>
          <a:xfrm>
            <a:off x="2163098" y="5002488"/>
            <a:ext cx="6464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 is an identity matrix</a:t>
            </a:r>
            <a:endParaRPr lang="es-CO" dirty="0"/>
          </a:p>
        </p:txBody>
      </p: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AB407D96-BFC1-92B5-2F12-A8E344A6FD31}"/>
              </a:ext>
            </a:extLst>
          </p:cNvPr>
          <p:cNvCxnSpPr>
            <a:cxnSpLocks/>
          </p:cNvCxnSpPr>
          <p:nvPr/>
        </p:nvCxnSpPr>
        <p:spPr>
          <a:xfrm flipH="1" flipV="1">
            <a:off x="2354826" y="4255548"/>
            <a:ext cx="304800" cy="7100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>
            <a:extLst>
              <a:ext uri="{FF2B5EF4-FFF2-40B4-BE49-F238E27FC236}">
                <a16:creationId xmlns:a16="http://schemas.microsoft.com/office/drawing/2014/main" id="{37CCBF87-6C9F-6474-3B2C-B2C561950D15}"/>
              </a:ext>
            </a:extLst>
          </p:cNvPr>
          <p:cNvCxnSpPr>
            <a:cxnSpLocks/>
          </p:cNvCxnSpPr>
          <p:nvPr/>
        </p:nvCxnSpPr>
        <p:spPr>
          <a:xfrm flipV="1">
            <a:off x="1692104" y="4181869"/>
            <a:ext cx="401619" cy="146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53889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6CC947-5D3D-7A62-9236-21565F16E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2F67B1-9187-0681-CA48-4D66C2B16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DE80D3-3DCD-846F-3CEC-D329D4A53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99" y="1035001"/>
            <a:ext cx="3981151" cy="478799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8882E8B-E0BE-06E2-62C5-EDDAE746E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129" y="288676"/>
            <a:ext cx="4324954" cy="6496957"/>
          </a:xfrm>
          <a:prstGeom prst="rect">
            <a:avLst/>
          </a:prstGeom>
        </p:spPr>
      </p:pic>
      <p:sp>
        <p:nvSpPr>
          <p:cNvPr id="12" name="Flecha: a la derecha 11">
            <a:extLst>
              <a:ext uri="{FF2B5EF4-FFF2-40B4-BE49-F238E27FC236}">
                <a16:creationId xmlns:a16="http://schemas.microsoft.com/office/drawing/2014/main" id="{31EE8D6B-E42E-D440-FB08-233010CBE319}"/>
              </a:ext>
            </a:extLst>
          </p:cNvPr>
          <p:cNvSpPr/>
          <p:nvPr/>
        </p:nvSpPr>
        <p:spPr>
          <a:xfrm>
            <a:off x="4424516" y="2802194"/>
            <a:ext cx="1583613" cy="11110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533826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9EAAEC-A369-0249-B022-6AF44E5639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660634" y="932270"/>
            <a:ext cx="9136246" cy="51458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E7229A-76C7-7C4B-9F27-4E111E59D0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6142" y="1094014"/>
            <a:ext cx="8871857" cy="2899788"/>
          </a:xfrm>
        </p:spPr>
        <p:txBody>
          <a:bodyPr>
            <a:normAutofit/>
          </a:bodyPr>
          <a:lstStyle/>
          <a:p>
            <a:r>
              <a:rPr lang="es-ES_tradnl" sz="2400" b="1" dirty="0"/>
              <a:t>Universidad ICESI</a:t>
            </a:r>
            <a:br>
              <a:rPr lang="es-ES_tradnl" sz="2400" b="1" dirty="0"/>
            </a:br>
            <a:r>
              <a:rPr lang="es-ES_tradnl" sz="2400" b="1" dirty="0"/>
              <a:t>Maestría de Biotecnología</a:t>
            </a:r>
            <a:br>
              <a:rPr lang="es-ES_tradnl" sz="2400" b="1" dirty="0"/>
            </a:br>
            <a:br>
              <a:rPr lang="es-ES_tradnl" sz="2400" b="1" dirty="0"/>
            </a:br>
            <a:r>
              <a:rPr lang="es-ES_tradnl" sz="2400" b="1" dirty="0"/>
              <a:t>Curso electivo:</a:t>
            </a:r>
            <a:br>
              <a:rPr lang="es-ES_tradnl" sz="2400" b="1" dirty="0"/>
            </a:br>
            <a:r>
              <a:rPr lang="es-ES_tradnl" sz="3600" b="1" dirty="0"/>
              <a:t>Mapeo genético avanzado</a:t>
            </a:r>
            <a:br>
              <a:rPr lang="es-ES_tradnl" sz="3600" b="1" dirty="0"/>
            </a:br>
            <a:br>
              <a:rPr lang="es-ES_tradnl" sz="2000" b="1" dirty="0"/>
            </a:br>
            <a:br>
              <a:rPr lang="es-ES_tradnl" sz="1400" b="1" dirty="0"/>
            </a:br>
            <a:r>
              <a:rPr lang="es-ES_tradnl" sz="1800" b="1" dirty="0"/>
              <a:t>Diciembre 2019</a:t>
            </a:r>
            <a:endParaRPr lang="es-ES_tradnl" sz="4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F77053-225F-264D-A0ED-EDD47D5B6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0250" y="4531178"/>
            <a:ext cx="8531116" cy="1439647"/>
          </a:xfrm>
        </p:spPr>
        <p:txBody>
          <a:bodyPr>
            <a:normAutofit/>
          </a:bodyPr>
          <a:lstStyle/>
          <a:p>
            <a:r>
              <a:rPr lang="es-ES_tradnl" sz="2000" b="1" dirty="0" err="1"/>
              <a:t>Mathias</a:t>
            </a:r>
            <a:r>
              <a:rPr lang="es-ES_tradnl" sz="2000" b="1" dirty="0"/>
              <a:t> Lorieux</a:t>
            </a:r>
          </a:p>
          <a:p>
            <a:r>
              <a:rPr lang="es-ES_tradnl" sz="2000" b="1" dirty="0"/>
              <a:t>IRD – CIAT</a:t>
            </a:r>
          </a:p>
          <a:p>
            <a:r>
              <a:rPr lang="es-ES_tradnl" sz="2000" b="1" dirty="0" err="1"/>
              <a:t>m.lorieux@gmail.com</a:t>
            </a:r>
            <a:endParaRPr lang="es-ES_tradnl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6DA3AA-18AA-174D-902E-721D52B7B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16" y="163607"/>
            <a:ext cx="2091900" cy="6660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D0F69D-E1A5-1242-A544-F9FAA390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3923" y="6078164"/>
            <a:ext cx="6324153" cy="7798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0E9FA9-A4DD-4F43-A92F-606EE8CAF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679" y="174173"/>
            <a:ext cx="4634467" cy="66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3393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DB8EB-EA40-0B4B-A8F1-56E665101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94" y="39215"/>
            <a:ext cx="10515600" cy="1325563"/>
          </a:xfrm>
        </p:spPr>
        <p:txBody>
          <a:bodyPr/>
          <a:lstStyle/>
          <a:p>
            <a:r>
              <a:rPr lang="en-GB" dirty="0" err="1"/>
              <a:t>Associación</a:t>
            </a:r>
            <a:endParaRPr lang="es-ES_tradnl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1600200"/>
            <a:ext cx="4114800" cy="4708525"/>
          </a:xfrm>
        </p:spPr>
        <p:txBody>
          <a:bodyPr>
            <a:normAutofit lnSpcReduction="10000"/>
          </a:bodyPr>
          <a:lstStyle/>
          <a:p>
            <a:r>
              <a:rPr lang="es-ES_tradnl" dirty="0">
                <a:solidFill>
                  <a:schemeClr val="tx2"/>
                </a:solidFill>
              </a:rPr>
              <a:t>Definición</a:t>
            </a:r>
          </a:p>
          <a:p>
            <a:pPr lvl="1"/>
            <a:r>
              <a:rPr lang="es-ES_tradnl" sz="2200" b="1" i="1" dirty="0">
                <a:solidFill>
                  <a:schemeClr val="accent3"/>
                </a:solidFill>
              </a:rPr>
              <a:t>Cualquier relación entre dos cantidades medidas que las haga estadísticamente dependientes. </a:t>
            </a:r>
          </a:p>
          <a:p>
            <a:endParaRPr lang="es-ES_tradnl" dirty="0">
              <a:solidFill>
                <a:schemeClr val="tx1"/>
              </a:solidFill>
            </a:endParaRPr>
          </a:p>
          <a:p>
            <a:pPr marL="342900" lvl="1" indent="-342900"/>
            <a:r>
              <a:rPr lang="es-ES_tradnl" sz="2800" dirty="0">
                <a:solidFill>
                  <a:schemeClr val="tx2"/>
                </a:solidFill>
              </a:rPr>
              <a:t>Heredabilidad</a:t>
            </a:r>
            <a:endParaRPr lang="es-ES_tradnl" sz="2800" dirty="0">
              <a:solidFill>
                <a:schemeClr val="accent3"/>
              </a:solidFill>
            </a:endParaRPr>
          </a:p>
          <a:p>
            <a:pPr lvl="1"/>
            <a:r>
              <a:rPr lang="es-ES_tradnl" sz="2200" b="1" i="1" dirty="0">
                <a:solidFill>
                  <a:schemeClr val="accent3"/>
                </a:solidFill>
              </a:rPr>
              <a:t>La proporción de varianza explicada por la genética</a:t>
            </a:r>
          </a:p>
          <a:p>
            <a:pPr marL="457200" lvl="1" indent="0">
              <a:buNone/>
            </a:pPr>
            <a:r>
              <a:rPr lang="es-ES_tradnl" sz="2800" dirty="0">
                <a:solidFill>
                  <a:schemeClr val="accent6"/>
                </a:solidFill>
              </a:rPr>
              <a:t>	</a:t>
            </a:r>
            <a:r>
              <a:rPr lang="es-ES_tradnl" sz="2800" i="1" dirty="0">
                <a:solidFill>
                  <a:schemeClr val="accent6"/>
                </a:solidFill>
              </a:rPr>
              <a:t>P</a:t>
            </a:r>
            <a:r>
              <a:rPr lang="es-ES_tradnl" sz="2800" dirty="0">
                <a:solidFill>
                  <a:schemeClr val="accent6"/>
                </a:solidFill>
              </a:rPr>
              <a:t>  =  </a:t>
            </a:r>
            <a:r>
              <a:rPr lang="es-ES_tradnl" sz="2800" i="1" dirty="0">
                <a:solidFill>
                  <a:schemeClr val="accent6"/>
                </a:solidFill>
              </a:rPr>
              <a:t>G</a:t>
            </a:r>
            <a:r>
              <a:rPr lang="es-ES_tradnl" sz="2800" dirty="0">
                <a:solidFill>
                  <a:schemeClr val="accent6"/>
                </a:solidFill>
              </a:rPr>
              <a:t>  +  </a:t>
            </a:r>
            <a:r>
              <a:rPr lang="es-ES_tradnl" sz="2800" i="1" dirty="0">
                <a:solidFill>
                  <a:schemeClr val="accent6"/>
                </a:solidFill>
              </a:rPr>
              <a:t>E</a:t>
            </a:r>
            <a:r>
              <a:rPr lang="es-ES_tradnl" sz="2800" dirty="0">
                <a:solidFill>
                  <a:schemeClr val="accent6"/>
                </a:solidFill>
              </a:rPr>
              <a:t>  +  </a:t>
            </a:r>
            <a:r>
              <a:rPr lang="es-ES_tradnl" sz="2800" i="1" dirty="0" err="1">
                <a:solidFill>
                  <a:schemeClr val="accent6"/>
                </a:solidFill>
              </a:rPr>
              <a:t>G</a:t>
            </a:r>
            <a:r>
              <a:rPr lang="es-ES_tradnl" sz="2800" dirty="0" err="1">
                <a:solidFill>
                  <a:schemeClr val="accent6"/>
                </a:solidFill>
              </a:rPr>
              <a:t>x</a:t>
            </a:r>
            <a:r>
              <a:rPr lang="es-ES_tradnl" sz="2800" i="1" dirty="0" err="1">
                <a:solidFill>
                  <a:schemeClr val="accent6"/>
                </a:solidFill>
              </a:rPr>
              <a:t>E</a:t>
            </a:r>
            <a:endParaRPr lang="es-ES_tradnl" sz="2800" i="1" dirty="0">
              <a:solidFill>
                <a:schemeClr val="accent6"/>
              </a:solidFill>
            </a:endParaRPr>
          </a:p>
          <a:p>
            <a:pPr lvl="2"/>
            <a:r>
              <a:rPr lang="es-ES_tradnl" b="1" dirty="0"/>
              <a:t>Heredabilidad &gt; 0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1981200" y="0"/>
            <a:ext cx="8229600" cy="11247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ts val="5800"/>
              </a:lnSpc>
              <a:spcBef>
                <a:spcPct val="0"/>
              </a:spcBef>
              <a:buNone/>
              <a:defRPr sz="5400" kern="1200">
                <a:solidFill>
                  <a:schemeClr val="tx2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endParaRPr lang="en-GB" sz="44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159" y="1285367"/>
            <a:ext cx="2430269" cy="2572254"/>
          </a:xfrm>
          <a:prstGeom prst="rect">
            <a:avLst/>
          </a:prstGeom>
        </p:spPr>
      </p:pic>
      <p:grpSp>
        <p:nvGrpSpPr>
          <p:cNvPr id="44" name="Group 43"/>
          <p:cNvGrpSpPr/>
          <p:nvPr/>
        </p:nvGrpSpPr>
        <p:grpSpPr>
          <a:xfrm>
            <a:off x="6924092" y="1076552"/>
            <a:ext cx="3618402" cy="3016491"/>
            <a:chOff x="5400092" y="1820723"/>
            <a:chExt cx="3618402" cy="3016491"/>
          </a:xfrm>
        </p:grpSpPr>
        <p:cxnSp>
          <p:nvCxnSpPr>
            <p:cNvPr id="10" name="Straight Arrow Connector 9"/>
            <p:cNvCxnSpPr/>
            <p:nvPr/>
          </p:nvCxnSpPr>
          <p:spPr>
            <a:xfrm>
              <a:off x="5984058" y="2093721"/>
              <a:ext cx="2503378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>
              <a:off x="5976157" y="2093721"/>
              <a:ext cx="0" cy="2374698"/>
            </a:xfrm>
            <a:prstGeom prst="straightConnector1">
              <a:avLst/>
            </a:prstGeom>
            <a:ln>
              <a:tailEnd type="arrow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8316416" y="1820723"/>
              <a:ext cx="70207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b="1" i="1" dirty="0">
                  <a:solidFill>
                    <a:schemeClr val="tx2"/>
                  </a:solidFill>
                  <a:latin typeface="+mj-lt"/>
                </a:rPr>
                <a:t>p</a:t>
              </a:r>
              <a:r>
                <a:rPr lang="en-GB" sz="1500" b="1" dirty="0">
                  <a:latin typeface="+mj-lt"/>
                </a:rPr>
                <a:t> </a:t>
              </a:r>
              <a:r>
                <a:rPr lang="en-GB" sz="1300" i="1" dirty="0">
                  <a:latin typeface="+mj-lt"/>
                </a:rPr>
                <a:t>SNPs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0092" y="4437104"/>
              <a:ext cx="11881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b="1" i="1" dirty="0">
                  <a:solidFill>
                    <a:schemeClr val="tx2"/>
                  </a:solidFill>
                  <a:latin typeface="+mj-lt"/>
                </a:rPr>
                <a:t>n</a:t>
              </a:r>
              <a:r>
                <a:rPr lang="en-GB" sz="2000" b="1" dirty="0">
                  <a:latin typeface="+mj-lt"/>
                </a:rPr>
                <a:t> </a:t>
              </a:r>
              <a:r>
                <a:rPr lang="en-GB" sz="1300" i="1" dirty="0" err="1">
                  <a:latin typeface="+mj-lt"/>
                </a:rPr>
                <a:t>individuos</a:t>
              </a:r>
              <a:endParaRPr lang="en-GB" sz="1300" i="1" dirty="0">
                <a:latin typeface="+mj-lt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5951984" y="1604708"/>
            <a:ext cx="1368152" cy="1917601"/>
            <a:chOff x="4427984" y="2348879"/>
            <a:chExt cx="1368152" cy="1917601"/>
          </a:xfrm>
        </p:grpSpPr>
        <p:cxnSp>
          <p:nvCxnSpPr>
            <p:cNvPr id="21" name="Straight Connector 20"/>
            <p:cNvCxnSpPr/>
            <p:nvPr/>
          </p:nvCxnSpPr>
          <p:spPr>
            <a:xfrm>
              <a:off x="5742130" y="2348879"/>
              <a:ext cx="0" cy="962716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5796136" y="2348879"/>
              <a:ext cx="0" cy="962716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742130" y="3367947"/>
              <a:ext cx="0" cy="898533"/>
            </a:xfrm>
            <a:prstGeom prst="line">
              <a:avLst/>
            </a:prstGeom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5796136" y="3367947"/>
              <a:ext cx="0" cy="898533"/>
            </a:xfrm>
            <a:prstGeom prst="line">
              <a:avLst/>
            </a:prstGeom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427984" y="3501008"/>
              <a:ext cx="12241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1" dirty="0" err="1">
                  <a:solidFill>
                    <a:schemeClr val="accent3"/>
                  </a:solidFill>
                  <a:latin typeface="+mj-lt"/>
                </a:rPr>
                <a:t>Casos</a:t>
              </a:r>
              <a:endParaRPr lang="en-GB" sz="1600" b="1" dirty="0">
                <a:solidFill>
                  <a:schemeClr val="accent3"/>
                </a:solidFill>
                <a:latin typeface="+mj-lt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427984" y="2708920"/>
              <a:ext cx="12241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1600" b="1" dirty="0" err="1">
                  <a:solidFill>
                    <a:schemeClr val="tx2"/>
                  </a:solidFill>
                  <a:latin typeface="+mj-lt"/>
                </a:rPr>
                <a:t>Controles</a:t>
              </a:r>
              <a:endParaRPr lang="en-GB" sz="1600" b="1" dirty="0">
                <a:solidFill>
                  <a:schemeClr val="tx2"/>
                </a:solidFill>
                <a:latin typeface="+mj-lt"/>
              </a:endParaRPr>
            </a:p>
          </p:txBody>
        </p:sp>
      </p:grpSp>
      <p:cxnSp>
        <p:nvCxnSpPr>
          <p:cNvPr id="39" name="Straight Connector 38"/>
          <p:cNvCxnSpPr/>
          <p:nvPr/>
        </p:nvCxnSpPr>
        <p:spPr>
          <a:xfrm>
            <a:off x="6258018" y="2536898"/>
            <a:ext cx="4374486" cy="0"/>
          </a:xfrm>
          <a:prstGeom prst="line">
            <a:avLst/>
          </a:prstGeom>
          <a:ln w="539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570387" y="1146363"/>
            <a:ext cx="360040" cy="2781070"/>
          </a:xfrm>
          <a:prstGeom prst="ellipse">
            <a:avLst/>
          </a:prstGeom>
          <a:noFill/>
          <a:ln w="476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8212" y="4555833"/>
            <a:ext cx="1001464" cy="1988026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5045790"/>
            <a:ext cx="1080120" cy="1495166"/>
          </a:xfrm>
          <a:prstGeom prst="rect">
            <a:avLst/>
          </a:prstGeom>
        </p:spPr>
      </p:pic>
      <p:grpSp>
        <p:nvGrpSpPr>
          <p:cNvPr id="48" name="Group 47"/>
          <p:cNvGrpSpPr/>
          <p:nvPr/>
        </p:nvGrpSpPr>
        <p:grpSpPr>
          <a:xfrm>
            <a:off x="7958213" y="5549847"/>
            <a:ext cx="1162123" cy="976301"/>
            <a:chOff x="6434212" y="5549846"/>
            <a:chExt cx="1162123" cy="976301"/>
          </a:xfrm>
        </p:grpSpPr>
        <p:pic>
          <p:nvPicPr>
            <p:cNvPr id="3082" name="Picture 10" descr="http://www.stuartsclipart.co.uk/food_clipart/food_clipart_graphics/banana-clipart-02%5blarge%5d.jpg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4212" y="5949280"/>
              <a:ext cx="308025" cy="3920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2" descr="http://www.clipartbest.com/cliparts/9T4/b94/9T4b94rTE.jpeg"/>
            <p:cNvPicPr>
              <a:picLocks noChangeAspect="1" noChangeArrowheads="1"/>
            </p:cNvPicPr>
            <p:nvPr/>
          </p:nvPicPr>
          <p:blipFill>
            <a:blip r:embed="rId7" cstate="print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18343" y="5802532"/>
              <a:ext cx="576064" cy="7236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http://www.clker.com/cliparts/3/7/5/6/11949861182029597463an_apple_01.svg.hi.png"/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7718" y="5549846"/>
              <a:ext cx="448617" cy="4714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074" name="Picture 2" descr="http://www.clipartbest.com/cliparts/9T4/b94/9T4b94rTE.jpeg"/>
          <p:cNvPicPr>
            <a:picLocks noChangeAspect="1" noChangeArrowheads="1"/>
          </p:cNvPicPr>
          <p:nvPr/>
        </p:nvPicPr>
        <p:blipFill>
          <a:blip r:embed="rId9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7076" y="5773532"/>
            <a:ext cx="502273" cy="72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4298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61E2F3-4B3F-1840-92EC-1FF3F016D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56" y="-3435"/>
            <a:ext cx="10515600" cy="1325563"/>
          </a:xfrm>
        </p:spPr>
        <p:txBody>
          <a:bodyPr/>
          <a:lstStyle/>
          <a:p>
            <a:r>
              <a:rPr lang="es-ES_tradnl" dirty="0"/>
              <a:t>Diseño GWAS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1825625"/>
            <a:ext cx="10515600" cy="4351338"/>
          </a:xfrm>
        </p:spPr>
        <p:txBody>
          <a:bodyPr/>
          <a:lstStyle/>
          <a:p>
            <a:r>
              <a:rPr lang="es-ES_tradnl" dirty="0">
                <a:solidFill>
                  <a:schemeClr val="tx2"/>
                </a:solidFill>
              </a:rPr>
              <a:t>Caso-Control</a:t>
            </a:r>
          </a:p>
          <a:p>
            <a:pPr lvl="1"/>
            <a:r>
              <a:rPr lang="es-ES_tradnl" sz="2000" dirty="0"/>
              <a:t>Un "caso" bien definido</a:t>
            </a:r>
          </a:p>
          <a:p>
            <a:pPr lvl="1"/>
            <a:r>
              <a:rPr lang="es-ES_tradnl" sz="2000" dirty="0"/>
              <a:t>Herencia conocida</a:t>
            </a:r>
          </a:p>
          <a:p>
            <a:endParaRPr lang="es-ES_tradnl" dirty="0">
              <a:solidFill>
                <a:schemeClr val="tx1"/>
              </a:solidFill>
            </a:endParaRPr>
          </a:p>
          <a:p>
            <a:r>
              <a:rPr lang="es-ES_tradnl" dirty="0">
                <a:solidFill>
                  <a:schemeClr val="tx2"/>
                </a:solidFill>
              </a:rPr>
              <a:t>Variaciones</a:t>
            </a:r>
          </a:p>
          <a:p>
            <a:pPr lvl="1"/>
            <a:r>
              <a:rPr lang="es-ES_tradnl" sz="2000" dirty="0"/>
              <a:t>Datos fenotípicos cuantitativos</a:t>
            </a:r>
          </a:p>
          <a:p>
            <a:pPr lvl="2"/>
            <a:r>
              <a:rPr lang="es-ES_tradnl" dirty="0">
                <a:solidFill>
                  <a:schemeClr val="accent6"/>
                </a:solidFill>
              </a:rPr>
              <a:t>Ej. Altura, concentraciones de biomarcadores</a:t>
            </a:r>
          </a:p>
          <a:p>
            <a:pPr lvl="1"/>
            <a:r>
              <a:rPr lang="es-ES_tradnl" sz="2000" dirty="0"/>
              <a:t>Modelos explícitos</a:t>
            </a:r>
          </a:p>
          <a:p>
            <a:pPr lvl="2"/>
            <a:r>
              <a:rPr lang="es-ES_tradnl" dirty="0">
                <a:solidFill>
                  <a:schemeClr val="accent6"/>
                </a:solidFill>
              </a:rPr>
              <a:t>Ej. dominante o recesiva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780" y="1115096"/>
            <a:ext cx="1001292" cy="14366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073" y="1181950"/>
            <a:ext cx="1019685" cy="130293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4395" y="1267536"/>
            <a:ext cx="1008112" cy="65642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1105" y="1891452"/>
            <a:ext cx="1014039" cy="66028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5934" y="2533056"/>
            <a:ext cx="768005" cy="1063118"/>
          </a:xfrm>
          <a:prstGeom prst="rect">
            <a:avLst/>
          </a:prstGeom>
        </p:spPr>
      </p:pic>
      <p:pic>
        <p:nvPicPr>
          <p:cNvPr id="14" name="Picture 2" descr="http://www.clipartbest.com/cliparts/9T4/b94/9T4b94rTE.jpeg"/>
          <p:cNvPicPr>
            <a:picLocks noChangeAspect="1" noChangeArrowheads="1"/>
          </p:cNvPicPr>
          <p:nvPr/>
        </p:nvPicPr>
        <p:blipFill>
          <a:blip r:embed="rId7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4507" y="3055229"/>
            <a:ext cx="357135" cy="514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76374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4B4061-D1B6-D643-AE65-4A9C627FF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88" y="0"/>
            <a:ext cx="892722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B141B8-623A-6541-9AD8-08CBC2B03F37}"/>
              </a:ext>
            </a:extLst>
          </p:cNvPr>
          <p:cNvSpPr txBox="1"/>
          <p:nvPr/>
        </p:nvSpPr>
        <p:spPr>
          <a:xfrm>
            <a:off x="7536074" y="1900051"/>
            <a:ext cx="18803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b="1" dirty="0"/>
              <a:t>Imputación</a:t>
            </a:r>
          </a:p>
        </p:txBody>
      </p:sp>
    </p:spTree>
    <p:extLst>
      <p:ext uri="{BB962C8B-B14F-4D97-AF65-F5344CB8AC3E}">
        <p14:creationId xmlns:p14="http://schemas.microsoft.com/office/powerpoint/2010/main" val="23372525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C86256-00D9-B241-8A41-E30D1A20D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681" y="0"/>
            <a:ext cx="71026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9498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441" name="Object 4">
            <a:extLst>
              <a:ext uri="{FF2B5EF4-FFF2-40B4-BE49-F238E27FC236}">
                <a16:creationId xmlns:a16="http://schemas.microsoft.com/office/drawing/2014/main" id="{74F6502C-5545-7443-A6F8-2602E89B3A7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62350" y="0"/>
          <a:ext cx="4954588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3" imgW="7556500" imgH="10464800" progId="Paint.Picture">
                  <p:embed/>
                </p:oleObj>
              </mc:Choice>
              <mc:Fallback>
                <p:oleObj name="Bitmap Image" r:id="rId3" imgW="7556500" imgH="10464800" progId="Paint.Picture">
                  <p:embed/>
                  <p:pic>
                    <p:nvPicPr>
                      <p:cNvPr id="61441" name="Object 4">
                        <a:extLst>
                          <a:ext uri="{FF2B5EF4-FFF2-40B4-BE49-F238E27FC236}">
                            <a16:creationId xmlns:a16="http://schemas.microsoft.com/office/drawing/2014/main" id="{74F6502C-5545-7443-A6F8-2602E89B3A7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2350" y="0"/>
                        <a:ext cx="4954588" cy="685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442" name="Text Box 5">
            <a:extLst>
              <a:ext uri="{FF2B5EF4-FFF2-40B4-BE49-F238E27FC236}">
                <a16:creationId xmlns:a16="http://schemas.microsoft.com/office/drawing/2014/main" id="{98D0DAE3-5045-4245-BF94-95503D7593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6726" y="6051551"/>
            <a:ext cx="18891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r>
              <a:rPr lang="en-US" altLang="en-US" dirty="0" err="1"/>
              <a:t>Kingsmore</a:t>
            </a:r>
            <a:r>
              <a:rPr lang="en-US" altLang="en-US" dirty="0"/>
              <a:t>, 2008</a:t>
            </a:r>
          </a:p>
        </p:txBody>
      </p:sp>
    </p:spTree>
    <p:extLst>
      <p:ext uri="{BB962C8B-B14F-4D97-AF65-F5344CB8AC3E}">
        <p14:creationId xmlns:p14="http://schemas.microsoft.com/office/powerpoint/2010/main" val="15966992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6793F3-5ECB-C44B-AE7B-B063FAC05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171" y="0"/>
            <a:ext cx="79596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636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Fuentes de asociación</a:t>
            </a:r>
          </a:p>
        </p:txBody>
      </p:sp>
      <p:sp>
        <p:nvSpPr>
          <p:cNvPr id="5123" name="Rectangle 10"/>
          <p:cNvSpPr>
            <a:spLocks noGrp="1" noChangeArrowheads="1"/>
          </p:cNvSpPr>
          <p:nvPr>
            <p:ph idx="1"/>
          </p:nvPr>
        </p:nvSpPr>
        <p:spPr>
          <a:xfrm>
            <a:off x="586511" y="1809494"/>
            <a:ext cx="8183772" cy="4351338"/>
          </a:xfrm>
        </p:spPr>
        <p:txBody>
          <a:bodyPr>
            <a:normAutofit lnSpcReduction="10000"/>
          </a:bodyPr>
          <a:lstStyle/>
          <a:p>
            <a:r>
              <a:rPr lang="es-ES_tradnl"/>
              <a:t>Asociación causal</a:t>
            </a:r>
          </a:p>
          <a:p>
            <a:pPr lvl="1"/>
            <a:r>
              <a:rPr lang="es-ES_tradnl"/>
              <a:t>Los alelos de los marcadores genéticos influyen en la susceptibilidad</a:t>
            </a:r>
          </a:p>
          <a:p>
            <a:pPr lvl="1"/>
            <a:endParaRPr lang="es-ES_tradnl"/>
          </a:p>
          <a:p>
            <a:r>
              <a:rPr lang="es-ES_tradnl"/>
              <a:t>Desquilibrio del ligamiento</a:t>
            </a:r>
          </a:p>
          <a:p>
            <a:pPr lvl="1"/>
            <a:r>
              <a:rPr lang="es-ES_tradnl"/>
              <a:t>Alelos de marcadores asociados con otros alelos cercanos que influyen en la susceptibilidad</a:t>
            </a:r>
          </a:p>
          <a:p>
            <a:pPr lvl="1"/>
            <a:endParaRPr lang="es-ES_tradnl"/>
          </a:p>
          <a:p>
            <a:r>
              <a:rPr lang="es-ES_tradnl"/>
              <a:t>Estratificación de la población </a:t>
            </a:r>
          </a:p>
          <a:p>
            <a:pPr lvl="1"/>
            <a:r>
              <a:rPr lang="es-ES_tradnl"/>
              <a:t>El marcador genético no está relacionado con los alelos de la enfermedad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05884" y="1809494"/>
            <a:ext cx="1299605" cy="56114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800"/>
              <a:t>mejor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05884" y="3254567"/>
            <a:ext cx="1299605" cy="56114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800"/>
              <a:t>útil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04561" y="5002549"/>
            <a:ext cx="1821415" cy="56114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800"/>
              <a:t>engañosos</a:t>
            </a:r>
          </a:p>
        </p:txBody>
      </p:sp>
    </p:spTree>
    <p:extLst>
      <p:ext uri="{BB962C8B-B14F-4D97-AF65-F5344CB8AC3E}">
        <p14:creationId xmlns:p14="http://schemas.microsoft.com/office/powerpoint/2010/main" val="2699420829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46FD5-1234-554C-8333-ACCE1A37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Estratificación de la población</a:t>
            </a:r>
            <a:br>
              <a:rPr lang="es-ES_tradnl" dirty="0"/>
            </a:br>
            <a:endParaRPr lang="es-ES_tradnl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72966" y="3839977"/>
            <a:ext cx="8229600" cy="2481263"/>
          </a:xfrm>
        </p:spPr>
        <p:txBody>
          <a:bodyPr>
            <a:normAutofit fontScale="92500" lnSpcReduction="10000"/>
          </a:bodyPr>
          <a:lstStyle/>
          <a:p>
            <a:pPr lvl="1"/>
            <a:endParaRPr lang="en-GB" dirty="0">
              <a:solidFill>
                <a:schemeClr val="tx1"/>
              </a:solidFill>
            </a:endParaRPr>
          </a:p>
          <a:p>
            <a:r>
              <a:rPr lang="en-GB" dirty="0" err="1">
                <a:solidFill>
                  <a:schemeClr val="tx2"/>
                </a:solidFill>
              </a:rPr>
              <a:t>Problema</a:t>
            </a:r>
            <a:endParaRPr lang="en-GB" dirty="0">
              <a:solidFill>
                <a:schemeClr val="tx2"/>
              </a:solidFill>
            </a:endParaRPr>
          </a:p>
          <a:p>
            <a:pPr lvl="1"/>
            <a:r>
              <a:rPr lang="en-GB" sz="2000" dirty="0"/>
              <a:t>No </a:t>
            </a:r>
            <a:r>
              <a:rPr lang="en-GB" sz="2000" dirty="0" err="1"/>
              <a:t>respeta</a:t>
            </a:r>
            <a:r>
              <a:rPr lang="en-GB" sz="2000" dirty="0"/>
              <a:t> la </a:t>
            </a:r>
            <a:r>
              <a:rPr lang="en-GB" sz="2000" dirty="0" err="1"/>
              <a:t>supuesta</a:t>
            </a:r>
            <a:r>
              <a:rPr lang="en-GB" sz="2000" dirty="0"/>
              <a:t> </a:t>
            </a:r>
            <a:r>
              <a:rPr lang="en-GB" sz="2000" dirty="0" err="1"/>
              <a:t>homogeneidad</a:t>
            </a:r>
            <a:r>
              <a:rPr lang="en-GB" sz="2000" dirty="0"/>
              <a:t> de la población, </a:t>
            </a:r>
            <a:r>
              <a:rPr lang="en-GB" sz="2000" dirty="0" err="1"/>
              <a:t>observaciones</a:t>
            </a:r>
            <a:r>
              <a:rPr lang="en-GB" sz="2000" dirty="0"/>
              <a:t> </a:t>
            </a:r>
            <a:r>
              <a:rPr lang="en-GB" sz="2000" dirty="0" err="1"/>
              <a:t>independientes</a:t>
            </a:r>
            <a:endParaRPr lang="en-GB" sz="2000" dirty="0"/>
          </a:p>
          <a:p>
            <a:pPr lvl="2"/>
            <a:r>
              <a:rPr lang="en-GB" sz="1800" b="1" dirty="0">
                <a:solidFill>
                  <a:schemeClr val="accent6"/>
                </a:solidFill>
                <a:sym typeface="Wingdings" panose="05000000000000000000" pitchFamily="2" charset="2"/>
              </a:rPr>
              <a:t> </a:t>
            </a:r>
            <a:r>
              <a:rPr lang="en-GB" sz="18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Asociaciones</a:t>
            </a:r>
            <a:r>
              <a:rPr lang="en-GB" sz="1800" b="1" dirty="0">
                <a:solidFill>
                  <a:schemeClr val="accent6"/>
                </a:solidFill>
                <a:sym typeface="Wingdings" panose="05000000000000000000" pitchFamily="2" charset="2"/>
              </a:rPr>
              <a:t> </a:t>
            </a:r>
            <a:r>
              <a:rPr lang="en-GB" sz="18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confusas</a:t>
            </a:r>
            <a:r>
              <a:rPr lang="en-GB" sz="1800" b="1" dirty="0">
                <a:solidFill>
                  <a:schemeClr val="accent6"/>
                </a:solidFill>
                <a:sym typeface="Wingdings" panose="05000000000000000000" pitchFamily="2" charset="2"/>
              </a:rPr>
              <a:t> y </a:t>
            </a:r>
            <a:r>
              <a:rPr lang="en-GB" sz="18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espurias</a:t>
            </a:r>
            <a:endParaRPr lang="en-GB" sz="1800" b="1" dirty="0">
              <a:solidFill>
                <a:schemeClr val="accent6"/>
              </a:solidFill>
              <a:sym typeface="Wingdings" panose="05000000000000000000" pitchFamily="2" charset="2"/>
            </a:endParaRPr>
          </a:p>
          <a:p>
            <a:pPr lvl="1"/>
            <a:r>
              <a:rPr lang="en-GB" sz="2000" dirty="0"/>
              <a:t>Población de </a:t>
            </a:r>
            <a:r>
              <a:rPr lang="en-GB" sz="2000" dirty="0" err="1"/>
              <a:t>casos</a:t>
            </a:r>
            <a:r>
              <a:rPr lang="en-GB" sz="2000" dirty="0"/>
              <a:t> con mayor </a:t>
            </a:r>
            <a:r>
              <a:rPr lang="en-GB" sz="2000" dirty="0" err="1"/>
              <a:t>probabilidad</a:t>
            </a:r>
            <a:r>
              <a:rPr lang="en-GB" sz="2000" dirty="0"/>
              <a:t> de </a:t>
            </a:r>
            <a:r>
              <a:rPr lang="en-GB" sz="2000" dirty="0" err="1"/>
              <a:t>estar</a:t>
            </a:r>
            <a:r>
              <a:rPr lang="en-GB" sz="2000" dirty="0"/>
              <a:t> </a:t>
            </a:r>
            <a:r>
              <a:rPr lang="en-GB" sz="2000" dirty="0" err="1"/>
              <a:t>relacionada</a:t>
            </a:r>
            <a:r>
              <a:rPr lang="en-GB" sz="2000" dirty="0"/>
              <a:t> que la población de control</a:t>
            </a:r>
          </a:p>
          <a:p>
            <a:pPr lvl="2"/>
            <a:r>
              <a:rPr lang="en-GB" sz="1800" b="1" dirty="0">
                <a:solidFill>
                  <a:schemeClr val="accent6"/>
                </a:solidFill>
                <a:sym typeface="Wingdings" panose="05000000000000000000" pitchFamily="2" charset="2"/>
              </a:rPr>
              <a:t> </a:t>
            </a:r>
            <a:r>
              <a:rPr lang="en-GB" sz="18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Sobreestimación</a:t>
            </a:r>
            <a:r>
              <a:rPr lang="en-GB" sz="1800" b="1" dirty="0">
                <a:solidFill>
                  <a:schemeClr val="accent6"/>
                </a:solidFill>
                <a:sym typeface="Wingdings" panose="05000000000000000000" pitchFamily="2" charset="2"/>
              </a:rPr>
              <a:t> de la </a:t>
            </a:r>
            <a:r>
              <a:rPr lang="en-GB" sz="18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importancia</a:t>
            </a:r>
            <a:r>
              <a:rPr lang="en-GB" sz="1800" b="1" dirty="0">
                <a:solidFill>
                  <a:schemeClr val="accent6"/>
                </a:solidFill>
                <a:sym typeface="Wingdings" panose="05000000000000000000" pitchFamily="2" charset="2"/>
              </a:rPr>
              <a:t> de las </a:t>
            </a:r>
            <a:r>
              <a:rPr lang="en-GB" sz="1800" b="1" dirty="0" err="1">
                <a:solidFill>
                  <a:schemeClr val="accent6"/>
                </a:solidFill>
                <a:sym typeface="Wingdings" panose="05000000000000000000" pitchFamily="2" charset="2"/>
              </a:rPr>
              <a:t>asociaciones</a:t>
            </a:r>
            <a:endParaRPr lang="en-GB" sz="1800" b="1" dirty="0">
              <a:solidFill>
                <a:schemeClr val="accent6"/>
              </a:solidFill>
              <a:sym typeface="Wingdings" panose="05000000000000000000" pitchFamily="2" charset="2"/>
            </a:endParaRPr>
          </a:p>
        </p:txBody>
      </p:sp>
      <p:pic>
        <p:nvPicPr>
          <p:cNvPr id="1028" name="Picture 4" descr="http://www.border-wars.com/wp-content/uploads/2008/09/Border_Collie_Stratification_Graph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4060" y="980729"/>
            <a:ext cx="3810000" cy="338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ontent Placeholder 2"/>
          <p:cNvSpPr txBox="1">
            <a:spLocks/>
          </p:cNvSpPr>
          <p:nvPr/>
        </p:nvSpPr>
        <p:spPr>
          <a:xfrm>
            <a:off x="472966" y="1358838"/>
            <a:ext cx="6074979" cy="2481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GB" sz="2800" dirty="0" err="1">
                <a:solidFill>
                  <a:schemeClr val="tx2"/>
                </a:solidFill>
              </a:rPr>
              <a:t>Definición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r>
              <a:rPr lang="en-GB" sz="2000" b="1" dirty="0">
                <a:solidFill>
                  <a:schemeClr val="accent6"/>
                </a:solidFill>
              </a:rPr>
              <a:t>"</a:t>
            </a:r>
            <a:r>
              <a:rPr lang="en-GB" sz="2000" b="1" dirty="0" err="1">
                <a:solidFill>
                  <a:schemeClr val="accent6"/>
                </a:solidFill>
              </a:rPr>
              <a:t>Estratificación</a:t>
            </a:r>
            <a:r>
              <a:rPr lang="en-GB" sz="2000" b="1" dirty="0">
                <a:solidFill>
                  <a:schemeClr val="accent6"/>
                </a:solidFill>
              </a:rPr>
              <a:t> de la población" = </a:t>
            </a:r>
            <a:r>
              <a:rPr lang="en-GB" sz="2000" b="1" dirty="0" err="1">
                <a:solidFill>
                  <a:schemeClr val="accent6"/>
                </a:solidFill>
              </a:rPr>
              <a:t>estructura</a:t>
            </a:r>
            <a:r>
              <a:rPr lang="en-GB" sz="2000" b="1" dirty="0">
                <a:solidFill>
                  <a:schemeClr val="accent6"/>
                </a:solidFill>
              </a:rPr>
              <a:t> de la población</a:t>
            </a:r>
          </a:p>
          <a:p>
            <a:pPr lvl="1"/>
            <a:r>
              <a:rPr lang="en-GB" sz="2000" b="1" i="1" dirty="0" err="1">
                <a:solidFill>
                  <a:schemeClr val="accent3"/>
                </a:solidFill>
              </a:rPr>
              <a:t>Diferencia</a:t>
            </a:r>
            <a:r>
              <a:rPr lang="en-GB" sz="2000" b="1" i="1" dirty="0">
                <a:solidFill>
                  <a:schemeClr val="accent3"/>
                </a:solidFill>
              </a:rPr>
              <a:t> </a:t>
            </a:r>
            <a:r>
              <a:rPr lang="en-GB" sz="2000" b="1" i="1" dirty="0" err="1">
                <a:solidFill>
                  <a:schemeClr val="accent3"/>
                </a:solidFill>
              </a:rPr>
              <a:t>sistemática</a:t>
            </a:r>
            <a:r>
              <a:rPr lang="en-GB" sz="2000" b="1" i="1" dirty="0">
                <a:solidFill>
                  <a:schemeClr val="accent3"/>
                </a:solidFill>
              </a:rPr>
              <a:t> de </a:t>
            </a:r>
            <a:r>
              <a:rPr lang="en-GB" sz="2000" b="1" i="1" dirty="0" err="1">
                <a:solidFill>
                  <a:schemeClr val="accent3"/>
                </a:solidFill>
              </a:rPr>
              <a:t>frecuencias</a:t>
            </a:r>
            <a:r>
              <a:rPr lang="en-GB" sz="2000" b="1" i="1" dirty="0">
                <a:solidFill>
                  <a:schemeClr val="accent3"/>
                </a:solidFill>
              </a:rPr>
              <a:t> </a:t>
            </a:r>
            <a:r>
              <a:rPr lang="en-GB" sz="2000" b="1" i="1" dirty="0" err="1">
                <a:solidFill>
                  <a:schemeClr val="accent3"/>
                </a:solidFill>
              </a:rPr>
              <a:t>alélicas</a:t>
            </a:r>
            <a:r>
              <a:rPr lang="en-GB" sz="2000" b="1" i="1" dirty="0">
                <a:solidFill>
                  <a:schemeClr val="accent3"/>
                </a:solidFill>
              </a:rPr>
              <a:t> entre las </a:t>
            </a:r>
            <a:r>
              <a:rPr lang="en-GB" sz="2000" b="1" i="1" dirty="0" err="1">
                <a:solidFill>
                  <a:schemeClr val="accent3"/>
                </a:solidFill>
              </a:rPr>
              <a:t>subpoblaciones</a:t>
            </a:r>
            <a:r>
              <a:rPr lang="en-GB" sz="2000" b="1" i="1" dirty="0">
                <a:solidFill>
                  <a:schemeClr val="accent3"/>
                </a:solidFill>
              </a:rPr>
              <a:t>..... </a:t>
            </a:r>
          </a:p>
          <a:p>
            <a:pPr lvl="2"/>
            <a:r>
              <a:rPr lang="en-GB" sz="1800" dirty="0">
                <a:solidFill>
                  <a:schemeClr val="tx1"/>
                </a:solidFill>
              </a:rPr>
              <a:t>... </a:t>
            </a:r>
            <a:r>
              <a:rPr lang="en-GB" sz="1800" dirty="0" err="1">
                <a:solidFill>
                  <a:schemeClr val="tx1"/>
                </a:solidFill>
              </a:rPr>
              <a:t>posiblemente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debido</a:t>
            </a:r>
            <a:r>
              <a:rPr lang="en-GB" sz="1800" dirty="0">
                <a:solidFill>
                  <a:schemeClr val="tx1"/>
                </a:solidFill>
              </a:rPr>
              <a:t> a una </a:t>
            </a:r>
            <a:r>
              <a:rPr lang="en-GB" sz="1800" dirty="0" err="1">
                <a:solidFill>
                  <a:schemeClr val="tx1"/>
                </a:solidFill>
              </a:rPr>
              <a:t>ascendencia</a:t>
            </a:r>
            <a:r>
              <a:rPr lang="en-GB" sz="1800" dirty="0">
                <a:solidFill>
                  <a:schemeClr val="tx1"/>
                </a:solidFill>
              </a:rPr>
              <a:t> </a:t>
            </a:r>
            <a:r>
              <a:rPr lang="en-GB" sz="1800" dirty="0" err="1">
                <a:solidFill>
                  <a:schemeClr val="tx1"/>
                </a:solidFill>
              </a:rPr>
              <a:t>diferente</a:t>
            </a:r>
            <a:endParaRPr lang="en-GB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74040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4855" y="1565988"/>
            <a:ext cx="4474840" cy="4525963"/>
          </a:xfrm>
        </p:spPr>
        <p:txBody>
          <a:bodyPr>
            <a:normAutofit lnSpcReduction="10000"/>
          </a:bodyPr>
          <a:lstStyle/>
          <a:p>
            <a:r>
              <a:rPr lang="en-GB" sz="3000" b="1" dirty="0" err="1">
                <a:solidFill>
                  <a:schemeClr val="accent3"/>
                </a:solidFill>
                <a:sym typeface="Wingdings" panose="05000000000000000000" pitchFamily="2" charset="2"/>
              </a:rPr>
              <a:t>Visualizar</a:t>
            </a:r>
            <a:endParaRPr lang="en-GB" sz="3000" b="1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pPr lvl="1"/>
            <a:r>
              <a:rPr lang="en-GB" sz="2600" dirty="0" err="1">
                <a:sym typeface="Wingdings" panose="05000000000000000000" pitchFamily="2" charset="2"/>
              </a:rPr>
              <a:t>Filogenética</a:t>
            </a:r>
            <a:endParaRPr lang="en-GB" sz="2600" dirty="0">
              <a:sym typeface="Wingdings" panose="05000000000000000000" pitchFamily="2" charset="2"/>
            </a:endParaRPr>
          </a:p>
          <a:p>
            <a:pPr lvl="1"/>
            <a:r>
              <a:rPr lang="en-GB" sz="2600" dirty="0">
                <a:sym typeface="Wingdings" panose="05000000000000000000" pitchFamily="2" charset="2"/>
              </a:rPr>
              <a:t>ACP</a:t>
            </a:r>
          </a:p>
          <a:p>
            <a:pPr lvl="1"/>
            <a:r>
              <a:rPr lang="en-GB" sz="2600" dirty="0">
                <a:sym typeface="Wingdings" panose="05000000000000000000" pitchFamily="2" charset="2"/>
              </a:rPr>
              <a:t>MDS</a:t>
            </a:r>
          </a:p>
          <a:p>
            <a:pPr lvl="1"/>
            <a:endParaRPr lang="en-GB" sz="1600" dirty="0">
              <a:sym typeface="Wingdings" panose="05000000000000000000" pitchFamily="2" charset="2"/>
            </a:endParaRPr>
          </a:p>
          <a:p>
            <a:pPr lvl="1"/>
            <a:endParaRPr lang="en-GB" sz="1600" dirty="0">
              <a:sym typeface="Wingdings" panose="05000000000000000000" pitchFamily="2" charset="2"/>
            </a:endParaRPr>
          </a:p>
          <a:p>
            <a:r>
              <a:rPr lang="en-GB" sz="3000" b="1" dirty="0" err="1">
                <a:solidFill>
                  <a:schemeClr val="accent3"/>
                </a:solidFill>
                <a:sym typeface="Wingdings" panose="05000000000000000000" pitchFamily="2" charset="2"/>
              </a:rPr>
              <a:t>Corregir</a:t>
            </a:r>
            <a:endParaRPr lang="en-GB" sz="3000" b="1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pPr lvl="1"/>
            <a:r>
              <a:rPr lang="en-GB" sz="2600" dirty="0">
                <a:sym typeface="Wingdings" panose="05000000000000000000" pitchFamily="2" charset="2"/>
              </a:rPr>
              <a:t>Control </a:t>
            </a:r>
            <a:r>
              <a:rPr lang="en-GB" sz="2600" dirty="0" err="1">
                <a:sym typeface="Wingdings" panose="05000000000000000000" pitchFamily="2" charset="2"/>
              </a:rPr>
              <a:t>genómico</a:t>
            </a:r>
            <a:endParaRPr lang="en-GB" sz="2600" dirty="0">
              <a:sym typeface="Wingdings" panose="05000000000000000000" pitchFamily="2" charset="2"/>
            </a:endParaRPr>
          </a:p>
          <a:p>
            <a:pPr lvl="1"/>
            <a:r>
              <a:rPr lang="en-GB" sz="2600" dirty="0" err="1">
                <a:sym typeface="Wingdings" panose="05000000000000000000" pitchFamily="2" charset="2"/>
              </a:rPr>
              <a:t>Regresión</a:t>
            </a:r>
            <a:r>
              <a:rPr lang="en-GB" sz="2600" dirty="0">
                <a:sym typeface="Wingdings" panose="05000000000000000000" pitchFamily="2" charset="2"/>
              </a:rPr>
              <a:t> </a:t>
            </a:r>
            <a:r>
              <a:rPr lang="en-GB" sz="2600" dirty="0" err="1">
                <a:sym typeface="Wingdings" panose="05000000000000000000" pitchFamily="2" charset="2"/>
              </a:rPr>
              <a:t>sobre</a:t>
            </a:r>
            <a:r>
              <a:rPr lang="en-GB" sz="2600" dirty="0">
                <a:sym typeface="Wingdings" panose="05000000000000000000" pitchFamily="2" charset="2"/>
              </a:rPr>
              <a:t> los </a:t>
            </a:r>
            <a:r>
              <a:rPr lang="en-GB" sz="2600" dirty="0" err="1">
                <a:sym typeface="Wingdings" panose="05000000000000000000" pitchFamily="2" charset="2"/>
              </a:rPr>
              <a:t>componentes</a:t>
            </a:r>
            <a:r>
              <a:rPr lang="en-GB" sz="2600" dirty="0">
                <a:sym typeface="Wingdings" panose="05000000000000000000" pitchFamily="2" charset="2"/>
              </a:rPr>
              <a:t> </a:t>
            </a:r>
            <a:r>
              <a:rPr lang="en-GB" sz="2600" dirty="0" err="1">
                <a:sym typeface="Wingdings" panose="05000000000000000000" pitchFamily="2" charset="2"/>
              </a:rPr>
              <a:t>principales</a:t>
            </a:r>
            <a:r>
              <a:rPr lang="en-GB" sz="2600" dirty="0">
                <a:sym typeface="Wingdings" panose="05000000000000000000" pitchFamily="2" charset="2"/>
              </a:rPr>
              <a:t> de la ACP o </a:t>
            </a:r>
            <a:r>
              <a:rPr lang="en-GB" sz="2600" dirty="0" err="1">
                <a:sym typeface="Wingdings" panose="05000000000000000000" pitchFamily="2" charset="2"/>
              </a:rPr>
              <a:t>coordenadas</a:t>
            </a:r>
            <a:r>
              <a:rPr lang="en-GB" sz="2600" dirty="0">
                <a:sym typeface="Wingdings" panose="05000000000000000000" pitchFamily="2" charset="2"/>
              </a:rPr>
              <a:t> de MDS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5" y="1052737"/>
            <a:ext cx="2943045" cy="27762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5" y="3861048"/>
            <a:ext cx="2975976" cy="280729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40C8827-EEC8-604C-A5CC-B8D85774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48" y="189654"/>
            <a:ext cx="10515600" cy="1325563"/>
          </a:xfrm>
        </p:spPr>
        <p:txBody>
          <a:bodyPr/>
          <a:lstStyle/>
          <a:p>
            <a:r>
              <a:rPr lang="es-ES_tradnl" dirty="0"/>
              <a:t>Estratificación de la población: soluciones</a:t>
            </a:r>
            <a:br>
              <a:rPr lang="es-ES_tradnl" dirty="0"/>
            </a:b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712735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DE5916-CA13-3043-B0D6-905051906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31" y="0"/>
            <a:ext cx="11805138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5C63A9-B47C-F34B-9B35-1427E32009D3}"/>
              </a:ext>
            </a:extLst>
          </p:cNvPr>
          <p:cNvSpPr txBox="1"/>
          <p:nvPr/>
        </p:nvSpPr>
        <p:spPr>
          <a:xfrm>
            <a:off x="1099595" y="3347977"/>
            <a:ext cx="230101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b="1" dirty="0"/>
              <a:t>Modelo mixto</a:t>
            </a:r>
            <a:br>
              <a:rPr lang="es-ES_tradnl" sz="2800" b="1" dirty="0"/>
            </a:br>
            <a:r>
              <a:rPr lang="es-ES_tradnl" b="1" dirty="0"/>
              <a:t>(estructura población)</a:t>
            </a:r>
            <a:endParaRPr lang="es-ES_tradnl" sz="2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623F99-68F1-B34F-8843-FEAC978C7CDC}"/>
              </a:ext>
            </a:extLst>
          </p:cNvPr>
          <p:cNvSpPr txBox="1"/>
          <p:nvPr/>
        </p:nvSpPr>
        <p:spPr>
          <a:xfrm>
            <a:off x="1099595" y="99564"/>
            <a:ext cx="22429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b="1" dirty="0"/>
              <a:t>Modelo lineal</a:t>
            </a:r>
          </a:p>
        </p:txBody>
      </p:sp>
    </p:spTree>
    <p:extLst>
      <p:ext uri="{BB962C8B-B14F-4D97-AF65-F5344CB8AC3E}">
        <p14:creationId xmlns:p14="http://schemas.microsoft.com/office/powerpoint/2010/main" val="6280175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BD7C77-1640-EDCB-443D-00969FB98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640080"/>
            <a:ext cx="6894576" cy="3566160"/>
          </a:xfrm>
        </p:spPr>
        <p:txBody>
          <a:bodyPr anchor="b">
            <a:normAutofit/>
          </a:bodyPr>
          <a:lstStyle/>
          <a:p>
            <a:pPr algn="l"/>
            <a:r>
              <a:rPr lang="es-CO" sz="6600" dirty="0"/>
              <a:t>	Molecular basis </a:t>
            </a:r>
            <a:r>
              <a:rPr lang="es-CO" sz="6600" dirty="0" err="1"/>
              <a:t>of</a:t>
            </a:r>
            <a:r>
              <a:rPr lang="es-CO" sz="6600" dirty="0"/>
              <a:t> </a:t>
            </a:r>
            <a:r>
              <a:rPr lang="es-CO" sz="6600" dirty="0" err="1"/>
              <a:t>evolution</a:t>
            </a:r>
            <a:endParaRPr lang="es-CO" sz="66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6A4849F-5627-CB46-3EC9-7F607BA07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6" y="4636008"/>
            <a:ext cx="6894576" cy="1572768"/>
          </a:xfrm>
        </p:spPr>
        <p:txBody>
          <a:bodyPr>
            <a:normAutofit/>
          </a:bodyPr>
          <a:lstStyle/>
          <a:p>
            <a:pPr algn="l"/>
            <a:endParaRPr lang="es-CO"/>
          </a:p>
        </p:txBody>
      </p:sp>
      <p:pic>
        <p:nvPicPr>
          <p:cNvPr id="5" name="Picture 4" descr="Primer plano de un modelo molecular">
            <a:extLst>
              <a:ext uri="{FF2B5EF4-FFF2-40B4-BE49-F238E27FC236}">
                <a16:creationId xmlns:a16="http://schemas.microsoft.com/office/drawing/2014/main" id="{208507D7-63C8-BDB9-378D-550DC6C9EC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966" r="7745"/>
          <a:stretch>
            <a:fillRect/>
          </a:stretch>
        </p:blipFill>
        <p:spPr>
          <a:xfrm>
            <a:off x="20" y="10"/>
            <a:ext cx="4049786" cy="6857990"/>
          </a:xfrm>
          <a:custGeom>
            <a:avLst/>
            <a:gdLst/>
            <a:ahLst/>
            <a:cxnLst/>
            <a:rect l="l" t="t" r="r" b="b"/>
            <a:pathLst>
              <a:path w="4049806" h="6858000">
                <a:moveTo>
                  <a:pt x="0" y="0"/>
                </a:moveTo>
                <a:lnTo>
                  <a:pt x="4018525" y="0"/>
                </a:lnTo>
                <a:lnTo>
                  <a:pt x="4019816" y="10931"/>
                </a:lnTo>
                <a:cubicBezTo>
                  <a:pt x="4034945" y="94836"/>
                  <a:pt x="4032275" y="179884"/>
                  <a:pt x="4036343" y="264297"/>
                </a:cubicBezTo>
                <a:cubicBezTo>
                  <a:pt x="4041301" y="367652"/>
                  <a:pt x="4035072" y="471135"/>
                  <a:pt x="4032911" y="574617"/>
                </a:cubicBezTo>
                <a:cubicBezTo>
                  <a:pt x="4031004" y="662717"/>
                  <a:pt x="4022232" y="750690"/>
                  <a:pt x="4025029" y="838916"/>
                </a:cubicBezTo>
                <a:cubicBezTo>
                  <a:pt x="4025029" y="841968"/>
                  <a:pt x="4025029" y="845019"/>
                  <a:pt x="4025029" y="848070"/>
                </a:cubicBezTo>
                <a:cubicBezTo>
                  <a:pt x="4017020" y="945068"/>
                  <a:pt x="4017020" y="1042576"/>
                  <a:pt x="4025029" y="1139574"/>
                </a:cubicBezTo>
                <a:cubicBezTo>
                  <a:pt x="4027609" y="1179950"/>
                  <a:pt x="4026885" y="1220466"/>
                  <a:pt x="4022868" y="1260728"/>
                </a:cubicBezTo>
                <a:cubicBezTo>
                  <a:pt x="4019054" y="1311960"/>
                  <a:pt x="4006849" y="1364083"/>
                  <a:pt x="4015621" y="1414934"/>
                </a:cubicBezTo>
                <a:cubicBezTo>
                  <a:pt x="4021367" y="1456784"/>
                  <a:pt x="4024558" y="1498940"/>
                  <a:pt x="4025156" y="1541172"/>
                </a:cubicBezTo>
                <a:cubicBezTo>
                  <a:pt x="4029478" y="1635755"/>
                  <a:pt x="4025283" y="1730847"/>
                  <a:pt x="4023757" y="1825685"/>
                </a:cubicBezTo>
                <a:cubicBezTo>
                  <a:pt x="4021850" y="1936286"/>
                  <a:pt x="4024647" y="2046634"/>
                  <a:pt x="4015748" y="2157235"/>
                </a:cubicBezTo>
                <a:cubicBezTo>
                  <a:pt x="4010790" y="2246581"/>
                  <a:pt x="4010790" y="2336130"/>
                  <a:pt x="4015748" y="2425476"/>
                </a:cubicBezTo>
                <a:cubicBezTo>
                  <a:pt x="4018164" y="2507473"/>
                  <a:pt x="4030495" y="2588454"/>
                  <a:pt x="4028461" y="2671214"/>
                </a:cubicBezTo>
                <a:cubicBezTo>
                  <a:pt x="4026046" y="2767832"/>
                  <a:pt x="4014604" y="2863940"/>
                  <a:pt x="4018164" y="2960685"/>
                </a:cubicBezTo>
                <a:cubicBezTo>
                  <a:pt x="4019816" y="3006832"/>
                  <a:pt x="4019944" y="3052980"/>
                  <a:pt x="4020961" y="3099127"/>
                </a:cubicBezTo>
                <a:cubicBezTo>
                  <a:pt x="4021978" y="3154682"/>
                  <a:pt x="4032021" y="3210110"/>
                  <a:pt x="4026427" y="3265665"/>
                </a:cubicBezTo>
                <a:cubicBezTo>
                  <a:pt x="4017147" y="3358087"/>
                  <a:pt x="3993120" y="3448857"/>
                  <a:pt x="4008121" y="3543567"/>
                </a:cubicBezTo>
                <a:cubicBezTo>
                  <a:pt x="4016384" y="3595690"/>
                  <a:pt x="4025791" y="3647940"/>
                  <a:pt x="4030495" y="3700571"/>
                </a:cubicBezTo>
                <a:cubicBezTo>
                  <a:pt x="4034690" y="3747608"/>
                  <a:pt x="4045369" y="3795408"/>
                  <a:pt x="4037233" y="3842191"/>
                </a:cubicBezTo>
                <a:cubicBezTo>
                  <a:pt x="4030368" y="3882237"/>
                  <a:pt x="4034055" y="3922282"/>
                  <a:pt x="4028715" y="3962327"/>
                </a:cubicBezTo>
                <a:cubicBezTo>
                  <a:pt x="4021723" y="4014831"/>
                  <a:pt x="4017910" y="4068352"/>
                  <a:pt x="4012697" y="4121111"/>
                </a:cubicBezTo>
                <a:cubicBezTo>
                  <a:pt x="4007866" y="4169038"/>
                  <a:pt x="4004307" y="4216838"/>
                  <a:pt x="4017020" y="4261841"/>
                </a:cubicBezTo>
                <a:cubicBezTo>
                  <a:pt x="4048039" y="4375112"/>
                  <a:pt x="4031004" y="4487748"/>
                  <a:pt x="4019308" y="4600257"/>
                </a:cubicBezTo>
                <a:cubicBezTo>
                  <a:pt x="4013587" y="4655049"/>
                  <a:pt x="4005197" y="4712765"/>
                  <a:pt x="4017910" y="4762853"/>
                </a:cubicBezTo>
                <a:cubicBezTo>
                  <a:pt x="4041428" y="4851716"/>
                  <a:pt x="4022995" y="4936764"/>
                  <a:pt x="4012824" y="5021432"/>
                </a:cubicBezTo>
                <a:cubicBezTo>
                  <a:pt x="4002654" y="5106099"/>
                  <a:pt x="4000239" y="5189495"/>
                  <a:pt x="4018037" y="5272637"/>
                </a:cubicBezTo>
                <a:cubicBezTo>
                  <a:pt x="4030495" y="5331116"/>
                  <a:pt x="4030495" y="5390612"/>
                  <a:pt x="4032021" y="5449600"/>
                </a:cubicBezTo>
                <a:cubicBezTo>
                  <a:pt x="4032911" y="5486339"/>
                  <a:pt x="4019308" y="5523842"/>
                  <a:pt x="4010282" y="5560582"/>
                </a:cubicBezTo>
                <a:cubicBezTo>
                  <a:pt x="3994009" y="5626943"/>
                  <a:pt x="3988162" y="5694321"/>
                  <a:pt x="4010282" y="5759029"/>
                </a:cubicBezTo>
                <a:cubicBezTo>
                  <a:pt x="4040793" y="5848655"/>
                  <a:pt x="4058336" y="5938407"/>
                  <a:pt x="4045623" y="6033117"/>
                </a:cubicBezTo>
                <a:cubicBezTo>
                  <a:pt x="4038377" y="6091724"/>
                  <a:pt x="4036597" y="6151347"/>
                  <a:pt x="4025664" y="6209190"/>
                </a:cubicBezTo>
                <a:cubicBezTo>
                  <a:pt x="4007358" y="6304790"/>
                  <a:pt x="4013841" y="6399882"/>
                  <a:pt x="4028461" y="6494211"/>
                </a:cubicBezTo>
                <a:cubicBezTo>
                  <a:pt x="4038542" y="6573081"/>
                  <a:pt x="4039610" y="6652829"/>
                  <a:pt x="4031639" y="6731941"/>
                </a:cubicBezTo>
                <a:lnTo>
                  <a:pt x="4022913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82580482-BA80-420A-8A05-C58E97F2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296" y="4409267"/>
            <a:ext cx="4242816" cy="18288"/>
          </a:xfrm>
          <a:custGeom>
            <a:avLst/>
            <a:gdLst>
              <a:gd name="connsiteX0" fmla="*/ 0 w 4242816"/>
              <a:gd name="connsiteY0" fmla="*/ 0 h 18288"/>
              <a:gd name="connsiteX1" fmla="*/ 690973 w 4242816"/>
              <a:gd name="connsiteY1" fmla="*/ 0 h 18288"/>
              <a:gd name="connsiteX2" fmla="*/ 1212233 w 4242816"/>
              <a:gd name="connsiteY2" fmla="*/ 0 h 18288"/>
              <a:gd name="connsiteX3" fmla="*/ 1860778 w 4242816"/>
              <a:gd name="connsiteY3" fmla="*/ 0 h 18288"/>
              <a:gd name="connsiteX4" fmla="*/ 2424466 w 4242816"/>
              <a:gd name="connsiteY4" fmla="*/ 0 h 18288"/>
              <a:gd name="connsiteX5" fmla="*/ 3115439 w 4242816"/>
              <a:gd name="connsiteY5" fmla="*/ 0 h 18288"/>
              <a:gd name="connsiteX6" fmla="*/ 3636699 w 4242816"/>
              <a:gd name="connsiteY6" fmla="*/ 0 h 18288"/>
              <a:gd name="connsiteX7" fmla="*/ 4242816 w 4242816"/>
              <a:gd name="connsiteY7" fmla="*/ 0 h 18288"/>
              <a:gd name="connsiteX8" fmla="*/ 4242816 w 4242816"/>
              <a:gd name="connsiteY8" fmla="*/ 18288 h 18288"/>
              <a:gd name="connsiteX9" fmla="*/ 3636699 w 4242816"/>
              <a:gd name="connsiteY9" fmla="*/ 18288 h 18288"/>
              <a:gd name="connsiteX10" fmla="*/ 3030583 w 4242816"/>
              <a:gd name="connsiteY10" fmla="*/ 18288 h 18288"/>
              <a:gd name="connsiteX11" fmla="*/ 2466894 w 4242816"/>
              <a:gd name="connsiteY11" fmla="*/ 18288 h 18288"/>
              <a:gd name="connsiteX12" fmla="*/ 1988062 w 4242816"/>
              <a:gd name="connsiteY12" fmla="*/ 18288 h 18288"/>
              <a:gd name="connsiteX13" fmla="*/ 1466802 w 4242816"/>
              <a:gd name="connsiteY13" fmla="*/ 18288 h 18288"/>
              <a:gd name="connsiteX14" fmla="*/ 860686 w 4242816"/>
              <a:gd name="connsiteY14" fmla="*/ 18288 h 18288"/>
              <a:gd name="connsiteX15" fmla="*/ 0 w 4242816"/>
              <a:gd name="connsiteY15" fmla="*/ 18288 h 18288"/>
              <a:gd name="connsiteX16" fmla="*/ 0 w 4242816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2816" h="18288" fill="none" extrusionOk="0">
                <a:moveTo>
                  <a:pt x="0" y="0"/>
                </a:moveTo>
                <a:cubicBezTo>
                  <a:pt x="249934" y="1471"/>
                  <a:pt x="379877" y="-29444"/>
                  <a:pt x="690973" y="0"/>
                </a:cubicBezTo>
                <a:cubicBezTo>
                  <a:pt x="1002069" y="29444"/>
                  <a:pt x="1021583" y="17501"/>
                  <a:pt x="1212233" y="0"/>
                </a:cubicBezTo>
                <a:cubicBezTo>
                  <a:pt x="1402883" y="-17501"/>
                  <a:pt x="1678760" y="5386"/>
                  <a:pt x="1860778" y="0"/>
                </a:cubicBezTo>
                <a:cubicBezTo>
                  <a:pt x="2042796" y="-5386"/>
                  <a:pt x="2245608" y="-22401"/>
                  <a:pt x="2424466" y="0"/>
                </a:cubicBezTo>
                <a:cubicBezTo>
                  <a:pt x="2603324" y="22401"/>
                  <a:pt x="2890020" y="33806"/>
                  <a:pt x="3115439" y="0"/>
                </a:cubicBezTo>
                <a:cubicBezTo>
                  <a:pt x="3340858" y="-33806"/>
                  <a:pt x="3428300" y="18628"/>
                  <a:pt x="3636699" y="0"/>
                </a:cubicBezTo>
                <a:cubicBezTo>
                  <a:pt x="3845098" y="-18628"/>
                  <a:pt x="4108824" y="5541"/>
                  <a:pt x="4242816" y="0"/>
                </a:cubicBezTo>
                <a:cubicBezTo>
                  <a:pt x="4242066" y="4160"/>
                  <a:pt x="4243125" y="10356"/>
                  <a:pt x="4242816" y="18288"/>
                </a:cubicBezTo>
                <a:cubicBezTo>
                  <a:pt x="4113424" y="32735"/>
                  <a:pt x="3768327" y="47567"/>
                  <a:pt x="3636699" y="18288"/>
                </a:cubicBezTo>
                <a:cubicBezTo>
                  <a:pt x="3505071" y="-10991"/>
                  <a:pt x="3294208" y="-4990"/>
                  <a:pt x="3030583" y="18288"/>
                </a:cubicBezTo>
                <a:cubicBezTo>
                  <a:pt x="2766958" y="41566"/>
                  <a:pt x="2649277" y="20974"/>
                  <a:pt x="2466894" y="18288"/>
                </a:cubicBezTo>
                <a:cubicBezTo>
                  <a:pt x="2284511" y="15602"/>
                  <a:pt x="2151277" y="1154"/>
                  <a:pt x="1988062" y="18288"/>
                </a:cubicBezTo>
                <a:cubicBezTo>
                  <a:pt x="1824847" y="35422"/>
                  <a:pt x="1691359" y="9265"/>
                  <a:pt x="1466802" y="18288"/>
                </a:cubicBezTo>
                <a:cubicBezTo>
                  <a:pt x="1242245" y="27311"/>
                  <a:pt x="1006161" y="36605"/>
                  <a:pt x="860686" y="18288"/>
                </a:cubicBezTo>
                <a:cubicBezTo>
                  <a:pt x="715211" y="-29"/>
                  <a:pt x="242774" y="46538"/>
                  <a:pt x="0" y="18288"/>
                </a:cubicBezTo>
                <a:cubicBezTo>
                  <a:pt x="-146" y="11482"/>
                  <a:pt x="-422" y="5192"/>
                  <a:pt x="0" y="0"/>
                </a:cubicBezTo>
                <a:close/>
              </a:path>
              <a:path w="4242816" h="18288" stroke="0" extrusionOk="0">
                <a:moveTo>
                  <a:pt x="0" y="0"/>
                </a:moveTo>
                <a:cubicBezTo>
                  <a:pt x="259751" y="-14018"/>
                  <a:pt x="356632" y="-15007"/>
                  <a:pt x="521260" y="0"/>
                </a:cubicBezTo>
                <a:cubicBezTo>
                  <a:pt x="685888" y="15007"/>
                  <a:pt x="885786" y="5167"/>
                  <a:pt x="1212233" y="0"/>
                </a:cubicBezTo>
                <a:cubicBezTo>
                  <a:pt x="1538680" y="-5167"/>
                  <a:pt x="1458849" y="7951"/>
                  <a:pt x="1691065" y="0"/>
                </a:cubicBezTo>
                <a:cubicBezTo>
                  <a:pt x="1923281" y="-7951"/>
                  <a:pt x="1985780" y="-16303"/>
                  <a:pt x="2169897" y="0"/>
                </a:cubicBezTo>
                <a:cubicBezTo>
                  <a:pt x="2354014" y="16303"/>
                  <a:pt x="2633054" y="-2739"/>
                  <a:pt x="2776014" y="0"/>
                </a:cubicBezTo>
                <a:cubicBezTo>
                  <a:pt x="2918974" y="2739"/>
                  <a:pt x="3112688" y="-15682"/>
                  <a:pt x="3339702" y="0"/>
                </a:cubicBezTo>
                <a:cubicBezTo>
                  <a:pt x="3566716" y="15682"/>
                  <a:pt x="4015278" y="-28467"/>
                  <a:pt x="4242816" y="0"/>
                </a:cubicBezTo>
                <a:cubicBezTo>
                  <a:pt x="4243501" y="7633"/>
                  <a:pt x="4242294" y="10002"/>
                  <a:pt x="4242816" y="18288"/>
                </a:cubicBezTo>
                <a:cubicBezTo>
                  <a:pt x="3924964" y="16283"/>
                  <a:pt x="3746362" y="-1805"/>
                  <a:pt x="3551843" y="18288"/>
                </a:cubicBezTo>
                <a:cubicBezTo>
                  <a:pt x="3357324" y="38381"/>
                  <a:pt x="3126422" y="47156"/>
                  <a:pt x="2860870" y="18288"/>
                </a:cubicBezTo>
                <a:cubicBezTo>
                  <a:pt x="2595318" y="-10580"/>
                  <a:pt x="2572437" y="11441"/>
                  <a:pt x="2297182" y="18288"/>
                </a:cubicBezTo>
                <a:cubicBezTo>
                  <a:pt x="2021927" y="25135"/>
                  <a:pt x="1916908" y="33601"/>
                  <a:pt x="1733493" y="18288"/>
                </a:cubicBezTo>
                <a:cubicBezTo>
                  <a:pt x="1550078" y="2975"/>
                  <a:pt x="1412440" y="27896"/>
                  <a:pt x="1212233" y="18288"/>
                </a:cubicBezTo>
                <a:cubicBezTo>
                  <a:pt x="1012026" y="8680"/>
                  <a:pt x="914386" y="13859"/>
                  <a:pt x="648545" y="18288"/>
                </a:cubicBezTo>
                <a:cubicBezTo>
                  <a:pt x="382704" y="22717"/>
                  <a:pt x="233522" y="39342"/>
                  <a:pt x="0" y="18288"/>
                </a:cubicBezTo>
                <a:cubicBezTo>
                  <a:pt x="-772" y="13661"/>
                  <a:pt x="-839" y="849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87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6B2E4D-35F6-EED9-65D1-5C26BF10F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773FA9-A998-32D2-055A-3A8B7B8FD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5480"/>
            <a:ext cx="10515600" cy="4351338"/>
          </a:xfrm>
        </p:spPr>
        <p:txBody>
          <a:bodyPr/>
          <a:lstStyle/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6C5C47-0101-D457-881E-1A987EA5A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731" y="2896499"/>
            <a:ext cx="3896269" cy="1305107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0CEF0C94-F012-0876-D401-E5E73E7AD5BC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5688114" y="2472490"/>
            <a:ext cx="1738846" cy="78785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BFA8D610-F6A1-25B6-9A49-D5F508FE1B4E}"/>
              </a:ext>
            </a:extLst>
          </p:cNvPr>
          <p:cNvSpPr txBox="1"/>
          <p:nvPr/>
        </p:nvSpPr>
        <p:spPr>
          <a:xfrm>
            <a:off x="7426960" y="214932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 err="1"/>
              <a:t>number</a:t>
            </a:r>
            <a:r>
              <a:rPr lang="es-CO" dirty="0"/>
              <a:t> </a:t>
            </a:r>
            <a:r>
              <a:rPr lang="es-CO" dirty="0" err="1"/>
              <a:t>of</a:t>
            </a:r>
            <a:r>
              <a:rPr lang="es-CO" dirty="0"/>
              <a:t> </a:t>
            </a:r>
            <a:r>
              <a:rPr lang="es-CO" dirty="0" err="1"/>
              <a:t>nucleotide</a:t>
            </a:r>
            <a:r>
              <a:rPr lang="es-CO" dirty="0"/>
              <a:t> </a:t>
            </a:r>
            <a:r>
              <a:rPr lang="es-CO" dirty="0" err="1"/>
              <a:t>differences</a:t>
            </a:r>
            <a:endParaRPr lang="es-CO" dirty="0"/>
          </a:p>
          <a:p>
            <a:r>
              <a:rPr lang="en-US" dirty="0"/>
              <a:t>between sequence </a:t>
            </a:r>
            <a:r>
              <a:rPr lang="en-US" i="1" dirty="0" err="1"/>
              <a:t>i</a:t>
            </a:r>
            <a:r>
              <a:rPr lang="en-US" i="1" dirty="0"/>
              <a:t> </a:t>
            </a:r>
            <a:r>
              <a:rPr lang="en-US" dirty="0"/>
              <a:t>and </a:t>
            </a:r>
            <a:r>
              <a:rPr lang="en-US" i="1" dirty="0"/>
              <a:t>j</a:t>
            </a:r>
            <a:endParaRPr lang="es-CO" dirty="0"/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892A4E1-D507-B684-EA9C-B96104BC3E05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4107226" y="4124907"/>
            <a:ext cx="1653494" cy="1597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A6E3EDE-8B46-6EB5-A38F-CFA69ED0BD1B}"/>
              </a:ext>
            </a:extLst>
          </p:cNvPr>
          <p:cNvSpPr txBox="1"/>
          <p:nvPr/>
        </p:nvSpPr>
        <p:spPr>
          <a:xfrm>
            <a:off x="5760720" y="396150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number of possible sequence pairs we can make</a:t>
            </a:r>
          </a:p>
          <a:p>
            <a:r>
              <a:rPr lang="en-US" dirty="0"/>
              <a:t>from our sample of </a:t>
            </a:r>
            <a:r>
              <a:rPr lang="en-US" i="1" dirty="0"/>
              <a:t>n </a:t>
            </a:r>
            <a:r>
              <a:rPr lang="en-US" dirty="0"/>
              <a:t>sequences</a:t>
            </a:r>
            <a:endParaRPr lang="es-CO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EAA44B4-F083-DB90-80CD-F551790AA55F}"/>
              </a:ext>
            </a:extLst>
          </p:cNvPr>
          <p:cNvSpPr txBox="1"/>
          <p:nvPr/>
        </p:nvSpPr>
        <p:spPr>
          <a:xfrm>
            <a:off x="1287780" y="2149324"/>
            <a:ext cx="67614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O" sz="1800" b="0" i="0" u="none" strike="noStrike" baseline="0" dirty="0" err="1">
                <a:latin typeface="PalatinoLTStd-Roman"/>
              </a:rPr>
              <a:t>Average</a:t>
            </a:r>
            <a:r>
              <a:rPr lang="es-CO" sz="1800" b="0" i="0" u="none" strike="noStrike" baseline="0" dirty="0">
                <a:latin typeface="PalatinoLTStd-Roman"/>
              </a:rPr>
              <a:t> </a:t>
            </a:r>
            <a:r>
              <a:rPr lang="en-US" sz="1800" b="0" i="0" u="none" strike="noStrike" baseline="0" dirty="0">
                <a:latin typeface="PalatinoLTStd-Roman"/>
              </a:rPr>
              <a:t>number of nucleotide</a:t>
            </a:r>
          </a:p>
          <a:p>
            <a:pPr algn="l"/>
            <a:r>
              <a:rPr lang="en-US" sz="1800" b="0" i="0" u="none" strike="noStrike" baseline="0" dirty="0">
                <a:latin typeface="PalatinoLTStd-Roman"/>
              </a:rPr>
              <a:t> differences between pairs</a:t>
            </a:r>
            <a:endParaRPr lang="es-CO" dirty="0"/>
          </a:p>
        </p:txBody>
      </p: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A6367636-7DBF-C9B9-7D53-9DF2854318BD}"/>
              </a:ext>
            </a:extLst>
          </p:cNvPr>
          <p:cNvCxnSpPr>
            <a:cxnSpLocks/>
          </p:cNvCxnSpPr>
          <p:nvPr/>
        </p:nvCxnSpPr>
        <p:spPr>
          <a:xfrm flipH="1">
            <a:off x="2824480" y="2795655"/>
            <a:ext cx="250020" cy="56553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4204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24B31C-2746-922B-70CA-946C52BAA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 err="1"/>
              <a:t>nucleotide</a:t>
            </a:r>
            <a:r>
              <a:rPr lang="es-CO" b="1" dirty="0"/>
              <a:t> </a:t>
            </a:r>
            <a:r>
              <a:rPr lang="es-CO" b="1" dirty="0" err="1"/>
              <a:t>diversity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0AB877-C23C-0977-0AAF-211067591D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020"/>
            <a:ext cx="10515600" cy="4351338"/>
          </a:xfrm>
        </p:spPr>
        <p:txBody>
          <a:bodyPr/>
          <a:lstStyle/>
          <a:p>
            <a:r>
              <a:rPr lang="el-GR" dirty="0"/>
              <a:t>Π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dependent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sequence</a:t>
            </a:r>
            <a:r>
              <a:rPr lang="es-ES" dirty="0"/>
              <a:t> </a:t>
            </a:r>
            <a:r>
              <a:rPr lang="es-ES" dirty="0" err="1"/>
              <a:t>length</a:t>
            </a:r>
            <a:r>
              <a:rPr lang="es-ES" dirty="0"/>
              <a:t>!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474F04-C3FC-F5BD-5A55-A0378507B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133" y="2266788"/>
            <a:ext cx="4896533" cy="116221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1A884F2-6E6B-EE12-7D26-F90F6158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235" y="3679636"/>
            <a:ext cx="2543530" cy="38105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0EFCE9D-F836-F4E9-87A2-5423A8F3B3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635" y="4571487"/>
            <a:ext cx="2114845" cy="743054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5C35070-B885-7D0C-3238-3824D9C1D6C6}"/>
              </a:ext>
            </a:extLst>
          </p:cNvPr>
          <p:cNvSpPr txBox="1"/>
          <p:nvPr/>
        </p:nvSpPr>
        <p:spPr>
          <a:xfrm>
            <a:off x="4429760" y="43113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800" b="1" i="0" u="none" strike="noStrike" baseline="0" dirty="0" err="1">
                <a:latin typeface="PalatinoLTStd-Bold"/>
              </a:rPr>
              <a:t>nucleotide</a:t>
            </a:r>
            <a:r>
              <a:rPr lang="es-CO" sz="1800" b="1" i="0" u="none" strike="noStrike" baseline="0" dirty="0">
                <a:latin typeface="PalatinoLTStd-Bold"/>
              </a:rPr>
              <a:t> </a:t>
            </a:r>
            <a:r>
              <a:rPr lang="es-CO" sz="1800" b="1" i="0" u="none" strike="noStrike" baseline="0" dirty="0" err="1">
                <a:latin typeface="PalatinoLTStd-Bold"/>
              </a:rPr>
              <a:t>diversity</a:t>
            </a:r>
            <a:endParaRPr lang="es-CO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9B72D06-8E75-7AB3-7DF5-39C1523EB3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8162" y="5421856"/>
            <a:ext cx="1743318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606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3D620-C4B4-2EF1-020F-824B74023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FA6730-29C2-BFF5-CA47-518D1D26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 err="1"/>
              <a:t>segregating</a:t>
            </a:r>
            <a:r>
              <a:rPr lang="es-CO" b="1" dirty="0"/>
              <a:t> sites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D5CC78-1FE5-2422-0599-53800904B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5500"/>
            <a:ext cx="10515600" cy="4351338"/>
          </a:xfrm>
        </p:spPr>
        <p:txBody>
          <a:bodyPr/>
          <a:lstStyle/>
          <a:p>
            <a:r>
              <a:rPr lang="en-US" i="1" dirty="0"/>
              <a:t>S </a:t>
            </a:r>
            <a:r>
              <a:rPr lang="en-US" dirty="0"/>
              <a:t>does depend on sample size</a:t>
            </a:r>
          </a:p>
          <a:p>
            <a:r>
              <a:rPr lang="es-CO" dirty="0" err="1"/>
              <a:t>all</a:t>
            </a:r>
            <a:r>
              <a:rPr lang="es-CO" dirty="0"/>
              <a:t> </a:t>
            </a:r>
            <a:r>
              <a:rPr lang="es-CO" dirty="0" err="1"/>
              <a:t>polymorphisms</a:t>
            </a:r>
            <a:r>
              <a:rPr lang="es-CO" dirty="0"/>
              <a:t> are </a:t>
            </a:r>
            <a:r>
              <a:rPr lang="es-CO" dirty="0" err="1"/>
              <a:t>weighted</a:t>
            </a:r>
            <a:r>
              <a:rPr lang="es-CO" dirty="0"/>
              <a:t> </a:t>
            </a:r>
            <a:r>
              <a:rPr lang="es-CO" dirty="0" err="1"/>
              <a:t>equally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227AC8-EF7C-15CF-1038-91A66EFC3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778" y="3109607"/>
            <a:ext cx="4896533" cy="116221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D2AE42F-39BA-0022-EEB2-C2515E91F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003" y="2280814"/>
            <a:ext cx="1280084" cy="463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7157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1702</TotalTime>
  <Words>1051</Words>
  <Application>Microsoft Office PowerPoint</Application>
  <PresentationFormat>Panorámica</PresentationFormat>
  <Paragraphs>188</Paragraphs>
  <Slides>50</Slides>
  <Notes>4</Notes>
  <HiddenSlides>0</HiddenSlides>
  <MMClips>0</MMClips>
  <ScaleCrop>false</ScaleCrop>
  <HeadingPairs>
    <vt:vector size="8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50</vt:i4>
      </vt:variant>
    </vt:vector>
  </HeadingPairs>
  <TitlesOfParts>
    <vt:vector size="60" baseType="lpstr">
      <vt:lpstr>Aptos</vt:lpstr>
      <vt:lpstr>Aptos Display</vt:lpstr>
      <vt:lpstr>Arial</vt:lpstr>
      <vt:lpstr>PalatinoLTStd-Bold</vt:lpstr>
      <vt:lpstr>PalatinoLTStd-Italic</vt:lpstr>
      <vt:lpstr>PalatinoLTStd-Roman</vt:lpstr>
      <vt:lpstr>Wingdings</vt:lpstr>
      <vt:lpstr>Tema de Office</vt:lpstr>
      <vt:lpstr>Equation</vt:lpstr>
      <vt:lpstr>Bitmap Image</vt:lpstr>
      <vt:lpstr>Multilocus evolution</vt:lpstr>
      <vt:lpstr>Presentación de PowerPoint</vt:lpstr>
      <vt:lpstr>https://cloufield.github.io/GWASTutorial/19_ld/#reference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Factors affecting LD</vt:lpstr>
      <vt:lpstr>Presentación de PowerPoint</vt:lpstr>
      <vt:lpstr>Multilocus selection</vt:lpstr>
      <vt:lpstr>Presentación de PowerPoint</vt:lpstr>
      <vt:lpstr>Epistasis</vt:lpstr>
      <vt:lpstr>Presentación de PowerPoint</vt:lpstr>
      <vt:lpstr>Positive and negative epistasis </vt:lpstr>
      <vt:lpstr>Quantitative genetics</vt:lpstr>
      <vt:lpstr>Presentación de PowerPoint</vt:lpstr>
      <vt:lpstr>Presentación de PowerPoint</vt:lpstr>
      <vt:lpstr>quantitative trait locus (QTL) analysis</vt:lpstr>
      <vt:lpstr>Presentación de PowerPoint</vt:lpstr>
      <vt:lpstr>Universidad ICESI Maestría de Biotecnología  Curso electivo: Mapeo genético avanzado   Diciembre 2019</vt:lpstr>
      <vt:lpstr>Carácter cuantitativo</vt:lpstr>
      <vt:lpstr>Presentación de PowerPoint</vt:lpstr>
      <vt:lpstr>Antes de empezar: análisis detallado de los datos fenotípicos</vt:lpstr>
      <vt:lpstr>Detección de QTL</vt:lpstr>
      <vt:lpstr>Mapeo por marcador simple</vt:lpstr>
      <vt:lpstr>Mapeo por marcador simple</vt:lpstr>
      <vt:lpstr>El intervalo de confianza</vt:lpstr>
      <vt:lpstr>Presentación de PowerPoint</vt:lpstr>
      <vt:lpstr>GWAS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Universidad ICESI Maestría de Biotecnología  Curso electivo: Mapeo genético avanzado   Diciembre 2019</vt:lpstr>
      <vt:lpstr>Associación</vt:lpstr>
      <vt:lpstr>Diseño GWAS</vt:lpstr>
      <vt:lpstr>Presentación de PowerPoint</vt:lpstr>
      <vt:lpstr>Presentación de PowerPoint</vt:lpstr>
      <vt:lpstr>Presentación de PowerPoint</vt:lpstr>
      <vt:lpstr>Presentación de PowerPoint</vt:lpstr>
      <vt:lpstr>Fuentes de asociación</vt:lpstr>
      <vt:lpstr>Estratificación de la población </vt:lpstr>
      <vt:lpstr>Estratificación de la población: soluciones </vt:lpstr>
      <vt:lpstr>Presentación de PowerPoint</vt:lpstr>
      <vt:lpstr> Molecular basis of evolution</vt:lpstr>
      <vt:lpstr>Presentación de PowerPoint</vt:lpstr>
      <vt:lpstr>nucleotide diversity</vt:lpstr>
      <vt:lpstr>segregating sites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Chrystian Camilo Sosa Arango</dc:creator>
  <cp:lastModifiedBy>Chrystian Camilo Sosa Arango</cp:lastModifiedBy>
  <cp:revision>101</cp:revision>
  <dcterms:created xsi:type="dcterms:W3CDTF">2025-10-14T19:58:55Z</dcterms:created>
  <dcterms:modified xsi:type="dcterms:W3CDTF">2025-11-05T16:09:12Z</dcterms:modified>
</cp:coreProperties>
</file>