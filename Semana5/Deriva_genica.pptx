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6" r:id="rId3"/>
    <p:sldId id="279" r:id="rId4"/>
    <p:sldId id="280" r:id="rId5"/>
    <p:sldId id="274" r:id="rId6"/>
    <p:sldId id="294" r:id="rId7"/>
    <p:sldId id="275" r:id="rId8"/>
    <p:sldId id="290" r:id="rId9"/>
    <p:sldId id="298" r:id="rId10"/>
    <p:sldId id="308" r:id="rId11"/>
    <p:sldId id="309" r:id="rId12"/>
    <p:sldId id="277" r:id="rId13"/>
    <p:sldId id="273" r:id="rId14"/>
    <p:sldId id="299" r:id="rId15"/>
    <p:sldId id="300" r:id="rId16"/>
    <p:sldId id="301" r:id="rId17"/>
    <p:sldId id="302" r:id="rId18"/>
    <p:sldId id="286" r:id="rId19"/>
    <p:sldId id="292" r:id="rId20"/>
    <p:sldId id="297" r:id="rId21"/>
    <p:sldId id="296" r:id="rId22"/>
    <p:sldId id="295" r:id="rId23"/>
    <p:sldId id="283" r:id="rId24"/>
    <p:sldId id="284" r:id="rId25"/>
    <p:sldId id="285" r:id="rId26"/>
    <p:sldId id="305" r:id="rId27"/>
    <p:sldId id="303" r:id="rId28"/>
    <p:sldId id="304" r:id="rId29"/>
    <p:sldId id="287" r:id="rId30"/>
    <p:sldId id="288" r:id="rId31"/>
    <p:sldId id="289" r:id="rId32"/>
    <p:sldId id="293" r:id="rId33"/>
    <p:sldId id="306" r:id="rId34"/>
    <p:sldId id="307" r:id="rId35"/>
    <p:sldId id="310" r:id="rId3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29B7F2-FA30-E2AA-BCD8-DB339CAD69B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58EF1747-66EF-244C-AE64-94E6E3D60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6975A2E3-AA73-9E89-A695-8FD73125DDAC}"/>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5" name="Marcador de pie de página 4">
            <a:extLst>
              <a:ext uri="{FF2B5EF4-FFF2-40B4-BE49-F238E27FC236}">
                <a16:creationId xmlns:a16="http://schemas.microsoft.com/office/drawing/2014/main" id="{2D18026A-37CF-8D08-5B92-A3BD7065ECD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ABD40B0-D95B-C6E1-391B-D9D071970CFC}"/>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1748767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8B23AC-022D-C0FE-B186-4BE33475A91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7BB5547-EA46-5EC2-C2FF-932A9EA8068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F5CB4D-E32E-2E5B-A59C-D93C3D17D753}"/>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5" name="Marcador de pie de página 4">
            <a:extLst>
              <a:ext uri="{FF2B5EF4-FFF2-40B4-BE49-F238E27FC236}">
                <a16:creationId xmlns:a16="http://schemas.microsoft.com/office/drawing/2014/main" id="{0BD023FE-13B1-7C68-2CBD-8465C772C29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3F81E1A-BBDF-9AAA-06E1-7B48F3554FC2}"/>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196205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CFE753-E674-8097-EB33-1454E3E17C2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56806E71-B99B-B3C3-2578-3057A9C9FB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1EB104D-A8F0-E61C-12D0-D9DCC62C723A}"/>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5" name="Marcador de pie de página 4">
            <a:extLst>
              <a:ext uri="{FF2B5EF4-FFF2-40B4-BE49-F238E27FC236}">
                <a16:creationId xmlns:a16="http://schemas.microsoft.com/office/drawing/2014/main" id="{AC1098F1-F669-3699-F34E-FF687670C4C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D49D48A9-5A35-4769-DBB3-F995E47CAA15}"/>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875406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5CD495-5566-9E2F-C0BF-9EB1F743D5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EB269D3-CDC0-D374-863A-BFD98FB531B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3B06921-1AD2-823F-2329-97E3BE35687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B5D814CD-2673-20BA-B3B7-214A13CEB910}"/>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6" name="Marcador de pie de página 5">
            <a:extLst>
              <a:ext uri="{FF2B5EF4-FFF2-40B4-BE49-F238E27FC236}">
                <a16:creationId xmlns:a16="http://schemas.microsoft.com/office/drawing/2014/main" id="{7976047A-4E64-4778-9D6D-F8580685727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0F72E4A-4390-F9C4-E24C-CFA9732E7F6B}"/>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1648210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D6D2AF-34B7-7B1C-16C6-D4C66D3F759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5F35E2F-E13F-C607-1722-1F8B213057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01FBE4F-3242-8D9B-ACC6-9FBB51B7384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CE1460E8-FCB5-291A-C092-FCDC294FF5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D209585-D6D5-468F-8B95-945D0C503C6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F10A74D-05DE-AFB1-6B0B-E12683EAB744}"/>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8" name="Marcador de pie de página 7">
            <a:extLst>
              <a:ext uri="{FF2B5EF4-FFF2-40B4-BE49-F238E27FC236}">
                <a16:creationId xmlns:a16="http://schemas.microsoft.com/office/drawing/2014/main" id="{4DA3CC8F-8CB5-EAE8-A70B-5E68FD8F8057}"/>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580F778-79DA-841A-E586-6DC3E3107384}"/>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198646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A7B929-65D6-3A19-7636-3FAED947679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087803E9-67AB-A515-244E-D185074AE08B}"/>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4" name="Marcador de pie de página 3">
            <a:extLst>
              <a:ext uri="{FF2B5EF4-FFF2-40B4-BE49-F238E27FC236}">
                <a16:creationId xmlns:a16="http://schemas.microsoft.com/office/drawing/2014/main" id="{85393000-3997-F8F1-996A-E7B08EE3CE7D}"/>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C26C8B6-F200-CB6A-E7E5-42F368A5C4DC}"/>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2860639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7F53D35-B8F5-53A8-515B-5A7B77750DFB}"/>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3" name="Marcador de pie de página 2">
            <a:extLst>
              <a:ext uri="{FF2B5EF4-FFF2-40B4-BE49-F238E27FC236}">
                <a16:creationId xmlns:a16="http://schemas.microsoft.com/office/drawing/2014/main" id="{86B4C346-C486-D9AC-4D4C-F41673B51F39}"/>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D1346AE-635A-A9C5-B8DD-20936F05D24B}"/>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144098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CA806D-5AED-F7A2-525C-A334B2A3623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E8B261C-0504-5647-44F0-8F4E9DDFF1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E9C0912-8908-86BF-DD6A-7EEEB21A54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C5C25E2-BE9B-9791-B989-BC8F294B0272}"/>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6" name="Marcador de pie de página 5">
            <a:extLst>
              <a:ext uri="{FF2B5EF4-FFF2-40B4-BE49-F238E27FC236}">
                <a16:creationId xmlns:a16="http://schemas.microsoft.com/office/drawing/2014/main" id="{197ACAE7-4D6B-1620-F47D-4EE9C1BDC78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6EC7F8D-454A-ACAA-3DB1-6732C49160FE}"/>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2210268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EF0614-BB47-4C25-ADF8-3C1DE30156B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41AC3A0-0294-3A05-D935-BF13F04DCE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D5613092-0DEB-D88F-BCD9-4A5AB7882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2870530-4BBF-4697-9974-4E70BFA7B599}"/>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6" name="Marcador de pie de página 5">
            <a:extLst>
              <a:ext uri="{FF2B5EF4-FFF2-40B4-BE49-F238E27FC236}">
                <a16:creationId xmlns:a16="http://schemas.microsoft.com/office/drawing/2014/main" id="{99126A95-5D66-83B9-DD73-9E8EB3EBC416}"/>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0465ECD-CB15-7DA7-2551-180CC1684457}"/>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3716407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EFA6-7A7D-1C7A-E4D2-073A885B226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4504012-8C14-4590-0460-23EA09A977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C5FAB69-5453-09CA-39DD-92F12921408B}"/>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5" name="Marcador de pie de página 4">
            <a:extLst>
              <a:ext uri="{FF2B5EF4-FFF2-40B4-BE49-F238E27FC236}">
                <a16:creationId xmlns:a16="http://schemas.microsoft.com/office/drawing/2014/main" id="{E79CEB9B-A08C-6E5D-1D93-D7B2C2615A3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5BC6F9E-0F24-D6D1-FB0E-77F2CFBFA054}"/>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1662528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D9741D8E-539E-B4AB-2892-9CC4A4F62BE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81C19C3A-BD36-FC1E-8632-B02A9FBFA45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F98AEBF-B7EC-7A8C-4DA6-49FA197FC0D1}"/>
              </a:ext>
            </a:extLst>
          </p:cNvPr>
          <p:cNvSpPr>
            <a:spLocks noGrp="1"/>
          </p:cNvSpPr>
          <p:nvPr>
            <p:ph type="dt" sz="half" idx="10"/>
          </p:nvPr>
        </p:nvSpPr>
        <p:spPr/>
        <p:txBody>
          <a:bodyPr/>
          <a:lstStyle/>
          <a:p>
            <a:fld id="{67EECD68-5B22-4A8C-9ACB-1CFE2D5E6B67}" type="datetimeFigureOut">
              <a:rPr lang="es-CO" smtClean="0"/>
              <a:t>18/09/2025</a:t>
            </a:fld>
            <a:endParaRPr lang="es-CO"/>
          </a:p>
        </p:txBody>
      </p:sp>
      <p:sp>
        <p:nvSpPr>
          <p:cNvPr id="5" name="Marcador de pie de página 4">
            <a:extLst>
              <a:ext uri="{FF2B5EF4-FFF2-40B4-BE49-F238E27FC236}">
                <a16:creationId xmlns:a16="http://schemas.microsoft.com/office/drawing/2014/main" id="{56B60152-C3AE-3222-50B4-27D541DB317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871CF97-69EA-5950-CFB3-26224D22E796}"/>
              </a:ext>
            </a:extLst>
          </p:cNvPr>
          <p:cNvSpPr>
            <a:spLocks noGrp="1"/>
          </p:cNvSpPr>
          <p:nvPr>
            <p:ph type="sldNum" sz="quarter" idx="12"/>
          </p:nvPr>
        </p:nvSpPr>
        <p:spPr/>
        <p:txBody>
          <a:bodyPr/>
          <a:lstStyle/>
          <a:p>
            <a:fld id="{81C8EA0E-2341-4698-A4BA-BBFD36C51605}" type="slidenum">
              <a:rPr lang="es-CO" smtClean="0"/>
              <a:t>‹Nº›</a:t>
            </a:fld>
            <a:endParaRPr lang="es-CO"/>
          </a:p>
        </p:txBody>
      </p:sp>
    </p:spTree>
    <p:extLst>
      <p:ext uri="{BB962C8B-B14F-4D97-AF65-F5344CB8AC3E}">
        <p14:creationId xmlns:p14="http://schemas.microsoft.com/office/powerpoint/2010/main" val="3683377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69552FC-E886-203B-FE7B-D300ABD380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1AF3750-9232-53BE-C3CE-4DF550BCD5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9A7DC56-C316-8A3A-1C59-ED1F2559AA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EECD68-5B22-4A8C-9ACB-1CFE2D5E6B67}" type="datetimeFigureOut">
              <a:rPr lang="es-CO" smtClean="0"/>
              <a:t>18/09/2025</a:t>
            </a:fld>
            <a:endParaRPr lang="es-CO"/>
          </a:p>
        </p:txBody>
      </p:sp>
      <p:sp>
        <p:nvSpPr>
          <p:cNvPr id="5" name="Marcador de pie de página 4">
            <a:extLst>
              <a:ext uri="{FF2B5EF4-FFF2-40B4-BE49-F238E27FC236}">
                <a16:creationId xmlns:a16="http://schemas.microsoft.com/office/drawing/2014/main" id="{1C87B45F-3D91-F609-D773-A834CB057A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01AEA98-3898-26D0-C2D1-17CC3B55E7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C8EA0E-2341-4698-A4BA-BBFD36C51605}" type="slidenum">
              <a:rPr lang="es-CO" smtClean="0"/>
              <a:t>‹Nº›</a:t>
            </a:fld>
            <a:endParaRPr lang="es-CO"/>
          </a:p>
        </p:txBody>
      </p:sp>
    </p:spTree>
    <p:extLst>
      <p:ext uri="{BB962C8B-B14F-4D97-AF65-F5344CB8AC3E}">
        <p14:creationId xmlns:p14="http://schemas.microsoft.com/office/powerpoint/2010/main" val="218470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blakngu.github.io/libro/deriva.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virtualbiologylab.org/NetWebHTML_FilesJan2016/GeneticDriftModel.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95E4A4E-4EC8-8FC4-D0CC-E98A3C4CD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662" y="0"/>
            <a:ext cx="8878887"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52333A9-C16D-C8BA-E03F-8912027BF07C}"/>
              </a:ext>
            </a:extLst>
          </p:cNvPr>
          <p:cNvSpPr>
            <a:spLocks noGrp="1"/>
          </p:cNvSpPr>
          <p:nvPr>
            <p:ph type="title"/>
          </p:nvPr>
        </p:nvSpPr>
        <p:spPr/>
        <p:txBody>
          <a:bodyPr/>
          <a:lstStyle/>
          <a:p>
            <a:r>
              <a:rPr lang="es-ES" dirty="0" err="1"/>
              <a:t>Genetic</a:t>
            </a:r>
            <a:r>
              <a:rPr lang="es-ES" dirty="0"/>
              <a:t> </a:t>
            </a:r>
            <a:r>
              <a:rPr lang="es-ES" dirty="0" err="1"/>
              <a:t>drift</a:t>
            </a:r>
            <a:endParaRPr lang="es-CO" dirty="0"/>
          </a:p>
        </p:txBody>
      </p:sp>
      <p:sp>
        <p:nvSpPr>
          <p:cNvPr id="3" name="Marcador de contenido 2">
            <a:extLst>
              <a:ext uri="{FF2B5EF4-FFF2-40B4-BE49-F238E27FC236}">
                <a16:creationId xmlns:a16="http://schemas.microsoft.com/office/drawing/2014/main" id="{0A0ED18B-EF08-F588-59B8-9031838E7EE1}"/>
              </a:ext>
            </a:extLst>
          </p:cNvPr>
          <p:cNvSpPr>
            <a:spLocks noGrp="1"/>
          </p:cNvSpPr>
          <p:nvPr>
            <p:ph idx="1"/>
          </p:nvPr>
        </p:nvSpPr>
        <p:spPr/>
        <p:txBody>
          <a:bodyPr/>
          <a:lstStyle/>
          <a:p>
            <a:endParaRPr lang="es-CO"/>
          </a:p>
        </p:txBody>
      </p:sp>
    </p:spTree>
    <p:extLst>
      <p:ext uri="{BB962C8B-B14F-4D97-AF65-F5344CB8AC3E}">
        <p14:creationId xmlns:p14="http://schemas.microsoft.com/office/powerpoint/2010/main" val="80245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95DC4A6-B7A7-7B15-5D8A-5E3F5DCCBDF0}"/>
              </a:ext>
            </a:extLst>
          </p:cNvPr>
          <p:cNvSpPr>
            <a:spLocks noGrp="1"/>
          </p:cNvSpPr>
          <p:nvPr>
            <p:ph type="title"/>
          </p:nvPr>
        </p:nvSpPr>
        <p:spPr/>
        <p:txBody>
          <a:bodyPr/>
          <a:lstStyle/>
          <a:p>
            <a:r>
              <a:rPr lang="es-CO" dirty="0" err="1"/>
              <a:t>sampling</a:t>
            </a:r>
            <a:r>
              <a:rPr lang="es-CO" dirty="0"/>
              <a:t> error?</a:t>
            </a:r>
          </a:p>
        </p:txBody>
      </p:sp>
      <p:sp>
        <p:nvSpPr>
          <p:cNvPr id="5" name="Marcador de contenido 4">
            <a:extLst>
              <a:ext uri="{FF2B5EF4-FFF2-40B4-BE49-F238E27FC236}">
                <a16:creationId xmlns:a16="http://schemas.microsoft.com/office/drawing/2014/main" id="{FA074645-7C1A-4E7F-C015-1275FCA10CD8}"/>
              </a:ext>
            </a:extLst>
          </p:cNvPr>
          <p:cNvSpPr>
            <a:spLocks noGrp="1"/>
          </p:cNvSpPr>
          <p:nvPr>
            <p:ph idx="1"/>
          </p:nvPr>
        </p:nvSpPr>
        <p:spPr>
          <a:xfrm>
            <a:off x="110613" y="1690688"/>
            <a:ext cx="3566652" cy="4351338"/>
          </a:xfrm>
        </p:spPr>
        <p:txBody>
          <a:bodyPr/>
          <a:lstStyle/>
          <a:p>
            <a:r>
              <a:rPr lang="es-ES" dirty="0" err="1"/>
              <a:t>Constant</a:t>
            </a:r>
            <a:r>
              <a:rPr lang="es-ES" dirty="0"/>
              <a:t> </a:t>
            </a:r>
            <a:r>
              <a:rPr lang="es-ES" dirty="0" err="1"/>
              <a:t>population</a:t>
            </a:r>
            <a:r>
              <a:rPr lang="es-ES" dirty="0"/>
              <a:t> </a:t>
            </a:r>
            <a:r>
              <a:rPr lang="es-ES" dirty="0" err="1"/>
              <a:t>size</a:t>
            </a:r>
            <a:endParaRPr lang="es-ES" dirty="0"/>
          </a:p>
          <a:p>
            <a:endParaRPr lang="es-ES" dirty="0"/>
          </a:p>
          <a:p>
            <a:r>
              <a:rPr lang="es-ES" dirty="0"/>
              <a:t>20 vs 200 times</a:t>
            </a:r>
          </a:p>
          <a:p>
            <a:endParaRPr lang="es-CO" dirty="0"/>
          </a:p>
        </p:txBody>
      </p:sp>
      <p:pic>
        <p:nvPicPr>
          <p:cNvPr id="7" name="Imagen 6">
            <a:extLst>
              <a:ext uri="{FF2B5EF4-FFF2-40B4-BE49-F238E27FC236}">
                <a16:creationId xmlns:a16="http://schemas.microsoft.com/office/drawing/2014/main" id="{3EA459D7-998F-9BFC-D170-B7D77696FFE1}"/>
              </a:ext>
            </a:extLst>
          </p:cNvPr>
          <p:cNvPicPr>
            <a:picLocks noChangeAspect="1"/>
          </p:cNvPicPr>
          <p:nvPr/>
        </p:nvPicPr>
        <p:blipFill>
          <a:blip r:embed="rId2"/>
          <a:stretch>
            <a:fillRect/>
          </a:stretch>
        </p:blipFill>
        <p:spPr>
          <a:xfrm>
            <a:off x="3496718" y="1825625"/>
            <a:ext cx="8695282" cy="4017194"/>
          </a:xfrm>
          <a:prstGeom prst="rect">
            <a:avLst/>
          </a:prstGeom>
        </p:spPr>
      </p:pic>
    </p:spTree>
    <p:extLst>
      <p:ext uri="{BB962C8B-B14F-4D97-AF65-F5344CB8AC3E}">
        <p14:creationId xmlns:p14="http://schemas.microsoft.com/office/powerpoint/2010/main" val="4207607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978B00-35C7-D2EE-E5F6-9E663785C228}"/>
              </a:ext>
            </a:extLst>
          </p:cNvPr>
          <p:cNvSpPr>
            <a:spLocks noGrp="1"/>
          </p:cNvSpPr>
          <p:nvPr>
            <p:ph type="title"/>
          </p:nvPr>
        </p:nvSpPr>
        <p:spPr/>
        <p:txBody>
          <a:bodyPr>
            <a:normAutofit fontScale="90000"/>
          </a:bodyPr>
          <a:lstStyle/>
          <a:p>
            <a:r>
              <a:rPr lang="en-US" dirty="0">
                <a:highlight>
                  <a:srgbClr val="FFFF00"/>
                </a:highlight>
              </a:rPr>
              <a:t>small populations showed a greater variation in allelic frequencies </a:t>
            </a:r>
            <a:r>
              <a:rPr lang="es-CO" dirty="0" err="1">
                <a:highlight>
                  <a:srgbClr val="FFFF00"/>
                </a:highlight>
              </a:rPr>
              <a:t>than</a:t>
            </a:r>
            <a:r>
              <a:rPr lang="es-CO" dirty="0">
                <a:highlight>
                  <a:srgbClr val="FFFF00"/>
                </a:highlight>
              </a:rPr>
              <a:t> </a:t>
            </a:r>
            <a:r>
              <a:rPr lang="es-CO" dirty="0" err="1">
                <a:highlight>
                  <a:srgbClr val="FFFF00"/>
                </a:highlight>
              </a:rPr>
              <a:t>the</a:t>
            </a:r>
            <a:r>
              <a:rPr lang="es-CO" dirty="0">
                <a:highlight>
                  <a:srgbClr val="FFFF00"/>
                </a:highlight>
              </a:rPr>
              <a:t> </a:t>
            </a:r>
            <a:r>
              <a:rPr lang="es-CO" dirty="0" err="1">
                <a:highlight>
                  <a:srgbClr val="FFFF00"/>
                </a:highlight>
              </a:rPr>
              <a:t>larger</a:t>
            </a:r>
            <a:r>
              <a:rPr lang="es-CO" dirty="0">
                <a:highlight>
                  <a:srgbClr val="FFFF00"/>
                </a:highlight>
              </a:rPr>
              <a:t> </a:t>
            </a:r>
            <a:r>
              <a:rPr lang="es-CO" dirty="0" err="1">
                <a:highlight>
                  <a:srgbClr val="FFFF00"/>
                </a:highlight>
              </a:rPr>
              <a:t>populations</a:t>
            </a:r>
            <a:endParaRPr lang="es-CO" dirty="0">
              <a:highlight>
                <a:srgbClr val="FFFF00"/>
              </a:highlight>
            </a:endParaRPr>
          </a:p>
        </p:txBody>
      </p:sp>
      <p:sp>
        <p:nvSpPr>
          <p:cNvPr id="3" name="Marcador de contenido 2">
            <a:extLst>
              <a:ext uri="{FF2B5EF4-FFF2-40B4-BE49-F238E27FC236}">
                <a16:creationId xmlns:a16="http://schemas.microsoft.com/office/drawing/2014/main" id="{C17E1CF4-AECF-1558-975C-49CDE3444F31}"/>
              </a:ext>
            </a:extLst>
          </p:cNvPr>
          <p:cNvSpPr>
            <a:spLocks noGrp="1"/>
          </p:cNvSpPr>
          <p:nvPr>
            <p:ph idx="1"/>
          </p:nvPr>
        </p:nvSpPr>
        <p:spPr/>
        <p:txBody>
          <a:bodyPr/>
          <a:lstStyle/>
          <a:p>
            <a:endParaRPr lang="es-CO"/>
          </a:p>
        </p:txBody>
      </p:sp>
      <p:pic>
        <p:nvPicPr>
          <p:cNvPr id="7" name="Imagen 6">
            <a:extLst>
              <a:ext uri="{FF2B5EF4-FFF2-40B4-BE49-F238E27FC236}">
                <a16:creationId xmlns:a16="http://schemas.microsoft.com/office/drawing/2014/main" id="{5E589D72-2E74-6699-EE33-24EABBC22EC1}"/>
              </a:ext>
            </a:extLst>
          </p:cNvPr>
          <p:cNvPicPr>
            <a:picLocks noChangeAspect="1"/>
          </p:cNvPicPr>
          <p:nvPr/>
        </p:nvPicPr>
        <p:blipFill>
          <a:blip r:embed="rId2"/>
          <a:stretch>
            <a:fillRect/>
          </a:stretch>
        </p:blipFill>
        <p:spPr>
          <a:xfrm>
            <a:off x="1104203" y="3077334"/>
            <a:ext cx="9983593" cy="2638793"/>
          </a:xfrm>
          <a:prstGeom prst="rect">
            <a:avLst/>
          </a:prstGeom>
        </p:spPr>
      </p:pic>
    </p:spTree>
    <p:extLst>
      <p:ext uri="{BB962C8B-B14F-4D97-AF65-F5344CB8AC3E}">
        <p14:creationId xmlns:p14="http://schemas.microsoft.com/office/powerpoint/2010/main" val="27746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92F371-61E2-285F-FC5E-9A4AACA47986}"/>
              </a:ext>
            </a:extLst>
          </p:cNvPr>
          <p:cNvSpPr>
            <a:spLocks noGrp="1"/>
          </p:cNvSpPr>
          <p:nvPr>
            <p:ph type="title"/>
          </p:nvPr>
        </p:nvSpPr>
        <p:spPr/>
        <p:txBody>
          <a:bodyPr/>
          <a:lstStyle/>
          <a:p>
            <a:r>
              <a:rPr lang="es-ES" dirty="0" err="1"/>
              <a:t>Increasing</a:t>
            </a:r>
            <a:r>
              <a:rPr lang="es-ES" dirty="0"/>
              <a:t> in </a:t>
            </a:r>
            <a:r>
              <a:rPr lang="es-ES" dirty="0" err="1"/>
              <a:t>variance</a:t>
            </a:r>
            <a:endParaRPr lang="es-CO" dirty="0"/>
          </a:p>
        </p:txBody>
      </p:sp>
      <p:sp>
        <p:nvSpPr>
          <p:cNvPr id="3" name="Marcador de contenido 2">
            <a:extLst>
              <a:ext uri="{FF2B5EF4-FFF2-40B4-BE49-F238E27FC236}">
                <a16:creationId xmlns:a16="http://schemas.microsoft.com/office/drawing/2014/main" id="{CEC2A056-8322-7953-F5FB-8E82775CF1C5}"/>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0D7E15A6-E5DA-6A47-0B45-FC2196EB0E98}"/>
              </a:ext>
            </a:extLst>
          </p:cNvPr>
          <p:cNvPicPr>
            <a:picLocks noChangeAspect="1"/>
          </p:cNvPicPr>
          <p:nvPr/>
        </p:nvPicPr>
        <p:blipFill>
          <a:blip r:embed="rId2"/>
          <a:stretch>
            <a:fillRect/>
          </a:stretch>
        </p:blipFill>
        <p:spPr>
          <a:xfrm>
            <a:off x="1869063" y="1933149"/>
            <a:ext cx="8630854" cy="3896269"/>
          </a:xfrm>
          <a:prstGeom prst="rect">
            <a:avLst/>
          </a:prstGeom>
        </p:spPr>
      </p:pic>
    </p:spTree>
    <p:extLst>
      <p:ext uri="{BB962C8B-B14F-4D97-AF65-F5344CB8AC3E}">
        <p14:creationId xmlns:p14="http://schemas.microsoft.com/office/powerpoint/2010/main" val="2058994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D1CA88-D355-408B-AE8D-EEFB7297ED46}"/>
              </a:ext>
            </a:extLst>
          </p:cNvPr>
          <p:cNvSpPr>
            <a:spLocks noGrp="1"/>
          </p:cNvSpPr>
          <p:nvPr>
            <p:ph type="title"/>
          </p:nvPr>
        </p:nvSpPr>
        <p:spPr/>
        <p:txBody>
          <a:bodyPr/>
          <a:lstStyle/>
          <a:p>
            <a:endParaRPr lang="es-CO" dirty="0"/>
          </a:p>
        </p:txBody>
      </p:sp>
      <p:sp>
        <p:nvSpPr>
          <p:cNvPr id="3" name="Marcador de contenido 2">
            <a:extLst>
              <a:ext uri="{FF2B5EF4-FFF2-40B4-BE49-F238E27FC236}">
                <a16:creationId xmlns:a16="http://schemas.microsoft.com/office/drawing/2014/main" id="{6FF97EDB-4938-CEDE-882E-A0AACA05D4AE}"/>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E7FCF1E4-1150-257A-0BFE-AEBA516954BE}"/>
              </a:ext>
            </a:extLst>
          </p:cNvPr>
          <p:cNvPicPr>
            <a:picLocks noChangeAspect="1"/>
          </p:cNvPicPr>
          <p:nvPr/>
        </p:nvPicPr>
        <p:blipFill>
          <a:blip r:embed="rId2"/>
          <a:stretch>
            <a:fillRect/>
          </a:stretch>
        </p:blipFill>
        <p:spPr>
          <a:xfrm>
            <a:off x="1015849" y="1825625"/>
            <a:ext cx="10337951" cy="3857855"/>
          </a:xfrm>
          <a:prstGeom prst="rect">
            <a:avLst/>
          </a:prstGeom>
        </p:spPr>
      </p:pic>
    </p:spTree>
    <p:extLst>
      <p:ext uri="{BB962C8B-B14F-4D97-AF65-F5344CB8AC3E}">
        <p14:creationId xmlns:p14="http://schemas.microsoft.com/office/powerpoint/2010/main" val="1952252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6C3793-5B4A-E1B9-57A7-1F2F275EAC7C}"/>
              </a:ext>
            </a:extLst>
          </p:cNvPr>
          <p:cNvSpPr>
            <a:spLocks noGrp="1"/>
          </p:cNvSpPr>
          <p:nvPr>
            <p:ph type="title"/>
          </p:nvPr>
        </p:nvSpPr>
        <p:spPr/>
        <p:txBody>
          <a:bodyPr/>
          <a:lstStyle/>
          <a:p>
            <a:r>
              <a:rPr lang="es-CO" dirty="0">
                <a:hlinkClick r:id="rId2"/>
              </a:rPr>
              <a:t>https://blakngu.github.io/libro/deriva.html</a:t>
            </a:r>
            <a:r>
              <a:rPr lang="es-CO" dirty="0"/>
              <a:t> </a:t>
            </a:r>
            <a:br>
              <a:rPr lang="es-CO" dirty="0"/>
            </a:br>
            <a:endParaRPr lang="es-CO" dirty="0"/>
          </a:p>
        </p:txBody>
      </p:sp>
      <p:sp>
        <p:nvSpPr>
          <p:cNvPr id="3" name="Marcador de contenido 2">
            <a:extLst>
              <a:ext uri="{FF2B5EF4-FFF2-40B4-BE49-F238E27FC236}">
                <a16:creationId xmlns:a16="http://schemas.microsoft.com/office/drawing/2014/main" id="{4CC91F70-293E-E221-207F-42A86927F88A}"/>
              </a:ext>
            </a:extLst>
          </p:cNvPr>
          <p:cNvSpPr>
            <a:spLocks noGrp="1"/>
          </p:cNvSpPr>
          <p:nvPr>
            <p:ph idx="1"/>
          </p:nvPr>
        </p:nvSpPr>
        <p:spPr/>
        <p:txBody>
          <a:bodyPr/>
          <a:lstStyle/>
          <a:p>
            <a:endParaRPr lang="es-CO"/>
          </a:p>
        </p:txBody>
      </p:sp>
      <p:pic>
        <p:nvPicPr>
          <p:cNvPr id="1026" name="Picture 2" descr="Evolución por deriva genética de las frecuencias alélicas en 4 subpoblaciones que parten de la misma frecuencia (el tiempo no está a escala). Las líneas superior e inferior representan las    extbf{barreras absorbentes} de fijación y pérdida del alelo. A medida que corre el tiempo las poblaciones se apartan de la frecuencia alélica inicial, aunque se mantiene la frecuencia promedio como el valor inicial.">
            <a:extLst>
              <a:ext uri="{FF2B5EF4-FFF2-40B4-BE49-F238E27FC236}">
                <a16:creationId xmlns:a16="http://schemas.microsoft.com/office/drawing/2014/main" id="{A16E1626-9FF5-939C-4AFD-D0F77332D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519" y="1320111"/>
            <a:ext cx="9610962" cy="5362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644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DA62E3-B322-FA23-352D-D703808231F3}"/>
              </a:ext>
            </a:extLst>
          </p:cNvPr>
          <p:cNvSpPr>
            <a:spLocks noGrp="1"/>
          </p:cNvSpPr>
          <p:nvPr>
            <p:ph type="title"/>
          </p:nvPr>
        </p:nvSpPr>
        <p:spPr/>
        <p:txBody>
          <a:bodyPr/>
          <a:lstStyle/>
          <a:p>
            <a:r>
              <a:rPr lang="es-ES" dirty="0" err="1"/>
              <a:t>Biological</a:t>
            </a:r>
            <a:r>
              <a:rPr lang="es-ES" dirty="0"/>
              <a:t> </a:t>
            </a:r>
            <a:r>
              <a:rPr lang="es-ES" dirty="0" err="1"/>
              <a:t>importance</a:t>
            </a:r>
            <a:endParaRPr lang="es-CO" dirty="0"/>
          </a:p>
        </p:txBody>
      </p:sp>
      <p:sp>
        <p:nvSpPr>
          <p:cNvPr id="3" name="Marcador de contenido 2">
            <a:extLst>
              <a:ext uri="{FF2B5EF4-FFF2-40B4-BE49-F238E27FC236}">
                <a16:creationId xmlns:a16="http://schemas.microsoft.com/office/drawing/2014/main" id="{AA61520D-BD98-F181-56D6-2B15677D8B8F}"/>
              </a:ext>
            </a:extLst>
          </p:cNvPr>
          <p:cNvSpPr>
            <a:spLocks noGrp="1"/>
          </p:cNvSpPr>
          <p:nvPr>
            <p:ph idx="1"/>
          </p:nvPr>
        </p:nvSpPr>
        <p:spPr/>
        <p:txBody>
          <a:bodyPr/>
          <a:lstStyle/>
          <a:p>
            <a:pPr marL="0" indent="0">
              <a:buNone/>
            </a:pPr>
            <a:r>
              <a:rPr lang="es-CO" b="1" dirty="0" err="1"/>
              <a:t>Genetic</a:t>
            </a:r>
            <a:r>
              <a:rPr lang="es-CO" b="1" dirty="0"/>
              <a:t> </a:t>
            </a:r>
            <a:r>
              <a:rPr lang="es-CO" b="1" dirty="0" err="1"/>
              <a:t>Drift</a:t>
            </a:r>
            <a:r>
              <a:rPr lang="es-CO" dirty="0"/>
              <a:t>:</a:t>
            </a:r>
            <a:r>
              <a:rPr lang="en-US" dirty="0"/>
              <a:t> A change in the gene pool strictly by chance fixation of alleles</a:t>
            </a:r>
          </a:p>
          <a:p>
            <a:pPr>
              <a:buFontTx/>
              <a:buChar char="-"/>
            </a:pPr>
            <a:r>
              <a:rPr lang="en-US" dirty="0"/>
              <a:t>Acute in small populations for infrequently occurring alleles, which can suddenly increase in frequency in the population or be totally wiped out. </a:t>
            </a:r>
          </a:p>
          <a:p>
            <a:pPr>
              <a:buFontTx/>
              <a:buChar char="-"/>
            </a:pPr>
            <a:endParaRPr lang="en-US" dirty="0"/>
          </a:p>
          <a:p>
            <a:pPr>
              <a:buFontTx/>
              <a:buChar char="-"/>
            </a:pPr>
            <a:r>
              <a:rPr lang="es-CO" dirty="0">
                <a:hlinkClick r:id="rId2"/>
              </a:rPr>
              <a:t>https://virtualbiologylab.org/NetWebHTML_FilesJan2016/GeneticDriftModel.html</a:t>
            </a:r>
            <a:r>
              <a:rPr lang="es-CO" dirty="0"/>
              <a:t> </a:t>
            </a:r>
            <a:endParaRPr lang="es-CO" dirty="0">
              <a:highlight>
                <a:srgbClr val="FFFF00"/>
              </a:highlight>
            </a:endParaRPr>
          </a:p>
          <a:p>
            <a:pPr>
              <a:buFontTx/>
              <a:buChar char="-"/>
            </a:pPr>
            <a:endParaRPr lang="es-CO" dirty="0"/>
          </a:p>
        </p:txBody>
      </p:sp>
    </p:spTree>
    <p:extLst>
      <p:ext uri="{BB962C8B-B14F-4D97-AF65-F5344CB8AC3E}">
        <p14:creationId xmlns:p14="http://schemas.microsoft.com/office/powerpoint/2010/main" val="1772986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73AAB-EB5E-2E2F-194E-3E603449449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001AFC31-BAA9-4138-79A6-9B0CF5FEBA5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7DDD0841-573E-B87B-841B-F3CA148CCA18}"/>
              </a:ext>
            </a:extLst>
          </p:cNvPr>
          <p:cNvPicPr>
            <a:picLocks noChangeAspect="1"/>
          </p:cNvPicPr>
          <p:nvPr/>
        </p:nvPicPr>
        <p:blipFill>
          <a:blip r:embed="rId2"/>
          <a:stretch>
            <a:fillRect/>
          </a:stretch>
        </p:blipFill>
        <p:spPr>
          <a:xfrm>
            <a:off x="1008940" y="552048"/>
            <a:ext cx="10174120" cy="5753903"/>
          </a:xfrm>
          <a:prstGeom prst="rect">
            <a:avLst/>
          </a:prstGeom>
        </p:spPr>
      </p:pic>
    </p:spTree>
    <p:extLst>
      <p:ext uri="{BB962C8B-B14F-4D97-AF65-F5344CB8AC3E}">
        <p14:creationId xmlns:p14="http://schemas.microsoft.com/office/powerpoint/2010/main" val="246888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D03CA4-FFEE-1ED5-2BBB-3E0265329132}"/>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E8CFFFF0-A74F-E59D-1A1B-6CD6ACA593EF}"/>
              </a:ext>
            </a:extLst>
          </p:cNvPr>
          <p:cNvSpPr>
            <a:spLocks noGrp="1"/>
          </p:cNvSpPr>
          <p:nvPr>
            <p:ph idx="1"/>
          </p:nvPr>
        </p:nvSpPr>
        <p:spPr/>
        <p:txBody>
          <a:bodyPr/>
          <a:lstStyle/>
          <a:p>
            <a:r>
              <a:rPr lang="es-ES"/>
              <a:t>N=8</a:t>
            </a:r>
          </a:p>
          <a:p>
            <a:r>
              <a:rPr lang="es-CO" i="1"/>
              <a:t>p </a:t>
            </a:r>
            <a:r>
              <a:rPr lang="es-CO"/>
              <a:t>= </a:t>
            </a:r>
            <a:r>
              <a:rPr lang="es-CO" i="1"/>
              <a:t>q </a:t>
            </a:r>
            <a:r>
              <a:rPr lang="es-CO"/>
              <a:t>= 0.5</a:t>
            </a:r>
          </a:p>
          <a:p>
            <a:r>
              <a:rPr lang="es-CO"/>
              <a:t>Binomial sampling:</a:t>
            </a:r>
            <a:endParaRPr lang="es-CO" dirty="0"/>
          </a:p>
        </p:txBody>
      </p:sp>
      <p:pic>
        <p:nvPicPr>
          <p:cNvPr id="5" name="Imagen 4">
            <a:extLst>
              <a:ext uri="{FF2B5EF4-FFF2-40B4-BE49-F238E27FC236}">
                <a16:creationId xmlns:a16="http://schemas.microsoft.com/office/drawing/2014/main" id="{0D57836B-CB9C-3C36-28D5-A3BAD6EDE367}"/>
              </a:ext>
            </a:extLst>
          </p:cNvPr>
          <p:cNvPicPr>
            <a:picLocks noChangeAspect="1"/>
          </p:cNvPicPr>
          <p:nvPr/>
        </p:nvPicPr>
        <p:blipFill>
          <a:blip r:embed="rId2"/>
          <a:stretch>
            <a:fillRect/>
          </a:stretch>
        </p:blipFill>
        <p:spPr>
          <a:xfrm>
            <a:off x="1526668" y="4001294"/>
            <a:ext cx="2212319" cy="1121312"/>
          </a:xfrm>
          <a:prstGeom prst="rect">
            <a:avLst/>
          </a:prstGeom>
        </p:spPr>
      </p:pic>
      <p:pic>
        <p:nvPicPr>
          <p:cNvPr id="7" name="Imagen 6">
            <a:extLst>
              <a:ext uri="{FF2B5EF4-FFF2-40B4-BE49-F238E27FC236}">
                <a16:creationId xmlns:a16="http://schemas.microsoft.com/office/drawing/2014/main" id="{9F391AC5-1A84-6A99-8B56-EE8651505733}"/>
              </a:ext>
            </a:extLst>
          </p:cNvPr>
          <p:cNvPicPr>
            <a:picLocks noChangeAspect="1"/>
          </p:cNvPicPr>
          <p:nvPr/>
        </p:nvPicPr>
        <p:blipFill>
          <a:blip r:embed="rId3"/>
          <a:stretch>
            <a:fillRect/>
          </a:stretch>
        </p:blipFill>
        <p:spPr>
          <a:xfrm>
            <a:off x="5085384" y="1825625"/>
            <a:ext cx="5029902" cy="4172532"/>
          </a:xfrm>
          <a:prstGeom prst="rect">
            <a:avLst/>
          </a:prstGeom>
        </p:spPr>
      </p:pic>
      <p:sp>
        <p:nvSpPr>
          <p:cNvPr id="9" name="CuadroTexto 8">
            <a:extLst>
              <a:ext uri="{FF2B5EF4-FFF2-40B4-BE49-F238E27FC236}">
                <a16:creationId xmlns:a16="http://schemas.microsoft.com/office/drawing/2014/main" id="{84620AF8-94C6-4B68-B25C-77BA27D0D75D}"/>
              </a:ext>
            </a:extLst>
          </p:cNvPr>
          <p:cNvSpPr txBox="1"/>
          <p:nvPr/>
        </p:nvSpPr>
        <p:spPr>
          <a:xfrm>
            <a:off x="855577" y="5257543"/>
            <a:ext cx="7236542" cy="400110"/>
          </a:xfrm>
          <a:prstGeom prst="rect">
            <a:avLst/>
          </a:prstGeom>
          <a:noFill/>
        </p:spPr>
        <p:txBody>
          <a:bodyPr wrap="square">
            <a:spAutoFit/>
          </a:bodyPr>
          <a:lstStyle/>
          <a:p>
            <a:pPr algn="l"/>
            <a:r>
              <a:rPr lang="es-CO" sz="2000" b="1" i="0" u="none" strike="noStrike" baseline="0" dirty="0" err="1">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source</a:t>
            </a:r>
            <a:r>
              <a:rPr lang="es-CO" sz="2000" b="1" i="0" u="none" strike="noStrike" baseline="0"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r>
              <a:rPr lang="es-CO" sz="2000" b="1" i="0" u="none" strike="noStrike" baseline="0" dirty="0" err="1">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of</a:t>
            </a:r>
            <a:r>
              <a:rPr lang="es-CO" sz="2000" b="1" i="0" u="none" strike="noStrike" baseline="0"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r>
              <a:rPr lang="es-CO" sz="2000" b="1" i="0" u="none" strike="noStrike" baseline="0" dirty="0" err="1">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evolution</a:t>
            </a:r>
            <a:r>
              <a:rPr lang="es-CO" sz="2000" b="1" i="0" u="none" strike="noStrike" baseline="0"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r>
              <a:rPr lang="es-CO" sz="2000" b="1" i="0" u="none" strike="noStrike" baseline="0" dirty="0" err="1">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by</a:t>
            </a:r>
            <a:r>
              <a:rPr lang="es-CO" sz="2000" b="1" i="0" u="none" strike="noStrike" baseline="0"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r>
              <a:rPr lang="es-CO" sz="2000" b="1" i="0" u="none" strike="noStrike" baseline="0" dirty="0" err="1">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genetic</a:t>
            </a:r>
            <a:r>
              <a:rPr lang="es-CO" sz="2000" b="1" i="0" u="none" strike="noStrike" baseline="0"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r>
              <a:rPr lang="es-CO" sz="2000" b="1" i="0" u="none" strike="noStrike" baseline="0" dirty="0" err="1">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drift</a:t>
            </a:r>
            <a:r>
              <a:rPr lang="es-CO" sz="2000" b="1" i="0" u="none" strike="noStrike" baseline="0"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rPr>
              <a:t>.</a:t>
            </a:r>
            <a:endParaRPr lang="es-CO" sz="2000" b="1" dirty="0">
              <a:solidFill>
                <a:srgbClr val="FF0000"/>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617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4D8982-7D49-49CE-3D33-3F2D62AE5B82}"/>
              </a:ext>
            </a:extLst>
          </p:cNvPr>
          <p:cNvSpPr>
            <a:spLocks noGrp="1"/>
          </p:cNvSpPr>
          <p:nvPr>
            <p:ph type="title"/>
          </p:nvPr>
        </p:nvSpPr>
        <p:spPr/>
        <p:txBody>
          <a:bodyPr/>
          <a:lstStyle/>
          <a:p>
            <a:r>
              <a:rPr lang="es-ES" dirty="0"/>
              <a:t>General </a:t>
            </a:r>
            <a:r>
              <a:rPr lang="es-ES" dirty="0" err="1"/>
              <a:t>Properties</a:t>
            </a:r>
            <a:endParaRPr lang="es-CO" dirty="0"/>
          </a:p>
        </p:txBody>
      </p:sp>
      <p:sp>
        <p:nvSpPr>
          <p:cNvPr id="3" name="Marcador de texto 2">
            <a:extLst>
              <a:ext uri="{FF2B5EF4-FFF2-40B4-BE49-F238E27FC236}">
                <a16:creationId xmlns:a16="http://schemas.microsoft.com/office/drawing/2014/main" id="{C8410F69-CCEA-605D-210A-7A5610EB407B}"/>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728056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FC9BC0D8-24F1-7AFF-BF3F-599B7170F5A8}"/>
              </a:ext>
            </a:extLst>
          </p:cNvPr>
          <p:cNvSpPr>
            <a:spLocks noGrp="1"/>
          </p:cNvSpPr>
          <p:nvPr>
            <p:ph type="title"/>
          </p:nvPr>
        </p:nvSpPr>
        <p:spPr/>
        <p:txBody>
          <a:bodyPr/>
          <a:lstStyle/>
          <a:p>
            <a:endParaRPr lang="es-CO"/>
          </a:p>
        </p:txBody>
      </p:sp>
      <p:sp>
        <p:nvSpPr>
          <p:cNvPr id="5" name="Marcador de contenido 4">
            <a:extLst>
              <a:ext uri="{FF2B5EF4-FFF2-40B4-BE49-F238E27FC236}">
                <a16:creationId xmlns:a16="http://schemas.microsoft.com/office/drawing/2014/main" id="{E51D9737-D089-5125-302D-88AC3047351E}"/>
              </a:ext>
            </a:extLst>
          </p:cNvPr>
          <p:cNvSpPr>
            <a:spLocks noGrp="1"/>
          </p:cNvSpPr>
          <p:nvPr>
            <p:ph idx="1"/>
          </p:nvPr>
        </p:nvSpPr>
        <p:spPr>
          <a:xfrm>
            <a:off x="838199" y="1825625"/>
            <a:ext cx="10515600" cy="4351338"/>
          </a:xfrm>
        </p:spPr>
        <p:txBody>
          <a:bodyPr/>
          <a:lstStyle/>
          <a:p>
            <a:r>
              <a:rPr lang="en-US" dirty="0"/>
              <a:t>Each individual in the population produces a large number of gametes.</a:t>
            </a:r>
          </a:p>
          <a:p>
            <a:r>
              <a:rPr lang="en-US" dirty="0"/>
              <a:t> The allele in each gamete is an identical copy of the allele in the individual that produced it, i.e., A1 begets A1 and A2 begets A2.</a:t>
            </a:r>
          </a:p>
          <a:p>
            <a:r>
              <a:rPr lang="en-US" dirty="0"/>
              <a:t> The next generation is constructed by picking 2N gametes at random from the large </a:t>
            </a:r>
            <a:r>
              <a:rPr lang="es-CO" dirty="0" err="1"/>
              <a:t>number</a:t>
            </a:r>
            <a:r>
              <a:rPr lang="es-CO" dirty="0"/>
              <a:t> </a:t>
            </a:r>
            <a:r>
              <a:rPr lang="es-CO" dirty="0" err="1"/>
              <a:t>originally</a:t>
            </a:r>
            <a:r>
              <a:rPr lang="es-CO" dirty="0"/>
              <a:t> </a:t>
            </a:r>
            <a:r>
              <a:rPr lang="es-CO" dirty="0" err="1"/>
              <a:t>produced</a:t>
            </a:r>
            <a:r>
              <a:rPr lang="es-CO" dirty="0"/>
              <a:t>.</a:t>
            </a:r>
          </a:p>
        </p:txBody>
      </p:sp>
      <p:pic>
        <p:nvPicPr>
          <p:cNvPr id="11" name="Imagen 10">
            <a:extLst>
              <a:ext uri="{FF2B5EF4-FFF2-40B4-BE49-F238E27FC236}">
                <a16:creationId xmlns:a16="http://schemas.microsoft.com/office/drawing/2014/main" id="{9134A8C6-34E0-9CAE-A1FB-5836A9A0CDFF}"/>
              </a:ext>
            </a:extLst>
          </p:cNvPr>
          <p:cNvPicPr>
            <a:picLocks noChangeAspect="1"/>
          </p:cNvPicPr>
          <p:nvPr/>
        </p:nvPicPr>
        <p:blipFill>
          <a:blip r:embed="rId2"/>
          <a:stretch>
            <a:fillRect/>
          </a:stretch>
        </p:blipFill>
        <p:spPr>
          <a:xfrm>
            <a:off x="3871025" y="4809150"/>
            <a:ext cx="4449949" cy="1367813"/>
          </a:xfrm>
          <a:prstGeom prst="rect">
            <a:avLst/>
          </a:prstGeom>
        </p:spPr>
      </p:pic>
      <p:sp>
        <p:nvSpPr>
          <p:cNvPr id="13" name="CuadroTexto 12">
            <a:extLst>
              <a:ext uri="{FF2B5EF4-FFF2-40B4-BE49-F238E27FC236}">
                <a16:creationId xmlns:a16="http://schemas.microsoft.com/office/drawing/2014/main" id="{DA03EE86-39E8-BD89-B731-C36217763058}"/>
              </a:ext>
            </a:extLst>
          </p:cNvPr>
          <p:cNvSpPr txBox="1"/>
          <p:nvPr/>
        </p:nvSpPr>
        <p:spPr>
          <a:xfrm>
            <a:off x="2674374" y="5942568"/>
            <a:ext cx="7292651" cy="369332"/>
          </a:xfrm>
          <a:prstGeom prst="rect">
            <a:avLst/>
          </a:prstGeom>
          <a:noFill/>
        </p:spPr>
        <p:txBody>
          <a:bodyPr wrap="square">
            <a:spAutoFit/>
          </a:bodyPr>
          <a:lstStyle/>
          <a:p>
            <a:r>
              <a:rPr lang="es-CO" dirty="0" err="1">
                <a:solidFill>
                  <a:srgbClr val="FF0000"/>
                </a:solidFill>
                <a:highlight>
                  <a:srgbClr val="FFFF00"/>
                </a:highlight>
              </a:rPr>
              <a:t>Uncertainty</a:t>
            </a:r>
            <a:r>
              <a:rPr lang="es-CO" dirty="0">
                <a:solidFill>
                  <a:srgbClr val="FF0000"/>
                </a:solidFill>
                <a:highlight>
                  <a:srgbClr val="FFFF00"/>
                </a:highlight>
              </a:rPr>
              <a:t> in </a:t>
            </a:r>
            <a:r>
              <a:rPr lang="es-CO" dirty="0" err="1">
                <a:solidFill>
                  <a:srgbClr val="FF0000"/>
                </a:solidFill>
                <a:highlight>
                  <a:srgbClr val="FFFF00"/>
                </a:highlight>
              </a:rPr>
              <a:t>next</a:t>
            </a:r>
            <a:r>
              <a:rPr lang="es-CO" dirty="0">
                <a:solidFill>
                  <a:srgbClr val="FF0000"/>
                </a:solidFill>
                <a:highlight>
                  <a:srgbClr val="FFFF00"/>
                </a:highlight>
              </a:rPr>
              <a:t> </a:t>
            </a:r>
            <a:r>
              <a:rPr lang="es-CO" dirty="0" err="1">
                <a:solidFill>
                  <a:srgbClr val="FF0000"/>
                </a:solidFill>
                <a:highlight>
                  <a:srgbClr val="FFFF00"/>
                </a:highlight>
              </a:rPr>
              <a:t>generation</a:t>
            </a:r>
            <a:r>
              <a:rPr lang="es-CO" dirty="0">
                <a:solidFill>
                  <a:srgbClr val="FF0000"/>
                </a:solidFill>
                <a:highlight>
                  <a:srgbClr val="FFFF00"/>
                </a:highlight>
              </a:rPr>
              <a:t>. </a:t>
            </a:r>
            <a:r>
              <a:rPr lang="es-CO" dirty="0" err="1">
                <a:solidFill>
                  <a:srgbClr val="FF0000"/>
                </a:solidFill>
                <a:highlight>
                  <a:srgbClr val="FFFF00"/>
                </a:highlight>
              </a:rPr>
              <a:t>Inversely</a:t>
            </a:r>
            <a:r>
              <a:rPr lang="es-CO" dirty="0">
                <a:solidFill>
                  <a:srgbClr val="FF0000"/>
                </a:solidFill>
                <a:highlight>
                  <a:srgbClr val="FFFF00"/>
                </a:highlight>
              </a:rPr>
              <a:t> </a:t>
            </a:r>
            <a:r>
              <a:rPr lang="es-CO" dirty="0" err="1">
                <a:solidFill>
                  <a:srgbClr val="FF0000"/>
                </a:solidFill>
                <a:highlight>
                  <a:srgbClr val="FFFF00"/>
                </a:highlight>
              </a:rPr>
              <a:t>proportional</a:t>
            </a:r>
            <a:r>
              <a:rPr lang="es-CO" dirty="0">
                <a:solidFill>
                  <a:srgbClr val="FF0000"/>
                </a:solidFill>
                <a:highlight>
                  <a:srgbClr val="FFFF00"/>
                </a:highlight>
              </a:rPr>
              <a:t> </a:t>
            </a:r>
            <a:r>
              <a:rPr lang="es-CO" dirty="0" err="1">
                <a:solidFill>
                  <a:srgbClr val="FF0000"/>
                </a:solidFill>
                <a:highlight>
                  <a:srgbClr val="FFFF00"/>
                </a:highlight>
              </a:rPr>
              <a:t>to</a:t>
            </a:r>
            <a:r>
              <a:rPr lang="es-CO" dirty="0">
                <a:solidFill>
                  <a:srgbClr val="FF0000"/>
                </a:solidFill>
                <a:highlight>
                  <a:srgbClr val="FFFF00"/>
                </a:highlight>
              </a:rPr>
              <a:t> pop </a:t>
            </a:r>
            <a:r>
              <a:rPr lang="es-CO" dirty="0" err="1">
                <a:solidFill>
                  <a:srgbClr val="FF0000"/>
                </a:solidFill>
                <a:highlight>
                  <a:srgbClr val="FFFF00"/>
                </a:highlight>
              </a:rPr>
              <a:t>size</a:t>
            </a:r>
            <a:endParaRPr lang="es-CO" dirty="0">
              <a:solidFill>
                <a:srgbClr val="FF0000"/>
              </a:solidFill>
              <a:highlight>
                <a:srgbClr val="FFFF00"/>
              </a:highlight>
            </a:endParaRPr>
          </a:p>
        </p:txBody>
      </p:sp>
    </p:spTree>
    <p:extLst>
      <p:ext uri="{BB962C8B-B14F-4D97-AF65-F5344CB8AC3E}">
        <p14:creationId xmlns:p14="http://schemas.microsoft.com/office/powerpoint/2010/main" val="51514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3B021A-F04C-4854-22A2-D38625138FD4}"/>
              </a:ext>
            </a:extLst>
          </p:cNvPr>
          <p:cNvSpPr>
            <a:spLocks noGrp="1"/>
          </p:cNvSpPr>
          <p:nvPr>
            <p:ph type="title"/>
          </p:nvPr>
        </p:nvSpPr>
        <p:spPr/>
        <p:txBody>
          <a:bodyPr/>
          <a:lstStyle/>
          <a:p>
            <a:r>
              <a:rPr lang="es-ES" dirty="0" err="1"/>
              <a:t>Measure</a:t>
            </a:r>
            <a:r>
              <a:rPr lang="es-ES" dirty="0"/>
              <a:t> </a:t>
            </a:r>
            <a:r>
              <a:rPr lang="es-ES" dirty="0" err="1"/>
              <a:t>variances</a:t>
            </a:r>
            <a:r>
              <a:rPr lang="es-ES" dirty="0"/>
              <a:t> in </a:t>
            </a:r>
            <a:r>
              <a:rPr lang="es-ES" dirty="0" err="1"/>
              <a:t>next</a:t>
            </a:r>
            <a:r>
              <a:rPr lang="es-ES" dirty="0"/>
              <a:t> </a:t>
            </a:r>
            <a:r>
              <a:rPr lang="es-ES" dirty="0" err="1"/>
              <a:t>generations</a:t>
            </a:r>
            <a:endParaRPr lang="es-CO" dirty="0"/>
          </a:p>
        </p:txBody>
      </p:sp>
      <p:sp>
        <p:nvSpPr>
          <p:cNvPr id="3" name="Marcador de contenido 2">
            <a:extLst>
              <a:ext uri="{FF2B5EF4-FFF2-40B4-BE49-F238E27FC236}">
                <a16:creationId xmlns:a16="http://schemas.microsoft.com/office/drawing/2014/main" id="{6935A2DC-2EDE-A6FB-DA5D-1449EE9F8372}"/>
              </a:ext>
            </a:extLst>
          </p:cNvPr>
          <p:cNvSpPr>
            <a:spLocks noGrp="1"/>
          </p:cNvSpPr>
          <p:nvPr>
            <p:ph idx="1"/>
          </p:nvPr>
        </p:nvSpPr>
        <p:spPr/>
        <p:txBody>
          <a:bodyPr/>
          <a:lstStyle/>
          <a:p>
            <a:r>
              <a:rPr lang="en-US" dirty="0"/>
              <a:t>variance in allelic frequencies among lines is compounded each generation, and after </a:t>
            </a:r>
            <a:r>
              <a:rPr lang="en-US" i="1" dirty="0"/>
              <a:t>t </a:t>
            </a:r>
            <a:r>
              <a:rPr lang="en-US" dirty="0"/>
              <a:t>generations this </a:t>
            </a:r>
            <a:r>
              <a:rPr lang="es-CO" dirty="0" err="1"/>
              <a:t>variance</a:t>
            </a:r>
            <a:r>
              <a:rPr lang="es-CO" dirty="0"/>
              <a:t> </a:t>
            </a:r>
            <a:r>
              <a:rPr lang="es-CO" dirty="0" err="1"/>
              <a:t>equals</a:t>
            </a:r>
            <a:r>
              <a:rPr lang="es-CO" dirty="0"/>
              <a:t>:</a:t>
            </a:r>
          </a:p>
          <a:p>
            <a:endParaRPr lang="es-CO" dirty="0"/>
          </a:p>
          <a:p>
            <a:endParaRPr lang="es-CO" dirty="0"/>
          </a:p>
          <a:p>
            <a:endParaRPr lang="es-CO" dirty="0"/>
          </a:p>
          <a:p>
            <a:endParaRPr lang="en-US" dirty="0"/>
          </a:p>
          <a:p>
            <a:r>
              <a:rPr lang="en-US" dirty="0"/>
              <a:t>variance in allelic frequency increases at a slower and slower rate as the number of generations increases, and attains a </a:t>
            </a:r>
            <a:r>
              <a:rPr lang="es-CO" dirty="0" err="1"/>
              <a:t>maximum</a:t>
            </a:r>
            <a:r>
              <a:rPr lang="es-CO" dirty="0"/>
              <a:t> </a:t>
            </a:r>
            <a:r>
              <a:rPr lang="es-CO" dirty="0" err="1"/>
              <a:t>value</a:t>
            </a:r>
            <a:r>
              <a:rPr lang="es-CO" dirty="0"/>
              <a:t> </a:t>
            </a:r>
            <a:r>
              <a:rPr lang="es-CO" dirty="0" err="1"/>
              <a:t>of</a:t>
            </a:r>
            <a:r>
              <a:rPr lang="es-CO" dirty="0"/>
              <a:t> </a:t>
            </a:r>
            <a:r>
              <a:rPr lang="es-CO" i="1" dirty="0"/>
              <a:t>p</a:t>
            </a:r>
            <a:r>
              <a:rPr lang="es-CO" dirty="0"/>
              <a:t>0</a:t>
            </a:r>
            <a:r>
              <a:rPr lang="es-CO" i="1" dirty="0"/>
              <a:t>q</a:t>
            </a:r>
            <a:r>
              <a:rPr lang="es-CO" dirty="0"/>
              <a:t>0</a:t>
            </a:r>
          </a:p>
        </p:txBody>
      </p:sp>
      <p:pic>
        <p:nvPicPr>
          <p:cNvPr id="6" name="Imagen 5">
            <a:extLst>
              <a:ext uri="{FF2B5EF4-FFF2-40B4-BE49-F238E27FC236}">
                <a16:creationId xmlns:a16="http://schemas.microsoft.com/office/drawing/2014/main" id="{36F396A3-F8A5-7807-1E5C-2B7EF96380BB}"/>
              </a:ext>
            </a:extLst>
          </p:cNvPr>
          <p:cNvPicPr>
            <a:picLocks noChangeAspect="1"/>
          </p:cNvPicPr>
          <p:nvPr/>
        </p:nvPicPr>
        <p:blipFill>
          <a:blip r:embed="rId2"/>
          <a:stretch>
            <a:fillRect/>
          </a:stretch>
        </p:blipFill>
        <p:spPr>
          <a:xfrm>
            <a:off x="838200" y="3182930"/>
            <a:ext cx="4609172" cy="1289006"/>
          </a:xfrm>
          <a:prstGeom prst="rect">
            <a:avLst/>
          </a:prstGeom>
        </p:spPr>
      </p:pic>
    </p:spTree>
    <p:extLst>
      <p:ext uri="{BB962C8B-B14F-4D97-AF65-F5344CB8AC3E}">
        <p14:creationId xmlns:p14="http://schemas.microsoft.com/office/powerpoint/2010/main" val="3997056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031213-449B-CF63-3764-E9763B24F2C8}"/>
              </a:ext>
            </a:extLst>
          </p:cNvPr>
          <p:cNvSpPr>
            <a:spLocks noGrp="1"/>
          </p:cNvSpPr>
          <p:nvPr>
            <p:ph type="title"/>
          </p:nvPr>
        </p:nvSpPr>
        <p:spPr/>
        <p:txBody>
          <a:bodyPr/>
          <a:lstStyle/>
          <a:p>
            <a:r>
              <a:rPr lang="en-US" dirty="0"/>
              <a:t>Genetic drift in idealized populations</a:t>
            </a:r>
            <a:endParaRPr lang="es-CO" dirty="0"/>
          </a:p>
        </p:txBody>
      </p:sp>
      <p:sp>
        <p:nvSpPr>
          <p:cNvPr id="3" name="Marcador de contenido 2">
            <a:extLst>
              <a:ext uri="{FF2B5EF4-FFF2-40B4-BE49-F238E27FC236}">
                <a16:creationId xmlns:a16="http://schemas.microsoft.com/office/drawing/2014/main" id="{112CF593-F660-EC11-4BB2-1C3C45D3F47E}"/>
              </a:ext>
            </a:extLst>
          </p:cNvPr>
          <p:cNvSpPr>
            <a:spLocks noGrp="1"/>
          </p:cNvSpPr>
          <p:nvPr>
            <p:ph idx="1"/>
          </p:nvPr>
        </p:nvSpPr>
        <p:spPr/>
        <p:txBody>
          <a:bodyPr/>
          <a:lstStyle/>
          <a:p>
            <a:r>
              <a:rPr lang="es-CO" i="1" dirty="0"/>
              <a:t>p</a:t>
            </a:r>
            <a:r>
              <a:rPr lang="es-CO" dirty="0"/>
              <a:t>0 and </a:t>
            </a:r>
            <a:r>
              <a:rPr lang="es-CO" i="1" dirty="0"/>
              <a:t>q</a:t>
            </a:r>
            <a:r>
              <a:rPr lang="es-CO" dirty="0"/>
              <a:t>0</a:t>
            </a:r>
          </a:p>
          <a:p>
            <a:r>
              <a:rPr lang="es-CO" dirty="0"/>
              <a:t>2</a:t>
            </a:r>
            <a:r>
              <a:rPr lang="es-CO" i="1" dirty="0"/>
              <a:t>N </a:t>
            </a:r>
            <a:r>
              <a:rPr lang="es-CO" dirty="0" err="1"/>
              <a:t>gametes</a:t>
            </a:r>
            <a:endParaRPr lang="es-CO" dirty="0"/>
          </a:p>
          <a:p>
            <a:r>
              <a:rPr lang="es-CO" i="1" dirty="0"/>
              <a:t>p</a:t>
            </a:r>
            <a:r>
              <a:rPr lang="es-CO" dirty="0"/>
              <a:t>0</a:t>
            </a:r>
            <a:r>
              <a:rPr lang="es-CO" i="1" dirty="0"/>
              <a:t>q</a:t>
            </a:r>
            <a:r>
              <a:rPr lang="es-CO" dirty="0"/>
              <a:t>0</a:t>
            </a:r>
            <a:r>
              <a:rPr lang="es-CO" i="1" dirty="0"/>
              <a:t>/</a:t>
            </a:r>
            <a:r>
              <a:rPr lang="es-CO" dirty="0"/>
              <a:t>2</a:t>
            </a:r>
            <a:r>
              <a:rPr lang="es-CO" i="1" dirty="0"/>
              <a:t>N (Binomial </a:t>
            </a:r>
            <a:r>
              <a:rPr lang="es-CO" i="1" dirty="0" err="1"/>
              <a:t>variance</a:t>
            </a:r>
            <a:r>
              <a:rPr lang="es-CO" i="1" dirty="0"/>
              <a:t>)</a:t>
            </a:r>
          </a:p>
          <a:p>
            <a:endParaRPr lang="es-CO" b="1" dirty="0"/>
          </a:p>
        </p:txBody>
      </p:sp>
      <p:pic>
        <p:nvPicPr>
          <p:cNvPr id="7" name="Imagen 6">
            <a:extLst>
              <a:ext uri="{FF2B5EF4-FFF2-40B4-BE49-F238E27FC236}">
                <a16:creationId xmlns:a16="http://schemas.microsoft.com/office/drawing/2014/main" id="{23CEEE86-B2F1-C296-30A3-9DA846981506}"/>
              </a:ext>
            </a:extLst>
          </p:cNvPr>
          <p:cNvPicPr>
            <a:picLocks noChangeAspect="1"/>
          </p:cNvPicPr>
          <p:nvPr/>
        </p:nvPicPr>
        <p:blipFill>
          <a:blip r:embed="rId2"/>
          <a:stretch>
            <a:fillRect/>
          </a:stretch>
        </p:blipFill>
        <p:spPr>
          <a:xfrm>
            <a:off x="1561681" y="4001294"/>
            <a:ext cx="3013381" cy="1312973"/>
          </a:xfrm>
          <a:prstGeom prst="rect">
            <a:avLst/>
          </a:prstGeom>
        </p:spPr>
      </p:pic>
      <p:pic>
        <p:nvPicPr>
          <p:cNvPr id="9" name="Imagen 8">
            <a:extLst>
              <a:ext uri="{FF2B5EF4-FFF2-40B4-BE49-F238E27FC236}">
                <a16:creationId xmlns:a16="http://schemas.microsoft.com/office/drawing/2014/main" id="{88C8D7FA-95D7-BC22-1FA0-16968CA03ED2}"/>
              </a:ext>
            </a:extLst>
          </p:cNvPr>
          <p:cNvPicPr>
            <a:picLocks noChangeAspect="1"/>
          </p:cNvPicPr>
          <p:nvPr/>
        </p:nvPicPr>
        <p:blipFill>
          <a:blip r:embed="rId3"/>
          <a:stretch>
            <a:fillRect/>
          </a:stretch>
        </p:blipFill>
        <p:spPr>
          <a:xfrm>
            <a:off x="5467002" y="4237241"/>
            <a:ext cx="1981477" cy="1076475"/>
          </a:xfrm>
          <a:prstGeom prst="rect">
            <a:avLst/>
          </a:prstGeom>
        </p:spPr>
      </p:pic>
      <p:sp>
        <p:nvSpPr>
          <p:cNvPr id="11" name="CuadroTexto 10">
            <a:extLst>
              <a:ext uri="{FF2B5EF4-FFF2-40B4-BE49-F238E27FC236}">
                <a16:creationId xmlns:a16="http://schemas.microsoft.com/office/drawing/2014/main" id="{82A3DA91-F154-70A5-A1C6-517E18E3B893}"/>
              </a:ext>
            </a:extLst>
          </p:cNvPr>
          <p:cNvSpPr txBox="1"/>
          <p:nvPr/>
        </p:nvSpPr>
        <p:spPr>
          <a:xfrm>
            <a:off x="1256881" y="3564494"/>
            <a:ext cx="6096000" cy="369332"/>
          </a:xfrm>
          <a:prstGeom prst="rect">
            <a:avLst/>
          </a:prstGeom>
          <a:noFill/>
        </p:spPr>
        <p:txBody>
          <a:bodyPr wrap="square">
            <a:spAutoFit/>
          </a:bodyPr>
          <a:lstStyle/>
          <a:p>
            <a:pPr algn="l"/>
            <a:r>
              <a:rPr lang="en-US" sz="1800" b="0" i="0" u="none" strike="noStrike" baseline="0" dirty="0">
                <a:solidFill>
                  <a:srgbClr val="231F20"/>
                </a:solidFill>
                <a:latin typeface="Swift-Regular"/>
              </a:rPr>
              <a:t>expected change in allelic frequency</a:t>
            </a:r>
            <a:r>
              <a:rPr lang="es-CO" sz="1800" b="0" i="0" u="none" strike="noStrike" baseline="0" dirty="0">
                <a:solidFill>
                  <a:srgbClr val="231F20"/>
                </a:solidFill>
                <a:latin typeface="Swift-Regular"/>
              </a:rPr>
              <a:t>(</a:t>
            </a:r>
            <a:r>
              <a:rPr lang="es-CO" sz="1800" b="0" i="1" u="none" strike="noStrike" baseline="0" dirty="0">
                <a:solidFill>
                  <a:srgbClr val="231F20"/>
                </a:solidFill>
                <a:latin typeface="Swift-RegularItalic"/>
              </a:rPr>
              <a:t>q</a:t>
            </a:r>
            <a:r>
              <a:rPr lang="es-CO" sz="1800" b="0" i="0" u="none" strike="noStrike" baseline="0" dirty="0">
                <a:solidFill>
                  <a:srgbClr val="231F20"/>
                </a:solidFill>
                <a:latin typeface="Swift-Regular"/>
              </a:rPr>
              <a:t>)</a:t>
            </a:r>
            <a:endParaRPr lang="es-CO" dirty="0"/>
          </a:p>
        </p:txBody>
      </p:sp>
    </p:spTree>
    <p:extLst>
      <p:ext uri="{BB962C8B-B14F-4D97-AF65-F5344CB8AC3E}">
        <p14:creationId xmlns:p14="http://schemas.microsoft.com/office/powerpoint/2010/main" val="1821356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2E0DE1-CBAC-1ED1-41E2-4F480B256566}"/>
              </a:ext>
            </a:extLst>
          </p:cNvPr>
          <p:cNvSpPr>
            <a:spLocks noGrp="1"/>
          </p:cNvSpPr>
          <p:nvPr>
            <p:ph type="title"/>
          </p:nvPr>
        </p:nvSpPr>
        <p:spPr/>
        <p:txBody>
          <a:bodyPr/>
          <a:lstStyle/>
          <a:p>
            <a:r>
              <a:rPr lang="es-ES" dirty="0" err="1"/>
              <a:t>Mutation</a:t>
            </a:r>
            <a:r>
              <a:rPr lang="es-ES" dirty="0"/>
              <a:t> </a:t>
            </a:r>
            <a:r>
              <a:rPr lang="es-ES" dirty="0" err="1"/>
              <a:t>fixing</a:t>
            </a:r>
            <a:endParaRPr lang="es-CO" dirty="0"/>
          </a:p>
        </p:txBody>
      </p:sp>
      <p:sp>
        <p:nvSpPr>
          <p:cNvPr id="3" name="Marcador de contenido 2">
            <a:extLst>
              <a:ext uri="{FF2B5EF4-FFF2-40B4-BE49-F238E27FC236}">
                <a16:creationId xmlns:a16="http://schemas.microsoft.com/office/drawing/2014/main" id="{5B826FD3-E0C6-3434-DE3B-E8A3EFEB1A92}"/>
              </a:ext>
            </a:extLst>
          </p:cNvPr>
          <p:cNvSpPr>
            <a:spLocks noGrp="1"/>
          </p:cNvSpPr>
          <p:nvPr>
            <p:ph idx="1"/>
          </p:nvPr>
        </p:nvSpPr>
        <p:spPr/>
        <p:txBody>
          <a:bodyPr/>
          <a:lstStyle/>
          <a:p>
            <a:r>
              <a:rPr lang="es-CO" dirty="0"/>
              <a:t>New </a:t>
            </a:r>
            <a:r>
              <a:rPr lang="es-CO" dirty="0" err="1"/>
              <a:t>mutation</a:t>
            </a:r>
            <a:r>
              <a:rPr lang="es-CO" dirty="0"/>
              <a:t> </a:t>
            </a:r>
            <a:r>
              <a:rPr lang="es-CO" dirty="0" err="1"/>
              <a:t>fixing</a:t>
            </a:r>
            <a:r>
              <a:rPr lang="es-CO" dirty="0"/>
              <a:t>: 1/(2</a:t>
            </a:r>
            <a:r>
              <a:rPr lang="es-CO" i="1" dirty="0"/>
              <a:t>N</a:t>
            </a:r>
            <a:r>
              <a:rPr lang="es-CO" dirty="0"/>
              <a:t>) </a:t>
            </a:r>
            <a:r>
              <a:rPr lang="es-CO" dirty="0" err="1"/>
              <a:t>where</a:t>
            </a:r>
            <a:r>
              <a:rPr lang="es-CO" dirty="0"/>
              <a:t> </a:t>
            </a:r>
            <a:r>
              <a:rPr lang="es-CO" i="1" dirty="0"/>
              <a:t>N </a:t>
            </a:r>
            <a:r>
              <a:rPr lang="es-CO" dirty="0" err="1"/>
              <a:t>individuals</a:t>
            </a:r>
            <a:r>
              <a:rPr lang="es-CO" dirty="0"/>
              <a:t> has 2 </a:t>
            </a:r>
            <a:r>
              <a:rPr lang="es-CO" dirty="0" err="1"/>
              <a:t>alleles</a:t>
            </a:r>
            <a:endParaRPr lang="es-CO" dirty="0"/>
          </a:p>
          <a:p>
            <a:r>
              <a:rPr lang="es-CO" dirty="0" err="1"/>
              <a:t>Fixation</a:t>
            </a:r>
            <a:r>
              <a:rPr lang="es-CO" dirty="0"/>
              <a:t> </a:t>
            </a:r>
            <a:r>
              <a:rPr lang="es-CO" dirty="0" err="1"/>
              <a:t>is</a:t>
            </a:r>
            <a:r>
              <a:rPr lang="es-CO" dirty="0"/>
              <a:t> </a:t>
            </a:r>
            <a:r>
              <a:rPr lang="es-CO" dirty="0" err="1"/>
              <a:t>faster</a:t>
            </a:r>
            <a:r>
              <a:rPr lang="es-CO" dirty="0"/>
              <a:t> in </a:t>
            </a:r>
            <a:r>
              <a:rPr lang="es-CO" dirty="0" err="1"/>
              <a:t>small</a:t>
            </a:r>
            <a:r>
              <a:rPr lang="es-CO" dirty="0"/>
              <a:t> </a:t>
            </a:r>
            <a:r>
              <a:rPr lang="es-CO" dirty="0" err="1"/>
              <a:t>populations</a:t>
            </a:r>
            <a:endParaRPr lang="es-CO" dirty="0"/>
          </a:p>
        </p:txBody>
      </p:sp>
    </p:spTree>
    <p:extLst>
      <p:ext uri="{BB962C8B-B14F-4D97-AF65-F5344CB8AC3E}">
        <p14:creationId xmlns:p14="http://schemas.microsoft.com/office/powerpoint/2010/main" val="3838323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A5A958-2C83-3E83-0E57-F106F6F5785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32E7E8CC-5B1B-2B86-0D89-BE844EBFA475}"/>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48228B0A-5625-763E-BC4A-D33C89917BB3}"/>
              </a:ext>
            </a:extLst>
          </p:cNvPr>
          <p:cNvPicPr>
            <a:picLocks noChangeAspect="1"/>
          </p:cNvPicPr>
          <p:nvPr/>
        </p:nvPicPr>
        <p:blipFill>
          <a:blip r:embed="rId2"/>
          <a:stretch>
            <a:fillRect/>
          </a:stretch>
        </p:blipFill>
        <p:spPr>
          <a:xfrm>
            <a:off x="689808" y="313890"/>
            <a:ext cx="10812384" cy="6230219"/>
          </a:xfrm>
          <a:prstGeom prst="rect">
            <a:avLst/>
          </a:prstGeom>
        </p:spPr>
      </p:pic>
    </p:spTree>
    <p:extLst>
      <p:ext uri="{BB962C8B-B14F-4D97-AF65-F5344CB8AC3E}">
        <p14:creationId xmlns:p14="http://schemas.microsoft.com/office/powerpoint/2010/main" val="2691178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7ACD2AD-57BE-F62E-B44E-02AC57A348FE}"/>
              </a:ext>
            </a:extLst>
          </p:cNvPr>
          <p:cNvSpPr>
            <a:spLocks noGrp="1"/>
          </p:cNvSpPr>
          <p:nvPr>
            <p:ph type="title"/>
          </p:nvPr>
        </p:nvSpPr>
        <p:spPr/>
        <p:txBody>
          <a:bodyPr/>
          <a:lstStyle/>
          <a:p>
            <a:r>
              <a:rPr lang="es-ES" dirty="0" err="1"/>
              <a:t>Metapopulations</a:t>
            </a:r>
            <a:endParaRPr lang="es-CO" dirty="0"/>
          </a:p>
        </p:txBody>
      </p:sp>
      <p:sp>
        <p:nvSpPr>
          <p:cNvPr id="5" name="Marcador de contenido 4">
            <a:extLst>
              <a:ext uri="{FF2B5EF4-FFF2-40B4-BE49-F238E27FC236}">
                <a16:creationId xmlns:a16="http://schemas.microsoft.com/office/drawing/2014/main" id="{7F35FC24-4F75-7A01-1B2B-AAB89F27E531}"/>
              </a:ext>
            </a:extLst>
          </p:cNvPr>
          <p:cNvSpPr>
            <a:spLocks noGrp="1"/>
          </p:cNvSpPr>
          <p:nvPr>
            <p:ph idx="1"/>
          </p:nvPr>
        </p:nvSpPr>
        <p:spPr>
          <a:xfrm>
            <a:off x="838200" y="1845289"/>
            <a:ext cx="5405284" cy="4351338"/>
          </a:xfrm>
        </p:spPr>
        <p:txBody>
          <a:bodyPr/>
          <a:lstStyle/>
          <a:p>
            <a:r>
              <a:rPr lang="es-CO" dirty="0" err="1"/>
              <a:t>Geographically</a:t>
            </a:r>
            <a:r>
              <a:rPr lang="es-CO" dirty="0"/>
              <a:t> </a:t>
            </a:r>
            <a:r>
              <a:rPr lang="es-CO" dirty="0" err="1"/>
              <a:t>separated</a:t>
            </a:r>
            <a:r>
              <a:rPr lang="es-CO" dirty="0"/>
              <a:t> </a:t>
            </a:r>
            <a:r>
              <a:rPr lang="es-CO" dirty="0" err="1"/>
              <a:t>populations</a:t>
            </a:r>
            <a:r>
              <a:rPr lang="es-CO" dirty="0"/>
              <a:t> </a:t>
            </a:r>
            <a:r>
              <a:rPr lang="es-CO" dirty="0" err="1"/>
              <a:t>constitutes</a:t>
            </a:r>
            <a:r>
              <a:rPr lang="es-CO" dirty="0"/>
              <a:t> a </a:t>
            </a:r>
            <a:r>
              <a:rPr lang="es-CO" b="1" dirty="0" err="1"/>
              <a:t>metapopulation</a:t>
            </a:r>
            <a:r>
              <a:rPr lang="es-CO" b="1" dirty="0"/>
              <a:t>:</a:t>
            </a:r>
          </a:p>
          <a:p>
            <a:pPr lvl="1"/>
            <a:r>
              <a:rPr lang="es-CO" dirty="0" err="1"/>
              <a:t>Isolated</a:t>
            </a:r>
            <a:endParaRPr lang="es-CO" dirty="0"/>
          </a:p>
          <a:p>
            <a:pPr lvl="1"/>
            <a:r>
              <a:rPr lang="es-CO" dirty="0"/>
              <a:t>Hardy Weinberg</a:t>
            </a:r>
          </a:p>
          <a:p>
            <a:pPr lvl="1"/>
            <a:r>
              <a:rPr lang="es-CO" dirty="0"/>
              <a:t>Finite </a:t>
            </a:r>
            <a:r>
              <a:rPr lang="es-CO" dirty="0" err="1"/>
              <a:t>population</a:t>
            </a:r>
            <a:r>
              <a:rPr lang="es-CO" dirty="0"/>
              <a:t> </a:t>
            </a:r>
            <a:r>
              <a:rPr lang="es-CO" dirty="0" err="1"/>
              <a:t>size</a:t>
            </a:r>
            <a:endParaRPr lang="es-CO" dirty="0"/>
          </a:p>
          <a:p>
            <a:pPr lvl="1"/>
            <a:r>
              <a:rPr lang="en-US" dirty="0"/>
              <a:t>Loss of heterozygosity occurs due to local fixations.</a:t>
            </a:r>
            <a:endParaRPr lang="es-CO" dirty="0"/>
          </a:p>
          <a:p>
            <a:endParaRPr lang="es-CO" dirty="0"/>
          </a:p>
        </p:txBody>
      </p:sp>
      <p:pic>
        <p:nvPicPr>
          <p:cNvPr id="7" name="Imagen 6">
            <a:extLst>
              <a:ext uri="{FF2B5EF4-FFF2-40B4-BE49-F238E27FC236}">
                <a16:creationId xmlns:a16="http://schemas.microsoft.com/office/drawing/2014/main" id="{A7807518-AD72-0746-4AA9-DE8A9BA1DA44}"/>
              </a:ext>
            </a:extLst>
          </p:cNvPr>
          <p:cNvPicPr>
            <a:picLocks noChangeAspect="1"/>
          </p:cNvPicPr>
          <p:nvPr/>
        </p:nvPicPr>
        <p:blipFill>
          <a:blip r:embed="rId2"/>
          <a:stretch>
            <a:fillRect/>
          </a:stretch>
        </p:blipFill>
        <p:spPr>
          <a:xfrm>
            <a:off x="6834740" y="493798"/>
            <a:ext cx="5287113" cy="6106377"/>
          </a:xfrm>
          <a:prstGeom prst="rect">
            <a:avLst/>
          </a:prstGeom>
        </p:spPr>
      </p:pic>
    </p:spTree>
    <p:extLst>
      <p:ext uri="{BB962C8B-B14F-4D97-AF65-F5344CB8AC3E}">
        <p14:creationId xmlns:p14="http://schemas.microsoft.com/office/powerpoint/2010/main" val="169116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7C74F-1C61-A7CB-4DBE-7D8D0B3A8A4C}"/>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68935C8-F34D-7C4C-3FAC-AF9217466E7B}"/>
              </a:ext>
            </a:extLst>
          </p:cNvPr>
          <p:cNvSpPr>
            <a:spLocks noGrp="1"/>
          </p:cNvSpPr>
          <p:nvPr>
            <p:ph type="title"/>
          </p:nvPr>
        </p:nvSpPr>
        <p:spPr/>
        <p:txBody>
          <a:bodyPr/>
          <a:lstStyle/>
          <a:p>
            <a:r>
              <a:rPr lang="es-ES" dirty="0" err="1"/>
              <a:t>Empirical</a:t>
            </a:r>
            <a:r>
              <a:rPr lang="es-ES" dirty="0"/>
              <a:t> </a:t>
            </a:r>
            <a:r>
              <a:rPr lang="es-ES" dirty="0" err="1"/>
              <a:t>example</a:t>
            </a:r>
            <a:endParaRPr lang="es-CO" dirty="0"/>
          </a:p>
        </p:txBody>
      </p:sp>
      <p:sp>
        <p:nvSpPr>
          <p:cNvPr id="6" name="Marcador de texto 5">
            <a:extLst>
              <a:ext uri="{FF2B5EF4-FFF2-40B4-BE49-F238E27FC236}">
                <a16:creationId xmlns:a16="http://schemas.microsoft.com/office/drawing/2014/main" id="{57329AFC-1E12-A1EE-B070-E1486D362725}"/>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343945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7CAE85-E744-9B43-A1E0-5DEBA541BF02}"/>
              </a:ext>
            </a:extLst>
          </p:cNvPr>
          <p:cNvSpPr>
            <a:spLocks noGrp="1"/>
          </p:cNvSpPr>
          <p:nvPr>
            <p:ph type="title"/>
          </p:nvPr>
        </p:nvSpPr>
        <p:spPr>
          <a:xfrm>
            <a:off x="157316" y="365125"/>
            <a:ext cx="7531510" cy="1325563"/>
          </a:xfrm>
        </p:spPr>
        <p:txBody>
          <a:bodyPr>
            <a:normAutofit/>
          </a:bodyPr>
          <a:lstStyle/>
          <a:p>
            <a:r>
              <a:rPr lang="es-CO" sz="3200" i="1" dirty="0"/>
              <a:t>Drosophila </a:t>
            </a:r>
            <a:r>
              <a:rPr lang="es-CO" sz="3200" i="1" dirty="0" err="1"/>
              <a:t>melanogaster</a:t>
            </a:r>
            <a:r>
              <a:rPr lang="es-CO" sz="3200" i="1" dirty="0"/>
              <a:t> </a:t>
            </a:r>
            <a:r>
              <a:rPr lang="es-CO" sz="3200" dirty="0"/>
              <a:t>(Buri 1956).</a:t>
            </a:r>
          </a:p>
        </p:txBody>
      </p:sp>
      <p:sp>
        <p:nvSpPr>
          <p:cNvPr id="3" name="Marcador de contenido 2">
            <a:extLst>
              <a:ext uri="{FF2B5EF4-FFF2-40B4-BE49-F238E27FC236}">
                <a16:creationId xmlns:a16="http://schemas.microsoft.com/office/drawing/2014/main" id="{6CBA2008-7567-21AF-3A1C-AF0B7A72E2B7}"/>
              </a:ext>
            </a:extLst>
          </p:cNvPr>
          <p:cNvSpPr>
            <a:spLocks noGrp="1"/>
          </p:cNvSpPr>
          <p:nvPr>
            <p:ph idx="1"/>
          </p:nvPr>
        </p:nvSpPr>
        <p:spPr>
          <a:xfrm>
            <a:off x="381539" y="1520825"/>
            <a:ext cx="5434802" cy="4351338"/>
          </a:xfrm>
        </p:spPr>
        <p:txBody>
          <a:bodyPr/>
          <a:lstStyle/>
          <a:p>
            <a:r>
              <a:rPr lang="es-ES" dirty="0"/>
              <a:t>107 </a:t>
            </a:r>
            <a:r>
              <a:rPr lang="es-ES" dirty="0" err="1"/>
              <a:t>populations</a:t>
            </a:r>
            <a:r>
              <a:rPr lang="es-ES" dirty="0"/>
              <a:t> </a:t>
            </a:r>
            <a:r>
              <a:rPr lang="es-ES" dirty="0" err="1"/>
              <a:t>with</a:t>
            </a:r>
            <a:r>
              <a:rPr lang="es-ES" dirty="0"/>
              <a:t> </a:t>
            </a:r>
            <a:r>
              <a:rPr lang="es-ES" dirty="0" err="1"/>
              <a:t>eight</a:t>
            </a:r>
            <a:r>
              <a:rPr lang="es-ES" dirty="0"/>
              <a:t> males and </a:t>
            </a:r>
            <a:r>
              <a:rPr lang="es-ES" dirty="0" err="1"/>
              <a:t>eight</a:t>
            </a:r>
            <a:r>
              <a:rPr lang="es-ES" dirty="0"/>
              <a:t> </a:t>
            </a:r>
            <a:r>
              <a:rPr lang="es-ES" dirty="0" err="1"/>
              <a:t>females</a:t>
            </a:r>
            <a:r>
              <a:rPr lang="es-ES" dirty="0"/>
              <a:t> </a:t>
            </a:r>
          </a:p>
          <a:p>
            <a:r>
              <a:rPr lang="es-CO" dirty="0" err="1"/>
              <a:t>heterozygous</a:t>
            </a:r>
            <a:r>
              <a:rPr lang="en-US" dirty="0"/>
              <a:t>for two alleles (</a:t>
            </a:r>
            <a:r>
              <a:rPr lang="en-US" i="1" dirty="0" err="1"/>
              <a:t>bw</a:t>
            </a:r>
            <a:r>
              <a:rPr lang="en-US" i="1" dirty="0"/>
              <a:t> </a:t>
            </a:r>
            <a:r>
              <a:rPr lang="en-US" dirty="0"/>
              <a:t>and </a:t>
            </a:r>
            <a:r>
              <a:rPr lang="en-US" i="1" dirty="0"/>
              <a:t>bw</a:t>
            </a:r>
            <a:r>
              <a:rPr lang="en-US" dirty="0"/>
              <a:t>75)</a:t>
            </a:r>
          </a:p>
          <a:p>
            <a:r>
              <a:rPr lang="en-US" dirty="0"/>
              <a:t>P0=0.5</a:t>
            </a:r>
          </a:p>
          <a:p>
            <a:endParaRPr lang="en-US" dirty="0"/>
          </a:p>
          <a:p>
            <a:r>
              <a:rPr lang="en-US" dirty="0"/>
              <a:t>Frequencies changed!</a:t>
            </a:r>
          </a:p>
          <a:p>
            <a:r>
              <a:rPr lang="en-US" dirty="0"/>
              <a:t>Increase in </a:t>
            </a:r>
            <a:r>
              <a:rPr lang="es-CO" dirty="0" err="1"/>
              <a:t>homozygotes</a:t>
            </a:r>
            <a:r>
              <a:rPr lang="es-CO" dirty="0"/>
              <a:t>!</a:t>
            </a:r>
          </a:p>
        </p:txBody>
      </p:sp>
      <p:pic>
        <p:nvPicPr>
          <p:cNvPr id="7" name="Imagen 6">
            <a:extLst>
              <a:ext uri="{FF2B5EF4-FFF2-40B4-BE49-F238E27FC236}">
                <a16:creationId xmlns:a16="http://schemas.microsoft.com/office/drawing/2014/main" id="{45DADD3E-5E71-1CC4-EFC2-DA90DD019038}"/>
              </a:ext>
            </a:extLst>
          </p:cNvPr>
          <p:cNvPicPr>
            <a:picLocks noChangeAspect="1"/>
          </p:cNvPicPr>
          <p:nvPr/>
        </p:nvPicPr>
        <p:blipFill>
          <a:blip r:embed="rId2"/>
          <a:stretch>
            <a:fillRect/>
          </a:stretch>
        </p:blipFill>
        <p:spPr>
          <a:xfrm>
            <a:off x="6599882" y="105896"/>
            <a:ext cx="5434802" cy="6646207"/>
          </a:xfrm>
          <a:prstGeom prst="rect">
            <a:avLst/>
          </a:prstGeom>
        </p:spPr>
      </p:pic>
    </p:spTree>
    <p:extLst>
      <p:ext uri="{BB962C8B-B14F-4D97-AF65-F5344CB8AC3E}">
        <p14:creationId xmlns:p14="http://schemas.microsoft.com/office/powerpoint/2010/main" val="2925238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75FF5C-209F-741C-727B-A16211B0DBA1}"/>
              </a:ext>
            </a:extLst>
          </p:cNvPr>
          <p:cNvSpPr>
            <a:spLocks noGrp="1"/>
          </p:cNvSpPr>
          <p:nvPr>
            <p:ph type="title"/>
          </p:nvPr>
        </p:nvSpPr>
        <p:spPr/>
        <p:txBody>
          <a:bodyPr/>
          <a:lstStyle/>
          <a:p>
            <a:endParaRPr lang="es-CO"/>
          </a:p>
        </p:txBody>
      </p:sp>
      <p:pic>
        <p:nvPicPr>
          <p:cNvPr id="7" name="Marcador de contenido 6">
            <a:extLst>
              <a:ext uri="{FF2B5EF4-FFF2-40B4-BE49-F238E27FC236}">
                <a16:creationId xmlns:a16="http://schemas.microsoft.com/office/drawing/2014/main" id="{C10E29CE-15A1-7412-7B8A-356C0401BAE4}"/>
              </a:ext>
            </a:extLst>
          </p:cNvPr>
          <p:cNvPicPr>
            <a:picLocks noGrp="1" noChangeAspect="1"/>
          </p:cNvPicPr>
          <p:nvPr>
            <p:ph idx="1"/>
          </p:nvPr>
        </p:nvPicPr>
        <p:blipFill>
          <a:blip r:embed="rId2"/>
          <a:stretch>
            <a:fillRect/>
          </a:stretch>
        </p:blipFill>
        <p:spPr>
          <a:xfrm>
            <a:off x="6096000" y="4175657"/>
            <a:ext cx="5742038" cy="2546061"/>
          </a:xfrm>
          <a:prstGeom prst="rect">
            <a:avLst/>
          </a:prstGeom>
        </p:spPr>
      </p:pic>
      <p:pic>
        <p:nvPicPr>
          <p:cNvPr id="5" name="Imagen 4">
            <a:extLst>
              <a:ext uri="{FF2B5EF4-FFF2-40B4-BE49-F238E27FC236}">
                <a16:creationId xmlns:a16="http://schemas.microsoft.com/office/drawing/2014/main" id="{E4D22CAF-1C5C-0C9A-8657-7CF893D2317B}"/>
              </a:ext>
            </a:extLst>
          </p:cNvPr>
          <p:cNvPicPr>
            <a:picLocks noChangeAspect="1"/>
          </p:cNvPicPr>
          <p:nvPr/>
        </p:nvPicPr>
        <p:blipFill>
          <a:blip r:embed="rId3"/>
          <a:stretch>
            <a:fillRect/>
          </a:stretch>
        </p:blipFill>
        <p:spPr>
          <a:xfrm>
            <a:off x="-129554" y="230090"/>
            <a:ext cx="7240010" cy="3810532"/>
          </a:xfrm>
          <a:prstGeom prst="rect">
            <a:avLst/>
          </a:prstGeom>
        </p:spPr>
      </p:pic>
      <p:sp>
        <p:nvSpPr>
          <p:cNvPr id="9" name="CuadroTexto 8">
            <a:extLst>
              <a:ext uri="{FF2B5EF4-FFF2-40B4-BE49-F238E27FC236}">
                <a16:creationId xmlns:a16="http://schemas.microsoft.com/office/drawing/2014/main" id="{C6427C28-D0DD-094F-FF3A-7ED740F96F6E}"/>
              </a:ext>
            </a:extLst>
          </p:cNvPr>
          <p:cNvSpPr txBox="1"/>
          <p:nvPr/>
        </p:nvSpPr>
        <p:spPr>
          <a:xfrm>
            <a:off x="7110456" y="736581"/>
            <a:ext cx="3222522" cy="954107"/>
          </a:xfrm>
          <a:prstGeom prst="rect">
            <a:avLst/>
          </a:prstGeom>
          <a:noFill/>
        </p:spPr>
        <p:txBody>
          <a:bodyPr wrap="square">
            <a:spAutoFit/>
          </a:bodyPr>
          <a:lstStyle/>
          <a:p>
            <a:r>
              <a:rPr lang="en-US" sz="2800" dirty="0">
                <a:solidFill>
                  <a:srgbClr val="FF0000"/>
                </a:solidFill>
              </a:rPr>
              <a:t>Increase in variance</a:t>
            </a:r>
            <a:endParaRPr lang="es-CO" sz="2800" dirty="0">
              <a:solidFill>
                <a:srgbClr val="FF0000"/>
              </a:solidFill>
            </a:endParaRPr>
          </a:p>
        </p:txBody>
      </p:sp>
      <p:sp>
        <p:nvSpPr>
          <p:cNvPr id="10" name="CuadroTexto 9">
            <a:extLst>
              <a:ext uri="{FF2B5EF4-FFF2-40B4-BE49-F238E27FC236}">
                <a16:creationId xmlns:a16="http://schemas.microsoft.com/office/drawing/2014/main" id="{EBB1FD47-BA46-1FB5-C84B-146E5C04FAC5}"/>
              </a:ext>
            </a:extLst>
          </p:cNvPr>
          <p:cNvSpPr txBox="1"/>
          <p:nvPr/>
        </p:nvSpPr>
        <p:spPr>
          <a:xfrm>
            <a:off x="8472224" y="3086515"/>
            <a:ext cx="3222522" cy="954107"/>
          </a:xfrm>
          <a:prstGeom prst="rect">
            <a:avLst/>
          </a:prstGeom>
          <a:noFill/>
        </p:spPr>
        <p:txBody>
          <a:bodyPr wrap="square">
            <a:spAutoFit/>
          </a:bodyPr>
          <a:lstStyle/>
          <a:p>
            <a:r>
              <a:rPr lang="en-US" sz="2800" dirty="0">
                <a:solidFill>
                  <a:srgbClr val="FF0000"/>
                </a:solidFill>
              </a:rPr>
              <a:t>Reduction of heterozygotes</a:t>
            </a:r>
            <a:endParaRPr lang="es-CO" sz="2800" dirty="0">
              <a:solidFill>
                <a:srgbClr val="FF0000"/>
              </a:solidFill>
            </a:endParaRPr>
          </a:p>
        </p:txBody>
      </p:sp>
    </p:spTree>
    <p:extLst>
      <p:ext uri="{BB962C8B-B14F-4D97-AF65-F5344CB8AC3E}">
        <p14:creationId xmlns:p14="http://schemas.microsoft.com/office/powerpoint/2010/main" val="3395739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2DB0A-7066-C36F-E430-1CB99C996C09}"/>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A6DA873B-D298-BD92-0E91-4CD041112400}"/>
              </a:ext>
            </a:extLst>
          </p:cNvPr>
          <p:cNvSpPr>
            <a:spLocks noGrp="1"/>
          </p:cNvSpPr>
          <p:nvPr>
            <p:ph type="title"/>
          </p:nvPr>
        </p:nvSpPr>
        <p:spPr/>
        <p:txBody>
          <a:bodyPr/>
          <a:lstStyle/>
          <a:p>
            <a:r>
              <a:rPr lang="es-ES" dirty="0" err="1"/>
              <a:t>Consequences</a:t>
            </a:r>
            <a:r>
              <a:rPr lang="es-ES" dirty="0"/>
              <a:t> </a:t>
            </a:r>
            <a:r>
              <a:rPr lang="es-ES" dirty="0" err="1"/>
              <a:t>of</a:t>
            </a:r>
            <a:r>
              <a:rPr lang="es-ES" dirty="0"/>
              <a:t> </a:t>
            </a:r>
            <a:r>
              <a:rPr lang="es-ES" dirty="0" err="1"/>
              <a:t>genetic</a:t>
            </a:r>
            <a:r>
              <a:rPr lang="es-ES" dirty="0"/>
              <a:t> </a:t>
            </a:r>
            <a:r>
              <a:rPr lang="es-ES" dirty="0" err="1"/>
              <a:t>drift</a:t>
            </a:r>
            <a:endParaRPr lang="es-CO" dirty="0"/>
          </a:p>
        </p:txBody>
      </p:sp>
      <p:sp>
        <p:nvSpPr>
          <p:cNvPr id="6" name="Marcador de texto 5">
            <a:extLst>
              <a:ext uri="{FF2B5EF4-FFF2-40B4-BE49-F238E27FC236}">
                <a16:creationId xmlns:a16="http://schemas.microsoft.com/office/drawing/2014/main" id="{6E38D300-6619-7AC7-ED76-B09FB9F7BD9F}"/>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1645173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3707EC-0BF8-47CD-17F3-BFA5170D101F}"/>
              </a:ext>
            </a:extLst>
          </p:cNvPr>
          <p:cNvSpPr>
            <a:spLocks noGrp="1"/>
          </p:cNvSpPr>
          <p:nvPr>
            <p:ph type="title"/>
          </p:nvPr>
        </p:nvSpPr>
        <p:spPr/>
        <p:txBody>
          <a:bodyPr/>
          <a:lstStyle/>
          <a:p>
            <a:r>
              <a:rPr lang="es-ES" dirty="0"/>
              <a:t>1</a:t>
            </a:r>
            <a:endParaRPr lang="es-CO" dirty="0"/>
          </a:p>
        </p:txBody>
      </p:sp>
      <p:sp>
        <p:nvSpPr>
          <p:cNvPr id="3" name="Marcador de contenido 2">
            <a:extLst>
              <a:ext uri="{FF2B5EF4-FFF2-40B4-BE49-F238E27FC236}">
                <a16:creationId xmlns:a16="http://schemas.microsoft.com/office/drawing/2014/main" id="{6E777E08-B637-BF68-E5F6-F0073444BE9C}"/>
              </a:ext>
            </a:extLst>
          </p:cNvPr>
          <p:cNvSpPr>
            <a:spLocks noGrp="1"/>
          </p:cNvSpPr>
          <p:nvPr>
            <p:ph idx="1"/>
          </p:nvPr>
        </p:nvSpPr>
        <p:spPr/>
        <p:txBody>
          <a:bodyPr/>
          <a:lstStyle/>
          <a:p>
            <a:pPr algn="ctr"/>
            <a:r>
              <a:rPr lang="en-US" dirty="0"/>
              <a:t>Allelic frequencies fluctuate at random, independently of one another in different populations or demes. The alleles of different loci within a population also fluctuate independently of one another, provided the loci are not linked to one another.</a:t>
            </a:r>
            <a:endParaRPr lang="es-CO" dirty="0"/>
          </a:p>
        </p:txBody>
      </p:sp>
    </p:spTree>
    <p:extLst>
      <p:ext uri="{BB962C8B-B14F-4D97-AF65-F5344CB8AC3E}">
        <p14:creationId xmlns:p14="http://schemas.microsoft.com/office/powerpoint/2010/main" val="211472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5AA59B-5973-B452-236F-A0EAEB53FA63}"/>
              </a:ext>
            </a:extLst>
          </p:cNvPr>
          <p:cNvSpPr>
            <a:spLocks noGrp="1"/>
          </p:cNvSpPr>
          <p:nvPr>
            <p:ph type="title"/>
          </p:nvPr>
        </p:nvSpPr>
        <p:spPr/>
        <p:txBody>
          <a:bodyPr/>
          <a:lstStyle/>
          <a:p>
            <a:r>
              <a:rPr lang="es-ES" dirty="0"/>
              <a:t>2</a:t>
            </a:r>
            <a:endParaRPr lang="es-CO" dirty="0"/>
          </a:p>
        </p:txBody>
      </p:sp>
      <p:sp>
        <p:nvSpPr>
          <p:cNvPr id="3" name="Marcador de contenido 2">
            <a:extLst>
              <a:ext uri="{FF2B5EF4-FFF2-40B4-BE49-F238E27FC236}">
                <a16:creationId xmlns:a16="http://schemas.microsoft.com/office/drawing/2014/main" id="{F32D75BA-D4D0-A396-3622-E0DBEF4907A8}"/>
              </a:ext>
            </a:extLst>
          </p:cNvPr>
          <p:cNvSpPr>
            <a:spLocks noGrp="1"/>
          </p:cNvSpPr>
          <p:nvPr>
            <p:ph idx="1"/>
          </p:nvPr>
        </p:nvSpPr>
        <p:spPr/>
        <p:txBody>
          <a:bodyPr/>
          <a:lstStyle/>
          <a:p>
            <a:pPr algn="ctr"/>
            <a:r>
              <a:rPr lang="es-CO" dirty="0" err="1"/>
              <a:t>Different</a:t>
            </a:r>
            <a:r>
              <a:rPr lang="es-CO" dirty="0"/>
              <a:t> </a:t>
            </a:r>
            <a:r>
              <a:rPr lang="es-CO" dirty="0" err="1"/>
              <a:t>populations</a:t>
            </a:r>
            <a:r>
              <a:rPr lang="es-CO" dirty="0"/>
              <a:t> </a:t>
            </a:r>
            <a:r>
              <a:rPr lang="es-CO" dirty="0" err="1"/>
              <a:t>or</a:t>
            </a:r>
            <a:r>
              <a:rPr lang="es-CO" dirty="0"/>
              <a:t> </a:t>
            </a:r>
            <a:r>
              <a:rPr lang="es-CO" dirty="0" err="1"/>
              <a:t>demes</a:t>
            </a:r>
            <a:r>
              <a:rPr lang="es-CO" dirty="0"/>
              <a:t> diverge in </a:t>
            </a:r>
            <a:r>
              <a:rPr lang="es-CO" dirty="0" err="1"/>
              <a:t>allelic</a:t>
            </a:r>
            <a:r>
              <a:rPr lang="es-CO" dirty="0"/>
              <a:t> </a:t>
            </a:r>
            <a:r>
              <a:rPr lang="es-CO" dirty="0" err="1"/>
              <a:t>frequencies</a:t>
            </a:r>
            <a:r>
              <a:rPr lang="es-CO" dirty="0"/>
              <a:t> </a:t>
            </a:r>
            <a:r>
              <a:rPr lang="en-US" dirty="0"/>
              <a:t>and become genetically distinct from one another. The genetic diversity of all populations combined is increased compared to the situation where all individuals could interbreed freely within a </a:t>
            </a:r>
            <a:r>
              <a:rPr lang="es-CO" dirty="0"/>
              <a:t>single </a:t>
            </a:r>
            <a:r>
              <a:rPr lang="es-CO" dirty="0" err="1"/>
              <a:t>population</a:t>
            </a:r>
            <a:r>
              <a:rPr lang="es-CO" dirty="0"/>
              <a:t>.</a:t>
            </a:r>
          </a:p>
        </p:txBody>
      </p:sp>
    </p:spTree>
    <p:extLst>
      <p:ext uri="{BB962C8B-B14F-4D97-AF65-F5344CB8AC3E}">
        <p14:creationId xmlns:p14="http://schemas.microsoft.com/office/powerpoint/2010/main" val="611269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FDFBAD-5358-52EB-9E6A-DDA8BFAF917D}"/>
              </a:ext>
            </a:extLst>
          </p:cNvPr>
          <p:cNvSpPr>
            <a:spLocks noGrp="1"/>
          </p:cNvSpPr>
          <p:nvPr>
            <p:ph type="title"/>
          </p:nvPr>
        </p:nvSpPr>
        <p:spPr/>
        <p:txBody>
          <a:bodyPr/>
          <a:lstStyle/>
          <a:p>
            <a:r>
              <a:rPr lang="es-ES" dirty="0"/>
              <a:t>3</a:t>
            </a:r>
            <a:endParaRPr lang="es-CO" dirty="0"/>
          </a:p>
        </p:txBody>
      </p:sp>
      <p:sp>
        <p:nvSpPr>
          <p:cNvPr id="3" name="Marcador de contenido 2">
            <a:extLst>
              <a:ext uri="{FF2B5EF4-FFF2-40B4-BE49-F238E27FC236}">
                <a16:creationId xmlns:a16="http://schemas.microsoft.com/office/drawing/2014/main" id="{9F54024B-DF01-6B47-10A0-8A9AFB093D53}"/>
              </a:ext>
            </a:extLst>
          </p:cNvPr>
          <p:cNvSpPr>
            <a:spLocks noGrp="1"/>
          </p:cNvSpPr>
          <p:nvPr>
            <p:ph idx="1"/>
          </p:nvPr>
        </p:nvSpPr>
        <p:spPr/>
        <p:txBody>
          <a:bodyPr/>
          <a:lstStyle/>
          <a:p>
            <a:pPr algn="ctr"/>
            <a:r>
              <a:rPr lang="en-US" dirty="0"/>
              <a:t>Eventually, given enough time, a single allele will become fixed at each gene locus. The probability that a specific allele will eventually become fixed is equal to the frequency of the allele.</a:t>
            </a:r>
            <a:endParaRPr lang="es-CO" dirty="0"/>
          </a:p>
        </p:txBody>
      </p:sp>
    </p:spTree>
    <p:extLst>
      <p:ext uri="{BB962C8B-B14F-4D97-AF65-F5344CB8AC3E}">
        <p14:creationId xmlns:p14="http://schemas.microsoft.com/office/powerpoint/2010/main" val="2351659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E03975-7CD7-2B99-2878-000F2C5EB9C3}"/>
              </a:ext>
            </a:extLst>
          </p:cNvPr>
          <p:cNvSpPr>
            <a:spLocks noGrp="1"/>
          </p:cNvSpPr>
          <p:nvPr>
            <p:ph type="title"/>
          </p:nvPr>
        </p:nvSpPr>
        <p:spPr/>
        <p:txBody>
          <a:bodyPr/>
          <a:lstStyle/>
          <a:p>
            <a:r>
              <a:rPr lang="es-ES" dirty="0"/>
              <a:t>4</a:t>
            </a:r>
            <a:endParaRPr lang="es-CO" dirty="0"/>
          </a:p>
        </p:txBody>
      </p:sp>
      <p:sp>
        <p:nvSpPr>
          <p:cNvPr id="3" name="Marcador de contenido 2">
            <a:extLst>
              <a:ext uri="{FF2B5EF4-FFF2-40B4-BE49-F238E27FC236}">
                <a16:creationId xmlns:a16="http://schemas.microsoft.com/office/drawing/2014/main" id="{DEF6DC01-49E9-60D9-3C33-2E8B54A9075A}"/>
              </a:ext>
            </a:extLst>
          </p:cNvPr>
          <p:cNvSpPr>
            <a:spLocks noGrp="1"/>
          </p:cNvSpPr>
          <p:nvPr>
            <p:ph idx="1"/>
          </p:nvPr>
        </p:nvSpPr>
        <p:spPr/>
        <p:txBody>
          <a:bodyPr/>
          <a:lstStyle/>
          <a:p>
            <a:pPr algn="ctr"/>
            <a:r>
              <a:rPr lang="en-US" dirty="0"/>
              <a:t>Thus, there is a reduction of genetic variation within a population or deme. There is an increase in the proportion of homozygotes at the expense of the heterozygotes. This may lead to an increase in the incidence of deleterious recessive traits (which are only expressed in homozygous individuals), leading to a reduction </a:t>
            </a:r>
            <a:r>
              <a:rPr lang="es-CO" dirty="0"/>
              <a:t>in </a:t>
            </a:r>
            <a:r>
              <a:rPr lang="es-CO" dirty="0" err="1"/>
              <a:t>viability</a:t>
            </a:r>
            <a:r>
              <a:rPr lang="es-CO" dirty="0"/>
              <a:t>.</a:t>
            </a:r>
          </a:p>
        </p:txBody>
      </p:sp>
    </p:spTree>
    <p:extLst>
      <p:ext uri="{BB962C8B-B14F-4D97-AF65-F5344CB8AC3E}">
        <p14:creationId xmlns:p14="http://schemas.microsoft.com/office/powerpoint/2010/main" val="234281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3D02CB-BBD6-4566-18B5-A1C70D497634}"/>
              </a:ext>
            </a:extLst>
          </p:cNvPr>
          <p:cNvSpPr>
            <a:spLocks noGrp="1"/>
          </p:cNvSpPr>
          <p:nvPr>
            <p:ph type="title"/>
          </p:nvPr>
        </p:nvSpPr>
        <p:spPr/>
        <p:txBody>
          <a:bodyPr/>
          <a:lstStyle/>
          <a:p>
            <a:r>
              <a:rPr lang="es-ES" dirty="0"/>
              <a:t>5</a:t>
            </a:r>
            <a:endParaRPr lang="es-CO" dirty="0"/>
          </a:p>
        </p:txBody>
      </p:sp>
      <p:sp>
        <p:nvSpPr>
          <p:cNvPr id="3" name="Marcador de contenido 2">
            <a:extLst>
              <a:ext uri="{FF2B5EF4-FFF2-40B4-BE49-F238E27FC236}">
                <a16:creationId xmlns:a16="http://schemas.microsoft.com/office/drawing/2014/main" id="{B3B2808B-D195-BD51-1874-49CD0BFB5144}"/>
              </a:ext>
            </a:extLst>
          </p:cNvPr>
          <p:cNvSpPr>
            <a:spLocks noGrp="1"/>
          </p:cNvSpPr>
          <p:nvPr>
            <p:ph idx="1"/>
          </p:nvPr>
        </p:nvSpPr>
        <p:spPr/>
        <p:txBody>
          <a:bodyPr/>
          <a:lstStyle/>
          <a:p>
            <a:pPr algn="ctr"/>
            <a:r>
              <a:rPr lang="en-US" dirty="0"/>
              <a:t>The rate at which these events occur is inversely related to population size. The smaller the population, the faster the process of </a:t>
            </a:r>
            <a:r>
              <a:rPr lang="es-CO" dirty="0" err="1"/>
              <a:t>genetic</a:t>
            </a:r>
            <a:r>
              <a:rPr lang="es-CO" dirty="0"/>
              <a:t> </a:t>
            </a:r>
            <a:r>
              <a:rPr lang="es-CO" dirty="0" err="1"/>
              <a:t>drift</a:t>
            </a:r>
            <a:r>
              <a:rPr lang="es-CO" dirty="0"/>
              <a:t>.</a:t>
            </a:r>
          </a:p>
        </p:txBody>
      </p:sp>
    </p:spTree>
    <p:extLst>
      <p:ext uri="{BB962C8B-B14F-4D97-AF65-F5344CB8AC3E}">
        <p14:creationId xmlns:p14="http://schemas.microsoft.com/office/powerpoint/2010/main" val="2433967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16CE9-D92A-6196-09DD-0BBA1F0E2C23}"/>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072EB0B2-ED1A-D0CD-8378-FB29DF1ECD3E}"/>
              </a:ext>
            </a:extLst>
          </p:cNvPr>
          <p:cNvSpPr>
            <a:spLocks noGrp="1"/>
          </p:cNvSpPr>
          <p:nvPr>
            <p:ph type="title"/>
          </p:nvPr>
        </p:nvSpPr>
        <p:spPr/>
        <p:txBody>
          <a:bodyPr/>
          <a:lstStyle/>
          <a:p>
            <a:r>
              <a:rPr lang="es-ES" dirty="0" err="1"/>
              <a:t>Forms</a:t>
            </a:r>
            <a:r>
              <a:rPr lang="es-ES" dirty="0"/>
              <a:t> </a:t>
            </a:r>
            <a:r>
              <a:rPr lang="es-ES" dirty="0" err="1"/>
              <a:t>of</a:t>
            </a:r>
            <a:r>
              <a:rPr lang="es-ES" dirty="0"/>
              <a:t> </a:t>
            </a:r>
            <a:r>
              <a:rPr lang="es-ES" dirty="0" err="1"/>
              <a:t>genetic</a:t>
            </a:r>
            <a:r>
              <a:rPr lang="es-ES" dirty="0"/>
              <a:t> </a:t>
            </a:r>
            <a:r>
              <a:rPr lang="es-ES" dirty="0" err="1"/>
              <a:t>drift</a:t>
            </a:r>
            <a:endParaRPr lang="es-CO" dirty="0"/>
          </a:p>
        </p:txBody>
      </p:sp>
      <p:sp>
        <p:nvSpPr>
          <p:cNvPr id="6" name="Marcador de texto 5">
            <a:extLst>
              <a:ext uri="{FF2B5EF4-FFF2-40B4-BE49-F238E27FC236}">
                <a16:creationId xmlns:a16="http://schemas.microsoft.com/office/drawing/2014/main" id="{BC91A678-3CB1-A14B-8A6B-5EE1D9609F67}"/>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2140375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E23DA0-15EF-80B4-BD1C-FA341BDBA15A}"/>
              </a:ext>
            </a:extLst>
          </p:cNvPr>
          <p:cNvSpPr>
            <a:spLocks noGrp="1"/>
          </p:cNvSpPr>
          <p:nvPr>
            <p:ph type="title"/>
          </p:nvPr>
        </p:nvSpPr>
        <p:spPr/>
        <p:txBody>
          <a:bodyPr/>
          <a:lstStyle/>
          <a:p>
            <a:r>
              <a:rPr lang="es-ES" dirty="0" err="1"/>
              <a:t>Forms</a:t>
            </a:r>
            <a:r>
              <a:rPr lang="es-ES" dirty="0"/>
              <a:t> </a:t>
            </a:r>
            <a:r>
              <a:rPr lang="es-ES" dirty="0" err="1"/>
              <a:t>of</a:t>
            </a:r>
            <a:r>
              <a:rPr lang="es-ES" dirty="0"/>
              <a:t> </a:t>
            </a:r>
            <a:r>
              <a:rPr lang="es-ES" dirty="0" err="1"/>
              <a:t>genetic</a:t>
            </a:r>
            <a:r>
              <a:rPr lang="es-ES" dirty="0"/>
              <a:t> </a:t>
            </a:r>
            <a:r>
              <a:rPr lang="es-ES" dirty="0" err="1"/>
              <a:t>drift</a:t>
            </a:r>
            <a:endParaRPr lang="es-CO" dirty="0"/>
          </a:p>
        </p:txBody>
      </p:sp>
      <p:sp>
        <p:nvSpPr>
          <p:cNvPr id="3" name="Marcador de contenido 2">
            <a:extLst>
              <a:ext uri="{FF2B5EF4-FFF2-40B4-BE49-F238E27FC236}">
                <a16:creationId xmlns:a16="http://schemas.microsoft.com/office/drawing/2014/main" id="{46A57075-8126-38E5-E1DC-F9826645FB42}"/>
              </a:ext>
            </a:extLst>
          </p:cNvPr>
          <p:cNvSpPr>
            <a:spLocks noGrp="1"/>
          </p:cNvSpPr>
          <p:nvPr>
            <p:ph idx="1"/>
          </p:nvPr>
        </p:nvSpPr>
        <p:spPr/>
        <p:txBody>
          <a:bodyPr>
            <a:normAutofit/>
          </a:bodyPr>
          <a:lstStyle/>
          <a:p>
            <a:pPr marL="0" indent="0">
              <a:buNone/>
            </a:pPr>
            <a:r>
              <a:rPr lang="es-CO" sz="4000" dirty="0"/>
              <a:t>•</a:t>
            </a:r>
            <a:r>
              <a:rPr lang="es-CO" sz="4000" dirty="0" err="1"/>
              <a:t>Bottleneck</a:t>
            </a:r>
            <a:r>
              <a:rPr lang="es-CO" sz="4000" dirty="0"/>
              <a:t> </a:t>
            </a:r>
            <a:r>
              <a:rPr lang="es-CO" sz="4000" dirty="0" err="1"/>
              <a:t>effect</a:t>
            </a:r>
            <a:endParaRPr lang="es-CO" sz="4000" dirty="0"/>
          </a:p>
          <a:p>
            <a:pPr lvl="1"/>
            <a:r>
              <a:rPr lang="en-US" sz="3600" dirty="0"/>
              <a:t>A population reaches very low numbers due to some random (non-selective) event</a:t>
            </a:r>
          </a:p>
          <a:p>
            <a:pPr marL="0" indent="0">
              <a:buNone/>
            </a:pPr>
            <a:r>
              <a:rPr lang="es-CO" sz="4000" dirty="0"/>
              <a:t>•</a:t>
            </a:r>
            <a:r>
              <a:rPr lang="es-CO" sz="4000" dirty="0" err="1"/>
              <a:t>Founder</a:t>
            </a:r>
            <a:r>
              <a:rPr lang="es-CO" sz="4000" dirty="0"/>
              <a:t> </a:t>
            </a:r>
            <a:r>
              <a:rPr lang="es-CO" sz="4000" dirty="0" err="1"/>
              <a:t>effect</a:t>
            </a:r>
            <a:endParaRPr lang="es-CO" sz="4000" dirty="0"/>
          </a:p>
          <a:p>
            <a:pPr lvl="1"/>
            <a:r>
              <a:rPr lang="en-US" sz="3600" dirty="0"/>
              <a:t>A small number of individuals leave the original population and “found” a new one</a:t>
            </a:r>
            <a:endParaRPr lang="es-CO" sz="3600" dirty="0"/>
          </a:p>
        </p:txBody>
      </p:sp>
    </p:spTree>
    <p:extLst>
      <p:ext uri="{BB962C8B-B14F-4D97-AF65-F5344CB8AC3E}">
        <p14:creationId xmlns:p14="http://schemas.microsoft.com/office/powerpoint/2010/main" val="1869484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D309B8-3636-D2FB-6126-3715520F8DF1}"/>
              </a:ext>
            </a:extLst>
          </p:cNvPr>
          <p:cNvSpPr>
            <a:spLocks noGrp="1"/>
          </p:cNvSpPr>
          <p:nvPr>
            <p:ph type="title"/>
          </p:nvPr>
        </p:nvSpPr>
        <p:spPr/>
        <p:txBody>
          <a:bodyPr/>
          <a:lstStyle/>
          <a:p>
            <a:endParaRPr lang="es-CO"/>
          </a:p>
        </p:txBody>
      </p:sp>
      <p:pic>
        <p:nvPicPr>
          <p:cNvPr id="5" name="Marcador de contenido 4">
            <a:extLst>
              <a:ext uri="{FF2B5EF4-FFF2-40B4-BE49-F238E27FC236}">
                <a16:creationId xmlns:a16="http://schemas.microsoft.com/office/drawing/2014/main" id="{803DE92E-07AB-5228-60B8-B2F55E04371A}"/>
              </a:ext>
            </a:extLst>
          </p:cNvPr>
          <p:cNvPicPr>
            <a:picLocks noGrp="1" noChangeAspect="1"/>
          </p:cNvPicPr>
          <p:nvPr>
            <p:ph idx="1"/>
          </p:nvPr>
        </p:nvPicPr>
        <p:blipFill>
          <a:blip r:embed="rId2"/>
          <a:stretch>
            <a:fillRect/>
          </a:stretch>
        </p:blipFill>
        <p:spPr>
          <a:xfrm>
            <a:off x="1009558" y="124555"/>
            <a:ext cx="9805925" cy="6608890"/>
          </a:xfrm>
          <a:prstGeom prst="rect">
            <a:avLst/>
          </a:prstGeom>
        </p:spPr>
      </p:pic>
    </p:spTree>
    <p:extLst>
      <p:ext uri="{BB962C8B-B14F-4D97-AF65-F5344CB8AC3E}">
        <p14:creationId xmlns:p14="http://schemas.microsoft.com/office/powerpoint/2010/main" val="3516557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600478-6EFB-80D9-6DF2-3BB0BC3A8111}"/>
              </a:ext>
            </a:extLst>
          </p:cNvPr>
          <p:cNvSpPr>
            <a:spLocks noGrp="1"/>
          </p:cNvSpPr>
          <p:nvPr>
            <p:ph type="title"/>
          </p:nvPr>
        </p:nvSpPr>
        <p:spPr/>
        <p:txBody>
          <a:bodyPr/>
          <a:lstStyle/>
          <a:p>
            <a:r>
              <a:rPr lang="es-ES" dirty="0" err="1"/>
              <a:t>Bottlenecks</a:t>
            </a:r>
            <a:r>
              <a:rPr lang="es-ES" dirty="0"/>
              <a:t>!: </a:t>
            </a:r>
            <a:br>
              <a:rPr lang="es-ES" dirty="0"/>
            </a:br>
            <a:endParaRPr lang="es-CO" dirty="0"/>
          </a:p>
        </p:txBody>
      </p:sp>
      <p:sp>
        <p:nvSpPr>
          <p:cNvPr id="3" name="Marcador de contenido 2">
            <a:extLst>
              <a:ext uri="{FF2B5EF4-FFF2-40B4-BE49-F238E27FC236}">
                <a16:creationId xmlns:a16="http://schemas.microsoft.com/office/drawing/2014/main" id="{32281A30-D26D-4976-358C-AEDF32EC8270}"/>
              </a:ext>
            </a:extLst>
          </p:cNvPr>
          <p:cNvSpPr>
            <a:spLocks noGrp="1"/>
          </p:cNvSpPr>
          <p:nvPr>
            <p:ph idx="1"/>
          </p:nvPr>
        </p:nvSpPr>
        <p:spPr/>
        <p:txBody>
          <a:bodyPr/>
          <a:lstStyle/>
          <a:p>
            <a:endParaRPr lang="es-CO" dirty="0"/>
          </a:p>
        </p:txBody>
      </p:sp>
      <p:pic>
        <p:nvPicPr>
          <p:cNvPr id="1026" name="Picture 2" descr="Different colored marbles are randomly drawn from a bag and then restocked in the color proportion drawn. When fewer marbles are drawn than usual (a bottleneck), one color is not drawn at all and is never restocked after that.">
            <a:extLst>
              <a:ext uri="{FF2B5EF4-FFF2-40B4-BE49-F238E27FC236}">
                <a16:creationId xmlns:a16="http://schemas.microsoft.com/office/drawing/2014/main" id="{F6CD6BFC-13C1-D67C-9E06-7992CB271C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733" y="2661124"/>
            <a:ext cx="10761067" cy="3052629"/>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7E36BB7-7B18-911B-02C9-6273BE3CCB3E}"/>
              </a:ext>
            </a:extLst>
          </p:cNvPr>
          <p:cNvSpPr txBox="1"/>
          <p:nvPr/>
        </p:nvSpPr>
        <p:spPr>
          <a:xfrm>
            <a:off x="5312780" y="6311900"/>
            <a:ext cx="7381754" cy="369332"/>
          </a:xfrm>
          <a:prstGeom prst="rect">
            <a:avLst/>
          </a:prstGeom>
          <a:noFill/>
        </p:spPr>
        <p:txBody>
          <a:bodyPr wrap="square">
            <a:spAutoFit/>
          </a:bodyPr>
          <a:lstStyle/>
          <a:p>
            <a:r>
              <a:rPr lang="es-CO" dirty="0"/>
              <a:t>https://evolution.berkeley.edu/bottlenecks-and-founder-effects/</a:t>
            </a:r>
          </a:p>
        </p:txBody>
      </p:sp>
    </p:spTree>
    <p:extLst>
      <p:ext uri="{BB962C8B-B14F-4D97-AF65-F5344CB8AC3E}">
        <p14:creationId xmlns:p14="http://schemas.microsoft.com/office/powerpoint/2010/main" val="5657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0705F2-EB34-3014-A455-4FA181FE7371}"/>
              </a:ext>
            </a:extLst>
          </p:cNvPr>
          <p:cNvSpPr>
            <a:spLocks noGrp="1"/>
          </p:cNvSpPr>
          <p:nvPr>
            <p:ph type="title"/>
          </p:nvPr>
        </p:nvSpPr>
        <p:spPr/>
        <p:txBody>
          <a:bodyPr/>
          <a:lstStyle/>
          <a:p>
            <a:r>
              <a:rPr lang="es-CO" dirty="0" err="1"/>
              <a:t>Examples</a:t>
            </a:r>
            <a:endParaRPr lang="es-CO" dirty="0"/>
          </a:p>
        </p:txBody>
      </p:sp>
      <p:sp>
        <p:nvSpPr>
          <p:cNvPr id="3" name="Marcador de contenido 2">
            <a:extLst>
              <a:ext uri="{FF2B5EF4-FFF2-40B4-BE49-F238E27FC236}">
                <a16:creationId xmlns:a16="http://schemas.microsoft.com/office/drawing/2014/main" id="{FD0CD391-0DDD-9D39-91CE-B0BDCBCDC841}"/>
              </a:ext>
            </a:extLst>
          </p:cNvPr>
          <p:cNvSpPr>
            <a:spLocks noGrp="1"/>
          </p:cNvSpPr>
          <p:nvPr>
            <p:ph idx="1"/>
          </p:nvPr>
        </p:nvSpPr>
        <p:spPr/>
        <p:txBody>
          <a:bodyPr>
            <a:normAutofit lnSpcReduction="10000"/>
          </a:bodyPr>
          <a:lstStyle/>
          <a:p>
            <a:pPr algn="ctr"/>
            <a:r>
              <a:rPr lang="en-US" b="1" dirty="0">
                <a:highlight>
                  <a:srgbClr val="FFFF00"/>
                </a:highlight>
              </a:rPr>
              <a:t>Reduced genetic variation means that the population may not be able to adapt to new selection pressures, such as climatic change or a shift in available resources, because the genetic variation that selection would act on may have already drifted out of the population.</a:t>
            </a:r>
          </a:p>
          <a:p>
            <a:endParaRPr lang="en-US" dirty="0"/>
          </a:p>
          <a:p>
            <a:r>
              <a:rPr lang="es-CO" dirty="0" err="1"/>
              <a:t>Example</a:t>
            </a:r>
            <a:r>
              <a:rPr lang="es-CO" dirty="0"/>
              <a:t>: </a:t>
            </a:r>
            <a:r>
              <a:rPr lang="es-CO" dirty="0" err="1"/>
              <a:t>Hunting</a:t>
            </a:r>
            <a:r>
              <a:rPr lang="es-CO" dirty="0"/>
              <a:t> </a:t>
            </a:r>
            <a:r>
              <a:rPr lang="es-CO" dirty="0" err="1"/>
              <a:t>reduced</a:t>
            </a:r>
            <a:r>
              <a:rPr lang="es-CO" dirty="0"/>
              <a:t> </a:t>
            </a:r>
            <a:r>
              <a:rPr lang="es-CO" dirty="0" err="1"/>
              <a:t>Seals</a:t>
            </a:r>
            <a:r>
              <a:rPr lang="es-CO" dirty="0"/>
              <a:t> </a:t>
            </a:r>
            <a:r>
              <a:rPr lang="es-CO" dirty="0" err="1"/>
              <a:t>northern</a:t>
            </a:r>
            <a:endParaRPr lang="es-CO" dirty="0"/>
          </a:p>
          <a:p>
            <a:pPr marL="0" indent="0">
              <a:buNone/>
            </a:pPr>
            <a:r>
              <a:rPr lang="es-CO" dirty="0" err="1"/>
              <a:t>population</a:t>
            </a:r>
            <a:r>
              <a:rPr lang="es-CO" dirty="0"/>
              <a:t> </a:t>
            </a:r>
            <a:r>
              <a:rPr lang="es-CO" dirty="0" err="1"/>
              <a:t>to</a:t>
            </a:r>
            <a:r>
              <a:rPr lang="es-CO" dirty="0"/>
              <a:t> 20 </a:t>
            </a:r>
            <a:r>
              <a:rPr lang="es-CO" dirty="0" err="1"/>
              <a:t>individuals</a:t>
            </a:r>
            <a:r>
              <a:rPr lang="es-CO" dirty="0"/>
              <a:t>-&gt;30000 </a:t>
            </a:r>
            <a:r>
              <a:rPr lang="es-CO" dirty="0" err="1"/>
              <a:t>individuals</a:t>
            </a:r>
            <a:r>
              <a:rPr lang="es-CO" dirty="0"/>
              <a:t> </a:t>
            </a:r>
          </a:p>
          <a:p>
            <a:pPr marL="0" indent="0">
              <a:buNone/>
            </a:pPr>
            <a:r>
              <a:rPr lang="es-CO" dirty="0"/>
              <a:t> </a:t>
            </a:r>
            <a:r>
              <a:rPr lang="es-CO" dirty="0" err="1"/>
              <a:t>less</a:t>
            </a:r>
            <a:r>
              <a:rPr lang="es-CO" dirty="0"/>
              <a:t> </a:t>
            </a:r>
            <a:r>
              <a:rPr lang="es-CO" dirty="0" err="1"/>
              <a:t>genetic</a:t>
            </a:r>
            <a:r>
              <a:rPr lang="es-CO" dirty="0"/>
              <a:t> </a:t>
            </a:r>
            <a:r>
              <a:rPr lang="es-CO" dirty="0" err="1"/>
              <a:t>variation</a:t>
            </a:r>
            <a:r>
              <a:rPr lang="es-CO" dirty="0"/>
              <a:t> </a:t>
            </a:r>
            <a:r>
              <a:rPr lang="es-CO" dirty="0" err="1"/>
              <a:t>than</a:t>
            </a:r>
            <a:r>
              <a:rPr lang="es-CO" dirty="0"/>
              <a:t> </a:t>
            </a:r>
            <a:r>
              <a:rPr lang="es-CO" dirty="0" err="1"/>
              <a:t>southern</a:t>
            </a:r>
            <a:r>
              <a:rPr lang="es-CO" dirty="0"/>
              <a:t> </a:t>
            </a:r>
            <a:r>
              <a:rPr lang="es-CO" dirty="0" err="1"/>
              <a:t>population</a:t>
            </a:r>
            <a:br>
              <a:rPr lang="en-US" dirty="0"/>
            </a:br>
            <a:endParaRPr lang="es-CO" dirty="0"/>
          </a:p>
        </p:txBody>
      </p:sp>
      <p:pic>
        <p:nvPicPr>
          <p:cNvPr id="2050" name="Picture 2" descr="elephant seal">
            <a:extLst>
              <a:ext uri="{FF2B5EF4-FFF2-40B4-BE49-F238E27FC236}">
                <a16:creationId xmlns:a16="http://schemas.microsoft.com/office/drawing/2014/main" id="{E9C83195-317E-8823-7EF4-F32085DEF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473" y="3618530"/>
            <a:ext cx="3251522" cy="2874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27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28B4A8-D902-E3C4-B7C9-E66FAE5C74DE}"/>
              </a:ext>
            </a:extLst>
          </p:cNvPr>
          <p:cNvSpPr>
            <a:spLocks noGrp="1"/>
          </p:cNvSpPr>
          <p:nvPr>
            <p:ph type="title"/>
          </p:nvPr>
        </p:nvSpPr>
        <p:spPr>
          <a:xfrm>
            <a:off x="277761" y="188144"/>
            <a:ext cx="10515600" cy="1325563"/>
          </a:xfrm>
        </p:spPr>
        <p:txBody>
          <a:bodyPr/>
          <a:lstStyle/>
          <a:p>
            <a:r>
              <a:rPr lang="es-ES" dirty="0" err="1"/>
              <a:t>Founder</a:t>
            </a:r>
            <a:r>
              <a:rPr lang="es-ES" dirty="0"/>
              <a:t> </a:t>
            </a:r>
            <a:r>
              <a:rPr lang="es-ES" dirty="0" err="1"/>
              <a:t>effect</a:t>
            </a:r>
            <a:endParaRPr lang="es-CO" dirty="0"/>
          </a:p>
        </p:txBody>
      </p:sp>
      <p:sp>
        <p:nvSpPr>
          <p:cNvPr id="3" name="Marcador de contenido 2">
            <a:extLst>
              <a:ext uri="{FF2B5EF4-FFF2-40B4-BE49-F238E27FC236}">
                <a16:creationId xmlns:a16="http://schemas.microsoft.com/office/drawing/2014/main" id="{1F8A74E9-1E7D-B541-95C3-94CB45508C7B}"/>
              </a:ext>
            </a:extLst>
          </p:cNvPr>
          <p:cNvSpPr>
            <a:spLocks noGrp="1"/>
          </p:cNvSpPr>
          <p:nvPr>
            <p:ph idx="1"/>
          </p:nvPr>
        </p:nvSpPr>
        <p:spPr/>
        <p:txBody>
          <a:bodyPr/>
          <a:lstStyle/>
          <a:p>
            <a:endParaRPr lang="es-CO" dirty="0"/>
          </a:p>
        </p:txBody>
      </p:sp>
      <p:pic>
        <p:nvPicPr>
          <p:cNvPr id="5" name="Imagen 4">
            <a:extLst>
              <a:ext uri="{FF2B5EF4-FFF2-40B4-BE49-F238E27FC236}">
                <a16:creationId xmlns:a16="http://schemas.microsoft.com/office/drawing/2014/main" id="{B6A290C9-2D05-CD80-D0D5-88D1342139FC}"/>
              </a:ext>
            </a:extLst>
          </p:cNvPr>
          <p:cNvPicPr>
            <a:picLocks noChangeAspect="1"/>
          </p:cNvPicPr>
          <p:nvPr/>
        </p:nvPicPr>
        <p:blipFill>
          <a:blip r:embed="rId2"/>
          <a:stretch>
            <a:fillRect/>
          </a:stretch>
        </p:blipFill>
        <p:spPr>
          <a:xfrm>
            <a:off x="2664541" y="1190031"/>
            <a:ext cx="7393859" cy="5598006"/>
          </a:xfrm>
          <a:prstGeom prst="rect">
            <a:avLst/>
          </a:prstGeom>
        </p:spPr>
      </p:pic>
    </p:spTree>
    <p:extLst>
      <p:ext uri="{BB962C8B-B14F-4D97-AF65-F5344CB8AC3E}">
        <p14:creationId xmlns:p14="http://schemas.microsoft.com/office/powerpoint/2010/main" val="3531412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E9BBB1-C50B-1982-0BC7-8EF97DFB9A3B}"/>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C8117FE2-8270-63C1-4F17-ECD7E0289B26}"/>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08B468BF-C108-93CE-A137-05298706DD96}"/>
              </a:ext>
            </a:extLst>
          </p:cNvPr>
          <p:cNvPicPr>
            <a:picLocks noChangeAspect="1"/>
          </p:cNvPicPr>
          <p:nvPr/>
        </p:nvPicPr>
        <p:blipFill>
          <a:blip r:embed="rId2"/>
          <a:stretch>
            <a:fillRect/>
          </a:stretch>
        </p:blipFill>
        <p:spPr>
          <a:xfrm>
            <a:off x="1487129" y="143067"/>
            <a:ext cx="8127238" cy="6198740"/>
          </a:xfrm>
          <a:prstGeom prst="rect">
            <a:avLst/>
          </a:prstGeom>
        </p:spPr>
      </p:pic>
    </p:spTree>
    <p:extLst>
      <p:ext uri="{BB962C8B-B14F-4D97-AF65-F5344CB8AC3E}">
        <p14:creationId xmlns:p14="http://schemas.microsoft.com/office/powerpoint/2010/main" val="2970383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16F001-AA3D-934B-75FB-0B5E4C5ED6A8}"/>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D2F79BDD-E03B-DA0B-61DB-9B6201E73661}"/>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54D86B96-5843-E7D4-C441-F1127A41EDCB}"/>
              </a:ext>
            </a:extLst>
          </p:cNvPr>
          <p:cNvPicPr>
            <a:picLocks noChangeAspect="1"/>
          </p:cNvPicPr>
          <p:nvPr/>
        </p:nvPicPr>
        <p:blipFill>
          <a:blip r:embed="rId2"/>
          <a:stretch>
            <a:fillRect/>
          </a:stretch>
        </p:blipFill>
        <p:spPr>
          <a:xfrm>
            <a:off x="1393358" y="119013"/>
            <a:ext cx="9048499" cy="6826691"/>
          </a:xfrm>
          <a:prstGeom prst="rect">
            <a:avLst/>
          </a:prstGeom>
        </p:spPr>
      </p:pic>
    </p:spTree>
    <p:extLst>
      <p:ext uri="{BB962C8B-B14F-4D97-AF65-F5344CB8AC3E}">
        <p14:creationId xmlns:p14="http://schemas.microsoft.com/office/powerpoint/2010/main" val="491433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F748A-946B-3A0E-E8B9-26DA9AE5F135}"/>
              </a:ext>
            </a:extLst>
          </p:cNvPr>
          <p:cNvSpPr>
            <a:spLocks noGrp="1"/>
          </p:cNvSpPr>
          <p:nvPr>
            <p:ph type="title"/>
          </p:nvPr>
        </p:nvSpPr>
        <p:spPr/>
        <p:txBody>
          <a:bodyPr/>
          <a:lstStyle/>
          <a:p>
            <a:endParaRPr lang="es-CO"/>
          </a:p>
        </p:txBody>
      </p:sp>
      <p:sp>
        <p:nvSpPr>
          <p:cNvPr id="3" name="Marcador de contenido 2">
            <a:extLst>
              <a:ext uri="{FF2B5EF4-FFF2-40B4-BE49-F238E27FC236}">
                <a16:creationId xmlns:a16="http://schemas.microsoft.com/office/drawing/2014/main" id="{18FF2ED3-057C-813C-1720-735F138A9FDD}"/>
              </a:ext>
            </a:extLst>
          </p:cNvPr>
          <p:cNvSpPr>
            <a:spLocks noGrp="1"/>
          </p:cNvSpPr>
          <p:nvPr>
            <p:ph idx="1"/>
          </p:nvPr>
        </p:nvSpPr>
        <p:spPr/>
        <p:txBody>
          <a:bodyPr/>
          <a:lstStyle/>
          <a:p>
            <a:endParaRPr lang="es-CO"/>
          </a:p>
        </p:txBody>
      </p:sp>
      <p:pic>
        <p:nvPicPr>
          <p:cNvPr id="5" name="Imagen 4">
            <a:extLst>
              <a:ext uri="{FF2B5EF4-FFF2-40B4-BE49-F238E27FC236}">
                <a16:creationId xmlns:a16="http://schemas.microsoft.com/office/drawing/2014/main" id="{F580C4F6-AF91-3584-B803-6C79B9F56B2F}"/>
              </a:ext>
            </a:extLst>
          </p:cNvPr>
          <p:cNvPicPr>
            <a:picLocks noChangeAspect="1"/>
          </p:cNvPicPr>
          <p:nvPr/>
        </p:nvPicPr>
        <p:blipFill>
          <a:blip r:embed="rId2"/>
          <a:stretch>
            <a:fillRect/>
          </a:stretch>
        </p:blipFill>
        <p:spPr>
          <a:xfrm>
            <a:off x="154847" y="1154727"/>
            <a:ext cx="11651134" cy="4141963"/>
          </a:xfrm>
          <a:prstGeom prst="rect">
            <a:avLst/>
          </a:prstGeom>
        </p:spPr>
      </p:pic>
    </p:spTree>
    <p:extLst>
      <p:ext uri="{BB962C8B-B14F-4D97-AF65-F5344CB8AC3E}">
        <p14:creationId xmlns:p14="http://schemas.microsoft.com/office/powerpoint/2010/main" val="36912673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14736849-7271-A7D2-BB49-7DEC2E7FC899}"/>
              </a:ext>
            </a:extLst>
          </p:cNvPr>
          <p:cNvSpPr>
            <a:spLocks noGrp="1"/>
          </p:cNvSpPr>
          <p:nvPr>
            <p:ph type="title"/>
          </p:nvPr>
        </p:nvSpPr>
        <p:spPr/>
        <p:txBody>
          <a:bodyPr/>
          <a:lstStyle/>
          <a:p>
            <a:r>
              <a:rPr lang="es-ES" dirty="0" err="1"/>
              <a:t>Practice</a:t>
            </a:r>
            <a:endParaRPr lang="es-CO" dirty="0"/>
          </a:p>
        </p:txBody>
      </p:sp>
      <p:sp>
        <p:nvSpPr>
          <p:cNvPr id="5" name="Marcador de texto 4">
            <a:extLst>
              <a:ext uri="{FF2B5EF4-FFF2-40B4-BE49-F238E27FC236}">
                <a16:creationId xmlns:a16="http://schemas.microsoft.com/office/drawing/2014/main" id="{5B407989-A515-F780-F896-643A6A2741F9}"/>
              </a:ext>
            </a:extLst>
          </p:cNvPr>
          <p:cNvSpPr>
            <a:spLocks noGrp="1"/>
          </p:cNvSpPr>
          <p:nvPr>
            <p:ph type="body" idx="1"/>
          </p:nvPr>
        </p:nvSpPr>
        <p:spPr/>
        <p:txBody>
          <a:bodyPr/>
          <a:lstStyle/>
          <a:p>
            <a:endParaRPr lang="es-CO"/>
          </a:p>
        </p:txBody>
      </p:sp>
    </p:spTree>
    <p:extLst>
      <p:ext uri="{BB962C8B-B14F-4D97-AF65-F5344CB8AC3E}">
        <p14:creationId xmlns:p14="http://schemas.microsoft.com/office/powerpoint/2010/main" val="83411957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946</TotalTime>
  <Words>687</Words>
  <Application>Microsoft Office PowerPoint</Application>
  <PresentationFormat>Panorámica</PresentationFormat>
  <Paragraphs>80</Paragraphs>
  <Slides>35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35</vt:i4>
      </vt:variant>
    </vt:vector>
  </HeadingPairs>
  <TitlesOfParts>
    <vt:vector size="42" baseType="lpstr">
      <vt:lpstr>Aptos</vt:lpstr>
      <vt:lpstr>Aptos Display</vt:lpstr>
      <vt:lpstr>Arial</vt:lpstr>
      <vt:lpstr>Calibri</vt:lpstr>
      <vt:lpstr>Swift-Regular</vt:lpstr>
      <vt:lpstr>Swift-RegularItalic</vt:lpstr>
      <vt:lpstr>Tema de Office</vt:lpstr>
      <vt:lpstr>Genetic drift</vt:lpstr>
      <vt:lpstr>sampling error?</vt:lpstr>
      <vt:lpstr>small populations showed a greater variation in allelic frequencies than the larger populations</vt:lpstr>
      <vt:lpstr>Increasing in variance</vt:lpstr>
      <vt:lpstr>Presentación de PowerPoint</vt:lpstr>
      <vt:lpstr>https://blakngu.github.io/libro/deriva.html  </vt:lpstr>
      <vt:lpstr>Biological importance</vt:lpstr>
      <vt:lpstr>Presentación de PowerPoint</vt:lpstr>
      <vt:lpstr>Presentación de PowerPoint</vt:lpstr>
      <vt:lpstr>General Properties</vt:lpstr>
      <vt:lpstr>Presentación de PowerPoint</vt:lpstr>
      <vt:lpstr>Measure variances in next generations</vt:lpstr>
      <vt:lpstr>Genetic drift in idealized populations</vt:lpstr>
      <vt:lpstr>Mutation fixing</vt:lpstr>
      <vt:lpstr>Presentación de PowerPoint</vt:lpstr>
      <vt:lpstr>Metapopulations</vt:lpstr>
      <vt:lpstr>Empirical example</vt:lpstr>
      <vt:lpstr>Drosophila melanogaster (Buri 1956).</vt:lpstr>
      <vt:lpstr>Presentación de PowerPoint</vt:lpstr>
      <vt:lpstr>Consequences of genetic drift</vt:lpstr>
      <vt:lpstr>1</vt:lpstr>
      <vt:lpstr>2</vt:lpstr>
      <vt:lpstr>3</vt:lpstr>
      <vt:lpstr>4</vt:lpstr>
      <vt:lpstr>5</vt:lpstr>
      <vt:lpstr>Forms of genetic drift</vt:lpstr>
      <vt:lpstr>Forms of genetic drift</vt:lpstr>
      <vt:lpstr>Presentación de PowerPoint</vt:lpstr>
      <vt:lpstr>Bottlenecks!:  </vt:lpstr>
      <vt:lpstr>Examples</vt:lpstr>
      <vt:lpstr>Founder effect</vt:lpstr>
      <vt:lpstr>Presentación de PowerPoint</vt:lpstr>
      <vt:lpstr>Presentación de PowerPoint</vt:lpstr>
      <vt:lpstr>Presentación de PowerPoint</vt:lpstr>
      <vt:lpstr>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Chrystian Camilo Sosa Arango</dc:creator>
  <cp:lastModifiedBy>Chrystian Camilo Sosa Arango</cp:lastModifiedBy>
  <cp:revision>121</cp:revision>
  <dcterms:created xsi:type="dcterms:W3CDTF">2025-09-09T00:15:28Z</dcterms:created>
  <dcterms:modified xsi:type="dcterms:W3CDTF">2025-09-18T20:31:18Z</dcterms:modified>
</cp:coreProperties>
</file>