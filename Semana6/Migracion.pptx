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60" r:id="rId3"/>
    <p:sldId id="313" r:id="rId4"/>
    <p:sldId id="309" r:id="rId5"/>
    <p:sldId id="310" r:id="rId6"/>
    <p:sldId id="308" r:id="rId7"/>
    <p:sldId id="256" r:id="rId8"/>
    <p:sldId id="271" r:id="rId9"/>
    <p:sldId id="259" r:id="rId10"/>
    <p:sldId id="274" r:id="rId11"/>
    <p:sldId id="275" r:id="rId12"/>
    <p:sldId id="306" r:id="rId13"/>
    <p:sldId id="333" r:id="rId14"/>
    <p:sldId id="334" r:id="rId15"/>
    <p:sldId id="264" r:id="rId16"/>
    <p:sldId id="266" r:id="rId17"/>
    <p:sldId id="267" r:id="rId18"/>
    <p:sldId id="301" r:id="rId19"/>
    <p:sldId id="302" r:id="rId20"/>
    <p:sldId id="303" r:id="rId21"/>
    <p:sldId id="304" r:id="rId22"/>
    <p:sldId id="305" r:id="rId23"/>
    <p:sldId id="268" r:id="rId24"/>
    <p:sldId id="311" r:id="rId25"/>
    <p:sldId id="312" r:id="rId26"/>
    <p:sldId id="314" r:id="rId27"/>
    <p:sldId id="315" r:id="rId28"/>
    <p:sldId id="316" r:id="rId29"/>
    <p:sldId id="317" r:id="rId30"/>
    <p:sldId id="318" r:id="rId31"/>
    <p:sldId id="320" r:id="rId32"/>
    <p:sldId id="321" r:id="rId33"/>
    <p:sldId id="322" r:id="rId34"/>
    <p:sldId id="323" r:id="rId35"/>
    <p:sldId id="324" r:id="rId36"/>
    <p:sldId id="325" r:id="rId37"/>
    <p:sldId id="326" r:id="rId38"/>
    <p:sldId id="327" r:id="rId39"/>
    <p:sldId id="328" r:id="rId40"/>
    <p:sldId id="329" r:id="rId41"/>
    <p:sldId id="330" r:id="rId42"/>
    <p:sldId id="331" r:id="rId43"/>
    <p:sldId id="332" r:id="rId4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68" autoAdjust="0"/>
    <p:restoredTop sz="94660"/>
  </p:normalViewPr>
  <p:slideViewPr>
    <p:cSldViewPr snapToGrid="0">
      <p:cViewPr varScale="1">
        <p:scale>
          <a:sx n="78" d="100"/>
          <a:sy n="78" d="100"/>
        </p:scale>
        <p:origin x="32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64093734600202"/>
          <c:y val="4.3490242309676942E-2"/>
          <c:w val="0.81588710475499526"/>
          <c:h val="0.70294607893577199"/>
        </c:manualLayout>
      </c:layout>
      <c:lineChart>
        <c:grouping val="standard"/>
        <c:varyColors val="0"/>
        <c:ser>
          <c:idx val="0"/>
          <c:order val="0"/>
          <c:tx>
            <c:v>f_R1</c:v>
          </c:tx>
          <c:spPr>
            <a:ln w="28575" cap="rnd">
              <a:solidFill>
                <a:schemeClr val="tx1"/>
              </a:solidFill>
              <a:round/>
            </a:ln>
            <a:effectLst/>
          </c:spPr>
          <c:marker>
            <c:symbol val="none"/>
          </c:marker>
          <c:cat>
            <c:strRef>
              <c:f>Sheet1!$U$2:$U$52</c:f>
              <c:strCache>
                <c:ptCount val="51"/>
                <c:pt idx="0">
                  <c:v>t</c:v>
                </c:pt>
                <c:pt idx="1">
                  <c:v>t+1</c:v>
                </c:pt>
                <c:pt idx="2">
                  <c:v>t+2</c:v>
                </c:pt>
                <c:pt idx="3">
                  <c:v>t+3</c:v>
                </c:pt>
                <c:pt idx="4">
                  <c:v>t+4</c:v>
                </c:pt>
                <c:pt idx="5">
                  <c:v>t+5</c:v>
                </c:pt>
                <c:pt idx="6">
                  <c:v>t+6</c:v>
                </c:pt>
                <c:pt idx="7">
                  <c:v>t+7</c:v>
                </c:pt>
                <c:pt idx="8">
                  <c:v>t+8</c:v>
                </c:pt>
                <c:pt idx="9">
                  <c:v>t+9</c:v>
                </c:pt>
                <c:pt idx="10">
                  <c:v>t+10</c:v>
                </c:pt>
                <c:pt idx="11">
                  <c:v>t+11</c:v>
                </c:pt>
                <c:pt idx="12">
                  <c:v>t+12</c:v>
                </c:pt>
                <c:pt idx="13">
                  <c:v>t+13</c:v>
                </c:pt>
                <c:pt idx="14">
                  <c:v>t+14</c:v>
                </c:pt>
                <c:pt idx="15">
                  <c:v>t+15</c:v>
                </c:pt>
                <c:pt idx="16">
                  <c:v>t+16</c:v>
                </c:pt>
                <c:pt idx="17">
                  <c:v>t+17</c:v>
                </c:pt>
                <c:pt idx="18">
                  <c:v>t+18</c:v>
                </c:pt>
                <c:pt idx="19">
                  <c:v>t+19</c:v>
                </c:pt>
                <c:pt idx="20">
                  <c:v>t+20</c:v>
                </c:pt>
                <c:pt idx="21">
                  <c:v>t+21</c:v>
                </c:pt>
                <c:pt idx="22">
                  <c:v>t+22</c:v>
                </c:pt>
                <c:pt idx="23">
                  <c:v>t+23</c:v>
                </c:pt>
                <c:pt idx="24">
                  <c:v>t+24</c:v>
                </c:pt>
                <c:pt idx="25">
                  <c:v>t+25</c:v>
                </c:pt>
                <c:pt idx="26">
                  <c:v>t+26</c:v>
                </c:pt>
                <c:pt idx="27">
                  <c:v>t+27</c:v>
                </c:pt>
                <c:pt idx="28">
                  <c:v>t+28</c:v>
                </c:pt>
                <c:pt idx="29">
                  <c:v>t+29</c:v>
                </c:pt>
                <c:pt idx="30">
                  <c:v>t+30</c:v>
                </c:pt>
                <c:pt idx="31">
                  <c:v>t+31</c:v>
                </c:pt>
                <c:pt idx="32">
                  <c:v>t+32</c:v>
                </c:pt>
                <c:pt idx="33">
                  <c:v>t+33</c:v>
                </c:pt>
                <c:pt idx="34">
                  <c:v>t+34</c:v>
                </c:pt>
                <c:pt idx="35">
                  <c:v>t+35</c:v>
                </c:pt>
                <c:pt idx="36">
                  <c:v>t+36</c:v>
                </c:pt>
                <c:pt idx="37">
                  <c:v>t+37</c:v>
                </c:pt>
                <c:pt idx="38">
                  <c:v>t+38</c:v>
                </c:pt>
                <c:pt idx="39">
                  <c:v>t+39</c:v>
                </c:pt>
                <c:pt idx="40">
                  <c:v>t+40</c:v>
                </c:pt>
                <c:pt idx="41">
                  <c:v>t+41</c:v>
                </c:pt>
                <c:pt idx="42">
                  <c:v>t+42</c:v>
                </c:pt>
                <c:pt idx="43">
                  <c:v>t+43</c:v>
                </c:pt>
                <c:pt idx="44">
                  <c:v>t+44</c:v>
                </c:pt>
                <c:pt idx="45">
                  <c:v>t+45</c:v>
                </c:pt>
                <c:pt idx="46">
                  <c:v>t+46</c:v>
                </c:pt>
                <c:pt idx="47">
                  <c:v>t+47</c:v>
                </c:pt>
                <c:pt idx="48">
                  <c:v>t+48</c:v>
                </c:pt>
                <c:pt idx="49">
                  <c:v>t+49</c:v>
                </c:pt>
                <c:pt idx="50">
                  <c:v>t+50</c:v>
                </c:pt>
              </c:strCache>
            </c:strRef>
          </c:cat>
          <c:val>
            <c:numRef>
              <c:f>Sheet1!$V$2:$V$52</c:f>
              <c:numCache>
                <c:formatCode>General</c:formatCode>
                <c:ptCount val="51"/>
                <c:pt idx="0">
                  <c:v>0.38890000000000002</c:v>
                </c:pt>
                <c:pt idx="1">
                  <c:v>0.37037777777777775</c:v>
                </c:pt>
                <c:pt idx="2">
                  <c:v>0.35597160493827151</c:v>
                </c:pt>
                <c:pt idx="3">
                  <c:v>0.34476680384087782</c:v>
                </c:pt>
                <c:pt idx="4">
                  <c:v>0.33605195854290493</c:v>
                </c:pt>
                <c:pt idx="5">
                  <c:v>0.32927374553337047</c:v>
                </c:pt>
                <c:pt idx="6">
                  <c:v>0.3240018020815103</c:v>
                </c:pt>
                <c:pt idx="7">
                  <c:v>0.31990140161895242</c:v>
                </c:pt>
                <c:pt idx="8">
                  <c:v>0.31671220125918514</c:v>
                </c:pt>
                <c:pt idx="9">
                  <c:v>0.31423171209047729</c:v>
                </c:pt>
                <c:pt idx="10">
                  <c:v>0.31230244273703783</c:v>
                </c:pt>
                <c:pt idx="11">
                  <c:v>0.31080189990658497</c:v>
                </c:pt>
                <c:pt idx="12">
                  <c:v>0.30963481103845492</c:v>
                </c:pt>
                <c:pt idx="13">
                  <c:v>0.3087270752521315</c:v>
                </c:pt>
                <c:pt idx="14">
                  <c:v>0.30802105852943551</c:v>
                </c:pt>
                <c:pt idx="15">
                  <c:v>0.30747193441178311</c:v>
                </c:pt>
                <c:pt idx="16">
                  <c:v>0.30704483787583126</c:v>
                </c:pt>
                <c:pt idx="17">
                  <c:v>0.30671265168120199</c:v>
                </c:pt>
                <c:pt idx="18">
                  <c:v>0.30645428464093477</c:v>
                </c:pt>
                <c:pt idx="19">
                  <c:v>0.30625333249850473</c:v>
                </c:pt>
                <c:pt idx="20">
                  <c:v>0.30609703638772578</c:v>
                </c:pt>
                <c:pt idx="21">
                  <c:v>0.30597547274600884</c:v>
                </c:pt>
                <c:pt idx="22">
                  <c:v>0.30588092324689564</c:v>
                </c:pt>
                <c:pt idx="23">
                  <c:v>0.3058073847475854</c:v>
                </c:pt>
                <c:pt idx="24">
                  <c:v>0.30575018813701077</c:v>
                </c:pt>
                <c:pt idx="25">
                  <c:v>0.30570570188434154</c:v>
                </c:pt>
                <c:pt idx="26">
                  <c:v>0.30567110146559884</c:v>
                </c:pt>
                <c:pt idx="27">
                  <c:v>0.30564419002879895</c:v>
                </c:pt>
                <c:pt idx="28">
                  <c:v>0.30562325891128794</c:v>
                </c:pt>
                <c:pt idx="29">
                  <c:v>0.30560697915322382</c:v>
                </c:pt>
                <c:pt idx="30">
                  <c:v>0.30559431711917395</c:v>
                </c:pt>
                <c:pt idx="31">
                  <c:v>0.30558446887046847</c:v>
                </c:pt>
                <c:pt idx="32">
                  <c:v>0.30557680912147533</c:v>
                </c:pt>
                <c:pt idx="33">
                  <c:v>0.3055708515389251</c:v>
                </c:pt>
                <c:pt idx="34">
                  <c:v>0.30556621786360827</c:v>
                </c:pt>
                <c:pt idx="35">
                  <c:v>0.30556261389391737</c:v>
                </c:pt>
                <c:pt idx="36">
                  <c:v>0.30555981080638001</c:v>
                </c:pt>
                <c:pt idx="37">
                  <c:v>0.30555763062718427</c:v>
                </c:pt>
                <c:pt idx="38">
                  <c:v>0.30555593493225425</c:v>
                </c:pt>
                <c:pt idx="39">
                  <c:v>0.30555461605841977</c:v>
                </c:pt>
                <c:pt idx="40">
                  <c:v>0.30555359026765966</c:v>
                </c:pt>
                <c:pt idx="41">
                  <c:v>0.30555279243040173</c:v>
                </c:pt>
                <c:pt idx="42">
                  <c:v>0.30555217189031225</c:v>
                </c:pt>
                <c:pt idx="43">
                  <c:v>0.30555168924802045</c:v>
                </c:pt>
                <c:pt idx="44">
                  <c:v>0.30555131385957124</c:v>
                </c:pt>
                <c:pt idx="45">
                  <c:v>0.30555102189077743</c:v>
                </c:pt>
                <c:pt idx="46">
                  <c:v>0.30555079480393782</c:v>
                </c:pt>
                <c:pt idx="47">
                  <c:v>0.30555061818084028</c:v>
                </c:pt>
                <c:pt idx="48">
                  <c:v>0.30555048080732</c:v>
                </c:pt>
                <c:pt idx="49">
                  <c:v>0.30555037396124862</c:v>
                </c:pt>
                <c:pt idx="50">
                  <c:v>0.30555029085874869</c:v>
                </c:pt>
              </c:numCache>
            </c:numRef>
          </c:val>
          <c:smooth val="0"/>
          <c:extLst>
            <c:ext xmlns:c16="http://schemas.microsoft.com/office/drawing/2014/chart" uri="{C3380CC4-5D6E-409C-BE32-E72D297353CC}">
              <c16:uniqueId val="{00000000-9145-4E25-83D5-8AB0255B71A9}"/>
            </c:ext>
          </c:extLst>
        </c:ser>
        <c:ser>
          <c:idx val="1"/>
          <c:order val="1"/>
          <c:tx>
            <c:v>f_R2</c:v>
          </c:tx>
          <c:spPr>
            <a:ln w="28575" cap="rnd">
              <a:solidFill>
                <a:schemeClr val="bg1">
                  <a:lumMod val="65000"/>
                </a:schemeClr>
              </a:solidFill>
              <a:prstDash val="sysDash"/>
              <a:round/>
            </a:ln>
            <a:effectLst/>
          </c:spPr>
          <c:marker>
            <c:symbol val="none"/>
          </c:marker>
          <c:cat>
            <c:strRef>
              <c:f>Sheet1!$U$2:$U$52</c:f>
              <c:strCache>
                <c:ptCount val="51"/>
                <c:pt idx="0">
                  <c:v>t</c:v>
                </c:pt>
                <c:pt idx="1">
                  <c:v>t+1</c:v>
                </c:pt>
                <c:pt idx="2">
                  <c:v>t+2</c:v>
                </c:pt>
                <c:pt idx="3">
                  <c:v>t+3</c:v>
                </c:pt>
                <c:pt idx="4">
                  <c:v>t+4</c:v>
                </c:pt>
                <c:pt idx="5">
                  <c:v>t+5</c:v>
                </c:pt>
                <c:pt idx="6">
                  <c:v>t+6</c:v>
                </c:pt>
                <c:pt idx="7">
                  <c:v>t+7</c:v>
                </c:pt>
                <c:pt idx="8">
                  <c:v>t+8</c:v>
                </c:pt>
                <c:pt idx="9">
                  <c:v>t+9</c:v>
                </c:pt>
                <c:pt idx="10">
                  <c:v>t+10</c:v>
                </c:pt>
                <c:pt idx="11">
                  <c:v>t+11</c:v>
                </c:pt>
                <c:pt idx="12">
                  <c:v>t+12</c:v>
                </c:pt>
                <c:pt idx="13">
                  <c:v>t+13</c:v>
                </c:pt>
                <c:pt idx="14">
                  <c:v>t+14</c:v>
                </c:pt>
                <c:pt idx="15">
                  <c:v>t+15</c:v>
                </c:pt>
                <c:pt idx="16">
                  <c:v>t+16</c:v>
                </c:pt>
                <c:pt idx="17">
                  <c:v>t+17</c:v>
                </c:pt>
                <c:pt idx="18">
                  <c:v>t+18</c:v>
                </c:pt>
                <c:pt idx="19">
                  <c:v>t+19</c:v>
                </c:pt>
                <c:pt idx="20">
                  <c:v>t+20</c:v>
                </c:pt>
                <c:pt idx="21">
                  <c:v>t+21</c:v>
                </c:pt>
                <c:pt idx="22">
                  <c:v>t+22</c:v>
                </c:pt>
                <c:pt idx="23">
                  <c:v>t+23</c:v>
                </c:pt>
                <c:pt idx="24">
                  <c:v>t+24</c:v>
                </c:pt>
                <c:pt idx="25">
                  <c:v>t+25</c:v>
                </c:pt>
                <c:pt idx="26">
                  <c:v>t+26</c:v>
                </c:pt>
                <c:pt idx="27">
                  <c:v>t+27</c:v>
                </c:pt>
                <c:pt idx="28">
                  <c:v>t+28</c:v>
                </c:pt>
                <c:pt idx="29">
                  <c:v>t+29</c:v>
                </c:pt>
                <c:pt idx="30">
                  <c:v>t+30</c:v>
                </c:pt>
                <c:pt idx="31">
                  <c:v>t+31</c:v>
                </c:pt>
                <c:pt idx="32">
                  <c:v>t+32</c:v>
                </c:pt>
                <c:pt idx="33">
                  <c:v>t+33</c:v>
                </c:pt>
                <c:pt idx="34">
                  <c:v>t+34</c:v>
                </c:pt>
                <c:pt idx="35">
                  <c:v>t+35</c:v>
                </c:pt>
                <c:pt idx="36">
                  <c:v>t+36</c:v>
                </c:pt>
                <c:pt idx="37">
                  <c:v>t+37</c:v>
                </c:pt>
                <c:pt idx="38">
                  <c:v>t+38</c:v>
                </c:pt>
                <c:pt idx="39">
                  <c:v>t+39</c:v>
                </c:pt>
                <c:pt idx="40">
                  <c:v>t+40</c:v>
                </c:pt>
                <c:pt idx="41">
                  <c:v>t+41</c:v>
                </c:pt>
                <c:pt idx="42">
                  <c:v>t+42</c:v>
                </c:pt>
                <c:pt idx="43">
                  <c:v>t+43</c:v>
                </c:pt>
                <c:pt idx="44">
                  <c:v>t+44</c:v>
                </c:pt>
                <c:pt idx="45">
                  <c:v>t+45</c:v>
                </c:pt>
                <c:pt idx="46">
                  <c:v>t+46</c:v>
                </c:pt>
                <c:pt idx="47">
                  <c:v>t+47</c:v>
                </c:pt>
                <c:pt idx="48">
                  <c:v>t+48</c:v>
                </c:pt>
                <c:pt idx="49">
                  <c:v>t+49</c:v>
                </c:pt>
                <c:pt idx="50">
                  <c:v>t+50</c:v>
                </c:pt>
              </c:strCache>
            </c:strRef>
          </c:cat>
          <c:val>
            <c:numRef>
              <c:f>Sheet1!$W$2:$W$52</c:f>
              <c:numCache>
                <c:formatCode>General</c:formatCode>
                <c:ptCount val="51"/>
                <c:pt idx="0">
                  <c:v>0.22220000000000001</c:v>
                </c:pt>
                <c:pt idx="1">
                  <c:v>0.24072222222222223</c:v>
                </c:pt>
                <c:pt idx="2">
                  <c:v>0.25512839506172841</c:v>
                </c:pt>
                <c:pt idx="3">
                  <c:v>0.2663331961591221</c:v>
                </c:pt>
                <c:pt idx="4">
                  <c:v>0.27504804145709494</c:v>
                </c:pt>
                <c:pt idx="5">
                  <c:v>0.28182625446662934</c:v>
                </c:pt>
                <c:pt idx="6">
                  <c:v>0.28709819791848945</c:v>
                </c:pt>
                <c:pt idx="7">
                  <c:v>0.29119859838104734</c:v>
                </c:pt>
                <c:pt idx="8">
                  <c:v>0.29438779874081455</c:v>
                </c:pt>
                <c:pt idx="9">
                  <c:v>0.29686828790952235</c:v>
                </c:pt>
                <c:pt idx="10">
                  <c:v>0.29879755726296175</c:v>
                </c:pt>
                <c:pt idx="11">
                  <c:v>0.30029810009341462</c:v>
                </c:pt>
                <c:pt idx="12">
                  <c:v>0.30146518896154462</c:v>
                </c:pt>
                <c:pt idx="13">
                  <c:v>0.30237292474786792</c:v>
                </c:pt>
                <c:pt idx="14">
                  <c:v>0.30307894147056386</c:v>
                </c:pt>
                <c:pt idx="15">
                  <c:v>0.30362806558821626</c:v>
                </c:pt>
                <c:pt idx="16">
                  <c:v>0.30405516212416811</c:v>
                </c:pt>
                <c:pt idx="17">
                  <c:v>0.30438734831879732</c:v>
                </c:pt>
                <c:pt idx="18">
                  <c:v>0.30464571535906448</c:v>
                </c:pt>
                <c:pt idx="19">
                  <c:v>0.30484666750149453</c:v>
                </c:pt>
                <c:pt idx="20">
                  <c:v>0.30500296361227341</c:v>
                </c:pt>
                <c:pt idx="21">
                  <c:v>0.30512452725399036</c:v>
                </c:pt>
                <c:pt idx="22">
                  <c:v>0.3052190767531035</c:v>
                </c:pt>
                <c:pt idx="23">
                  <c:v>0.30529261525241369</c:v>
                </c:pt>
                <c:pt idx="24">
                  <c:v>0.30534981186298832</c:v>
                </c:pt>
                <c:pt idx="25">
                  <c:v>0.30539429811565744</c:v>
                </c:pt>
                <c:pt idx="26">
                  <c:v>0.30542889853440008</c:v>
                </c:pt>
                <c:pt idx="27">
                  <c:v>0.30545580997119992</c:v>
                </c:pt>
                <c:pt idx="28">
                  <c:v>0.30547674108871092</c:v>
                </c:pt>
                <c:pt idx="29">
                  <c:v>0.30549302084677504</c:v>
                </c:pt>
                <c:pt idx="30">
                  <c:v>0.30550568288082491</c:v>
                </c:pt>
                <c:pt idx="31">
                  <c:v>0.30551553112953034</c:v>
                </c:pt>
                <c:pt idx="32">
                  <c:v>0.30552319087852342</c:v>
                </c:pt>
                <c:pt idx="33">
                  <c:v>0.3055291484610736</c:v>
                </c:pt>
                <c:pt idx="34">
                  <c:v>0.30553378213639037</c:v>
                </c:pt>
                <c:pt idx="35">
                  <c:v>0.30553738610608128</c:v>
                </c:pt>
                <c:pt idx="36">
                  <c:v>0.30554018919361858</c:v>
                </c:pt>
                <c:pt idx="37">
                  <c:v>0.30554236937281432</c:v>
                </c:pt>
                <c:pt idx="38">
                  <c:v>0.30554406506774434</c:v>
                </c:pt>
                <c:pt idx="39">
                  <c:v>0.30554538394157871</c:v>
                </c:pt>
                <c:pt idx="40">
                  <c:v>0.30554640973233882</c:v>
                </c:pt>
                <c:pt idx="41">
                  <c:v>0.30554720756959663</c:v>
                </c:pt>
                <c:pt idx="42">
                  <c:v>0.30554782810968606</c:v>
                </c:pt>
                <c:pt idx="43">
                  <c:v>0.30554831075197786</c:v>
                </c:pt>
                <c:pt idx="44">
                  <c:v>0.30554868614042702</c:v>
                </c:pt>
                <c:pt idx="45">
                  <c:v>0.30554897810922077</c:v>
                </c:pt>
                <c:pt idx="46">
                  <c:v>0.30554920519606038</c:v>
                </c:pt>
                <c:pt idx="47">
                  <c:v>0.30554938181915786</c:v>
                </c:pt>
                <c:pt idx="48">
                  <c:v>0.30554951919267814</c:v>
                </c:pt>
                <c:pt idx="49">
                  <c:v>0.30554962603874941</c:v>
                </c:pt>
                <c:pt idx="50">
                  <c:v>0.30554970914124935</c:v>
                </c:pt>
              </c:numCache>
            </c:numRef>
          </c:val>
          <c:smooth val="0"/>
          <c:extLst>
            <c:ext xmlns:c16="http://schemas.microsoft.com/office/drawing/2014/chart" uri="{C3380CC4-5D6E-409C-BE32-E72D297353CC}">
              <c16:uniqueId val="{00000001-9145-4E25-83D5-8AB0255B71A9}"/>
            </c:ext>
          </c:extLst>
        </c:ser>
        <c:dLbls>
          <c:showLegendKey val="0"/>
          <c:showVal val="0"/>
          <c:showCatName val="0"/>
          <c:showSerName val="0"/>
          <c:showPercent val="0"/>
          <c:showBubbleSize val="0"/>
        </c:dLbls>
        <c:smooth val="0"/>
        <c:axId val="443702800"/>
        <c:axId val="463856808"/>
      </c:lineChart>
      <c:catAx>
        <c:axId val="443702800"/>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dirty="0"/>
                  <a:t>Generation</a:t>
                </a:r>
              </a:p>
            </c:rich>
          </c:tx>
          <c:layout>
            <c:manualLayout>
              <c:xMode val="edge"/>
              <c:yMode val="edge"/>
              <c:x val="0.46169643617719264"/>
              <c:y val="0.86922310880360054"/>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CO"/>
          </a:p>
        </c:txPr>
        <c:crossAx val="463856808"/>
        <c:crosses val="autoZero"/>
        <c:auto val="1"/>
        <c:lblAlgn val="ctr"/>
        <c:lblOffset val="100"/>
        <c:tickLblSkip val="2"/>
        <c:noMultiLvlLbl val="0"/>
      </c:catAx>
      <c:valAx>
        <c:axId val="463856808"/>
        <c:scaling>
          <c:orientation val="minMax"/>
          <c:max val="0.4"/>
          <c:min val="0.2"/>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dirty="0"/>
                  <a:t>Frequency of allele R</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CO"/>
          </a:p>
        </c:txPr>
        <c:crossAx val="443702800"/>
        <c:crosses val="autoZero"/>
        <c:crossBetween val="between"/>
      </c:valAx>
      <c:spPr>
        <a:noFill/>
        <a:ln>
          <a:noFill/>
        </a:ln>
        <a:effectLst/>
      </c:spPr>
    </c:plotArea>
    <c:legend>
      <c:legendPos val="b"/>
      <c:layout>
        <c:manualLayout>
          <c:xMode val="edge"/>
          <c:yMode val="edge"/>
          <c:x val="0.74816370153280121"/>
          <c:y val="6.6056394396207904E-2"/>
          <c:w val="0.21659828659747843"/>
          <c:h val="0.1376636910668548"/>
        </c:manualLayout>
      </c:layout>
      <c:overlay val="0"/>
      <c:spPr>
        <a:noFill/>
        <a:ln>
          <a:solidFill>
            <a:schemeClr val="tx1"/>
          </a:solid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sz="1800"/>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7C2D85-8127-9716-9B88-0D4F3D4B22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21E164E-3CCB-84BB-FB34-82D7AE6FD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335F9AB-7189-AAEA-74B6-08EFC7B58CBC}"/>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5" name="Marcador de pie de página 4">
            <a:extLst>
              <a:ext uri="{FF2B5EF4-FFF2-40B4-BE49-F238E27FC236}">
                <a16:creationId xmlns:a16="http://schemas.microsoft.com/office/drawing/2014/main" id="{7A34F9CE-49DF-98D0-EE40-04659E9D6F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BAB70E2-AF77-F4AB-BE07-89F617253BFF}"/>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806295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22BC13-2E97-71CC-20CF-A39320BDE67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B78B6F6-19BA-AC85-1DD7-2F089BC3BBD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68EA877-7804-F49C-C8CE-BC4538E6887B}"/>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5" name="Marcador de pie de página 4">
            <a:extLst>
              <a:ext uri="{FF2B5EF4-FFF2-40B4-BE49-F238E27FC236}">
                <a16:creationId xmlns:a16="http://schemas.microsoft.com/office/drawing/2014/main" id="{F42B3C0A-DB38-8E0B-135E-1EBB6F5465B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4D1A2B9-F248-D2A0-80AF-3BBE5DBD02B9}"/>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82084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B4F6B-726B-B19E-6876-974A784BBC4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5088ACB-ECCB-6627-EA55-6911C65B35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A7F9196-8085-B58C-B6B9-15176B953D4C}"/>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5" name="Marcador de pie de página 4">
            <a:extLst>
              <a:ext uri="{FF2B5EF4-FFF2-40B4-BE49-F238E27FC236}">
                <a16:creationId xmlns:a16="http://schemas.microsoft.com/office/drawing/2014/main" id="{45F5E33D-717A-FA03-7015-5863D1FB9B7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91D8614-DC10-364C-D6A8-62D325D21361}"/>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63534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D933D-1391-2F57-78B7-8E4756D3C5E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3D04429-FF53-B0C9-869B-3986AD0E4C0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C992618-BFFC-D1C3-0FE9-76389480A99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4D18EB4-D5C9-0CF1-2AE1-403D1855D68D}"/>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6" name="Marcador de pie de página 5">
            <a:extLst>
              <a:ext uri="{FF2B5EF4-FFF2-40B4-BE49-F238E27FC236}">
                <a16:creationId xmlns:a16="http://schemas.microsoft.com/office/drawing/2014/main" id="{3CE2150D-CF9E-CDBD-99EB-714FDC95CAD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3ED8C71-DA48-1150-0787-92C6C52351E2}"/>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51527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54EB7-7215-4D3A-E104-957F5E31830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9A6B51C-2D2B-CFC5-1984-933EBF410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227BB4-6DBE-48A4-A02D-3BA30BBD504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05A02A54-44E3-2CBA-9ABA-9DFAA45655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DE8E5D-22B8-5A29-8DEE-9170E257AF4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0F65F099-40DB-EC77-CF20-D807705A5854}"/>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8" name="Marcador de pie de página 7">
            <a:extLst>
              <a:ext uri="{FF2B5EF4-FFF2-40B4-BE49-F238E27FC236}">
                <a16:creationId xmlns:a16="http://schemas.microsoft.com/office/drawing/2014/main" id="{256DDE9A-09E6-7BD9-A131-549A335A464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725AE59-109A-AD91-3D3D-6AB5F4CD46E4}"/>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123117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7CBC0D-7D82-1D0D-43D0-6916DBD2983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EC04C2F-ECB1-E08E-7D6B-9ECAEED2C2BD}"/>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4" name="Marcador de pie de página 3">
            <a:extLst>
              <a:ext uri="{FF2B5EF4-FFF2-40B4-BE49-F238E27FC236}">
                <a16:creationId xmlns:a16="http://schemas.microsoft.com/office/drawing/2014/main" id="{E1164361-15C2-4CF7-F208-B1C34611A9D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3B41981-BE69-5620-3155-6672EE6F068F}"/>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13126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48A5153-4E84-C8CC-4EC1-CF9199616EA0}"/>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3" name="Marcador de pie de página 2">
            <a:extLst>
              <a:ext uri="{FF2B5EF4-FFF2-40B4-BE49-F238E27FC236}">
                <a16:creationId xmlns:a16="http://schemas.microsoft.com/office/drawing/2014/main" id="{B4239DD4-5247-F194-6123-E11E8E0469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89219DD-7A9E-C459-4BA5-E5F131E03D8B}"/>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312752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4673F-3EFF-552F-597F-3A6CD74216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19B4827-751B-5D7E-D681-45466B125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F193681-344D-662F-AD6B-9C1B6FC45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CA02E05-29B6-71A3-203D-6B9010DAF93F}"/>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6" name="Marcador de pie de página 5">
            <a:extLst>
              <a:ext uri="{FF2B5EF4-FFF2-40B4-BE49-F238E27FC236}">
                <a16:creationId xmlns:a16="http://schemas.microsoft.com/office/drawing/2014/main" id="{3E9F221A-4D75-93AA-2CEB-6C516259ACB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DB6B16A-28A9-95BE-6F4A-5E880DE439B1}"/>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70051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30B40-001B-08DB-908C-D7BBD4A3139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484AEBB7-8023-6F33-4B62-4A55CF6365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D916A084-348D-A300-46EF-7DCBFFFE8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6AD77C4-C0EE-399D-7B83-03C6A15D1805}"/>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6" name="Marcador de pie de página 5">
            <a:extLst>
              <a:ext uri="{FF2B5EF4-FFF2-40B4-BE49-F238E27FC236}">
                <a16:creationId xmlns:a16="http://schemas.microsoft.com/office/drawing/2014/main" id="{D6FEF724-60D4-DD32-2425-717812A3A35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A707CA3-5B1B-EB70-B54F-EF8582A17687}"/>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1345393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E6B9C3-D6AD-3125-18C2-DEA41E3822A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61DAE0-E66C-5B3B-AE7C-709E200427D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71209E6-CB8E-EC7E-4178-B8725E0EB25B}"/>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5" name="Marcador de pie de página 4">
            <a:extLst>
              <a:ext uri="{FF2B5EF4-FFF2-40B4-BE49-F238E27FC236}">
                <a16:creationId xmlns:a16="http://schemas.microsoft.com/office/drawing/2014/main" id="{206AFEC5-8D2C-0B94-1BA5-BE90480B962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957AA5B-D2DE-64EF-252D-95CA9DB2E2EC}"/>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674457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6253A-C643-32DF-9C12-E86A9ECCB9C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4C3739B-513E-78BC-25E7-DCB27ECD1FD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69D0631-F579-7E02-818E-CAFE033F1D10}"/>
              </a:ext>
            </a:extLst>
          </p:cNvPr>
          <p:cNvSpPr>
            <a:spLocks noGrp="1"/>
          </p:cNvSpPr>
          <p:nvPr>
            <p:ph type="dt" sz="half" idx="10"/>
          </p:nvPr>
        </p:nvSpPr>
        <p:spPr/>
        <p:txBody>
          <a:bodyPr/>
          <a:lstStyle/>
          <a:p>
            <a:fld id="{69D760A4-A1E9-4090-96CC-A2CA048BDAA6}" type="datetimeFigureOut">
              <a:rPr lang="es-CO" smtClean="0"/>
              <a:t>29/08/2025</a:t>
            </a:fld>
            <a:endParaRPr lang="es-CO"/>
          </a:p>
        </p:txBody>
      </p:sp>
      <p:sp>
        <p:nvSpPr>
          <p:cNvPr id="5" name="Marcador de pie de página 4">
            <a:extLst>
              <a:ext uri="{FF2B5EF4-FFF2-40B4-BE49-F238E27FC236}">
                <a16:creationId xmlns:a16="http://schemas.microsoft.com/office/drawing/2014/main" id="{DCD67580-3C98-84F3-9BCA-1FE5006FC24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511538B-88E4-EE6F-A52A-41B21029861F}"/>
              </a:ext>
            </a:extLst>
          </p:cNvPr>
          <p:cNvSpPr>
            <a:spLocks noGrp="1"/>
          </p:cNvSpPr>
          <p:nvPr>
            <p:ph type="sldNum" sz="quarter" idx="12"/>
          </p:nvPr>
        </p:nvSpPr>
        <p:spPr/>
        <p:txBody>
          <a:bodyPr/>
          <a:lstStyle/>
          <a:p>
            <a:fld id="{7FD99410-38FE-4DB9-9A54-46C7802B8D5D}" type="slidenum">
              <a:rPr lang="es-CO" smtClean="0"/>
              <a:t>‹Nº›</a:t>
            </a:fld>
            <a:endParaRPr lang="es-CO"/>
          </a:p>
        </p:txBody>
      </p:sp>
    </p:spTree>
    <p:extLst>
      <p:ext uri="{BB962C8B-B14F-4D97-AF65-F5344CB8AC3E}">
        <p14:creationId xmlns:p14="http://schemas.microsoft.com/office/powerpoint/2010/main" val="291243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0282EC-1531-2D86-6288-3246D7BDCC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6298E07-8AA8-AB60-D130-6D315B3F0B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5B3AF5F-6D61-8DB8-C5FF-9C03FA28D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D760A4-A1E9-4090-96CC-A2CA048BDAA6}" type="datetimeFigureOut">
              <a:rPr lang="es-CO" smtClean="0"/>
              <a:t>29/08/2025</a:t>
            </a:fld>
            <a:endParaRPr lang="es-CO"/>
          </a:p>
        </p:txBody>
      </p:sp>
      <p:sp>
        <p:nvSpPr>
          <p:cNvPr id="5" name="Marcador de pie de página 4">
            <a:extLst>
              <a:ext uri="{FF2B5EF4-FFF2-40B4-BE49-F238E27FC236}">
                <a16:creationId xmlns:a16="http://schemas.microsoft.com/office/drawing/2014/main" id="{E84F8B83-785E-6D62-1A02-57D8C529A8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CF7A6EB2-151F-C8F3-D7C3-FB86547706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D99410-38FE-4DB9-9A54-46C7802B8D5D}" type="slidenum">
              <a:rPr lang="es-CO" smtClean="0"/>
              <a:t>‹Nº›</a:t>
            </a:fld>
            <a:endParaRPr lang="es-CO"/>
          </a:p>
        </p:txBody>
      </p:sp>
    </p:spTree>
    <p:extLst>
      <p:ext uri="{BB962C8B-B14F-4D97-AF65-F5344CB8AC3E}">
        <p14:creationId xmlns:p14="http://schemas.microsoft.com/office/powerpoint/2010/main" val="353774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volution.berkeley.edu/evolution-101/microevolution/mechanisms-of-microevolu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8.jpeg"/><Relationship Id="rId7" Type="http://schemas.openxmlformats.org/officeDocument/2006/relationships/image" Target="../media/image120.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111.png"/><Relationship Id="rId11" Type="http://schemas.openxmlformats.org/officeDocument/2006/relationships/image" Target="../media/image160.png"/><Relationship Id="rId5" Type="http://schemas.openxmlformats.org/officeDocument/2006/relationships/image" Target="../media/image100.png"/><Relationship Id="rId10" Type="http://schemas.openxmlformats.org/officeDocument/2006/relationships/image" Target="../media/image150.png"/><Relationship Id="rId4" Type="http://schemas.openxmlformats.org/officeDocument/2006/relationships/image" Target="../media/image90.png"/><Relationship Id="rId9" Type="http://schemas.openxmlformats.org/officeDocument/2006/relationships/image" Target="../media/image140.png"/></Relationships>
</file>

<file path=ppt/slides/_rels/slide2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2.png"/><Relationship Id="rId3" Type="http://schemas.openxmlformats.org/officeDocument/2006/relationships/image" Target="../media/image18.jpeg"/><Relationship Id="rId7" Type="http://schemas.openxmlformats.org/officeDocument/2006/relationships/image" Target="../media/image21.png"/><Relationship Id="rId12" Type="http://schemas.openxmlformats.org/officeDocument/2006/relationships/image" Target="../media/image210.png"/><Relationship Id="rId17" Type="http://schemas.openxmlformats.org/officeDocument/2006/relationships/image" Target="../media/image26.png"/><Relationship Id="rId2" Type="http://schemas.openxmlformats.org/officeDocument/2006/relationships/image" Target="../media/image172.png"/><Relationship Id="rId16"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00.png"/><Relationship Id="rId5" Type="http://schemas.openxmlformats.org/officeDocument/2006/relationships/image" Target="../media/image19.png"/><Relationship Id="rId15" Type="http://schemas.openxmlformats.org/officeDocument/2006/relationships/image" Target="../media/image24.png"/><Relationship Id="rId10" Type="http://schemas.openxmlformats.org/officeDocument/2006/relationships/image" Target="../media/image190.png"/><Relationship Id="rId4" Type="http://schemas.openxmlformats.org/officeDocument/2006/relationships/image" Target="../media/image18.png"/><Relationship Id="rId9" Type="http://schemas.openxmlformats.org/officeDocument/2006/relationships/image" Target="../media/image180.png"/><Relationship Id="rId14"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7.png"/><Relationship Id="rId7" Type="http://schemas.openxmlformats.org/officeDocument/2006/relationships/image" Target="../media/image270.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1.png"/><Relationship Id="rId5" Type="http://schemas.openxmlformats.org/officeDocument/2006/relationships/image" Target="../media/image29.png"/><Relationship Id="rId10" Type="http://schemas.openxmlformats.org/officeDocument/2006/relationships/image" Target="../media/image300.png"/><Relationship Id="rId4" Type="http://schemas.openxmlformats.org/officeDocument/2006/relationships/image" Target="../media/image28.png"/><Relationship Id="rId9" Type="http://schemas.openxmlformats.org/officeDocument/2006/relationships/image" Target="../media/image290.png"/></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510.png"/></Relationships>
</file>

<file path=ppt/slides/_rels/slide34.xml.rels><?xml version="1.0" encoding="UTF-8" standalone="yes"?>
<Relationships xmlns="http://schemas.openxmlformats.org/package/2006/relationships"><Relationship Id="rId8" Type="http://schemas.openxmlformats.org/officeDocument/2006/relationships/image" Target="../media/image1200.png"/><Relationship Id="rId3" Type="http://schemas.openxmlformats.org/officeDocument/2006/relationships/image" Target="../media/image700.png"/><Relationship Id="rId7" Type="http://schemas.openxmlformats.org/officeDocument/2006/relationships/image" Target="../media/image110.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1000.png"/><Relationship Id="rId5" Type="http://schemas.openxmlformats.org/officeDocument/2006/relationships/image" Target="../media/image900.png"/><Relationship Id="rId4" Type="http://schemas.openxmlformats.org/officeDocument/2006/relationships/image" Target="../media/image800.png"/><Relationship Id="rId9" Type="http://schemas.openxmlformats.org/officeDocument/2006/relationships/image" Target="../media/image1300.png"/></Relationships>
</file>

<file path=ppt/slides/_rels/slide35.xml.rels><?xml version="1.0" encoding="UTF-8" standalone="yes"?>
<Relationships xmlns="http://schemas.openxmlformats.org/package/2006/relationships"><Relationship Id="rId8" Type="http://schemas.openxmlformats.org/officeDocument/2006/relationships/image" Target="../media/image1200.png"/><Relationship Id="rId13" Type="http://schemas.openxmlformats.org/officeDocument/2006/relationships/image" Target="../media/image211.png"/><Relationship Id="rId18" Type="http://schemas.openxmlformats.org/officeDocument/2006/relationships/image" Target="../media/image260.png"/><Relationship Id="rId3" Type="http://schemas.openxmlformats.org/officeDocument/2006/relationships/image" Target="../media/image1400.png"/><Relationship Id="rId7" Type="http://schemas.openxmlformats.org/officeDocument/2006/relationships/image" Target="../media/image1600.png"/><Relationship Id="rId12" Type="http://schemas.openxmlformats.org/officeDocument/2006/relationships/image" Target="../media/image201.png"/><Relationship Id="rId17" Type="http://schemas.openxmlformats.org/officeDocument/2006/relationships/image" Target="../media/image250.png"/><Relationship Id="rId2" Type="http://schemas.openxmlformats.org/officeDocument/2006/relationships/image" Target="../media/image18.jpeg"/><Relationship Id="rId16" Type="http://schemas.openxmlformats.org/officeDocument/2006/relationships/image" Target="../media/image240.png"/><Relationship Id="rId1" Type="http://schemas.openxmlformats.org/officeDocument/2006/relationships/slideLayout" Target="../slideLayouts/slideLayout7.xml"/><Relationship Id="rId6" Type="http://schemas.openxmlformats.org/officeDocument/2006/relationships/image" Target="../media/image1000.png"/><Relationship Id="rId11" Type="http://schemas.openxmlformats.org/officeDocument/2006/relationships/image" Target="../media/image191.png"/><Relationship Id="rId5" Type="http://schemas.openxmlformats.org/officeDocument/2006/relationships/image" Target="../media/image900.png"/><Relationship Id="rId15" Type="http://schemas.openxmlformats.org/officeDocument/2006/relationships/image" Target="../media/image230.png"/><Relationship Id="rId10" Type="http://schemas.openxmlformats.org/officeDocument/2006/relationships/image" Target="../media/image181.png"/><Relationship Id="rId4" Type="http://schemas.openxmlformats.org/officeDocument/2006/relationships/image" Target="../media/image1500.png"/><Relationship Id="rId9" Type="http://schemas.openxmlformats.org/officeDocument/2006/relationships/image" Target="../media/image171.png"/><Relationship Id="rId14" Type="http://schemas.openxmlformats.org/officeDocument/2006/relationships/image" Target="../media/image220.png"/></Relationships>
</file>

<file path=ppt/slides/_rels/slide36.xml.rels><?xml version="1.0" encoding="UTF-8" standalone="yes"?>
<Relationships xmlns="http://schemas.openxmlformats.org/package/2006/relationships"><Relationship Id="rId8" Type="http://schemas.openxmlformats.org/officeDocument/2006/relationships/image" Target="../media/image321.png"/><Relationship Id="rId13" Type="http://schemas.openxmlformats.org/officeDocument/2006/relationships/image" Target="../media/image370.png"/><Relationship Id="rId3" Type="http://schemas.openxmlformats.org/officeDocument/2006/relationships/image" Target="../media/image271.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301.png"/><Relationship Id="rId11" Type="http://schemas.openxmlformats.org/officeDocument/2006/relationships/image" Target="../media/image350.png"/><Relationship Id="rId5" Type="http://schemas.openxmlformats.org/officeDocument/2006/relationships/image" Target="../media/image291.png"/><Relationship Id="rId15" Type="http://schemas.openxmlformats.org/officeDocument/2006/relationships/image" Target="../media/image390.png"/><Relationship Id="rId10" Type="http://schemas.openxmlformats.org/officeDocument/2006/relationships/image" Target="../media/image340.png"/><Relationship Id="rId4" Type="http://schemas.openxmlformats.org/officeDocument/2006/relationships/image" Target="../media/image281.png"/><Relationship Id="rId9" Type="http://schemas.openxmlformats.org/officeDocument/2006/relationships/image" Target="../media/image331.png"/><Relationship Id="rId14" Type="http://schemas.openxmlformats.org/officeDocument/2006/relationships/image" Target="../media/image380.png"/></Relationships>
</file>

<file path=ppt/slides/_rels/slide37.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40.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41.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C89ADC16-29D2-FF1F-BEE4-1B1722EE21AF}"/>
              </a:ext>
            </a:extLst>
          </p:cNvPr>
          <p:cNvPicPr>
            <a:picLocks noChangeAspect="1"/>
          </p:cNvPicPr>
          <p:nvPr/>
        </p:nvPicPr>
        <p:blipFill>
          <a:blip r:embed="rId2"/>
          <a:stretch>
            <a:fillRect/>
          </a:stretch>
        </p:blipFill>
        <p:spPr>
          <a:xfrm>
            <a:off x="664516" y="2111155"/>
            <a:ext cx="5752263" cy="3842605"/>
          </a:xfrm>
          <a:prstGeom prst="rect">
            <a:avLst/>
          </a:prstGeom>
        </p:spPr>
      </p:pic>
      <p:pic>
        <p:nvPicPr>
          <p:cNvPr id="10" name="Imagen 9">
            <a:extLst>
              <a:ext uri="{FF2B5EF4-FFF2-40B4-BE49-F238E27FC236}">
                <a16:creationId xmlns:a16="http://schemas.microsoft.com/office/drawing/2014/main" id="{C9743799-EF9A-BC8B-63E9-73BFCDD50A24}"/>
              </a:ext>
            </a:extLst>
          </p:cNvPr>
          <p:cNvPicPr>
            <a:picLocks noChangeAspect="1"/>
          </p:cNvPicPr>
          <p:nvPr/>
        </p:nvPicPr>
        <p:blipFill>
          <a:blip r:embed="rId3"/>
          <a:stretch>
            <a:fillRect/>
          </a:stretch>
        </p:blipFill>
        <p:spPr>
          <a:xfrm>
            <a:off x="8032956" y="4314497"/>
            <a:ext cx="2432653" cy="2061964"/>
          </a:xfrm>
          <a:prstGeom prst="rect">
            <a:avLst/>
          </a:prstGeom>
        </p:spPr>
      </p:pic>
      <p:sp>
        <p:nvSpPr>
          <p:cNvPr id="12" name="Título 1">
            <a:extLst>
              <a:ext uri="{FF2B5EF4-FFF2-40B4-BE49-F238E27FC236}">
                <a16:creationId xmlns:a16="http://schemas.microsoft.com/office/drawing/2014/main" id="{51DA95C3-3035-D1F1-A7C1-FDFA9F2B80B0}"/>
              </a:ext>
            </a:extLst>
          </p:cNvPr>
          <p:cNvSpPr>
            <a:spLocks noGrp="1"/>
          </p:cNvSpPr>
          <p:nvPr>
            <p:ph type="title"/>
          </p:nvPr>
        </p:nvSpPr>
        <p:spPr>
          <a:xfrm>
            <a:off x="838200" y="365125"/>
            <a:ext cx="10515600" cy="1325563"/>
          </a:xfrm>
        </p:spPr>
        <p:txBody>
          <a:bodyPr/>
          <a:lstStyle/>
          <a:p>
            <a:r>
              <a:rPr lang="es-ES" dirty="0" err="1"/>
              <a:t>Changes</a:t>
            </a:r>
            <a:r>
              <a:rPr lang="es-ES" dirty="0"/>
              <a:t> in </a:t>
            </a:r>
            <a:r>
              <a:rPr lang="es-ES" dirty="0" err="1"/>
              <a:t>kth</a:t>
            </a:r>
            <a:r>
              <a:rPr lang="es-ES" dirty="0"/>
              <a:t> </a:t>
            </a:r>
            <a:r>
              <a:rPr lang="es-ES" dirty="0" err="1"/>
              <a:t>alleles</a:t>
            </a:r>
            <a:r>
              <a:rPr lang="es-ES" dirty="0"/>
              <a:t>	</a:t>
            </a:r>
            <a:endParaRPr lang="es-CO" dirty="0"/>
          </a:p>
        </p:txBody>
      </p:sp>
      <p:pic>
        <p:nvPicPr>
          <p:cNvPr id="3" name="Imagen 2">
            <a:extLst>
              <a:ext uri="{FF2B5EF4-FFF2-40B4-BE49-F238E27FC236}">
                <a16:creationId xmlns:a16="http://schemas.microsoft.com/office/drawing/2014/main" id="{0D7B54D1-B3EC-19C1-6BBB-D76566989736}"/>
              </a:ext>
            </a:extLst>
          </p:cNvPr>
          <p:cNvPicPr>
            <a:picLocks noChangeAspect="1"/>
          </p:cNvPicPr>
          <p:nvPr/>
        </p:nvPicPr>
        <p:blipFill>
          <a:blip r:embed="rId4"/>
          <a:stretch>
            <a:fillRect/>
          </a:stretch>
        </p:blipFill>
        <p:spPr>
          <a:xfrm>
            <a:off x="7534542" y="774452"/>
            <a:ext cx="3429479" cy="3258005"/>
          </a:xfrm>
          <a:prstGeom prst="rect">
            <a:avLst/>
          </a:prstGeom>
        </p:spPr>
      </p:pic>
    </p:spTree>
    <p:extLst>
      <p:ext uri="{BB962C8B-B14F-4D97-AF65-F5344CB8AC3E}">
        <p14:creationId xmlns:p14="http://schemas.microsoft.com/office/powerpoint/2010/main" val="2062527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A156A9-AA18-6282-B57D-1006132255A5}"/>
              </a:ext>
            </a:extLst>
          </p:cNvPr>
          <p:cNvSpPr>
            <a:spLocks noGrp="1"/>
          </p:cNvSpPr>
          <p:nvPr>
            <p:ph type="title"/>
          </p:nvPr>
        </p:nvSpPr>
        <p:spPr>
          <a:xfrm>
            <a:off x="838200" y="250031"/>
            <a:ext cx="10515600" cy="1325563"/>
          </a:xfrm>
        </p:spPr>
        <p:txBody>
          <a:bodyPr/>
          <a:lstStyle/>
          <a:p>
            <a:r>
              <a:rPr lang="es-ES" dirty="0"/>
              <a:t>Apareamiento no aleatorio</a:t>
            </a:r>
            <a:endParaRPr lang="es-CO" dirty="0"/>
          </a:p>
        </p:txBody>
      </p:sp>
      <p:sp>
        <p:nvSpPr>
          <p:cNvPr id="3" name="Marcador de contenido 2">
            <a:extLst>
              <a:ext uri="{FF2B5EF4-FFF2-40B4-BE49-F238E27FC236}">
                <a16:creationId xmlns:a16="http://schemas.microsoft.com/office/drawing/2014/main" id="{C3FD774E-C9EC-0912-5F5A-629FDB96729D}"/>
              </a:ext>
            </a:extLst>
          </p:cNvPr>
          <p:cNvSpPr>
            <a:spLocks noGrp="1"/>
          </p:cNvSpPr>
          <p:nvPr>
            <p:ph idx="1"/>
          </p:nvPr>
        </p:nvSpPr>
        <p:spPr/>
        <p:txBody>
          <a:bodyPr/>
          <a:lstStyle/>
          <a:p>
            <a:r>
              <a:rPr lang="es-ES" dirty="0"/>
              <a:t>Endogamia (</a:t>
            </a:r>
            <a:r>
              <a:rPr lang="es-ES" dirty="0" err="1"/>
              <a:t>Inbreeding</a:t>
            </a:r>
            <a:r>
              <a:rPr lang="es-ES" dirty="0"/>
              <a:t>)</a:t>
            </a:r>
          </a:p>
          <a:p>
            <a:r>
              <a:rPr lang="es-ES" dirty="0"/>
              <a:t>Cruce con parientes cercanos</a:t>
            </a:r>
          </a:p>
          <a:p>
            <a:r>
              <a:rPr lang="es-ES" dirty="0"/>
              <a:t>Perdida de </a:t>
            </a:r>
            <a:r>
              <a:rPr lang="es-ES" dirty="0" err="1"/>
              <a:t>heterocigosidad</a:t>
            </a:r>
            <a:endParaRPr lang="es-ES" dirty="0"/>
          </a:p>
          <a:p>
            <a:endParaRPr lang="es-ES" dirty="0"/>
          </a:p>
          <a:p>
            <a:pPr marL="0" indent="0">
              <a:buNone/>
            </a:pPr>
            <a:endParaRPr lang="es-CO" dirty="0"/>
          </a:p>
        </p:txBody>
      </p:sp>
      <p:pic>
        <p:nvPicPr>
          <p:cNvPr id="5" name="Imagen 4">
            <a:extLst>
              <a:ext uri="{FF2B5EF4-FFF2-40B4-BE49-F238E27FC236}">
                <a16:creationId xmlns:a16="http://schemas.microsoft.com/office/drawing/2014/main" id="{E8EE5603-C10D-6634-B48A-964E22D9CA59}"/>
              </a:ext>
            </a:extLst>
          </p:cNvPr>
          <p:cNvPicPr>
            <a:picLocks noChangeAspect="1"/>
          </p:cNvPicPr>
          <p:nvPr/>
        </p:nvPicPr>
        <p:blipFill>
          <a:blip r:embed="rId2"/>
          <a:stretch>
            <a:fillRect/>
          </a:stretch>
        </p:blipFill>
        <p:spPr>
          <a:xfrm>
            <a:off x="6936781" y="0"/>
            <a:ext cx="4650411" cy="6858000"/>
          </a:xfrm>
          <a:prstGeom prst="rect">
            <a:avLst/>
          </a:prstGeom>
        </p:spPr>
      </p:pic>
      <p:sp>
        <p:nvSpPr>
          <p:cNvPr id="6" name="CuadroTexto 5">
            <a:extLst>
              <a:ext uri="{FF2B5EF4-FFF2-40B4-BE49-F238E27FC236}">
                <a16:creationId xmlns:a16="http://schemas.microsoft.com/office/drawing/2014/main" id="{D7803361-CBE8-A86B-B250-49511A780C3A}"/>
              </a:ext>
            </a:extLst>
          </p:cNvPr>
          <p:cNvSpPr txBox="1"/>
          <p:nvPr/>
        </p:nvSpPr>
        <p:spPr>
          <a:xfrm>
            <a:off x="8062452" y="2686354"/>
            <a:ext cx="6096000" cy="276999"/>
          </a:xfrm>
          <a:prstGeom prst="rect">
            <a:avLst/>
          </a:prstGeom>
          <a:noFill/>
        </p:spPr>
        <p:txBody>
          <a:bodyPr wrap="square">
            <a:spAutoFit/>
          </a:bodyPr>
          <a:lstStyle/>
          <a:p>
            <a:r>
              <a:rPr lang="es-CO" sz="1200" dirty="0" err="1">
                <a:highlight>
                  <a:srgbClr val="FFFF00"/>
                </a:highlight>
              </a:rPr>
              <a:t>Autofertilización</a:t>
            </a:r>
            <a:endParaRPr lang="es-CO" sz="1200" dirty="0">
              <a:highlight>
                <a:srgbClr val="FFFF00"/>
              </a:highlight>
            </a:endParaRPr>
          </a:p>
        </p:txBody>
      </p:sp>
      <p:pic>
        <p:nvPicPr>
          <p:cNvPr id="7" name="Imagen 6">
            <a:extLst>
              <a:ext uri="{FF2B5EF4-FFF2-40B4-BE49-F238E27FC236}">
                <a16:creationId xmlns:a16="http://schemas.microsoft.com/office/drawing/2014/main" id="{D7731A89-4195-C1F3-2CF3-3660E57D4E38}"/>
              </a:ext>
            </a:extLst>
          </p:cNvPr>
          <p:cNvPicPr>
            <a:picLocks noChangeAspect="1"/>
          </p:cNvPicPr>
          <p:nvPr/>
        </p:nvPicPr>
        <p:blipFill>
          <a:blip r:embed="rId3"/>
          <a:stretch>
            <a:fillRect/>
          </a:stretch>
        </p:blipFill>
        <p:spPr>
          <a:xfrm>
            <a:off x="1667379" y="4331689"/>
            <a:ext cx="3905908" cy="1223537"/>
          </a:xfrm>
          <a:prstGeom prst="rect">
            <a:avLst/>
          </a:prstGeom>
        </p:spPr>
      </p:pic>
    </p:spTree>
    <p:extLst>
      <p:ext uri="{BB962C8B-B14F-4D97-AF65-F5344CB8AC3E}">
        <p14:creationId xmlns:p14="http://schemas.microsoft.com/office/powerpoint/2010/main" val="2703878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A1A364-6551-2935-3831-0311E6876641}"/>
              </a:ext>
            </a:extLst>
          </p:cNvPr>
          <p:cNvSpPr>
            <a:spLocks noGrp="1"/>
          </p:cNvSpPr>
          <p:nvPr>
            <p:ph type="title"/>
          </p:nvPr>
        </p:nvSpPr>
        <p:spPr/>
        <p:txBody>
          <a:bodyPr/>
          <a:lstStyle/>
          <a:p>
            <a:r>
              <a:rPr lang="es-ES" dirty="0"/>
              <a:t>Endogamia (</a:t>
            </a:r>
            <a:r>
              <a:rPr lang="es-ES" dirty="0" err="1"/>
              <a:t>Inbreeding</a:t>
            </a:r>
            <a:r>
              <a:rPr lang="es-ES" dirty="0"/>
              <a:t>)</a:t>
            </a:r>
            <a:br>
              <a:rPr lang="es-ES" dirty="0"/>
            </a:br>
            <a:endParaRPr lang="es-CO" dirty="0"/>
          </a:p>
        </p:txBody>
      </p:sp>
      <p:sp>
        <p:nvSpPr>
          <p:cNvPr id="3" name="Marcador de contenido 2">
            <a:extLst>
              <a:ext uri="{FF2B5EF4-FFF2-40B4-BE49-F238E27FC236}">
                <a16:creationId xmlns:a16="http://schemas.microsoft.com/office/drawing/2014/main" id="{5AFCA31F-836F-9166-6B08-405C2A04250B}"/>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B28EB7FE-5CE3-C3E6-A32E-7E42E24AD9C9}"/>
              </a:ext>
            </a:extLst>
          </p:cNvPr>
          <p:cNvPicPr>
            <a:picLocks noChangeAspect="1"/>
          </p:cNvPicPr>
          <p:nvPr/>
        </p:nvPicPr>
        <p:blipFill>
          <a:blip r:embed="rId2"/>
          <a:stretch>
            <a:fillRect/>
          </a:stretch>
        </p:blipFill>
        <p:spPr>
          <a:xfrm>
            <a:off x="5148665" y="1208472"/>
            <a:ext cx="6709039" cy="5284403"/>
          </a:xfrm>
          <a:prstGeom prst="rect">
            <a:avLst/>
          </a:prstGeom>
        </p:spPr>
      </p:pic>
    </p:spTree>
    <p:extLst>
      <p:ext uri="{BB962C8B-B14F-4D97-AF65-F5344CB8AC3E}">
        <p14:creationId xmlns:p14="http://schemas.microsoft.com/office/powerpoint/2010/main" val="4750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299D2-21AC-DF48-9FBF-FBEC13D3D4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CD1924-1C2F-F270-7374-251286A5B86A}"/>
              </a:ext>
            </a:extLst>
          </p:cNvPr>
          <p:cNvSpPr>
            <a:spLocks noGrp="1"/>
          </p:cNvSpPr>
          <p:nvPr>
            <p:ph type="title"/>
          </p:nvPr>
        </p:nvSpPr>
        <p:spPr>
          <a:xfrm>
            <a:off x="838200" y="250031"/>
            <a:ext cx="10515600" cy="1325563"/>
          </a:xfrm>
        </p:spPr>
        <p:txBody>
          <a:bodyPr/>
          <a:lstStyle/>
          <a:p>
            <a:r>
              <a:rPr lang="es-ES" dirty="0"/>
              <a:t>Apareamiento no aleatorio</a:t>
            </a:r>
            <a:endParaRPr lang="es-CO" dirty="0"/>
          </a:p>
        </p:txBody>
      </p:sp>
      <p:sp>
        <p:nvSpPr>
          <p:cNvPr id="3" name="Marcador de contenido 2">
            <a:extLst>
              <a:ext uri="{FF2B5EF4-FFF2-40B4-BE49-F238E27FC236}">
                <a16:creationId xmlns:a16="http://schemas.microsoft.com/office/drawing/2014/main" id="{09A744BC-103E-68D1-8EBA-259A3D36EECF}"/>
              </a:ext>
            </a:extLst>
          </p:cNvPr>
          <p:cNvSpPr>
            <a:spLocks noGrp="1"/>
          </p:cNvSpPr>
          <p:nvPr>
            <p:ph idx="1"/>
          </p:nvPr>
        </p:nvSpPr>
        <p:spPr/>
        <p:txBody>
          <a:bodyPr/>
          <a:lstStyle/>
          <a:p>
            <a:endParaRPr lang="es-ES" dirty="0"/>
          </a:p>
          <a:p>
            <a:r>
              <a:rPr lang="es-CO" dirty="0"/>
              <a:t>Exogamia (</a:t>
            </a:r>
            <a:r>
              <a:rPr lang="es-CO" dirty="0" err="1"/>
              <a:t>Outbreeding</a:t>
            </a:r>
            <a:r>
              <a:rPr lang="es-CO" dirty="0"/>
              <a:t>)</a:t>
            </a:r>
          </a:p>
          <a:p>
            <a:r>
              <a:rPr lang="es-CO" dirty="0"/>
              <a:t>Cruce con individuos no relacionados</a:t>
            </a:r>
          </a:p>
          <a:p>
            <a:r>
              <a:rPr lang="es-CO" dirty="0"/>
              <a:t>Producción de heterocigotos</a:t>
            </a:r>
          </a:p>
          <a:p>
            <a:endParaRPr lang="es-CO" dirty="0"/>
          </a:p>
        </p:txBody>
      </p:sp>
    </p:spTree>
    <p:extLst>
      <p:ext uri="{BB962C8B-B14F-4D97-AF65-F5344CB8AC3E}">
        <p14:creationId xmlns:p14="http://schemas.microsoft.com/office/powerpoint/2010/main" val="21541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71B78F-CCBD-C443-D1F1-DDD8F6BE0BDB}"/>
              </a:ext>
            </a:extLst>
          </p:cNvPr>
          <p:cNvSpPr>
            <a:spLocks noGrp="1"/>
          </p:cNvSpPr>
          <p:nvPr>
            <p:ph type="title"/>
          </p:nvPr>
        </p:nvSpPr>
        <p:spPr/>
        <p:txBody>
          <a:bodyPr/>
          <a:lstStyle/>
          <a:p>
            <a:r>
              <a:rPr lang="es-ES" dirty="0" err="1"/>
              <a:t>Fixation</a:t>
            </a:r>
            <a:r>
              <a:rPr lang="es-ES" dirty="0"/>
              <a:t> </a:t>
            </a:r>
            <a:r>
              <a:rPr lang="es-ES" dirty="0" err="1"/>
              <a:t>index</a:t>
            </a:r>
            <a:endParaRPr lang="es-CO" dirty="0"/>
          </a:p>
        </p:txBody>
      </p:sp>
      <p:sp>
        <p:nvSpPr>
          <p:cNvPr id="3" name="Marcador de contenido 2">
            <a:extLst>
              <a:ext uri="{FF2B5EF4-FFF2-40B4-BE49-F238E27FC236}">
                <a16:creationId xmlns:a16="http://schemas.microsoft.com/office/drawing/2014/main" id="{54A14CCA-F297-EC4A-C02B-92B0A71DD25D}"/>
              </a:ext>
            </a:extLst>
          </p:cNvPr>
          <p:cNvSpPr>
            <a:spLocks noGrp="1"/>
          </p:cNvSpPr>
          <p:nvPr>
            <p:ph idx="1"/>
          </p:nvPr>
        </p:nvSpPr>
        <p:spPr/>
        <p:txBody>
          <a:bodyPr/>
          <a:lstStyle/>
          <a:p>
            <a:pPr marL="0" indent="0">
              <a:buNone/>
            </a:pPr>
            <a:r>
              <a:rPr lang="es-ES" dirty="0"/>
              <a:t>HW </a:t>
            </a:r>
            <a:r>
              <a:rPr lang="es-ES" dirty="0" err="1"/>
              <a:t>deviation</a:t>
            </a:r>
            <a:r>
              <a:rPr lang="es-ES" dirty="0"/>
              <a:t> can be </a:t>
            </a:r>
            <a:r>
              <a:rPr lang="es-ES" dirty="0" err="1"/>
              <a:t>measured</a:t>
            </a:r>
            <a:r>
              <a:rPr lang="es-ES" dirty="0"/>
              <a:t> </a:t>
            </a:r>
            <a:r>
              <a:rPr lang="es-ES" dirty="0" err="1"/>
              <a:t>by</a:t>
            </a:r>
            <a:r>
              <a:rPr lang="es-ES" dirty="0"/>
              <a:t> </a:t>
            </a:r>
            <a:r>
              <a:rPr lang="es-ES" dirty="0" err="1"/>
              <a:t>Fixation</a:t>
            </a:r>
            <a:r>
              <a:rPr lang="es-ES" dirty="0"/>
              <a:t> </a:t>
            </a:r>
            <a:r>
              <a:rPr lang="es-ES" dirty="0" err="1"/>
              <a:t>index</a:t>
            </a:r>
            <a:endParaRPr lang="es-ES" dirty="0"/>
          </a:p>
          <a:p>
            <a:pPr marL="0" indent="0">
              <a:buNone/>
            </a:pPr>
            <a:r>
              <a:rPr lang="es-ES" dirty="0"/>
              <a:t>F=0 (HW)</a:t>
            </a:r>
          </a:p>
          <a:p>
            <a:pPr marL="0" indent="0">
              <a:buNone/>
            </a:pPr>
            <a:r>
              <a:rPr lang="es-ES" dirty="0"/>
              <a:t>F&lt;0 </a:t>
            </a:r>
            <a:r>
              <a:rPr lang="es-ES" dirty="0" err="1"/>
              <a:t>heterozygotes</a:t>
            </a:r>
            <a:r>
              <a:rPr lang="es-ES" dirty="0"/>
              <a:t> </a:t>
            </a:r>
            <a:r>
              <a:rPr lang="es-ES" dirty="0" err="1"/>
              <a:t>excess</a:t>
            </a:r>
            <a:endParaRPr lang="es-ES" dirty="0"/>
          </a:p>
          <a:p>
            <a:pPr marL="0" indent="0">
              <a:buNone/>
            </a:pPr>
            <a:r>
              <a:rPr lang="es-ES" dirty="0"/>
              <a:t>F&gt;0 </a:t>
            </a:r>
            <a:r>
              <a:rPr lang="es-ES" dirty="0" err="1"/>
              <a:t>Homozygotes</a:t>
            </a:r>
            <a:r>
              <a:rPr lang="es-ES" dirty="0"/>
              <a:t> </a:t>
            </a:r>
            <a:r>
              <a:rPr lang="es-ES" dirty="0" err="1"/>
              <a:t>excess</a:t>
            </a:r>
            <a:endParaRPr lang="es-ES" dirty="0"/>
          </a:p>
          <a:p>
            <a:pPr marL="0" indent="0">
              <a:buNone/>
            </a:pPr>
            <a:endParaRPr lang="es-ES" dirty="0"/>
          </a:p>
          <a:p>
            <a:pPr marL="0" indent="0">
              <a:buNone/>
            </a:pPr>
            <a:endParaRPr lang="es-CO" dirty="0"/>
          </a:p>
          <a:p>
            <a:pPr marL="0" indent="0">
              <a:buNone/>
            </a:pPr>
            <a:endParaRPr lang="es-ES" dirty="0"/>
          </a:p>
        </p:txBody>
      </p:sp>
      <p:pic>
        <p:nvPicPr>
          <p:cNvPr id="4" name="Imagen 3">
            <a:extLst>
              <a:ext uri="{FF2B5EF4-FFF2-40B4-BE49-F238E27FC236}">
                <a16:creationId xmlns:a16="http://schemas.microsoft.com/office/drawing/2014/main" id="{715FE276-DB67-639E-B1D9-509FB9D65525}"/>
              </a:ext>
            </a:extLst>
          </p:cNvPr>
          <p:cNvPicPr>
            <a:picLocks noChangeAspect="1"/>
          </p:cNvPicPr>
          <p:nvPr/>
        </p:nvPicPr>
        <p:blipFill>
          <a:blip r:embed="rId2"/>
          <a:stretch>
            <a:fillRect/>
          </a:stretch>
        </p:blipFill>
        <p:spPr>
          <a:xfrm>
            <a:off x="6573676" y="2493056"/>
            <a:ext cx="3905908" cy="1223537"/>
          </a:xfrm>
          <a:prstGeom prst="rect">
            <a:avLst/>
          </a:prstGeom>
        </p:spPr>
      </p:pic>
      <p:pic>
        <p:nvPicPr>
          <p:cNvPr id="6" name="Imagen 5">
            <a:extLst>
              <a:ext uri="{FF2B5EF4-FFF2-40B4-BE49-F238E27FC236}">
                <a16:creationId xmlns:a16="http://schemas.microsoft.com/office/drawing/2014/main" id="{802260A5-32BB-7312-5626-AD7DD9D9001C}"/>
              </a:ext>
            </a:extLst>
          </p:cNvPr>
          <p:cNvPicPr>
            <a:picLocks noChangeAspect="1"/>
          </p:cNvPicPr>
          <p:nvPr/>
        </p:nvPicPr>
        <p:blipFill>
          <a:blip r:embed="rId3"/>
          <a:stretch>
            <a:fillRect/>
          </a:stretch>
        </p:blipFill>
        <p:spPr>
          <a:xfrm>
            <a:off x="1082133" y="4233592"/>
            <a:ext cx="9221487" cy="1943371"/>
          </a:xfrm>
          <a:prstGeom prst="rect">
            <a:avLst/>
          </a:prstGeom>
        </p:spPr>
      </p:pic>
    </p:spTree>
    <p:extLst>
      <p:ext uri="{BB962C8B-B14F-4D97-AF65-F5344CB8AC3E}">
        <p14:creationId xmlns:p14="http://schemas.microsoft.com/office/powerpoint/2010/main" val="61249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ADDDC8-F3A1-7E7D-EBC9-5C927A421054}"/>
              </a:ext>
            </a:extLst>
          </p:cNvPr>
          <p:cNvSpPr>
            <a:spLocks noGrp="1"/>
          </p:cNvSpPr>
          <p:nvPr>
            <p:ph type="title"/>
          </p:nvPr>
        </p:nvSpPr>
        <p:spPr/>
        <p:txBody>
          <a:bodyPr/>
          <a:lstStyle/>
          <a:p>
            <a:endParaRPr lang="es-CO" dirty="0"/>
          </a:p>
        </p:txBody>
      </p:sp>
      <p:sp>
        <p:nvSpPr>
          <p:cNvPr id="3" name="Marcador de contenido 2">
            <a:extLst>
              <a:ext uri="{FF2B5EF4-FFF2-40B4-BE49-F238E27FC236}">
                <a16:creationId xmlns:a16="http://schemas.microsoft.com/office/drawing/2014/main" id="{4CF8498C-73EE-0029-B725-0B9D6B0998EC}"/>
              </a:ext>
            </a:extLst>
          </p:cNvPr>
          <p:cNvSpPr>
            <a:spLocks noGrp="1"/>
          </p:cNvSpPr>
          <p:nvPr>
            <p:ph idx="1"/>
          </p:nvPr>
        </p:nvSpPr>
        <p:spPr>
          <a:xfrm>
            <a:off x="838200" y="1432335"/>
            <a:ext cx="10515600" cy="4351338"/>
          </a:xfrm>
        </p:spPr>
        <p:txBody>
          <a:bodyPr/>
          <a:lstStyle/>
          <a:p>
            <a:r>
              <a:rPr lang="es-CO" b="1" dirty="0" err="1"/>
              <a:t>Inbreeding</a:t>
            </a:r>
            <a:r>
              <a:rPr lang="es-CO" b="1" dirty="0"/>
              <a:t> </a:t>
            </a:r>
            <a:r>
              <a:rPr lang="es-CO" b="1" dirty="0" err="1"/>
              <a:t>depression</a:t>
            </a:r>
            <a:r>
              <a:rPr lang="es-CO" b="1" dirty="0"/>
              <a:t>: </a:t>
            </a:r>
            <a:r>
              <a:rPr lang="es-CO" dirty="0" err="1"/>
              <a:t>Decreased</a:t>
            </a:r>
            <a:r>
              <a:rPr lang="es-CO" dirty="0"/>
              <a:t> mean </a:t>
            </a:r>
            <a:r>
              <a:rPr lang="es-CO" dirty="0" err="1"/>
              <a:t>of</a:t>
            </a:r>
            <a:r>
              <a:rPr lang="es-CO" dirty="0"/>
              <a:t> fitness</a:t>
            </a:r>
          </a:p>
        </p:txBody>
      </p:sp>
      <p:pic>
        <p:nvPicPr>
          <p:cNvPr id="7" name="Imagen 6">
            <a:extLst>
              <a:ext uri="{FF2B5EF4-FFF2-40B4-BE49-F238E27FC236}">
                <a16:creationId xmlns:a16="http://schemas.microsoft.com/office/drawing/2014/main" id="{5FF61DC6-33E7-19C1-2BA0-8618E8C39594}"/>
              </a:ext>
            </a:extLst>
          </p:cNvPr>
          <p:cNvPicPr>
            <a:picLocks noChangeAspect="1"/>
          </p:cNvPicPr>
          <p:nvPr/>
        </p:nvPicPr>
        <p:blipFill>
          <a:blip r:embed="rId2"/>
          <a:stretch>
            <a:fillRect/>
          </a:stretch>
        </p:blipFill>
        <p:spPr>
          <a:xfrm>
            <a:off x="612058" y="2002850"/>
            <a:ext cx="7401958" cy="4563112"/>
          </a:xfrm>
          <a:prstGeom prst="rect">
            <a:avLst/>
          </a:prstGeom>
        </p:spPr>
      </p:pic>
    </p:spTree>
    <p:extLst>
      <p:ext uri="{BB962C8B-B14F-4D97-AF65-F5344CB8AC3E}">
        <p14:creationId xmlns:p14="http://schemas.microsoft.com/office/powerpoint/2010/main" val="342397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980A5F-21EB-E03B-06E0-A68AE4FE3512}"/>
              </a:ext>
            </a:extLst>
          </p:cNvPr>
          <p:cNvSpPr>
            <a:spLocks noGrp="1"/>
          </p:cNvSpPr>
          <p:nvPr>
            <p:ph type="ctrTitle"/>
          </p:nvPr>
        </p:nvSpPr>
        <p:spPr/>
        <p:txBody>
          <a:bodyPr/>
          <a:lstStyle/>
          <a:p>
            <a:r>
              <a:rPr lang="es-ES" dirty="0" err="1"/>
              <a:t>Migration</a:t>
            </a:r>
            <a:endParaRPr lang="es-CO" dirty="0"/>
          </a:p>
        </p:txBody>
      </p:sp>
      <p:sp>
        <p:nvSpPr>
          <p:cNvPr id="3" name="Subtítulo 2">
            <a:extLst>
              <a:ext uri="{FF2B5EF4-FFF2-40B4-BE49-F238E27FC236}">
                <a16:creationId xmlns:a16="http://schemas.microsoft.com/office/drawing/2014/main" id="{5644FFEC-A345-1767-79BE-06439CB6A8E2}"/>
              </a:ext>
            </a:extLst>
          </p:cNvPr>
          <p:cNvSpPr>
            <a:spLocks noGrp="1"/>
          </p:cNvSpPr>
          <p:nvPr>
            <p:ph type="subTitle" idx="1"/>
          </p:nvPr>
        </p:nvSpPr>
        <p:spPr/>
        <p:txBody>
          <a:bodyPr/>
          <a:lstStyle/>
          <a:p>
            <a:endParaRPr lang="es-CO" dirty="0"/>
          </a:p>
        </p:txBody>
      </p:sp>
    </p:spTree>
    <p:extLst>
      <p:ext uri="{BB962C8B-B14F-4D97-AF65-F5344CB8AC3E}">
        <p14:creationId xmlns:p14="http://schemas.microsoft.com/office/powerpoint/2010/main" val="77590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B253BD1-A0F8-4FFF-BCE2-35CC54CB3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3113" y="216310"/>
            <a:ext cx="88788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27F476C-9E5F-B207-D595-DF03154C0A21}"/>
              </a:ext>
            </a:extLst>
          </p:cNvPr>
          <p:cNvSpPr>
            <a:spLocks noGrp="1"/>
          </p:cNvSpPr>
          <p:nvPr>
            <p:ph type="title"/>
          </p:nvPr>
        </p:nvSpPr>
        <p:spPr/>
        <p:txBody>
          <a:bodyPr/>
          <a:lstStyle/>
          <a:p>
            <a:r>
              <a:rPr lang="es-ES" dirty="0"/>
              <a:t>Premise: demos </a:t>
            </a:r>
            <a:r>
              <a:rPr lang="es-ES" dirty="0" err="1"/>
              <a:t>or</a:t>
            </a:r>
            <a:r>
              <a:rPr lang="es-ES" dirty="0"/>
              <a:t> </a:t>
            </a:r>
            <a:r>
              <a:rPr lang="es-ES" dirty="0" err="1"/>
              <a:t>subpopulations</a:t>
            </a:r>
            <a:r>
              <a:rPr lang="es-ES" dirty="0"/>
              <a:t>!</a:t>
            </a:r>
            <a:endParaRPr lang="es-CO" dirty="0"/>
          </a:p>
        </p:txBody>
      </p:sp>
      <p:sp>
        <p:nvSpPr>
          <p:cNvPr id="3" name="Marcador de contenido 2">
            <a:extLst>
              <a:ext uri="{FF2B5EF4-FFF2-40B4-BE49-F238E27FC236}">
                <a16:creationId xmlns:a16="http://schemas.microsoft.com/office/drawing/2014/main" id="{1F337EFE-5950-7639-0810-A840B2E14274}"/>
              </a:ext>
            </a:extLst>
          </p:cNvPr>
          <p:cNvSpPr>
            <a:spLocks noGrp="1"/>
          </p:cNvSpPr>
          <p:nvPr>
            <p:ph idx="1"/>
          </p:nvPr>
        </p:nvSpPr>
        <p:spPr/>
        <p:txBody>
          <a:bodyPr/>
          <a:lstStyle/>
          <a:p>
            <a:endParaRPr lang="es-CO" dirty="0"/>
          </a:p>
        </p:txBody>
      </p:sp>
    </p:spTree>
    <p:extLst>
      <p:ext uri="{BB962C8B-B14F-4D97-AF65-F5344CB8AC3E}">
        <p14:creationId xmlns:p14="http://schemas.microsoft.com/office/powerpoint/2010/main" val="414543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338C27-9C38-CCF9-2574-5D622A3EC173}"/>
              </a:ext>
            </a:extLst>
          </p:cNvPr>
          <p:cNvSpPr>
            <a:spLocks noGrp="1"/>
          </p:cNvSpPr>
          <p:nvPr>
            <p:ph type="title"/>
          </p:nvPr>
        </p:nvSpPr>
        <p:spPr/>
        <p:txBody>
          <a:bodyPr/>
          <a:lstStyle/>
          <a:p>
            <a:r>
              <a:rPr lang="es-ES" dirty="0"/>
              <a:t>Cambios en alelos y frecuencias genotípicas	</a:t>
            </a:r>
            <a:endParaRPr lang="es-CO" dirty="0"/>
          </a:p>
        </p:txBody>
      </p:sp>
      <p:sp>
        <p:nvSpPr>
          <p:cNvPr id="3" name="Marcador de contenido 2">
            <a:extLst>
              <a:ext uri="{FF2B5EF4-FFF2-40B4-BE49-F238E27FC236}">
                <a16:creationId xmlns:a16="http://schemas.microsoft.com/office/drawing/2014/main" id="{EB68E37B-4084-8F0C-556C-A704F9BDCF5D}"/>
              </a:ext>
            </a:extLst>
          </p:cNvPr>
          <p:cNvSpPr>
            <a:spLocks noGrp="1"/>
          </p:cNvSpPr>
          <p:nvPr>
            <p:ph idx="1"/>
          </p:nvPr>
        </p:nvSpPr>
        <p:spPr>
          <a:xfrm>
            <a:off x="749709" y="1933780"/>
            <a:ext cx="10515600" cy="4351338"/>
          </a:xfrm>
        </p:spPr>
        <p:txBody>
          <a:bodyPr/>
          <a:lstStyle/>
          <a:p>
            <a:r>
              <a:rPr lang="es-ES" dirty="0"/>
              <a:t>Apareamiento no aleatorio(Non-</a:t>
            </a:r>
            <a:r>
              <a:rPr lang="es-ES" dirty="0" err="1"/>
              <a:t>random</a:t>
            </a:r>
            <a:r>
              <a:rPr lang="es-ES" dirty="0"/>
              <a:t> </a:t>
            </a:r>
            <a:r>
              <a:rPr lang="es-ES" dirty="0" err="1"/>
              <a:t>mating</a:t>
            </a:r>
            <a:r>
              <a:rPr lang="es-ES" dirty="0"/>
              <a:t>)</a:t>
            </a:r>
          </a:p>
          <a:p>
            <a:r>
              <a:rPr lang="es-ES" dirty="0">
                <a:highlight>
                  <a:srgbClr val="FFFF00"/>
                </a:highlight>
              </a:rPr>
              <a:t>Flujo </a:t>
            </a:r>
            <a:r>
              <a:rPr lang="es-ES" dirty="0" err="1">
                <a:highlight>
                  <a:srgbClr val="FFFF00"/>
                </a:highlight>
              </a:rPr>
              <a:t>genico</a:t>
            </a:r>
            <a:r>
              <a:rPr lang="es-ES" dirty="0">
                <a:highlight>
                  <a:srgbClr val="FFFF00"/>
                </a:highlight>
              </a:rPr>
              <a:t> (Gene Flow) o migración</a:t>
            </a:r>
            <a:endParaRPr lang="es-CO" dirty="0">
              <a:highlight>
                <a:srgbClr val="FFFF00"/>
              </a:highlight>
            </a:endParaRPr>
          </a:p>
          <a:p>
            <a:r>
              <a:rPr lang="es-ES" dirty="0"/>
              <a:t>Selección natural (Natural </a:t>
            </a:r>
            <a:r>
              <a:rPr lang="es-ES" dirty="0" err="1"/>
              <a:t>selection</a:t>
            </a:r>
            <a:r>
              <a:rPr lang="es-ES" dirty="0"/>
              <a:t>)</a:t>
            </a:r>
          </a:p>
          <a:p>
            <a:r>
              <a:rPr lang="es-ES" dirty="0"/>
              <a:t>Deriva génica (</a:t>
            </a:r>
            <a:r>
              <a:rPr lang="es-ES" dirty="0" err="1"/>
              <a:t>Genetic</a:t>
            </a:r>
            <a:r>
              <a:rPr lang="es-ES" dirty="0"/>
              <a:t> </a:t>
            </a:r>
            <a:r>
              <a:rPr lang="es-ES" dirty="0" err="1"/>
              <a:t>drift</a:t>
            </a:r>
            <a:r>
              <a:rPr lang="es-ES" dirty="0"/>
              <a:t>)</a:t>
            </a:r>
          </a:p>
          <a:p>
            <a:r>
              <a:rPr lang="es-ES" dirty="0"/>
              <a:t>Mutaciones (</a:t>
            </a:r>
            <a:r>
              <a:rPr lang="es-ES" dirty="0" err="1"/>
              <a:t>Mutations</a:t>
            </a:r>
            <a:r>
              <a:rPr lang="es-ES" dirty="0"/>
              <a:t>)</a:t>
            </a:r>
          </a:p>
        </p:txBody>
      </p:sp>
      <p:sp>
        <p:nvSpPr>
          <p:cNvPr id="5" name="CuadroTexto 4">
            <a:extLst>
              <a:ext uri="{FF2B5EF4-FFF2-40B4-BE49-F238E27FC236}">
                <a16:creationId xmlns:a16="http://schemas.microsoft.com/office/drawing/2014/main" id="{A788C8F2-2EAB-6714-E0F6-A975A75C708F}"/>
              </a:ext>
            </a:extLst>
          </p:cNvPr>
          <p:cNvSpPr txBox="1"/>
          <p:nvPr/>
        </p:nvSpPr>
        <p:spPr>
          <a:xfrm>
            <a:off x="8455742" y="6285118"/>
            <a:ext cx="3441290" cy="369332"/>
          </a:xfrm>
          <a:prstGeom prst="rect">
            <a:avLst/>
          </a:prstGeom>
          <a:noFill/>
        </p:spPr>
        <p:txBody>
          <a:bodyPr wrap="square">
            <a:spAutoFit/>
          </a:bodyPr>
          <a:lstStyle/>
          <a:p>
            <a:r>
              <a:rPr lang="es-CO" dirty="0" err="1">
                <a:hlinkClick r:id="rId2"/>
              </a:rPr>
              <a:t>Mechanisms</a:t>
            </a:r>
            <a:r>
              <a:rPr lang="es-CO" dirty="0">
                <a:hlinkClick r:id="rId2"/>
              </a:rPr>
              <a:t> </a:t>
            </a:r>
            <a:r>
              <a:rPr lang="es-CO" dirty="0" err="1">
                <a:hlinkClick r:id="rId2"/>
              </a:rPr>
              <a:t>of</a:t>
            </a:r>
            <a:r>
              <a:rPr lang="es-CO" dirty="0">
                <a:hlinkClick r:id="rId2"/>
              </a:rPr>
              <a:t> </a:t>
            </a:r>
            <a:r>
              <a:rPr lang="es-CO" dirty="0" err="1">
                <a:hlinkClick r:id="rId2"/>
              </a:rPr>
              <a:t>microevolution</a:t>
            </a:r>
            <a:endParaRPr lang="es-CO" dirty="0"/>
          </a:p>
        </p:txBody>
      </p:sp>
    </p:spTree>
    <p:extLst>
      <p:ext uri="{BB962C8B-B14F-4D97-AF65-F5344CB8AC3E}">
        <p14:creationId xmlns:p14="http://schemas.microsoft.com/office/powerpoint/2010/main" val="138588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DD3D28-31B9-FA87-D164-981B845E072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E6FCF5A-EE0A-3F8A-0AF1-7027BABBFC8A}"/>
              </a:ext>
            </a:extLst>
          </p:cNvPr>
          <p:cNvSpPr>
            <a:spLocks noGrp="1"/>
          </p:cNvSpPr>
          <p:nvPr>
            <p:ph idx="1"/>
          </p:nvPr>
        </p:nvSpPr>
        <p:spPr/>
        <p:txBody>
          <a:bodyPr>
            <a:normAutofit/>
          </a:bodyPr>
          <a:lstStyle/>
          <a:p>
            <a:r>
              <a:rPr lang="en-US" dirty="0"/>
              <a:t>Original or receiving population (Po)</a:t>
            </a:r>
          </a:p>
          <a:p>
            <a:r>
              <a:rPr lang="en-US" dirty="0"/>
              <a:t>Neighboring or migrant population (Pm)</a:t>
            </a:r>
          </a:p>
          <a:p>
            <a:pPr marL="0" indent="0">
              <a:buNone/>
            </a:pPr>
            <a:endParaRPr lang="es-CO" dirty="0"/>
          </a:p>
          <a:p>
            <a:r>
              <a:rPr lang="es-CO" dirty="0" err="1"/>
              <a:t>Changes</a:t>
            </a:r>
            <a:r>
              <a:rPr lang="es-CO" dirty="0"/>
              <a:t> in gene </a:t>
            </a:r>
            <a:r>
              <a:rPr lang="es-CO" dirty="0" err="1"/>
              <a:t>frequencies</a:t>
            </a:r>
            <a:endParaRPr lang="es-CO" dirty="0"/>
          </a:p>
          <a:p>
            <a:r>
              <a:rPr lang="es-CO" dirty="0" err="1"/>
              <a:t>Variant</a:t>
            </a:r>
            <a:r>
              <a:rPr lang="es-CO" dirty="0"/>
              <a:t> </a:t>
            </a:r>
            <a:r>
              <a:rPr lang="es-CO" dirty="0" err="1"/>
              <a:t>loss</a:t>
            </a:r>
            <a:endParaRPr lang="es-CO" dirty="0"/>
          </a:p>
          <a:p>
            <a:r>
              <a:rPr lang="es-ES" dirty="0"/>
              <a:t>Introducción de nuevas variantes-&gt; Disminución de variabilidad genética </a:t>
            </a:r>
          </a:p>
          <a:p>
            <a:r>
              <a:rPr lang="es-CO" dirty="0" err="1"/>
              <a:t>Increased</a:t>
            </a:r>
            <a:r>
              <a:rPr lang="es-CO" dirty="0"/>
              <a:t> </a:t>
            </a:r>
            <a:r>
              <a:rPr lang="es-CO" dirty="0" err="1"/>
              <a:t>intrapopulation</a:t>
            </a:r>
            <a:r>
              <a:rPr lang="es-CO" dirty="0"/>
              <a:t> </a:t>
            </a:r>
            <a:r>
              <a:rPr lang="es-CO" dirty="0" err="1"/>
              <a:t>variability</a:t>
            </a:r>
            <a:endParaRPr lang="es-CO" dirty="0"/>
          </a:p>
        </p:txBody>
      </p:sp>
    </p:spTree>
    <p:extLst>
      <p:ext uri="{BB962C8B-B14F-4D97-AF65-F5344CB8AC3E}">
        <p14:creationId xmlns:p14="http://schemas.microsoft.com/office/powerpoint/2010/main" val="207462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104192-07A7-D9FD-44FD-D15AB71083F7}"/>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2CD9FC13-F8D9-2672-7744-8B978969CB90}"/>
              </a:ext>
            </a:extLst>
          </p:cNvPr>
          <p:cNvSpPr>
            <a:spLocks noGrp="1"/>
          </p:cNvSpPr>
          <p:nvPr>
            <p:ph idx="1"/>
          </p:nvPr>
        </p:nvSpPr>
        <p:spPr/>
        <p:txBody>
          <a:bodyPr/>
          <a:lstStyle/>
          <a:p>
            <a:endParaRPr lang="es-CO" dirty="0"/>
          </a:p>
          <a:p>
            <a:r>
              <a:rPr lang="en-US" dirty="0"/>
              <a:t>Few migrations among populations -&gt;High genetic differentiation</a:t>
            </a:r>
          </a:p>
          <a:p>
            <a:r>
              <a:rPr lang="en-US" dirty="0"/>
              <a:t>Many migrations among populations -&gt;Genetic </a:t>
            </a:r>
            <a:r>
              <a:rPr lang="en-US" dirty="0" err="1"/>
              <a:t>homogenisation</a:t>
            </a:r>
            <a:endParaRPr lang="en-US" dirty="0"/>
          </a:p>
          <a:p>
            <a:endParaRPr lang="es-CO" dirty="0"/>
          </a:p>
        </p:txBody>
      </p:sp>
    </p:spTree>
    <p:extLst>
      <p:ext uri="{BB962C8B-B14F-4D97-AF65-F5344CB8AC3E}">
        <p14:creationId xmlns:p14="http://schemas.microsoft.com/office/powerpoint/2010/main" val="405990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D27C-377C-70D6-38F9-F0F38A7543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2BDCD4-3958-9C2E-A009-9B2D0C33E7BB}"/>
              </a:ext>
            </a:extLst>
          </p:cNvPr>
          <p:cNvSpPr>
            <a:spLocks noGrp="1"/>
          </p:cNvSpPr>
          <p:nvPr>
            <p:ph type="title"/>
          </p:nvPr>
        </p:nvSpPr>
        <p:spPr/>
        <p:txBody>
          <a:bodyPr/>
          <a:lstStyle/>
          <a:p>
            <a:r>
              <a:rPr lang="es-ES" dirty="0"/>
              <a:t>Island </a:t>
            </a:r>
            <a:r>
              <a:rPr lang="es-ES" dirty="0" err="1"/>
              <a:t>model</a:t>
            </a:r>
            <a:endParaRPr lang="es-CO" dirty="0"/>
          </a:p>
        </p:txBody>
      </p:sp>
      <p:sp>
        <p:nvSpPr>
          <p:cNvPr id="3" name="Marcador de contenido 2">
            <a:extLst>
              <a:ext uri="{FF2B5EF4-FFF2-40B4-BE49-F238E27FC236}">
                <a16:creationId xmlns:a16="http://schemas.microsoft.com/office/drawing/2014/main" id="{CD30B8F4-46A6-A8D4-A58A-021221594975}"/>
              </a:ext>
            </a:extLst>
          </p:cNvPr>
          <p:cNvSpPr>
            <a:spLocks noGrp="1"/>
          </p:cNvSpPr>
          <p:nvPr>
            <p:ph idx="1"/>
          </p:nvPr>
        </p:nvSpPr>
        <p:spPr/>
        <p:txBody>
          <a:bodyPr/>
          <a:lstStyle/>
          <a:p>
            <a:endParaRPr lang="es-CO"/>
          </a:p>
        </p:txBody>
      </p:sp>
      <p:pic>
        <p:nvPicPr>
          <p:cNvPr id="1026" name="Picture 2" descr="A. Species are often assumed to be relatively homogenous units with panmixia. B. However, species  can also consist of structured populations that are somewhat differentiated but still connected by migration. Variation in color indicates population differentiation; arrows represent patterns of migration among populations. C. Schematic of the one-island migration model.">
            <a:extLst>
              <a:ext uri="{FF2B5EF4-FFF2-40B4-BE49-F238E27FC236}">
                <a16:creationId xmlns:a16="http://schemas.microsoft.com/office/drawing/2014/main" id="{2BA563DE-0116-F9E1-02A5-B91AE02A0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24" y="1628775"/>
            <a:ext cx="11430000" cy="360045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B069CEE-7FFA-A0BF-6E07-FAEB30B39E0A}"/>
              </a:ext>
            </a:extLst>
          </p:cNvPr>
          <p:cNvSpPr txBox="1"/>
          <p:nvPr/>
        </p:nvSpPr>
        <p:spPr>
          <a:xfrm>
            <a:off x="0" y="5715298"/>
            <a:ext cx="6094324" cy="923330"/>
          </a:xfrm>
          <a:prstGeom prst="rect">
            <a:avLst/>
          </a:prstGeom>
          <a:noFill/>
        </p:spPr>
        <p:txBody>
          <a:bodyPr wrap="square">
            <a:spAutoFit/>
          </a:bodyPr>
          <a:lstStyle/>
          <a:p>
            <a:r>
              <a:rPr lang="es-CO" dirty="0"/>
              <a:t>https://michitobler.github.io/primer-of-evolution/evolutionary-mechanisms-ii-mutation-genetic-drift-migration-and-non-random-mating.html</a:t>
            </a:r>
          </a:p>
        </p:txBody>
      </p:sp>
    </p:spTree>
    <p:extLst>
      <p:ext uri="{BB962C8B-B14F-4D97-AF65-F5344CB8AC3E}">
        <p14:creationId xmlns:p14="http://schemas.microsoft.com/office/powerpoint/2010/main" val="2300721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C99B2-B3E8-DDD8-C354-CE592D5969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F2C3D9-4D66-D94F-9EE7-D9995F96E914}"/>
              </a:ext>
            </a:extLst>
          </p:cNvPr>
          <p:cNvSpPr>
            <a:spLocks noGrp="1"/>
          </p:cNvSpPr>
          <p:nvPr>
            <p:ph type="title"/>
          </p:nvPr>
        </p:nvSpPr>
        <p:spPr/>
        <p:txBody>
          <a:bodyPr/>
          <a:lstStyle/>
          <a:p>
            <a:r>
              <a:rPr lang="es-CO" dirty="0" err="1"/>
              <a:t>Stepping-stone</a:t>
            </a:r>
            <a:r>
              <a:rPr lang="es-CO" dirty="0"/>
              <a:t> </a:t>
            </a:r>
            <a:r>
              <a:rPr lang="es-CO" dirty="0" err="1"/>
              <a:t>model</a:t>
            </a:r>
            <a:endParaRPr lang="es-CO" dirty="0"/>
          </a:p>
        </p:txBody>
      </p:sp>
      <p:sp>
        <p:nvSpPr>
          <p:cNvPr id="3" name="Marcador de contenido 2">
            <a:extLst>
              <a:ext uri="{FF2B5EF4-FFF2-40B4-BE49-F238E27FC236}">
                <a16:creationId xmlns:a16="http://schemas.microsoft.com/office/drawing/2014/main" id="{592192D2-F601-0173-F911-87F13A37E12C}"/>
              </a:ext>
            </a:extLst>
          </p:cNvPr>
          <p:cNvSpPr>
            <a:spLocks noGrp="1"/>
          </p:cNvSpPr>
          <p:nvPr>
            <p:ph idx="1"/>
          </p:nvPr>
        </p:nvSpPr>
        <p:spPr/>
        <p:txBody>
          <a:bodyPr/>
          <a:lstStyle/>
          <a:p>
            <a:endParaRPr lang="es-CO" dirty="0"/>
          </a:p>
        </p:txBody>
      </p:sp>
      <p:pic>
        <p:nvPicPr>
          <p:cNvPr id="7" name="Imagen 6">
            <a:extLst>
              <a:ext uri="{FF2B5EF4-FFF2-40B4-BE49-F238E27FC236}">
                <a16:creationId xmlns:a16="http://schemas.microsoft.com/office/drawing/2014/main" id="{36A65B90-DDBB-361B-8946-C9AD57A866F4}"/>
              </a:ext>
            </a:extLst>
          </p:cNvPr>
          <p:cNvPicPr>
            <a:picLocks noChangeAspect="1"/>
          </p:cNvPicPr>
          <p:nvPr/>
        </p:nvPicPr>
        <p:blipFill>
          <a:blip r:embed="rId2"/>
          <a:stretch>
            <a:fillRect/>
          </a:stretch>
        </p:blipFill>
        <p:spPr>
          <a:xfrm>
            <a:off x="1007975" y="2842748"/>
            <a:ext cx="8583223" cy="3334215"/>
          </a:xfrm>
          <a:prstGeom prst="rect">
            <a:avLst/>
          </a:prstGeom>
        </p:spPr>
      </p:pic>
    </p:spTree>
    <p:extLst>
      <p:ext uri="{BB962C8B-B14F-4D97-AF65-F5344CB8AC3E}">
        <p14:creationId xmlns:p14="http://schemas.microsoft.com/office/powerpoint/2010/main" val="389280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EE82C84-1CF6-BCCC-F85E-624B3A596184}"/>
              </a:ext>
            </a:extLst>
          </p:cNvPr>
          <p:cNvSpPr>
            <a:spLocks noGrp="1"/>
          </p:cNvSpPr>
          <p:nvPr>
            <p:ph type="ctrTitle"/>
          </p:nvPr>
        </p:nvSpPr>
        <p:spPr/>
        <p:txBody>
          <a:bodyPr/>
          <a:lstStyle/>
          <a:p>
            <a:r>
              <a:rPr lang="es-ES" dirty="0" err="1"/>
              <a:t>Foundations</a:t>
            </a:r>
            <a:endParaRPr lang="es-CO" dirty="0"/>
          </a:p>
        </p:txBody>
      </p:sp>
      <p:sp>
        <p:nvSpPr>
          <p:cNvPr id="5" name="Subtítulo 4">
            <a:extLst>
              <a:ext uri="{FF2B5EF4-FFF2-40B4-BE49-F238E27FC236}">
                <a16:creationId xmlns:a16="http://schemas.microsoft.com/office/drawing/2014/main" id="{B8721B4B-1F7B-E2E5-38DC-F2D14BD6D0CB}"/>
              </a:ext>
            </a:extLst>
          </p:cNvPr>
          <p:cNvSpPr>
            <a:spLocks noGrp="1"/>
          </p:cNvSpPr>
          <p:nvPr>
            <p:ph type="subTitle" idx="1"/>
          </p:nvPr>
        </p:nvSpPr>
        <p:spPr/>
        <p:txBody>
          <a:bodyPr/>
          <a:lstStyle/>
          <a:p>
            <a:endParaRPr lang="es-CO"/>
          </a:p>
        </p:txBody>
      </p:sp>
    </p:spTree>
    <p:extLst>
      <p:ext uri="{BB962C8B-B14F-4D97-AF65-F5344CB8AC3E}">
        <p14:creationId xmlns:p14="http://schemas.microsoft.com/office/powerpoint/2010/main" val="136765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858939" y="305760"/>
            <a:ext cx="8446849" cy="3354765"/>
          </a:xfrm>
          <a:prstGeom prst="rect">
            <a:avLst/>
          </a:prstGeom>
          <a:noFill/>
        </p:spPr>
        <p:txBody>
          <a:bodyPr wrap="square" rtlCol="0">
            <a:spAutoFit/>
          </a:bodyPr>
          <a:lstStyle/>
          <a:p>
            <a:r>
              <a:rPr lang="en-US" sz="3200" b="1" dirty="0" err="1">
                <a:latin typeface="Calibri"/>
                <a:cs typeface="Calibri"/>
              </a:rPr>
              <a:t>Wahlund</a:t>
            </a:r>
            <a:r>
              <a:rPr lang="en-US" sz="3200" b="1" dirty="0">
                <a:latin typeface="Calibri"/>
                <a:cs typeface="Calibri"/>
              </a:rPr>
              <a:t> Effect</a:t>
            </a:r>
          </a:p>
          <a:p>
            <a:endParaRPr lang="en-US" sz="2400" b="1" dirty="0">
              <a:latin typeface="Calibri"/>
              <a:cs typeface="Calibri"/>
            </a:endParaRPr>
          </a:p>
          <a:p>
            <a:r>
              <a:rPr lang="en-US" sz="2400" dirty="0">
                <a:latin typeface="Calibri"/>
                <a:cs typeface="Calibri"/>
              </a:rPr>
              <a:t>The deficiency of heterozygosity that results from treating multiple populations as a single population.</a:t>
            </a:r>
          </a:p>
          <a:p>
            <a:endParaRPr lang="en-US" sz="1200" dirty="0">
              <a:latin typeface="Calibri"/>
              <a:cs typeface="Calibri"/>
            </a:endParaRPr>
          </a:p>
          <a:p>
            <a:r>
              <a:rPr lang="en-US" sz="2400" dirty="0">
                <a:latin typeface="Calibri"/>
                <a:cs typeface="Calibri"/>
              </a:rPr>
              <a:t>Even if the subpopulations themselves are in H-W equilibrium.</a:t>
            </a:r>
          </a:p>
          <a:p>
            <a:endParaRPr lang="en-US" sz="1200" dirty="0">
              <a:latin typeface="Calibri"/>
              <a:cs typeface="Calibri"/>
            </a:endParaRPr>
          </a:p>
          <a:p>
            <a:r>
              <a:rPr lang="en-US" sz="2400" dirty="0">
                <a:latin typeface="Calibri"/>
                <a:cs typeface="Calibri"/>
              </a:rPr>
              <a:t>Caused by geographic barriers + genetic drift.</a:t>
            </a:r>
          </a:p>
          <a:p>
            <a:endParaRPr lang="en-US" sz="1200" dirty="0">
              <a:latin typeface="Calibri"/>
              <a:cs typeface="Calibri"/>
            </a:endParaRPr>
          </a:p>
          <a:p>
            <a:r>
              <a:rPr lang="en-US" sz="2400" dirty="0" err="1">
                <a:latin typeface="Calibri"/>
                <a:cs typeface="Calibri"/>
              </a:rPr>
              <a:t>Sten</a:t>
            </a:r>
            <a:r>
              <a:rPr lang="en-US" sz="2400" dirty="0">
                <a:latin typeface="Calibri"/>
                <a:cs typeface="Calibri"/>
              </a:rPr>
              <a:t> </a:t>
            </a:r>
            <a:r>
              <a:rPr lang="en-US" sz="2400" dirty="0" err="1">
                <a:latin typeface="Calibri"/>
                <a:cs typeface="Calibri"/>
              </a:rPr>
              <a:t>Wahlund</a:t>
            </a:r>
            <a:r>
              <a:rPr lang="en-US" sz="2400" dirty="0">
                <a:latin typeface="Calibri"/>
                <a:cs typeface="Calibri"/>
              </a:rPr>
              <a:t>, Uppsala University, Sweden – 1928</a:t>
            </a:r>
          </a:p>
        </p:txBody>
      </p:sp>
      <p:pic>
        <p:nvPicPr>
          <p:cNvPr id="8" name="Picture 7" descr="thumbnail-by-url.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1104" y="4069246"/>
            <a:ext cx="2239873" cy="2239873"/>
          </a:xfrm>
          <a:prstGeom prst="rect">
            <a:avLst/>
          </a:prstGeom>
        </p:spPr>
      </p:pic>
    </p:spTree>
    <p:extLst>
      <p:ext uri="{BB962C8B-B14F-4D97-AF65-F5344CB8AC3E}">
        <p14:creationId xmlns:p14="http://schemas.microsoft.com/office/powerpoint/2010/main" val="2267014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70B773-F192-234D-8F6D-8EB4BB6A07AB}"/>
              </a:ext>
            </a:extLst>
          </p:cNvPr>
          <p:cNvPicPr>
            <a:picLocks noChangeAspect="1"/>
          </p:cNvPicPr>
          <p:nvPr/>
        </p:nvPicPr>
        <p:blipFill>
          <a:blip r:embed="rId2"/>
          <a:stretch>
            <a:fillRect/>
          </a:stretch>
        </p:blipFill>
        <p:spPr>
          <a:xfrm>
            <a:off x="1111356" y="798972"/>
            <a:ext cx="5983840" cy="4579469"/>
          </a:xfrm>
          <a:prstGeom prst="rect">
            <a:avLst/>
          </a:prstGeom>
        </p:spPr>
      </p:pic>
      <p:sp>
        <p:nvSpPr>
          <p:cNvPr id="6" name="TextBox 5">
            <a:extLst>
              <a:ext uri="{FF2B5EF4-FFF2-40B4-BE49-F238E27FC236}">
                <a16:creationId xmlns:a16="http://schemas.microsoft.com/office/drawing/2014/main" id="{4376A763-1146-1D43-869E-832A40C0639A}"/>
              </a:ext>
            </a:extLst>
          </p:cNvPr>
          <p:cNvSpPr txBox="1"/>
          <p:nvPr/>
        </p:nvSpPr>
        <p:spPr>
          <a:xfrm>
            <a:off x="1111356" y="152641"/>
            <a:ext cx="1641796" cy="646331"/>
          </a:xfrm>
          <a:prstGeom prst="rect">
            <a:avLst/>
          </a:prstGeom>
          <a:noFill/>
        </p:spPr>
        <p:txBody>
          <a:bodyPr wrap="none" rtlCol="0">
            <a:spAutoFit/>
          </a:bodyPr>
          <a:lstStyle/>
          <a:p>
            <a:r>
              <a:rPr lang="en-US" dirty="0">
                <a:latin typeface="Comic Sans MS" panose="030F0902030302020204" pitchFamily="66" charset="0"/>
              </a:rPr>
              <a:t>No Population</a:t>
            </a:r>
          </a:p>
          <a:p>
            <a:r>
              <a:rPr lang="en-US" dirty="0">
                <a:latin typeface="Comic Sans MS" panose="030F0902030302020204" pitchFamily="66" charset="0"/>
              </a:rPr>
              <a:t>Subdivision</a:t>
            </a:r>
          </a:p>
        </p:txBody>
      </p:sp>
      <p:sp>
        <p:nvSpPr>
          <p:cNvPr id="7" name="TextBox 6">
            <a:extLst>
              <a:ext uri="{FF2B5EF4-FFF2-40B4-BE49-F238E27FC236}">
                <a16:creationId xmlns:a16="http://schemas.microsoft.com/office/drawing/2014/main" id="{18245446-F636-3F42-BA7A-52BC6E79490D}"/>
              </a:ext>
            </a:extLst>
          </p:cNvPr>
          <p:cNvSpPr txBox="1"/>
          <p:nvPr/>
        </p:nvSpPr>
        <p:spPr>
          <a:xfrm>
            <a:off x="4333257" y="154969"/>
            <a:ext cx="1396536" cy="646331"/>
          </a:xfrm>
          <a:prstGeom prst="rect">
            <a:avLst/>
          </a:prstGeom>
          <a:noFill/>
        </p:spPr>
        <p:txBody>
          <a:bodyPr wrap="none" rtlCol="0">
            <a:spAutoFit/>
          </a:bodyPr>
          <a:lstStyle/>
          <a:p>
            <a:r>
              <a:rPr lang="en-US" dirty="0">
                <a:latin typeface="Comic Sans MS" panose="030F0902030302020204" pitchFamily="66" charset="0"/>
              </a:rPr>
              <a:t>Population</a:t>
            </a:r>
          </a:p>
          <a:p>
            <a:r>
              <a:rPr lang="en-US" dirty="0">
                <a:latin typeface="Comic Sans MS" panose="030F0902030302020204" pitchFamily="66" charset="0"/>
              </a:rPr>
              <a:t>Subdivision</a:t>
            </a:r>
          </a:p>
        </p:txBody>
      </p:sp>
      <p:cxnSp>
        <p:nvCxnSpPr>
          <p:cNvPr id="9" name="Straight Arrow Connector 8">
            <a:extLst>
              <a:ext uri="{FF2B5EF4-FFF2-40B4-BE49-F238E27FC236}">
                <a16:creationId xmlns:a16="http://schemas.microsoft.com/office/drawing/2014/main" id="{6596C513-D895-B34F-814E-D7885496E267}"/>
              </a:ext>
            </a:extLst>
          </p:cNvPr>
          <p:cNvCxnSpPr>
            <a:cxnSpLocks/>
          </p:cNvCxnSpPr>
          <p:nvPr/>
        </p:nvCxnSpPr>
        <p:spPr>
          <a:xfrm flipH="1">
            <a:off x="6018255" y="3870543"/>
            <a:ext cx="448856" cy="86987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1CE5D72-5C53-5A46-9577-36ABCBB8258E}"/>
              </a:ext>
            </a:extLst>
          </p:cNvPr>
          <p:cNvSpPr txBox="1"/>
          <p:nvPr/>
        </p:nvSpPr>
        <p:spPr>
          <a:xfrm>
            <a:off x="6242683" y="3147312"/>
            <a:ext cx="3002646" cy="646331"/>
          </a:xfrm>
          <a:prstGeom prst="rect">
            <a:avLst/>
          </a:prstGeom>
          <a:noFill/>
        </p:spPr>
        <p:txBody>
          <a:bodyPr wrap="square" rtlCol="0">
            <a:spAutoFit/>
          </a:bodyPr>
          <a:lstStyle/>
          <a:p>
            <a:r>
              <a:rPr lang="en-US" dirty="0">
                <a:latin typeface="Comic Sans MS" panose="030F0902030302020204" pitchFamily="66" charset="0"/>
              </a:rPr>
              <a:t>Heterozygotes disappear from metapopulation</a:t>
            </a:r>
          </a:p>
        </p:txBody>
      </p:sp>
      <p:sp>
        <p:nvSpPr>
          <p:cNvPr id="11" name="Rectangle 10">
            <a:extLst>
              <a:ext uri="{FF2B5EF4-FFF2-40B4-BE49-F238E27FC236}">
                <a16:creationId xmlns:a16="http://schemas.microsoft.com/office/drawing/2014/main" id="{4B0C770D-2C4E-E148-ABB9-0C7417EB8EC6}"/>
              </a:ext>
            </a:extLst>
          </p:cNvPr>
          <p:cNvSpPr/>
          <p:nvPr/>
        </p:nvSpPr>
        <p:spPr>
          <a:xfrm>
            <a:off x="387390" y="5818817"/>
            <a:ext cx="8699444" cy="646331"/>
          </a:xfrm>
          <a:prstGeom prst="rect">
            <a:avLst/>
          </a:prstGeom>
        </p:spPr>
        <p:txBody>
          <a:bodyPr wrap="square">
            <a:spAutoFit/>
          </a:bodyPr>
          <a:lstStyle/>
          <a:p>
            <a:r>
              <a:rPr lang="en-US" dirty="0">
                <a:latin typeface="Comic Sans MS" panose="030F0902030302020204" pitchFamily="66" charset="0"/>
              </a:rPr>
              <a:t>https://</a:t>
            </a:r>
            <a:r>
              <a:rPr lang="en-US" dirty="0" err="1">
                <a:latin typeface="Comic Sans MS" panose="030F0902030302020204" pitchFamily="66" charset="0"/>
              </a:rPr>
              <a:t>www.frozenevolution.com</a:t>
            </a:r>
            <a:r>
              <a:rPr lang="en-US" dirty="0">
                <a:latin typeface="Comic Sans MS" panose="030F0902030302020204" pitchFamily="66" charset="0"/>
              </a:rPr>
              <a:t>/v21-number-homozygotes-increases-after-large-population-splits-number-smaller-ones</a:t>
            </a:r>
          </a:p>
        </p:txBody>
      </p:sp>
      <p:sp>
        <p:nvSpPr>
          <p:cNvPr id="2" name="TextBox 1"/>
          <p:cNvSpPr txBox="1"/>
          <p:nvPr/>
        </p:nvSpPr>
        <p:spPr>
          <a:xfrm>
            <a:off x="7309898" y="711132"/>
            <a:ext cx="4912352" cy="1477328"/>
          </a:xfrm>
          <a:prstGeom prst="rect">
            <a:avLst/>
          </a:prstGeom>
          <a:noFill/>
        </p:spPr>
        <p:txBody>
          <a:bodyPr wrap="square" rtlCol="0">
            <a:spAutoFit/>
          </a:bodyPr>
          <a:lstStyle/>
          <a:p>
            <a:r>
              <a:rPr lang="en-US" b="1" dirty="0"/>
              <a:t>Population subdivision </a:t>
            </a:r>
            <a:r>
              <a:rPr lang="en-US" dirty="0"/>
              <a:t>(population structure)—allele frequencies differ between different geographic regions as a result of individuals being more likely to mate with individuals from the same region (similar to positive assortative mating)</a:t>
            </a:r>
          </a:p>
        </p:txBody>
      </p:sp>
    </p:spTree>
    <p:extLst>
      <p:ext uri="{BB962C8B-B14F-4D97-AF65-F5344CB8AC3E}">
        <p14:creationId xmlns:p14="http://schemas.microsoft.com/office/powerpoint/2010/main" val="106668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A89FBC-3090-3675-C790-8735E5FF0110}"/>
              </a:ext>
            </a:extLst>
          </p:cNvPr>
          <p:cNvSpPr>
            <a:spLocks noGrp="1"/>
          </p:cNvSpPr>
          <p:nvPr>
            <p:ph type="title"/>
          </p:nvPr>
        </p:nvSpPr>
        <p:spPr>
          <a:xfrm>
            <a:off x="838200" y="538956"/>
            <a:ext cx="10166350" cy="1118394"/>
          </a:xfrm>
        </p:spPr>
        <p:txBody>
          <a:bodyPr anchor="t">
            <a:normAutofit fontScale="90000"/>
          </a:bodyPr>
          <a:lstStyle/>
          <a:p>
            <a:r>
              <a:rPr lang="es-ES" sz="4000" dirty="0" err="1"/>
              <a:t>Fixation</a:t>
            </a:r>
            <a:r>
              <a:rPr lang="es-ES" sz="4000" dirty="0"/>
              <a:t> indexes!</a:t>
            </a:r>
            <a:br>
              <a:rPr lang="es-ES" sz="4000" dirty="0"/>
            </a:br>
            <a:r>
              <a:rPr lang="es-ES" sz="4000" dirty="0"/>
              <a:t>Individual -&gt; </a:t>
            </a:r>
            <a:r>
              <a:rPr lang="es-ES" sz="4000" dirty="0" err="1"/>
              <a:t>Subpopulation</a:t>
            </a:r>
            <a:r>
              <a:rPr lang="es-ES" sz="4000" dirty="0"/>
              <a:t> -&gt; total </a:t>
            </a:r>
            <a:r>
              <a:rPr lang="es-ES" sz="4000" dirty="0" err="1"/>
              <a:t>population</a:t>
            </a:r>
            <a:endParaRPr lang="es-CO" sz="4000" dirty="0"/>
          </a:p>
        </p:txBody>
      </p:sp>
      <p:sp>
        <p:nvSpPr>
          <p:cNvPr id="3" name="Marcador de contenido 2">
            <a:extLst>
              <a:ext uri="{FF2B5EF4-FFF2-40B4-BE49-F238E27FC236}">
                <a16:creationId xmlns:a16="http://schemas.microsoft.com/office/drawing/2014/main" id="{666155BA-145A-2640-8891-92324F853342}"/>
              </a:ext>
            </a:extLst>
          </p:cNvPr>
          <p:cNvSpPr>
            <a:spLocks noGrp="1"/>
          </p:cNvSpPr>
          <p:nvPr>
            <p:ph idx="1"/>
          </p:nvPr>
        </p:nvSpPr>
        <p:spPr>
          <a:xfrm>
            <a:off x="836676" y="1865818"/>
            <a:ext cx="10515600" cy="4351338"/>
          </a:xfrm>
        </p:spPr>
        <p:txBody>
          <a:bodyPr/>
          <a:lstStyle/>
          <a:p>
            <a:endParaRPr lang="es-ES" dirty="0"/>
          </a:p>
        </p:txBody>
      </p:sp>
      <p:pic>
        <p:nvPicPr>
          <p:cNvPr id="10" name="Imagen 9">
            <a:extLst>
              <a:ext uri="{FF2B5EF4-FFF2-40B4-BE49-F238E27FC236}">
                <a16:creationId xmlns:a16="http://schemas.microsoft.com/office/drawing/2014/main" id="{658F8435-68F8-98FE-6784-364A2EE46108}"/>
              </a:ext>
            </a:extLst>
          </p:cNvPr>
          <p:cNvPicPr>
            <a:picLocks noChangeAspect="1"/>
          </p:cNvPicPr>
          <p:nvPr/>
        </p:nvPicPr>
        <p:blipFill>
          <a:blip r:embed="rId2"/>
          <a:srcRect l="42" t="22963" r="2141" b="12425"/>
          <a:stretch>
            <a:fillRect/>
          </a:stretch>
        </p:blipFill>
        <p:spPr>
          <a:xfrm>
            <a:off x="7364361" y="432376"/>
            <a:ext cx="3550418" cy="522513"/>
          </a:xfrm>
          <a:prstGeom prst="rect">
            <a:avLst/>
          </a:prstGeom>
        </p:spPr>
      </p:pic>
      <p:pic>
        <p:nvPicPr>
          <p:cNvPr id="13" name="Imagen 12">
            <a:extLst>
              <a:ext uri="{FF2B5EF4-FFF2-40B4-BE49-F238E27FC236}">
                <a16:creationId xmlns:a16="http://schemas.microsoft.com/office/drawing/2014/main" id="{AE3FCB03-F2D6-9948-D0DC-D4CD74E81C85}"/>
              </a:ext>
            </a:extLst>
          </p:cNvPr>
          <p:cNvPicPr>
            <a:picLocks noChangeAspect="1"/>
          </p:cNvPicPr>
          <p:nvPr/>
        </p:nvPicPr>
        <p:blipFill>
          <a:blip r:embed="rId3"/>
          <a:stretch>
            <a:fillRect/>
          </a:stretch>
        </p:blipFill>
        <p:spPr>
          <a:xfrm>
            <a:off x="832748" y="2329302"/>
            <a:ext cx="7849695" cy="4096322"/>
          </a:xfrm>
          <a:prstGeom prst="rect">
            <a:avLst/>
          </a:prstGeom>
        </p:spPr>
      </p:pic>
      <p:pic>
        <p:nvPicPr>
          <p:cNvPr id="14" name="Imagen 13">
            <a:extLst>
              <a:ext uri="{FF2B5EF4-FFF2-40B4-BE49-F238E27FC236}">
                <a16:creationId xmlns:a16="http://schemas.microsoft.com/office/drawing/2014/main" id="{25EE570F-741E-B05E-D580-5D3E6DB99BC7}"/>
              </a:ext>
            </a:extLst>
          </p:cNvPr>
          <p:cNvPicPr>
            <a:picLocks noChangeAspect="1"/>
          </p:cNvPicPr>
          <p:nvPr/>
        </p:nvPicPr>
        <p:blipFill>
          <a:blip r:embed="rId4"/>
          <a:stretch>
            <a:fillRect/>
          </a:stretch>
        </p:blipFill>
        <p:spPr>
          <a:xfrm>
            <a:off x="8766677" y="3428999"/>
            <a:ext cx="3077004" cy="609685"/>
          </a:xfrm>
          <a:prstGeom prst="rect">
            <a:avLst/>
          </a:prstGeom>
        </p:spPr>
      </p:pic>
    </p:spTree>
    <p:extLst>
      <p:ext uri="{BB962C8B-B14F-4D97-AF65-F5344CB8AC3E}">
        <p14:creationId xmlns:p14="http://schemas.microsoft.com/office/powerpoint/2010/main" val="126079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2925" y="538836"/>
                <a:ext cx="9670869" cy="5894212"/>
              </a:xfrm>
            </p:spPr>
            <p:txBody>
              <a:bodyPr>
                <a:normAutofit fontScale="70000" lnSpcReduction="20000"/>
              </a:bodyPr>
              <a:lstStyle/>
              <a:p>
                <a:pPr marL="0" indent="0">
                  <a:buNone/>
                </a:pPr>
                <a:r>
                  <a:rPr lang="en-US" sz="3800" b="1" dirty="0">
                    <a:cs typeface="Calibri"/>
                  </a:rPr>
                  <a:t>How do we measure population structure?</a:t>
                </a:r>
                <a:endParaRPr lang="en-US" sz="3800" dirty="0">
                  <a:latin typeface="Calibri"/>
                  <a:cs typeface="Calibri"/>
                </a:endParaRPr>
              </a:p>
              <a:p>
                <a:endParaRPr lang="en-US" dirty="0">
                  <a:latin typeface="Calibri"/>
                  <a:cs typeface="Calibri"/>
                </a:endParaRPr>
              </a:p>
              <a:p>
                <a:r>
                  <a:rPr lang="en-US" sz="2800" dirty="0">
                    <a:latin typeface="Calibri"/>
                    <a:cs typeface="Calibri"/>
                  </a:rPr>
                  <a:t>We use F statistics.</a:t>
                </a:r>
              </a:p>
              <a:p>
                <a:pPr marL="0" indent="0">
                  <a:buNone/>
                </a:pPr>
                <a:endParaRPr lang="en-US" sz="1400" i="1" dirty="0">
                  <a:latin typeface="Calibri"/>
                  <a:cs typeface="Calibri"/>
                </a:endParaRPr>
              </a:p>
              <a:p>
                <a:r>
                  <a:rPr lang="en-US" sz="2800" i="1" dirty="0" err="1">
                    <a:latin typeface="Calibri"/>
                    <a:cs typeface="Calibri"/>
                  </a:rPr>
                  <a:t>F</a:t>
                </a:r>
                <a:r>
                  <a:rPr lang="en-US" sz="2800" i="1" cap="small" baseline="-25000" dirty="0" err="1">
                    <a:latin typeface="Calibri"/>
                    <a:cs typeface="Calibri"/>
                  </a:rPr>
                  <a:t>st</a:t>
                </a:r>
                <a:r>
                  <a:rPr lang="en-US" sz="2800" dirty="0">
                    <a:latin typeface="Calibri"/>
                    <a:cs typeface="Calibri"/>
                  </a:rPr>
                  <a:t> = Sewall Wright’s Fixation Index</a:t>
                </a:r>
              </a:p>
              <a:p>
                <a:endParaRPr lang="en-US" sz="1400" dirty="0">
                  <a:latin typeface="Calibri"/>
                  <a:cs typeface="Calibri"/>
                </a:endParaRPr>
              </a:p>
              <a:p>
                <a:pPr>
                  <a:lnSpc>
                    <a:spcPct val="120000"/>
                  </a:lnSpc>
                </a:pPr>
                <a:r>
                  <a:rPr lang="en-US" sz="2800" i="1" dirty="0" err="1">
                    <a:cs typeface="Calibri"/>
                  </a:rPr>
                  <a:t>F</a:t>
                </a:r>
                <a:r>
                  <a:rPr lang="en-US" sz="2800" i="1" cap="small" baseline="-25000" dirty="0" err="1">
                    <a:cs typeface="Calibri"/>
                  </a:rPr>
                  <a:t>st</a:t>
                </a:r>
                <a:r>
                  <a:rPr lang="en-US" sz="2800" dirty="0">
                    <a:cs typeface="Calibri"/>
                  </a:rPr>
                  <a:t> = </a:t>
                </a:r>
                <a:r>
                  <a:rPr lang="en-US" dirty="0">
                    <a:latin typeface="Calibri" panose="020F0502020204030204" pitchFamily="34" charset="0"/>
                    <a:cs typeface="Calibri" panose="020F0502020204030204" pitchFamily="34" charset="0"/>
                  </a:rPr>
                  <a:t>the % reduction in heterozygosity due to genetic differentiation among populations.</a:t>
                </a:r>
                <a:endParaRPr lang="en-US" sz="2800" dirty="0">
                  <a:cs typeface="Calibri"/>
                </a:endParaRPr>
              </a:p>
              <a:p>
                <a:endParaRPr lang="en-US" sz="1400" dirty="0">
                  <a:cs typeface="Calibri"/>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𝑆𝑇</m:t>
                          </m:r>
                        </m:sub>
                      </m:sSub>
                      <m:r>
                        <a:rPr lang="en-US" sz="2800" i="1">
                          <a:latin typeface="Cambria Math" panose="02040503050406030204" pitchFamily="18" charset="0"/>
                        </a:rPr>
                        <m:t>= </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𝑇</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𝑆</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𝑇</m:t>
                              </m:r>
                            </m:sub>
                          </m:sSub>
                        </m:den>
                      </m:f>
                    </m:oMath>
                  </m:oMathPara>
                </a14:m>
                <a:endParaRPr lang="en-US" sz="2800" i="1" cap="small" baseline="-25000" dirty="0">
                  <a:cs typeface="Calibri"/>
                </a:endParaRPr>
              </a:p>
              <a:p>
                <a:pPr marL="0" indent="0" algn="ctr">
                  <a:buNone/>
                </a:pPr>
                <a:endParaRPr lang="en-US" sz="2800" i="1" cap="small" baseline="-25000" dirty="0">
                  <a:cs typeface="Calibri"/>
                </a:endParaRPr>
              </a:p>
              <a:p>
                <a:pPr marL="0" indent="0">
                  <a:buNone/>
                </a:pPr>
                <a:r>
                  <a:rPr lang="en-US" sz="2300" dirty="0">
                    <a:latin typeface="Calibri"/>
                    <a:cs typeface="Calibri"/>
                  </a:rPr>
                  <a:t>	*</a:t>
                </a:r>
                <a:r>
                  <a:rPr lang="en-US" sz="2300" i="1" dirty="0">
                    <a:latin typeface="Calibri"/>
                    <a:cs typeface="Calibri"/>
                  </a:rPr>
                  <a:t>H</a:t>
                </a:r>
                <a:r>
                  <a:rPr lang="en-US" sz="2300" i="1" baseline="-25000" dirty="0">
                    <a:latin typeface="Calibri"/>
                    <a:cs typeface="Calibri"/>
                  </a:rPr>
                  <a:t>T</a:t>
                </a:r>
                <a:r>
                  <a:rPr lang="en-US" sz="2300" dirty="0">
                    <a:latin typeface="Calibri"/>
                    <a:cs typeface="Calibri"/>
                  </a:rPr>
                  <a:t> = Expected heterozygosity in total population (ignoring subdivision)</a:t>
                </a:r>
              </a:p>
              <a:p>
                <a:pPr marL="0" indent="0">
                  <a:buNone/>
                </a:pPr>
                <a:r>
                  <a:rPr lang="en-US" sz="2300" dirty="0">
                    <a:latin typeface="Calibri"/>
                    <a:cs typeface="Calibri"/>
                  </a:rPr>
                  <a:t>	*</a:t>
                </a:r>
                <a:r>
                  <a:rPr lang="en-US" sz="2300" i="1" dirty="0">
                    <a:latin typeface="Calibri"/>
                    <a:cs typeface="Calibri"/>
                  </a:rPr>
                  <a:t>H</a:t>
                </a:r>
                <a:r>
                  <a:rPr lang="en-US" sz="2300" i="1" baseline="-25000" dirty="0">
                    <a:latin typeface="Calibri"/>
                    <a:cs typeface="Calibri"/>
                  </a:rPr>
                  <a:t>S</a:t>
                </a:r>
                <a:r>
                  <a:rPr lang="en-US" sz="2300" dirty="0">
                    <a:latin typeface="Calibri"/>
                    <a:cs typeface="Calibri"/>
                  </a:rPr>
                  <a:t> = Average heterozygosity within subpopulations</a:t>
                </a:r>
              </a:p>
              <a:p>
                <a:pPr marL="0" indent="0">
                  <a:buNone/>
                </a:pPr>
                <a:endParaRPr lang="en-US" sz="1400" dirty="0">
                  <a:latin typeface="Calibri"/>
                  <a:cs typeface="Calibri"/>
                </a:endParaRPr>
              </a:p>
              <a:p>
                <a:r>
                  <a:rPr lang="en-US" sz="2800" i="1" dirty="0" err="1">
                    <a:cs typeface="Calibri"/>
                  </a:rPr>
                  <a:t>F</a:t>
                </a:r>
                <a:r>
                  <a:rPr lang="en-US" sz="2800" i="1" cap="small" baseline="-25000" dirty="0" err="1">
                    <a:cs typeface="Calibri"/>
                  </a:rPr>
                  <a:t>st</a:t>
                </a:r>
                <a:r>
                  <a:rPr lang="en-US" sz="2800" dirty="0">
                    <a:cs typeface="Calibri"/>
                  </a:rPr>
                  <a:t> is b</a:t>
                </a:r>
                <a:r>
                  <a:rPr lang="en-US" sz="2800" dirty="0">
                    <a:latin typeface="Calibri"/>
                    <a:cs typeface="Calibri"/>
                  </a:rPr>
                  <a:t>ounded by 0 and 1</a:t>
                </a:r>
              </a:p>
              <a:p>
                <a:endParaRPr lang="en-US" sz="1400" dirty="0">
                  <a:latin typeface="Calibri"/>
                  <a:cs typeface="Calibri"/>
                </a:endParaRPr>
              </a:p>
              <a:p>
                <a:pPr marL="457200" lvl="1" indent="0">
                  <a:buNone/>
                </a:pPr>
                <a:r>
                  <a:rPr lang="en-US" sz="2400" dirty="0">
                    <a:latin typeface="Calibri"/>
                    <a:cs typeface="Calibri"/>
                  </a:rPr>
                  <a:t>0 = populations have identical allelic frequencies.</a:t>
                </a:r>
              </a:p>
              <a:p>
                <a:pPr lvl="1"/>
                <a:endParaRPr lang="en-US" sz="1100" dirty="0">
                  <a:latin typeface="Calibri"/>
                  <a:cs typeface="Calibri"/>
                </a:endParaRPr>
              </a:p>
              <a:p>
                <a:pPr marL="457200" lvl="1" indent="0">
                  <a:buNone/>
                </a:pPr>
                <a:r>
                  <a:rPr lang="en-US" sz="2400" dirty="0">
                    <a:latin typeface="Calibri"/>
                    <a:cs typeface="Calibri"/>
                  </a:rPr>
                  <a:t>1 = populations fixed for different alleles.</a:t>
                </a:r>
              </a:p>
              <a:p>
                <a:endParaRPr lang="en-US" sz="1600" dirty="0">
                  <a:latin typeface="Calibri"/>
                  <a:cs typeface="Calibri"/>
                </a:endParaRPr>
              </a:p>
              <a:p>
                <a:pPr marL="0" indent="0" algn="ctr">
                  <a:buNone/>
                </a:pPr>
                <a:endParaRPr lang="en-US" dirty="0">
                  <a:latin typeface="Calibri"/>
                  <a:cs typeface="Calibri"/>
                </a:endParaRPr>
              </a:p>
              <a:p>
                <a:endParaRPr lang="en-US" dirty="0">
                  <a:latin typeface="Calibri"/>
                  <a:cs typeface="Calibri"/>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2925" y="538836"/>
                <a:ext cx="9670869" cy="5894212"/>
              </a:xfrm>
              <a:blipFill>
                <a:blip r:embed="rId2"/>
                <a:stretch>
                  <a:fillRect l="-1197" t="-2689"/>
                </a:stretch>
              </a:blipFill>
            </p:spPr>
            <p:txBody>
              <a:bodyPr/>
              <a:lstStyle/>
              <a:p>
                <a:r>
                  <a:rPr lang="en-US">
                    <a:noFill/>
                  </a:rPr>
                  <a:t> </a:t>
                </a:r>
              </a:p>
            </p:txBody>
          </p:sp>
        </mc:Fallback>
      </mc:AlternateContent>
      <p:grpSp>
        <p:nvGrpSpPr>
          <p:cNvPr id="2" name="Group 1"/>
          <p:cNvGrpSpPr>
            <a:grpSpLocks noChangeAspect="1"/>
          </p:cNvGrpSpPr>
          <p:nvPr/>
        </p:nvGrpSpPr>
        <p:grpSpPr>
          <a:xfrm>
            <a:off x="8096156" y="2892514"/>
            <a:ext cx="3733837" cy="3390599"/>
            <a:chOff x="4749308" y="782573"/>
            <a:chExt cx="5450705" cy="4949649"/>
          </a:xfrm>
        </p:grpSpPr>
        <p:grpSp>
          <p:nvGrpSpPr>
            <p:cNvPr id="4" name="Group 3"/>
            <p:cNvGrpSpPr>
              <a:grpSpLocks noChangeAspect="1"/>
            </p:cNvGrpSpPr>
            <p:nvPr/>
          </p:nvGrpSpPr>
          <p:grpSpPr>
            <a:xfrm>
              <a:off x="6781800" y="1219200"/>
              <a:ext cx="1210554" cy="1371600"/>
              <a:chOff x="2074408" y="1123950"/>
              <a:chExt cx="4035192" cy="4572000"/>
            </a:xfrm>
          </p:grpSpPr>
          <p:pic>
            <p:nvPicPr>
              <p:cNvPr id="5" name="Picture 4"/>
              <p:cNvPicPr>
                <a:picLocks noChangeAspect="1"/>
              </p:cNvPicPr>
              <p:nvPr/>
            </p:nvPicPr>
            <p:blipFill>
              <a:blip r:embed="rId3"/>
              <a:stretch>
                <a:fillRect/>
              </a:stretch>
            </p:blipFill>
            <p:spPr>
              <a:xfrm>
                <a:off x="2074408" y="1123950"/>
                <a:ext cx="4035192" cy="4572000"/>
              </a:xfrm>
              <a:prstGeom prst="rect">
                <a:avLst/>
              </a:prstGeom>
            </p:spPr>
          </p:pic>
          <p:sp>
            <p:nvSpPr>
              <p:cNvPr id="6" name="Oval 5"/>
              <p:cNvSpPr/>
              <p:nvPr/>
            </p:nvSpPr>
            <p:spPr>
              <a:xfrm>
                <a:off x="3056709" y="459812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Oval 6"/>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Oval 7"/>
              <p:cNvSpPr/>
              <p:nvPr/>
            </p:nvSpPr>
            <p:spPr>
              <a:xfrm>
                <a:off x="3869935" y="48465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Oval 8"/>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Oval 9"/>
              <p:cNvSpPr/>
              <p:nvPr/>
            </p:nvSpPr>
            <p:spPr>
              <a:xfrm>
                <a:off x="4704972" y="470262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p:cNvSpPr/>
              <p:nvPr/>
            </p:nvSpPr>
            <p:spPr>
              <a:xfrm>
                <a:off x="3056709" y="36967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Oval 13"/>
              <p:cNvSpPr/>
              <p:nvPr/>
            </p:nvSpPr>
            <p:spPr>
              <a:xfrm>
                <a:off x="3056709" y="280796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Oval 14"/>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Oval 15"/>
              <p:cNvSpPr/>
              <p:nvPr/>
            </p:nvSpPr>
            <p:spPr>
              <a:xfrm>
                <a:off x="3489448"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Oval 17"/>
              <p:cNvSpPr/>
              <p:nvPr/>
            </p:nvSpPr>
            <p:spPr>
              <a:xfrm>
                <a:off x="3489448"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Oval 18"/>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Oval 19"/>
              <p:cNvSpPr/>
              <p:nvPr/>
            </p:nvSpPr>
            <p:spPr>
              <a:xfrm>
                <a:off x="3489448"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Oval 21"/>
              <p:cNvSpPr/>
              <p:nvPr/>
            </p:nvSpPr>
            <p:spPr>
              <a:xfrm>
                <a:off x="3909124"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Oval 22"/>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3909124"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314074" y="430434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 name="Oval 27"/>
              <p:cNvSpPr/>
              <p:nvPr/>
            </p:nvSpPr>
            <p:spPr>
              <a:xfrm>
                <a:off x="4314074" y="340300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 name="Oval 28"/>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Oval 29"/>
              <p:cNvSpPr/>
              <p:nvPr/>
            </p:nvSpPr>
            <p:spPr>
              <a:xfrm>
                <a:off x="4314074" y="25141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Oval 30"/>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Oval 31"/>
              <p:cNvSpPr/>
              <p:nvPr/>
            </p:nvSpPr>
            <p:spPr>
              <a:xfrm>
                <a:off x="4720687" y="380129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Oval 32"/>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Oval 33"/>
              <p:cNvSpPr/>
              <p:nvPr/>
            </p:nvSpPr>
            <p:spPr>
              <a:xfrm>
                <a:off x="4720687" y="291247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Oval 34"/>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Oval 35"/>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Oval 36"/>
              <p:cNvSpPr/>
              <p:nvPr/>
            </p:nvSpPr>
            <p:spPr>
              <a:xfrm>
                <a:off x="4131194" y="2148836"/>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38" name="Group 37"/>
            <p:cNvGrpSpPr>
              <a:grpSpLocks noChangeAspect="1"/>
            </p:cNvGrpSpPr>
            <p:nvPr/>
          </p:nvGrpSpPr>
          <p:grpSpPr>
            <a:xfrm>
              <a:off x="7740549" y="1214062"/>
              <a:ext cx="1210558" cy="1371600"/>
              <a:chOff x="5440065" y="1123950"/>
              <a:chExt cx="4035192" cy="4572000"/>
            </a:xfrm>
          </p:grpSpPr>
          <p:pic>
            <p:nvPicPr>
              <p:cNvPr id="39" name="Picture 38"/>
              <p:cNvPicPr>
                <a:picLocks noChangeAspect="1"/>
              </p:cNvPicPr>
              <p:nvPr/>
            </p:nvPicPr>
            <p:blipFill>
              <a:blip r:embed="rId3"/>
              <a:stretch>
                <a:fillRect/>
              </a:stretch>
            </p:blipFill>
            <p:spPr>
              <a:xfrm>
                <a:off x="5440065" y="1123950"/>
                <a:ext cx="4035192" cy="4572000"/>
              </a:xfrm>
              <a:prstGeom prst="rect">
                <a:avLst/>
              </a:prstGeom>
            </p:spPr>
          </p:pic>
          <p:sp>
            <p:nvSpPr>
              <p:cNvPr id="40" name="Oval 39"/>
              <p:cNvSpPr/>
              <p:nvPr/>
            </p:nvSpPr>
            <p:spPr>
              <a:xfrm>
                <a:off x="6422366"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1" name="Oval 40"/>
              <p:cNvSpPr/>
              <p:nvPr/>
            </p:nvSpPr>
            <p:spPr>
              <a:xfrm>
                <a:off x="6788126" y="476794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2" name="Oval 41"/>
              <p:cNvSpPr/>
              <p:nvPr/>
            </p:nvSpPr>
            <p:spPr>
              <a:xfrm>
                <a:off x="7235592"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Oval 42"/>
              <p:cNvSpPr/>
              <p:nvPr/>
            </p:nvSpPr>
            <p:spPr>
              <a:xfrm>
                <a:off x="7683058" y="481726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Oval 43"/>
              <p:cNvSpPr/>
              <p:nvPr/>
            </p:nvSpPr>
            <p:spPr>
              <a:xfrm>
                <a:off x="8070629"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5" name="Oval 44"/>
              <p:cNvSpPr/>
              <p:nvPr/>
            </p:nvSpPr>
            <p:spPr>
              <a:xfrm>
                <a:off x="6422366" y="41474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Oval 45"/>
              <p:cNvSpPr/>
              <p:nvPr/>
            </p:nvSpPr>
            <p:spPr>
              <a:xfrm>
                <a:off x="6422366"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Oval 46"/>
              <p:cNvSpPr/>
              <p:nvPr/>
            </p:nvSpPr>
            <p:spPr>
              <a:xfrm>
                <a:off x="6422366" y="324612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8" name="Oval 47"/>
              <p:cNvSpPr/>
              <p:nvPr/>
            </p:nvSpPr>
            <p:spPr>
              <a:xfrm>
                <a:off x="6422366"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9" name="Oval 48"/>
              <p:cNvSpPr/>
              <p:nvPr/>
            </p:nvSpPr>
            <p:spPr>
              <a:xfrm>
                <a:off x="6422366" y="235730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Oval 49"/>
              <p:cNvSpPr/>
              <p:nvPr/>
            </p:nvSpPr>
            <p:spPr>
              <a:xfrm>
                <a:off x="6855105"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Oval 50"/>
              <p:cNvSpPr/>
              <p:nvPr/>
            </p:nvSpPr>
            <p:spPr>
              <a:xfrm>
                <a:off x="6855105"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2" name="Oval 51"/>
              <p:cNvSpPr/>
              <p:nvPr/>
            </p:nvSpPr>
            <p:spPr>
              <a:xfrm>
                <a:off x="6855105"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Oval 52"/>
              <p:cNvSpPr/>
              <p:nvPr/>
            </p:nvSpPr>
            <p:spPr>
              <a:xfrm>
                <a:off x="6855105"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Oval 53"/>
              <p:cNvSpPr/>
              <p:nvPr/>
            </p:nvSpPr>
            <p:spPr>
              <a:xfrm>
                <a:off x="6855105"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5" name="Oval 54"/>
              <p:cNvSpPr/>
              <p:nvPr/>
            </p:nvSpPr>
            <p:spPr>
              <a:xfrm>
                <a:off x="7274781"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6" name="Oval 55"/>
              <p:cNvSpPr/>
              <p:nvPr/>
            </p:nvSpPr>
            <p:spPr>
              <a:xfrm>
                <a:off x="7274781"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7" name="Oval 56"/>
              <p:cNvSpPr/>
              <p:nvPr/>
            </p:nvSpPr>
            <p:spPr>
              <a:xfrm>
                <a:off x="7274781"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Oval 57"/>
              <p:cNvSpPr/>
              <p:nvPr/>
            </p:nvSpPr>
            <p:spPr>
              <a:xfrm>
                <a:off x="7274781"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9" name="Oval 58"/>
              <p:cNvSpPr/>
              <p:nvPr/>
            </p:nvSpPr>
            <p:spPr>
              <a:xfrm>
                <a:off x="7274781"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Oval 59"/>
              <p:cNvSpPr/>
              <p:nvPr/>
            </p:nvSpPr>
            <p:spPr>
              <a:xfrm>
                <a:off x="7679731"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Oval 60"/>
              <p:cNvSpPr/>
              <p:nvPr/>
            </p:nvSpPr>
            <p:spPr>
              <a:xfrm>
                <a:off x="7679731" y="385367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2" name="Oval 61"/>
              <p:cNvSpPr/>
              <p:nvPr/>
            </p:nvSpPr>
            <p:spPr>
              <a:xfrm>
                <a:off x="7679731"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Oval 62"/>
              <p:cNvSpPr/>
              <p:nvPr/>
            </p:nvSpPr>
            <p:spPr>
              <a:xfrm>
                <a:off x="7679731" y="29648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4" name="Oval 63"/>
              <p:cNvSpPr/>
              <p:nvPr/>
            </p:nvSpPr>
            <p:spPr>
              <a:xfrm>
                <a:off x="7679731"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5" name="Oval 64"/>
              <p:cNvSpPr/>
              <p:nvPr/>
            </p:nvSpPr>
            <p:spPr>
              <a:xfrm>
                <a:off x="8086344" y="425195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6" name="Oval 65"/>
              <p:cNvSpPr/>
              <p:nvPr/>
            </p:nvSpPr>
            <p:spPr>
              <a:xfrm>
                <a:off x="8086344"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7" name="Oval 66"/>
              <p:cNvSpPr/>
              <p:nvPr/>
            </p:nvSpPr>
            <p:spPr>
              <a:xfrm>
                <a:off x="8086344" y="33506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8" name="Oval 67"/>
              <p:cNvSpPr/>
              <p:nvPr/>
            </p:nvSpPr>
            <p:spPr>
              <a:xfrm>
                <a:off x="8086344"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9" name="Oval 68"/>
              <p:cNvSpPr/>
              <p:nvPr/>
            </p:nvSpPr>
            <p:spPr>
              <a:xfrm>
                <a:off x="8086344" y="246180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0" name="Oval 69"/>
              <p:cNvSpPr/>
              <p:nvPr/>
            </p:nvSpPr>
            <p:spPr>
              <a:xfrm>
                <a:off x="7037985" y="215509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1" name="Oval 70"/>
              <p:cNvSpPr/>
              <p:nvPr/>
            </p:nvSpPr>
            <p:spPr>
              <a:xfrm>
                <a:off x="7496851"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72" name="Group 71"/>
            <p:cNvGrpSpPr>
              <a:grpSpLocks noChangeAspect="1"/>
            </p:cNvGrpSpPr>
            <p:nvPr/>
          </p:nvGrpSpPr>
          <p:grpSpPr>
            <a:xfrm>
              <a:off x="6846077" y="4360622"/>
              <a:ext cx="1210554" cy="1371600"/>
              <a:chOff x="2074408" y="1123950"/>
              <a:chExt cx="4035192" cy="4572000"/>
            </a:xfrm>
          </p:grpSpPr>
          <p:pic>
            <p:nvPicPr>
              <p:cNvPr id="73" name="Picture 72"/>
              <p:cNvPicPr>
                <a:picLocks noChangeAspect="1"/>
              </p:cNvPicPr>
              <p:nvPr/>
            </p:nvPicPr>
            <p:blipFill>
              <a:blip r:embed="rId3"/>
              <a:stretch>
                <a:fillRect/>
              </a:stretch>
            </p:blipFill>
            <p:spPr>
              <a:xfrm>
                <a:off x="2074408" y="1123950"/>
                <a:ext cx="4035192" cy="4572000"/>
              </a:xfrm>
              <a:prstGeom prst="rect">
                <a:avLst/>
              </a:prstGeom>
            </p:spPr>
          </p:pic>
          <p:sp>
            <p:nvSpPr>
              <p:cNvPr id="74" name="Oval 73"/>
              <p:cNvSpPr/>
              <p:nvPr/>
            </p:nvSpPr>
            <p:spPr>
              <a:xfrm>
                <a:off x="3056709"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Oval 74"/>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Oval 75"/>
              <p:cNvSpPr/>
              <p:nvPr/>
            </p:nvSpPr>
            <p:spPr>
              <a:xfrm>
                <a:off x="3869935"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7" name="Oval 76"/>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Oval 77"/>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9" name="Oval 78"/>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0" name="Oval 79"/>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1" name="Oval 80"/>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2" name="Oval 81"/>
              <p:cNvSpPr/>
              <p:nvPr/>
            </p:nvSpPr>
            <p:spPr>
              <a:xfrm>
                <a:off x="3056709"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3" name="Oval 82"/>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4" name="Oval 83"/>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5" name="Oval 84"/>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6" name="Oval 85"/>
              <p:cNvSpPr/>
              <p:nvPr/>
            </p:nvSpPr>
            <p:spPr>
              <a:xfrm>
                <a:off x="3489448"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7" name="Oval 86"/>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Oval 87"/>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9" name="Oval 88"/>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Oval 89"/>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Oval 90"/>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Oval 91"/>
              <p:cNvSpPr/>
              <p:nvPr/>
            </p:nvSpPr>
            <p:spPr>
              <a:xfrm>
                <a:off x="3909124"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Oval 92"/>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Oval 93"/>
              <p:cNvSpPr/>
              <p:nvPr/>
            </p:nvSpPr>
            <p:spPr>
              <a:xfrm>
                <a:off x="4314074"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Oval 94"/>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Oval 95"/>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Oval 96"/>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Oval 97"/>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Oval 98"/>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Oval 99"/>
              <p:cNvSpPr/>
              <p:nvPr/>
            </p:nvSpPr>
            <p:spPr>
              <a:xfrm>
                <a:off x="4720687"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Oval 100"/>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Oval 101"/>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3" name="Oval 102"/>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4" name="Oval 103"/>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5" name="Oval 104"/>
              <p:cNvSpPr/>
              <p:nvPr/>
            </p:nvSpPr>
            <p:spPr>
              <a:xfrm>
                <a:off x="4131194"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06" name="Group 105"/>
            <p:cNvGrpSpPr>
              <a:grpSpLocks noChangeAspect="1"/>
            </p:cNvGrpSpPr>
            <p:nvPr/>
          </p:nvGrpSpPr>
          <p:grpSpPr>
            <a:xfrm>
              <a:off x="7878711" y="4358540"/>
              <a:ext cx="1210554" cy="1371600"/>
              <a:chOff x="2074408" y="1123950"/>
              <a:chExt cx="4035192" cy="4572000"/>
            </a:xfrm>
          </p:grpSpPr>
          <p:pic>
            <p:nvPicPr>
              <p:cNvPr id="107" name="Picture 106"/>
              <p:cNvPicPr>
                <a:picLocks noChangeAspect="1"/>
              </p:cNvPicPr>
              <p:nvPr/>
            </p:nvPicPr>
            <p:blipFill>
              <a:blip r:embed="rId3"/>
              <a:stretch>
                <a:fillRect/>
              </a:stretch>
            </p:blipFill>
            <p:spPr>
              <a:xfrm>
                <a:off x="2074408" y="1123950"/>
                <a:ext cx="4035192" cy="4572000"/>
              </a:xfrm>
              <a:prstGeom prst="rect">
                <a:avLst/>
              </a:prstGeom>
            </p:spPr>
          </p:pic>
          <p:sp>
            <p:nvSpPr>
              <p:cNvPr id="108" name="Oval 107"/>
              <p:cNvSpPr/>
              <p:nvPr/>
            </p:nvSpPr>
            <p:spPr>
              <a:xfrm>
                <a:off x="3056709"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9" name="Oval 108"/>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0" name="Oval 109"/>
              <p:cNvSpPr/>
              <p:nvPr/>
            </p:nvSpPr>
            <p:spPr>
              <a:xfrm>
                <a:off x="3869935"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1" name="Oval 110"/>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2" name="Oval 111"/>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3" name="Oval 112"/>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4" name="Oval 113"/>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5" name="Oval 114"/>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6" name="Oval 115"/>
              <p:cNvSpPr/>
              <p:nvPr/>
            </p:nvSpPr>
            <p:spPr>
              <a:xfrm>
                <a:off x="3056709"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7" name="Oval 116"/>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8" name="Oval 117"/>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9" name="Oval 118"/>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0" name="Oval 119"/>
              <p:cNvSpPr/>
              <p:nvPr/>
            </p:nvSpPr>
            <p:spPr>
              <a:xfrm>
                <a:off x="3489448"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1" name="Oval 120"/>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2" name="Oval 121"/>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3" name="Oval 122"/>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4" name="Oval 123"/>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Oval 124"/>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6" name="Oval 125"/>
              <p:cNvSpPr/>
              <p:nvPr/>
            </p:nvSpPr>
            <p:spPr>
              <a:xfrm>
                <a:off x="3909124"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7" name="Oval 126"/>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Oval 127"/>
              <p:cNvSpPr/>
              <p:nvPr/>
            </p:nvSpPr>
            <p:spPr>
              <a:xfrm>
                <a:off x="4314074"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9" name="Oval 128"/>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0" name="Oval 129"/>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1" name="Oval 130"/>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2" name="Oval 131"/>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3" name="Oval 132"/>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4" name="Oval 133"/>
              <p:cNvSpPr/>
              <p:nvPr/>
            </p:nvSpPr>
            <p:spPr>
              <a:xfrm>
                <a:off x="4720687"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5" name="Oval 134"/>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6" name="Oval 135"/>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7" name="Oval 136"/>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8" name="Oval 137"/>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9" name="Oval 138"/>
              <p:cNvSpPr/>
              <p:nvPr/>
            </p:nvSpPr>
            <p:spPr>
              <a:xfrm>
                <a:off x="4131194"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40" name="Group 139"/>
            <p:cNvGrpSpPr>
              <a:grpSpLocks noChangeAspect="1"/>
            </p:cNvGrpSpPr>
            <p:nvPr/>
          </p:nvGrpSpPr>
          <p:grpSpPr>
            <a:xfrm>
              <a:off x="5515110" y="2887255"/>
              <a:ext cx="1210554" cy="1371600"/>
              <a:chOff x="2074408" y="1123950"/>
              <a:chExt cx="4035192" cy="4572000"/>
            </a:xfrm>
          </p:grpSpPr>
          <p:pic>
            <p:nvPicPr>
              <p:cNvPr id="141" name="Picture 140"/>
              <p:cNvPicPr>
                <a:picLocks noChangeAspect="1"/>
              </p:cNvPicPr>
              <p:nvPr/>
            </p:nvPicPr>
            <p:blipFill>
              <a:blip r:embed="rId3"/>
              <a:stretch>
                <a:fillRect/>
              </a:stretch>
            </p:blipFill>
            <p:spPr>
              <a:xfrm>
                <a:off x="2074408" y="1123950"/>
                <a:ext cx="4035192" cy="4572000"/>
              </a:xfrm>
              <a:prstGeom prst="rect">
                <a:avLst/>
              </a:prstGeom>
            </p:spPr>
          </p:pic>
          <p:sp>
            <p:nvSpPr>
              <p:cNvPr id="142" name="Oval 141"/>
              <p:cNvSpPr/>
              <p:nvPr/>
            </p:nvSpPr>
            <p:spPr>
              <a:xfrm>
                <a:off x="3056709" y="459812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3" name="Oval 142"/>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4" name="Oval 143"/>
              <p:cNvSpPr/>
              <p:nvPr/>
            </p:nvSpPr>
            <p:spPr>
              <a:xfrm>
                <a:off x="3869935" y="48465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5" name="Oval 144"/>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6" name="Oval 145"/>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7" name="Oval 146"/>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8" name="Oval 147"/>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9" name="Oval 148"/>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0" name="Oval 149"/>
              <p:cNvSpPr/>
              <p:nvPr/>
            </p:nvSpPr>
            <p:spPr>
              <a:xfrm>
                <a:off x="3056709" y="280796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1" name="Oval 150"/>
              <p:cNvSpPr/>
              <p:nvPr/>
            </p:nvSpPr>
            <p:spPr>
              <a:xfrm>
                <a:off x="3056709" y="235730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2" name="Oval 151"/>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3" name="Oval 152"/>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4" name="Oval 153"/>
              <p:cNvSpPr/>
              <p:nvPr/>
            </p:nvSpPr>
            <p:spPr>
              <a:xfrm>
                <a:off x="3489448"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5" name="Oval 154"/>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6" name="Oval 155"/>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7" name="Oval 156"/>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8" name="Oval 157"/>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9" name="Oval 158"/>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0" name="Oval 159"/>
              <p:cNvSpPr/>
              <p:nvPr/>
            </p:nvSpPr>
            <p:spPr>
              <a:xfrm>
                <a:off x="3909124"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1" name="Oval 160"/>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2" name="Oval 161"/>
              <p:cNvSpPr/>
              <p:nvPr/>
            </p:nvSpPr>
            <p:spPr>
              <a:xfrm>
                <a:off x="4314074" y="430434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3" name="Oval 162"/>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4" name="Oval 163"/>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5" name="Oval 164"/>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6" name="Oval 165"/>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7" name="Oval 166"/>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8" name="Oval 167"/>
              <p:cNvSpPr/>
              <p:nvPr/>
            </p:nvSpPr>
            <p:spPr>
              <a:xfrm>
                <a:off x="4720687" y="380129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9" name="Oval 168"/>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0" name="Oval 169"/>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1" name="Oval 170"/>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2" name="Oval 171"/>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3" name="Oval 172"/>
              <p:cNvSpPr/>
              <p:nvPr/>
            </p:nvSpPr>
            <p:spPr>
              <a:xfrm>
                <a:off x="4131194" y="2148836"/>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74" name="Group 173"/>
            <p:cNvGrpSpPr>
              <a:grpSpLocks noChangeAspect="1"/>
            </p:cNvGrpSpPr>
            <p:nvPr/>
          </p:nvGrpSpPr>
          <p:grpSpPr>
            <a:xfrm>
              <a:off x="6547745" y="2885173"/>
              <a:ext cx="1210554" cy="1371600"/>
              <a:chOff x="2074408" y="1123950"/>
              <a:chExt cx="4035192" cy="4572000"/>
            </a:xfrm>
          </p:grpSpPr>
          <p:pic>
            <p:nvPicPr>
              <p:cNvPr id="175" name="Picture 174"/>
              <p:cNvPicPr>
                <a:picLocks noChangeAspect="1"/>
              </p:cNvPicPr>
              <p:nvPr/>
            </p:nvPicPr>
            <p:blipFill>
              <a:blip r:embed="rId3"/>
              <a:stretch>
                <a:fillRect/>
              </a:stretch>
            </p:blipFill>
            <p:spPr>
              <a:xfrm>
                <a:off x="2074408" y="1123950"/>
                <a:ext cx="4035192" cy="4572000"/>
              </a:xfrm>
              <a:prstGeom prst="rect">
                <a:avLst/>
              </a:prstGeom>
            </p:spPr>
          </p:pic>
          <p:sp>
            <p:nvSpPr>
              <p:cNvPr id="176" name="Oval 175"/>
              <p:cNvSpPr/>
              <p:nvPr/>
            </p:nvSpPr>
            <p:spPr>
              <a:xfrm>
                <a:off x="3056709"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7" name="Oval 176"/>
              <p:cNvSpPr/>
              <p:nvPr/>
            </p:nvSpPr>
            <p:spPr>
              <a:xfrm>
                <a:off x="3422469" y="476794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8" name="Oval 177"/>
              <p:cNvSpPr/>
              <p:nvPr/>
            </p:nvSpPr>
            <p:spPr>
              <a:xfrm>
                <a:off x="3869935"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9" name="Oval 178"/>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0" name="Oval 179"/>
              <p:cNvSpPr/>
              <p:nvPr/>
            </p:nvSpPr>
            <p:spPr>
              <a:xfrm>
                <a:off x="4704972"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1" name="Oval 180"/>
              <p:cNvSpPr/>
              <p:nvPr/>
            </p:nvSpPr>
            <p:spPr>
              <a:xfrm>
                <a:off x="3056709" y="41474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2" name="Oval 181"/>
              <p:cNvSpPr/>
              <p:nvPr/>
            </p:nvSpPr>
            <p:spPr>
              <a:xfrm>
                <a:off x="3056709" y="36967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3" name="Oval 182"/>
              <p:cNvSpPr/>
              <p:nvPr/>
            </p:nvSpPr>
            <p:spPr>
              <a:xfrm>
                <a:off x="3056709" y="324612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4" name="Oval 183"/>
              <p:cNvSpPr/>
              <p:nvPr/>
            </p:nvSpPr>
            <p:spPr>
              <a:xfrm>
                <a:off x="3056709"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5" name="Oval 184"/>
              <p:cNvSpPr/>
              <p:nvPr/>
            </p:nvSpPr>
            <p:spPr>
              <a:xfrm>
                <a:off x="3056709" y="235730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6" name="Oval 185"/>
              <p:cNvSpPr/>
              <p:nvPr/>
            </p:nvSpPr>
            <p:spPr>
              <a:xfrm>
                <a:off x="3489448"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7" name="Oval 186"/>
              <p:cNvSpPr/>
              <p:nvPr/>
            </p:nvSpPr>
            <p:spPr>
              <a:xfrm>
                <a:off x="3489448"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8" name="Oval 187"/>
              <p:cNvSpPr/>
              <p:nvPr/>
            </p:nvSpPr>
            <p:spPr>
              <a:xfrm>
                <a:off x="3489448"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9" name="Oval 188"/>
              <p:cNvSpPr/>
              <p:nvPr/>
            </p:nvSpPr>
            <p:spPr>
              <a:xfrm>
                <a:off x="3489448"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0" name="Oval 189"/>
              <p:cNvSpPr/>
              <p:nvPr/>
            </p:nvSpPr>
            <p:spPr>
              <a:xfrm>
                <a:off x="3489448"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1" name="Oval 190"/>
              <p:cNvSpPr/>
              <p:nvPr/>
            </p:nvSpPr>
            <p:spPr>
              <a:xfrm>
                <a:off x="3909124"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2" name="Oval 191"/>
              <p:cNvSpPr/>
              <p:nvPr/>
            </p:nvSpPr>
            <p:spPr>
              <a:xfrm>
                <a:off x="3909124"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3" name="Oval 192"/>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4" name="Oval 193"/>
              <p:cNvSpPr/>
              <p:nvPr/>
            </p:nvSpPr>
            <p:spPr>
              <a:xfrm>
                <a:off x="3909124"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5" name="Oval 194"/>
              <p:cNvSpPr/>
              <p:nvPr/>
            </p:nvSpPr>
            <p:spPr>
              <a:xfrm>
                <a:off x="3909124"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6" name="Oval 195"/>
              <p:cNvSpPr/>
              <p:nvPr/>
            </p:nvSpPr>
            <p:spPr>
              <a:xfrm>
                <a:off x="4314074"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7" name="Oval 196"/>
              <p:cNvSpPr/>
              <p:nvPr/>
            </p:nvSpPr>
            <p:spPr>
              <a:xfrm>
                <a:off x="4314074" y="385367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8" name="Oval 197"/>
              <p:cNvSpPr/>
              <p:nvPr/>
            </p:nvSpPr>
            <p:spPr>
              <a:xfrm>
                <a:off x="4314074"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9" name="Oval 198"/>
              <p:cNvSpPr/>
              <p:nvPr/>
            </p:nvSpPr>
            <p:spPr>
              <a:xfrm>
                <a:off x="4314074" y="29648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0" name="Oval 199"/>
              <p:cNvSpPr/>
              <p:nvPr/>
            </p:nvSpPr>
            <p:spPr>
              <a:xfrm>
                <a:off x="4314074"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1" name="Oval 200"/>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2" name="Oval 201"/>
              <p:cNvSpPr/>
              <p:nvPr/>
            </p:nvSpPr>
            <p:spPr>
              <a:xfrm>
                <a:off x="4720687" y="380129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3" name="Oval 202"/>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4" name="Oval 203"/>
              <p:cNvSpPr/>
              <p:nvPr/>
            </p:nvSpPr>
            <p:spPr>
              <a:xfrm>
                <a:off x="4720687"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5" name="Oval 204"/>
              <p:cNvSpPr/>
              <p:nvPr/>
            </p:nvSpPr>
            <p:spPr>
              <a:xfrm>
                <a:off x="4720687" y="246180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6" name="Oval 205"/>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7" name="Oval 206"/>
              <p:cNvSpPr/>
              <p:nvPr/>
            </p:nvSpPr>
            <p:spPr>
              <a:xfrm>
                <a:off x="4131194"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208" name="Group 207"/>
            <p:cNvGrpSpPr>
              <a:grpSpLocks noChangeAspect="1"/>
            </p:cNvGrpSpPr>
            <p:nvPr/>
          </p:nvGrpSpPr>
          <p:grpSpPr>
            <a:xfrm>
              <a:off x="8030705" y="2850795"/>
              <a:ext cx="1210554" cy="1371600"/>
              <a:chOff x="2074408" y="1123950"/>
              <a:chExt cx="4035192" cy="4572000"/>
            </a:xfrm>
          </p:grpSpPr>
          <p:pic>
            <p:nvPicPr>
              <p:cNvPr id="209" name="Picture 208"/>
              <p:cNvPicPr>
                <a:picLocks noChangeAspect="1"/>
              </p:cNvPicPr>
              <p:nvPr/>
            </p:nvPicPr>
            <p:blipFill>
              <a:blip r:embed="rId3"/>
              <a:stretch>
                <a:fillRect/>
              </a:stretch>
            </p:blipFill>
            <p:spPr>
              <a:xfrm>
                <a:off x="2074408" y="1123950"/>
                <a:ext cx="4035192" cy="4572000"/>
              </a:xfrm>
              <a:prstGeom prst="rect">
                <a:avLst/>
              </a:prstGeom>
            </p:spPr>
          </p:pic>
          <p:sp>
            <p:nvSpPr>
              <p:cNvPr id="210" name="Oval 209"/>
              <p:cNvSpPr/>
              <p:nvPr/>
            </p:nvSpPr>
            <p:spPr>
              <a:xfrm>
                <a:off x="3056709" y="459812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1" name="Oval 210"/>
              <p:cNvSpPr/>
              <p:nvPr/>
            </p:nvSpPr>
            <p:spPr>
              <a:xfrm>
                <a:off x="3422469" y="476794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2" name="Oval 211"/>
              <p:cNvSpPr/>
              <p:nvPr/>
            </p:nvSpPr>
            <p:spPr>
              <a:xfrm>
                <a:off x="3869935" y="4846589"/>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3" name="Oval 212"/>
              <p:cNvSpPr/>
              <p:nvPr/>
            </p:nvSpPr>
            <p:spPr>
              <a:xfrm>
                <a:off x="4317401" y="481726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4" name="Oval 213"/>
              <p:cNvSpPr/>
              <p:nvPr/>
            </p:nvSpPr>
            <p:spPr>
              <a:xfrm>
                <a:off x="4704972" y="470262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5" name="Oval 214"/>
              <p:cNvSpPr/>
              <p:nvPr/>
            </p:nvSpPr>
            <p:spPr>
              <a:xfrm>
                <a:off x="3056709" y="414745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6" name="Oval 215"/>
              <p:cNvSpPr/>
              <p:nvPr/>
            </p:nvSpPr>
            <p:spPr>
              <a:xfrm>
                <a:off x="3056709" y="36967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7" name="Oval 216"/>
              <p:cNvSpPr/>
              <p:nvPr/>
            </p:nvSpPr>
            <p:spPr>
              <a:xfrm>
                <a:off x="3056709" y="324612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8" name="Oval 217"/>
              <p:cNvSpPr/>
              <p:nvPr/>
            </p:nvSpPr>
            <p:spPr>
              <a:xfrm>
                <a:off x="3056709" y="280796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9" name="Oval 218"/>
              <p:cNvSpPr/>
              <p:nvPr/>
            </p:nvSpPr>
            <p:spPr>
              <a:xfrm>
                <a:off x="3056709" y="235730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0" name="Oval 219"/>
              <p:cNvSpPr/>
              <p:nvPr/>
            </p:nvSpPr>
            <p:spPr>
              <a:xfrm>
                <a:off x="3489448"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1" name="Oval 220"/>
              <p:cNvSpPr/>
              <p:nvPr/>
            </p:nvSpPr>
            <p:spPr>
              <a:xfrm>
                <a:off x="3489448" y="3860343"/>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2" name="Oval 221"/>
              <p:cNvSpPr/>
              <p:nvPr/>
            </p:nvSpPr>
            <p:spPr>
              <a:xfrm>
                <a:off x="3489448"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3" name="Oval 222"/>
              <p:cNvSpPr/>
              <p:nvPr/>
            </p:nvSpPr>
            <p:spPr>
              <a:xfrm>
                <a:off x="3489448"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4" name="Oval 223"/>
              <p:cNvSpPr/>
              <p:nvPr/>
            </p:nvSpPr>
            <p:spPr>
              <a:xfrm>
                <a:off x="3489448"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5" name="Oval 224"/>
              <p:cNvSpPr/>
              <p:nvPr/>
            </p:nvSpPr>
            <p:spPr>
              <a:xfrm>
                <a:off x="3909124" y="431101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6" name="Oval 225"/>
              <p:cNvSpPr/>
              <p:nvPr/>
            </p:nvSpPr>
            <p:spPr>
              <a:xfrm>
                <a:off x="3909124" y="386034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7" name="Oval 226"/>
              <p:cNvSpPr/>
              <p:nvPr/>
            </p:nvSpPr>
            <p:spPr>
              <a:xfrm>
                <a:off x="3909124" y="340967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8" name="Oval 227"/>
              <p:cNvSpPr/>
              <p:nvPr/>
            </p:nvSpPr>
            <p:spPr>
              <a:xfrm>
                <a:off x="3909124" y="29715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9" name="Oval 228"/>
              <p:cNvSpPr/>
              <p:nvPr/>
            </p:nvSpPr>
            <p:spPr>
              <a:xfrm>
                <a:off x="3909124" y="252085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0" name="Oval 229"/>
              <p:cNvSpPr/>
              <p:nvPr/>
            </p:nvSpPr>
            <p:spPr>
              <a:xfrm>
                <a:off x="4314074" y="430434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1" name="Oval 230"/>
              <p:cNvSpPr/>
              <p:nvPr/>
            </p:nvSpPr>
            <p:spPr>
              <a:xfrm>
                <a:off x="4314074" y="3853677"/>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2" name="Oval 231"/>
              <p:cNvSpPr/>
              <p:nvPr/>
            </p:nvSpPr>
            <p:spPr>
              <a:xfrm>
                <a:off x="4314074" y="340300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3" name="Oval 232"/>
              <p:cNvSpPr/>
              <p:nvPr/>
            </p:nvSpPr>
            <p:spPr>
              <a:xfrm>
                <a:off x="4314074" y="2964857"/>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4" name="Oval 233"/>
              <p:cNvSpPr/>
              <p:nvPr/>
            </p:nvSpPr>
            <p:spPr>
              <a:xfrm>
                <a:off x="4314074" y="251418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5" name="Oval 234"/>
              <p:cNvSpPr/>
              <p:nvPr/>
            </p:nvSpPr>
            <p:spPr>
              <a:xfrm>
                <a:off x="4720687" y="4251959"/>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6" name="Oval 235"/>
              <p:cNvSpPr/>
              <p:nvPr/>
            </p:nvSpPr>
            <p:spPr>
              <a:xfrm>
                <a:off x="4720687" y="380129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7" name="Oval 236"/>
              <p:cNvSpPr/>
              <p:nvPr/>
            </p:nvSpPr>
            <p:spPr>
              <a:xfrm>
                <a:off x="4720687" y="335062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8" name="Oval 237"/>
              <p:cNvSpPr/>
              <p:nvPr/>
            </p:nvSpPr>
            <p:spPr>
              <a:xfrm>
                <a:off x="4720687" y="2912471"/>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9" name="Oval 238"/>
              <p:cNvSpPr/>
              <p:nvPr/>
            </p:nvSpPr>
            <p:spPr>
              <a:xfrm>
                <a:off x="4720687" y="2461803"/>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0" name="Oval 239"/>
              <p:cNvSpPr/>
              <p:nvPr/>
            </p:nvSpPr>
            <p:spPr>
              <a:xfrm>
                <a:off x="3672328" y="2155095"/>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1" name="Oval 240"/>
              <p:cNvSpPr/>
              <p:nvPr/>
            </p:nvSpPr>
            <p:spPr>
              <a:xfrm>
                <a:off x="4131194" y="2148836"/>
                <a:ext cx="365760" cy="36576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242" name="Group 241"/>
            <p:cNvGrpSpPr>
              <a:grpSpLocks noChangeAspect="1"/>
            </p:cNvGrpSpPr>
            <p:nvPr/>
          </p:nvGrpSpPr>
          <p:grpSpPr>
            <a:xfrm>
              <a:off x="8989455" y="2845657"/>
              <a:ext cx="1210558" cy="1371600"/>
              <a:chOff x="5440065" y="1123950"/>
              <a:chExt cx="4035192" cy="4572000"/>
            </a:xfrm>
          </p:grpSpPr>
          <p:pic>
            <p:nvPicPr>
              <p:cNvPr id="243" name="Picture 242"/>
              <p:cNvPicPr>
                <a:picLocks noChangeAspect="1"/>
              </p:cNvPicPr>
              <p:nvPr/>
            </p:nvPicPr>
            <p:blipFill>
              <a:blip r:embed="rId3"/>
              <a:stretch>
                <a:fillRect/>
              </a:stretch>
            </p:blipFill>
            <p:spPr>
              <a:xfrm>
                <a:off x="5440065" y="1123950"/>
                <a:ext cx="4035192" cy="4572000"/>
              </a:xfrm>
              <a:prstGeom prst="rect">
                <a:avLst/>
              </a:prstGeom>
            </p:spPr>
          </p:pic>
          <p:sp>
            <p:nvSpPr>
              <p:cNvPr id="244" name="Oval 243"/>
              <p:cNvSpPr/>
              <p:nvPr/>
            </p:nvSpPr>
            <p:spPr>
              <a:xfrm>
                <a:off x="6422366" y="459812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5" name="Oval 244"/>
              <p:cNvSpPr/>
              <p:nvPr/>
            </p:nvSpPr>
            <p:spPr>
              <a:xfrm>
                <a:off x="6788126" y="476794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6" name="Oval 245"/>
              <p:cNvSpPr/>
              <p:nvPr/>
            </p:nvSpPr>
            <p:spPr>
              <a:xfrm>
                <a:off x="7235592" y="48465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7" name="Oval 246"/>
              <p:cNvSpPr/>
              <p:nvPr/>
            </p:nvSpPr>
            <p:spPr>
              <a:xfrm>
                <a:off x="7683058" y="4817267"/>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8" name="Oval 247"/>
              <p:cNvSpPr/>
              <p:nvPr/>
            </p:nvSpPr>
            <p:spPr>
              <a:xfrm>
                <a:off x="8070629" y="470262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9" name="Oval 248"/>
              <p:cNvSpPr/>
              <p:nvPr/>
            </p:nvSpPr>
            <p:spPr>
              <a:xfrm>
                <a:off x="6422366" y="414745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0" name="Oval 249"/>
              <p:cNvSpPr/>
              <p:nvPr/>
            </p:nvSpPr>
            <p:spPr>
              <a:xfrm>
                <a:off x="6422366" y="3696789"/>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1" name="Oval 250"/>
              <p:cNvSpPr/>
              <p:nvPr/>
            </p:nvSpPr>
            <p:spPr>
              <a:xfrm>
                <a:off x="6422366" y="324612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2" name="Oval 251"/>
              <p:cNvSpPr/>
              <p:nvPr/>
            </p:nvSpPr>
            <p:spPr>
              <a:xfrm>
                <a:off x="6422366" y="280796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3" name="Oval 252"/>
              <p:cNvSpPr/>
              <p:nvPr/>
            </p:nvSpPr>
            <p:spPr>
              <a:xfrm>
                <a:off x="6422366" y="235730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4" name="Oval 253"/>
              <p:cNvSpPr/>
              <p:nvPr/>
            </p:nvSpPr>
            <p:spPr>
              <a:xfrm>
                <a:off x="6855105" y="431101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5" name="Oval 254"/>
              <p:cNvSpPr/>
              <p:nvPr/>
            </p:nvSpPr>
            <p:spPr>
              <a:xfrm>
                <a:off x="6855105"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6" name="Oval 255"/>
              <p:cNvSpPr/>
              <p:nvPr/>
            </p:nvSpPr>
            <p:spPr>
              <a:xfrm>
                <a:off x="6855105"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7" name="Oval 256"/>
              <p:cNvSpPr/>
              <p:nvPr/>
            </p:nvSpPr>
            <p:spPr>
              <a:xfrm>
                <a:off x="6855105" y="2971523"/>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8" name="Oval 257"/>
              <p:cNvSpPr/>
              <p:nvPr/>
            </p:nvSpPr>
            <p:spPr>
              <a:xfrm>
                <a:off x="6855105"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9" name="Oval 258"/>
              <p:cNvSpPr/>
              <p:nvPr/>
            </p:nvSpPr>
            <p:spPr>
              <a:xfrm>
                <a:off x="7274781" y="431101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0" name="Oval 259"/>
              <p:cNvSpPr/>
              <p:nvPr/>
            </p:nvSpPr>
            <p:spPr>
              <a:xfrm>
                <a:off x="7274781" y="386034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1" name="Oval 260"/>
              <p:cNvSpPr/>
              <p:nvPr/>
            </p:nvSpPr>
            <p:spPr>
              <a:xfrm>
                <a:off x="7274781" y="340967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2" name="Oval 261"/>
              <p:cNvSpPr/>
              <p:nvPr/>
            </p:nvSpPr>
            <p:spPr>
              <a:xfrm>
                <a:off x="7274781" y="29715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3" name="Oval 262"/>
              <p:cNvSpPr/>
              <p:nvPr/>
            </p:nvSpPr>
            <p:spPr>
              <a:xfrm>
                <a:off x="7274781" y="252085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4" name="Oval 263"/>
              <p:cNvSpPr/>
              <p:nvPr/>
            </p:nvSpPr>
            <p:spPr>
              <a:xfrm>
                <a:off x="7679731" y="430434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5" name="Oval 264"/>
              <p:cNvSpPr/>
              <p:nvPr/>
            </p:nvSpPr>
            <p:spPr>
              <a:xfrm>
                <a:off x="7679731" y="3853677"/>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6" name="Oval 265"/>
              <p:cNvSpPr/>
              <p:nvPr/>
            </p:nvSpPr>
            <p:spPr>
              <a:xfrm>
                <a:off x="7679731" y="340300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7" name="Oval 266"/>
              <p:cNvSpPr/>
              <p:nvPr/>
            </p:nvSpPr>
            <p:spPr>
              <a:xfrm>
                <a:off x="7679731" y="2964857"/>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8" name="Oval 267"/>
              <p:cNvSpPr/>
              <p:nvPr/>
            </p:nvSpPr>
            <p:spPr>
              <a:xfrm>
                <a:off x="7679731" y="251418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9" name="Oval 268"/>
              <p:cNvSpPr/>
              <p:nvPr/>
            </p:nvSpPr>
            <p:spPr>
              <a:xfrm>
                <a:off x="8086344" y="4251959"/>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0" name="Oval 269"/>
              <p:cNvSpPr/>
              <p:nvPr/>
            </p:nvSpPr>
            <p:spPr>
              <a:xfrm>
                <a:off x="8086344" y="3801291"/>
                <a:ext cx="365760" cy="36576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1" name="Oval 270"/>
              <p:cNvSpPr/>
              <p:nvPr/>
            </p:nvSpPr>
            <p:spPr>
              <a:xfrm>
                <a:off x="8086344" y="335062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2" name="Oval 271"/>
              <p:cNvSpPr/>
              <p:nvPr/>
            </p:nvSpPr>
            <p:spPr>
              <a:xfrm>
                <a:off x="8086344" y="2912471"/>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3" name="Oval 272"/>
              <p:cNvSpPr/>
              <p:nvPr/>
            </p:nvSpPr>
            <p:spPr>
              <a:xfrm>
                <a:off x="8086344" y="2461803"/>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4" name="Oval 273"/>
              <p:cNvSpPr/>
              <p:nvPr/>
            </p:nvSpPr>
            <p:spPr>
              <a:xfrm>
                <a:off x="7037985" y="2155095"/>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5" name="Oval 274"/>
              <p:cNvSpPr/>
              <p:nvPr/>
            </p:nvSpPr>
            <p:spPr>
              <a:xfrm>
                <a:off x="7496851" y="2148836"/>
                <a:ext cx="365760" cy="36576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76" name="TextBox 275"/>
            <p:cNvSpPr txBox="1"/>
            <p:nvPr/>
          </p:nvSpPr>
          <p:spPr>
            <a:xfrm>
              <a:off x="7661931" y="3370087"/>
              <a:ext cx="453970" cy="461665"/>
            </a:xfrm>
            <a:prstGeom prst="rect">
              <a:avLst/>
            </a:prstGeom>
            <a:noFill/>
          </p:spPr>
          <p:txBody>
            <a:bodyPr wrap="none" rtlCol="0">
              <a:spAutoFit/>
            </a:bodyPr>
            <a:lstStyle/>
            <a:p>
              <a:r>
                <a:rPr lang="en-US" sz="2400" dirty="0"/>
                <a:t>or</a:t>
              </a:r>
            </a:p>
          </p:txBody>
        </p:sp>
        <p:cxnSp>
          <p:nvCxnSpPr>
            <p:cNvPr id="277" name="Straight Connector 276"/>
            <p:cNvCxnSpPr/>
            <p:nvPr/>
          </p:nvCxnSpPr>
          <p:spPr>
            <a:xfrm flipH="1">
              <a:off x="5469940" y="1865485"/>
              <a:ext cx="9797" cy="33197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8" name="TextBox 277"/>
            <p:cNvSpPr txBox="1"/>
            <p:nvPr/>
          </p:nvSpPr>
          <p:spPr>
            <a:xfrm>
              <a:off x="4749308" y="782573"/>
              <a:ext cx="815942" cy="4740084"/>
            </a:xfrm>
            <a:prstGeom prst="rect">
              <a:avLst/>
            </a:prstGeom>
            <a:noFill/>
          </p:spPr>
          <p:txBody>
            <a:bodyPr wrap="none" rtlCol="0">
              <a:spAutoFit/>
            </a:bodyPr>
            <a:lstStyle/>
            <a:p>
              <a:r>
                <a:rPr lang="en-US" sz="2400" i="1" dirty="0" err="1">
                  <a:cs typeface="Calibri"/>
                </a:rPr>
                <a:t>F</a:t>
              </a:r>
              <a:r>
                <a:rPr lang="en-US" sz="2400" i="1" cap="small" baseline="-25000" dirty="0" err="1">
                  <a:cs typeface="Calibri"/>
                </a:rPr>
                <a:t>st</a:t>
              </a:r>
              <a:r>
                <a:rPr lang="en-US" sz="2400" i="1" cap="small" baseline="-25000" dirty="0">
                  <a:cs typeface="Calibri"/>
                </a:rPr>
                <a:t> </a:t>
              </a:r>
            </a:p>
            <a:p>
              <a:endParaRPr lang="en-US" sz="2400" i="1" cap="small" baseline="-25000" dirty="0">
                <a:cs typeface="Calibri"/>
              </a:endParaRPr>
            </a:p>
            <a:p>
              <a:r>
                <a:rPr lang="en-US" sz="1500" dirty="0"/>
                <a:t>1.0</a:t>
              </a:r>
            </a:p>
            <a:p>
              <a:endParaRPr lang="en-US" sz="1500" dirty="0"/>
            </a:p>
            <a:p>
              <a:endParaRPr lang="en-US" sz="1500" dirty="0"/>
            </a:p>
            <a:p>
              <a:endParaRPr lang="en-US" sz="1500" dirty="0"/>
            </a:p>
            <a:p>
              <a:endParaRPr lang="en-US" sz="1500" dirty="0"/>
            </a:p>
            <a:p>
              <a:r>
                <a:rPr lang="en-US" sz="1500" dirty="0"/>
                <a:t>0.5</a:t>
              </a:r>
            </a:p>
            <a:p>
              <a:endParaRPr lang="en-US" sz="1500" dirty="0"/>
            </a:p>
            <a:p>
              <a:endParaRPr lang="en-US" sz="1500" dirty="0"/>
            </a:p>
            <a:p>
              <a:endParaRPr lang="en-US" sz="1500" dirty="0"/>
            </a:p>
            <a:p>
              <a:endParaRPr lang="en-US" sz="1500" dirty="0"/>
            </a:p>
            <a:p>
              <a:r>
                <a:rPr lang="en-US" sz="1500" dirty="0"/>
                <a:t>0.0</a:t>
              </a:r>
            </a:p>
          </p:txBody>
        </p:sp>
      </p:grpSp>
    </p:spTree>
    <p:extLst>
      <p:ext uri="{BB962C8B-B14F-4D97-AF65-F5344CB8AC3E}">
        <p14:creationId xmlns:p14="http://schemas.microsoft.com/office/powerpoint/2010/main" val="198084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70895" y="496633"/>
            <a:ext cx="7755653" cy="58942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700" b="1" dirty="0">
                <a:cs typeface="Calibri"/>
              </a:rPr>
              <a:t>How do we measure population structure?</a:t>
            </a:r>
            <a:endParaRPr lang="en-US" sz="2700" dirty="0">
              <a:latin typeface="Calibri"/>
              <a:cs typeface="Calibri"/>
            </a:endParaRPr>
          </a:p>
          <a:p>
            <a:endParaRPr lang="en-US" sz="1400" dirty="0">
              <a:latin typeface="Calibri"/>
              <a:cs typeface="Calibri"/>
            </a:endParaRPr>
          </a:p>
          <a:p>
            <a:r>
              <a:rPr lang="en-US" sz="2400" i="1" dirty="0">
                <a:cs typeface="Calibri"/>
              </a:rPr>
              <a:t>H</a:t>
            </a:r>
            <a:r>
              <a:rPr lang="en-US" sz="2400" i="1" baseline="-25000" dirty="0">
                <a:cs typeface="Calibri"/>
              </a:rPr>
              <a:t>T</a:t>
            </a:r>
            <a:r>
              <a:rPr lang="en-US" sz="2400" dirty="0">
                <a:cs typeface="Calibri"/>
              </a:rPr>
              <a:t> = Expected heterozygosity in total population</a:t>
            </a:r>
          </a:p>
          <a:p>
            <a:pPr lvl="1"/>
            <a:endParaRPr lang="en-US" sz="2000" dirty="0">
              <a:cs typeface="Calibri"/>
            </a:endParaRPr>
          </a:p>
          <a:p>
            <a:pPr lvl="1"/>
            <a:r>
              <a:rPr lang="en-US" sz="2000" dirty="0">
                <a:cs typeface="Calibri"/>
              </a:rPr>
              <a:t>   </a:t>
            </a:r>
          </a:p>
          <a:p>
            <a:pPr lvl="1"/>
            <a:endParaRPr lang="en-US" sz="2000" dirty="0">
              <a:cs typeface="Calibri"/>
            </a:endParaRPr>
          </a:p>
          <a:p>
            <a:pPr lvl="1"/>
            <a:r>
              <a:rPr lang="en-US" sz="2000" dirty="0">
                <a:cs typeface="Calibri"/>
              </a:rPr>
              <a:t>When measuring population structure, use average allele frequencies.</a:t>
            </a:r>
          </a:p>
          <a:p>
            <a:pPr lvl="1"/>
            <a:endParaRPr lang="en-US" sz="20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dirty="0">
              <a:latin typeface="Calibri"/>
              <a:cs typeface="Calibri"/>
            </a:endParaRPr>
          </a:p>
        </p:txBody>
      </p:sp>
      <mc:AlternateContent xmlns:mc="http://schemas.openxmlformats.org/markup-compatibility/2006" xmlns:a14="http://schemas.microsoft.com/office/drawing/2010/main">
        <mc:Choice Requires="a14">
          <p:sp>
            <p:nvSpPr>
              <p:cNvPr id="3" name="Rectangle 2"/>
              <p:cNvSpPr/>
              <p:nvPr/>
            </p:nvSpPr>
            <p:spPr>
              <a:xfrm>
                <a:off x="1359266" y="1865433"/>
                <a:ext cx="1813638"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𝐸</m:t>
                          </m:r>
                        </m:sub>
                      </m:sSub>
                      <m:r>
                        <a:rPr lang="en-US" i="1">
                          <a:latin typeface="Cambria Math" panose="02040503050406030204" pitchFamily="18" charset="0"/>
                        </a:rPr>
                        <m:t>=1−</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𝑓</m:t>
                              </m:r>
                            </m:e>
                            <m:sub>
                              <m:r>
                                <a:rPr lang="en-US" i="1">
                                  <a:latin typeface="Cambria Math" panose="02040503050406030204" pitchFamily="18" charset="0"/>
                                </a:rPr>
                                <m:t>𝑖</m:t>
                              </m:r>
                            </m:sub>
                            <m:sup>
                              <m:r>
                                <a:rPr lang="en-US" i="1">
                                  <a:latin typeface="Cambria Math" panose="02040503050406030204" pitchFamily="18" charset="0"/>
                                </a:rPr>
                                <m:t>2</m:t>
                              </m:r>
                            </m:sup>
                          </m:sSubSup>
                        </m:e>
                      </m:nary>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359266" y="1865433"/>
                <a:ext cx="1813638" cy="795859"/>
              </a:xfrm>
              <a:prstGeom prst="rect">
                <a:avLst/>
              </a:prstGeom>
              <a:blipFill>
                <a:blip r:embed="rId2"/>
                <a:stretch>
                  <a:fillRect/>
                </a:stretch>
              </a:blipFill>
            </p:spPr>
            <p:txBody>
              <a:bodyPr/>
              <a:lstStyle/>
              <a:p>
                <a:r>
                  <a:rPr lang="en-US">
                    <a:noFill/>
                  </a:rPr>
                  <a:t> </a:t>
                </a:r>
              </a:p>
            </p:txBody>
          </p:sp>
        </mc:Fallback>
      </mc:AlternateContent>
      <p:graphicFrame>
        <p:nvGraphicFramePr>
          <p:cNvPr id="5" name="Table 4"/>
          <p:cNvGraphicFramePr>
            <a:graphicFrameLocks noGrp="1"/>
          </p:cNvGraphicFramePr>
          <p:nvPr/>
        </p:nvGraphicFramePr>
        <p:xfrm>
          <a:off x="2502253" y="3443739"/>
          <a:ext cx="3124825" cy="1483360"/>
        </p:xfrm>
        <a:graphic>
          <a:graphicData uri="http://schemas.openxmlformats.org/drawingml/2006/table">
            <a:tbl>
              <a:tblPr firstRow="1" bandRow="1">
                <a:tableStyleId>{5C22544A-7EE6-4342-B048-85BDC9FD1C3A}</a:tableStyleId>
              </a:tblPr>
              <a:tblGrid>
                <a:gridCol w="1352295">
                  <a:extLst>
                    <a:ext uri="{9D8B030D-6E8A-4147-A177-3AD203B41FA5}">
                      <a16:colId xmlns:a16="http://schemas.microsoft.com/office/drawing/2014/main" val="387505263"/>
                    </a:ext>
                  </a:extLst>
                </a:gridCol>
                <a:gridCol w="886265">
                  <a:extLst>
                    <a:ext uri="{9D8B030D-6E8A-4147-A177-3AD203B41FA5}">
                      <a16:colId xmlns:a16="http://schemas.microsoft.com/office/drawing/2014/main" val="2953598295"/>
                    </a:ext>
                  </a:extLst>
                </a:gridCol>
                <a:gridCol w="886265">
                  <a:extLst>
                    <a:ext uri="{9D8B030D-6E8A-4147-A177-3AD203B41FA5}">
                      <a16:colId xmlns:a16="http://schemas.microsoft.com/office/drawing/2014/main" val="1916994059"/>
                    </a:ext>
                  </a:extLst>
                </a:gridCol>
              </a:tblGrid>
              <a:tr h="370840">
                <a:tc>
                  <a:txBody>
                    <a:bodyPr/>
                    <a:lstStyle/>
                    <a:p>
                      <a:r>
                        <a:rPr lang="en-US" dirty="0"/>
                        <a:t>Population</a:t>
                      </a:r>
                    </a:p>
                  </a:txBody>
                  <a:tcPr/>
                </a:tc>
                <a:tc>
                  <a:txBody>
                    <a:bodyPr/>
                    <a:lstStyle/>
                    <a:p>
                      <a:r>
                        <a:rPr lang="en-US" i="1" dirty="0" err="1"/>
                        <a:t>f</a:t>
                      </a:r>
                      <a:r>
                        <a:rPr lang="en-US" i="1" baseline="-25000" dirty="0" err="1"/>
                        <a:t>R</a:t>
                      </a:r>
                      <a:endParaRPr lang="en-US" i="1" baseline="-25000" dirty="0"/>
                    </a:p>
                  </a:txBody>
                  <a:tcPr/>
                </a:tc>
                <a:tc>
                  <a:txBody>
                    <a:bodyPr/>
                    <a:lstStyle/>
                    <a:p>
                      <a:r>
                        <a:rPr lang="en-US" i="1" dirty="0" err="1"/>
                        <a:t>f</a:t>
                      </a:r>
                      <a:r>
                        <a:rPr lang="en-US" i="1" baseline="-25000" dirty="0" err="1"/>
                        <a:t>B</a:t>
                      </a:r>
                      <a:endParaRPr lang="en-US" i="1" baseline="-25000" dirty="0"/>
                    </a:p>
                  </a:txBody>
                  <a:tcPr/>
                </a:tc>
                <a:extLst>
                  <a:ext uri="{0D108BD9-81ED-4DB2-BD59-A6C34878D82A}">
                    <a16:rowId xmlns:a16="http://schemas.microsoft.com/office/drawing/2014/main" val="1994416349"/>
                  </a:ext>
                </a:extLst>
              </a:tr>
              <a:tr h="370840">
                <a:tc>
                  <a:txBody>
                    <a:bodyPr/>
                    <a:lstStyle/>
                    <a:p>
                      <a:r>
                        <a:rPr lang="en-US" dirty="0"/>
                        <a:t>1</a:t>
                      </a:r>
                    </a:p>
                  </a:txBody>
                  <a:tcPr/>
                </a:tc>
                <a:tc>
                  <a:txBody>
                    <a:bodyPr/>
                    <a:lstStyle/>
                    <a:p>
                      <a:r>
                        <a:rPr lang="en-US" dirty="0"/>
                        <a:t>0.3889</a:t>
                      </a:r>
                    </a:p>
                  </a:txBody>
                  <a:tcPr/>
                </a:tc>
                <a:tc>
                  <a:txBody>
                    <a:bodyPr/>
                    <a:lstStyle/>
                    <a:p>
                      <a:r>
                        <a:rPr lang="en-US" dirty="0"/>
                        <a:t>0.6111</a:t>
                      </a:r>
                    </a:p>
                  </a:txBody>
                  <a:tcPr/>
                </a:tc>
                <a:extLst>
                  <a:ext uri="{0D108BD9-81ED-4DB2-BD59-A6C34878D82A}">
                    <a16:rowId xmlns:a16="http://schemas.microsoft.com/office/drawing/2014/main" val="3119012064"/>
                  </a:ext>
                </a:extLst>
              </a:tr>
              <a:tr h="370840">
                <a:tc>
                  <a:txBody>
                    <a:bodyPr/>
                    <a:lstStyle/>
                    <a:p>
                      <a:r>
                        <a:rPr lang="en-US" dirty="0"/>
                        <a:t>2</a:t>
                      </a:r>
                    </a:p>
                  </a:txBody>
                  <a:tcPr/>
                </a:tc>
                <a:tc>
                  <a:txBody>
                    <a:bodyPr/>
                    <a:lstStyle/>
                    <a:p>
                      <a:r>
                        <a:rPr lang="en-US" dirty="0"/>
                        <a:t>0.2222</a:t>
                      </a:r>
                    </a:p>
                  </a:txBody>
                  <a:tcPr/>
                </a:tc>
                <a:tc>
                  <a:txBody>
                    <a:bodyPr/>
                    <a:lstStyle/>
                    <a:p>
                      <a:r>
                        <a:rPr lang="en-US" dirty="0"/>
                        <a:t>0.7778</a:t>
                      </a:r>
                    </a:p>
                  </a:txBody>
                  <a:tcPr/>
                </a:tc>
                <a:extLst>
                  <a:ext uri="{0D108BD9-81ED-4DB2-BD59-A6C34878D82A}">
                    <a16:rowId xmlns:a16="http://schemas.microsoft.com/office/drawing/2014/main" val="642670060"/>
                  </a:ext>
                </a:extLst>
              </a:tr>
              <a:tr h="370840">
                <a:tc>
                  <a:txBody>
                    <a:bodyPr/>
                    <a:lstStyle/>
                    <a:p>
                      <a:r>
                        <a:rPr lang="en-US" dirty="0"/>
                        <a:t>Mean</a:t>
                      </a:r>
                    </a:p>
                  </a:txBody>
                  <a:tcPr/>
                </a:tc>
                <a:tc>
                  <a:txBody>
                    <a:bodyPr/>
                    <a:lstStyle/>
                    <a:p>
                      <a:r>
                        <a:rPr lang="en-US" dirty="0"/>
                        <a:t>0.3056</a:t>
                      </a:r>
                    </a:p>
                  </a:txBody>
                  <a:tcPr/>
                </a:tc>
                <a:tc>
                  <a:txBody>
                    <a:bodyPr/>
                    <a:lstStyle/>
                    <a:p>
                      <a:r>
                        <a:rPr lang="en-US" dirty="0"/>
                        <a:t>0.6944</a:t>
                      </a:r>
                    </a:p>
                  </a:txBody>
                  <a:tcPr/>
                </a:tc>
                <a:extLst>
                  <a:ext uri="{0D108BD9-81ED-4DB2-BD59-A6C34878D82A}">
                    <a16:rowId xmlns:a16="http://schemas.microsoft.com/office/drawing/2014/main" val="3823797591"/>
                  </a:ext>
                </a:extLst>
              </a:tr>
            </a:tbl>
          </a:graphicData>
        </a:graphic>
      </p:graphicFrame>
      <p:grpSp>
        <p:nvGrpSpPr>
          <p:cNvPr id="8" name="Group 7"/>
          <p:cNvGrpSpPr>
            <a:grpSpLocks noChangeAspect="1"/>
          </p:cNvGrpSpPr>
          <p:nvPr/>
        </p:nvGrpSpPr>
        <p:grpSpPr>
          <a:xfrm>
            <a:off x="7960434" y="884176"/>
            <a:ext cx="3860433" cy="3474720"/>
            <a:chOff x="8400970" y="855784"/>
            <a:chExt cx="3555663" cy="3200400"/>
          </a:xfrm>
        </p:grpSpPr>
        <p:pic>
          <p:nvPicPr>
            <p:cNvPr id="6" name="Picture 1"/>
            <p:cNvPicPr>
              <a:picLocks noChangeAspect="1"/>
            </p:cNvPicPr>
            <p:nvPr/>
          </p:nvPicPr>
          <p:blipFill rotWithShape="1">
            <a:blip r:embed="rId3" cstate="print">
              <a:extLst>
                <a:ext uri="{28A0092B-C50C-407E-A947-70E740481C1C}">
                  <a14:useLocalDpi xmlns:a14="http://schemas.microsoft.com/office/drawing/2010/main" val="0"/>
                </a:ext>
              </a:extLst>
            </a:blip>
            <a:srcRect r="58624"/>
            <a:stretch/>
          </p:blipFill>
          <p:spPr bwMode="auto">
            <a:xfrm>
              <a:off x="8400970" y="855784"/>
              <a:ext cx="179810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9557"/>
            <a:stretch/>
          </p:blipFill>
          <p:spPr bwMode="auto">
            <a:xfrm>
              <a:off x="10199076" y="855784"/>
              <a:ext cx="175755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p:cNvSpPr txBox="1"/>
              <p:nvPr/>
            </p:nvSpPr>
            <p:spPr>
              <a:xfrm>
                <a:off x="7967934" y="4603242"/>
                <a:ext cx="1862433"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9" name="TextBox 8"/>
              <p:cNvSpPr txBox="1">
                <a:spLocks noRot="1" noChangeAspect="1" noMove="1" noResize="1" noEditPoints="1" noAdjustHandles="1" noChangeArrowheads="1" noChangeShapeType="1" noTextEdit="1"/>
              </p:cNvSpPr>
              <p:nvPr/>
            </p:nvSpPr>
            <p:spPr>
              <a:xfrm>
                <a:off x="7967934" y="4603242"/>
                <a:ext cx="1862433" cy="484300"/>
              </a:xfrm>
              <a:prstGeom prst="rect">
                <a:avLst/>
              </a:prstGeom>
              <a:blipFill>
                <a:blip r:embed="rId4"/>
                <a:stretch>
                  <a:fillRect l="-980" r="-2288"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869273"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869273" y="5156299"/>
                <a:ext cx="2004523" cy="6127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146066" y="4534486"/>
                <a:ext cx="1862433"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11" name="TextBox 10"/>
              <p:cNvSpPr txBox="1">
                <a:spLocks noRot="1" noChangeAspect="1" noMove="1" noResize="1" noEditPoints="1" noAdjustHandles="1" noChangeArrowheads="1" noChangeShapeType="1" noTextEdit="1"/>
              </p:cNvSpPr>
              <p:nvPr/>
            </p:nvSpPr>
            <p:spPr>
              <a:xfrm>
                <a:off x="10146066" y="4534486"/>
                <a:ext cx="1862433" cy="484748"/>
              </a:xfrm>
              <a:prstGeom prst="rect">
                <a:avLst/>
              </a:prstGeom>
              <a:blipFill>
                <a:blip r:embed="rId6"/>
                <a:stretch>
                  <a:fillRect l="-980" r="-2288"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084346"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0084346" y="5156299"/>
                <a:ext cx="2004523" cy="6127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646071" y="5104974"/>
                <a:ext cx="31834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𝑇</m:t>
                          </m:r>
                        </m:sub>
                      </m:sSub>
                      <m:r>
                        <a:rPr lang="en-US" i="1">
                          <a:latin typeface="Cambria Math" panose="02040503050406030204" pitchFamily="18" charset="0"/>
                        </a:rPr>
                        <m:t>=1−</m:t>
                      </m:r>
                      <m:sSup>
                        <m:sSupPr>
                          <m:ctrlPr>
                            <a:rPr lang="en-US" i="1" smtClean="0">
                              <a:latin typeface="Cambria Math" panose="02040503050406030204" pitchFamily="18" charset="0"/>
                            </a:rPr>
                          </m:ctrlPr>
                        </m:sSupPr>
                        <m:e>
                          <m:r>
                            <a:rPr lang="en-US" b="0" i="1" smtClean="0">
                              <a:latin typeface="Cambria Math" panose="02040503050406030204" pitchFamily="18" charset="0"/>
                            </a:rPr>
                            <m:t>(0.3056</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0.6944</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2646071" y="5104974"/>
                <a:ext cx="3183436"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646070" y="5526861"/>
                <a:ext cx="30713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𝑇</m:t>
                          </m:r>
                        </m:sub>
                      </m:sSub>
                      <m:r>
                        <a:rPr lang="en-US" i="1">
                          <a:latin typeface="Cambria Math" panose="02040503050406030204" pitchFamily="18" charset="0"/>
                        </a:rPr>
                        <m:t>=1−</m:t>
                      </m:r>
                      <m:r>
                        <a:rPr lang="en-US" b="0" i="1" smtClean="0">
                          <a:latin typeface="Cambria Math" panose="02040503050406030204" pitchFamily="18" charset="0"/>
                        </a:rPr>
                        <m:t>(0.0934+0.4823)</m:t>
                      </m:r>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2646070" y="5526861"/>
                <a:ext cx="3071354"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2646070" y="5902153"/>
                <a:ext cx="21063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𝑇</m:t>
                          </m:r>
                        </m:sub>
                      </m:sSub>
                      <m:r>
                        <a:rPr lang="en-US" i="1">
                          <a:latin typeface="Cambria Math" panose="02040503050406030204" pitchFamily="18" charset="0"/>
                        </a:rPr>
                        <m:t>=1−</m:t>
                      </m:r>
                      <m:r>
                        <a:rPr lang="en-US" b="0" i="1" smtClean="0">
                          <a:latin typeface="Cambria Math" panose="02040503050406030204" pitchFamily="18" charset="0"/>
                        </a:rPr>
                        <m:t>(0.5756)</m:t>
                      </m:r>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2646070" y="5902153"/>
                <a:ext cx="2106346" cy="369332"/>
              </a:xfrm>
              <a:prstGeom prst="rect">
                <a:avLst/>
              </a:prstGeom>
              <a:blipFill>
                <a:blip r:embed="rId10"/>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2649712" y="6265859"/>
                <a:ext cx="16112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𝑻</m:t>
                          </m:r>
                        </m:sub>
                      </m:sSub>
                      <m:r>
                        <a:rPr lang="en-US" b="1" i="1">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𝟒𝟐𝟒𝟒</m:t>
                      </m:r>
                    </m:oMath>
                  </m:oMathPara>
                </a14:m>
                <a:endParaRPr lang="en-US" b="1" dirty="0"/>
              </a:p>
            </p:txBody>
          </p:sp>
        </mc:Choice>
        <mc:Fallback xmlns="">
          <p:sp>
            <p:nvSpPr>
              <p:cNvPr id="16" name="Rectangle 15"/>
              <p:cNvSpPr>
                <a:spLocks noRot="1" noChangeAspect="1" noMove="1" noResize="1" noEditPoints="1" noAdjustHandles="1" noChangeArrowheads="1" noChangeShapeType="1" noTextEdit="1"/>
              </p:cNvSpPr>
              <p:nvPr/>
            </p:nvSpPr>
            <p:spPr>
              <a:xfrm>
                <a:off x="2649712" y="6265859"/>
                <a:ext cx="1611275"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216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70895" y="496633"/>
            <a:ext cx="7755653" cy="58942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700" b="1" dirty="0">
                <a:cs typeface="Calibri"/>
              </a:rPr>
              <a:t>How do we measure population structure?</a:t>
            </a:r>
            <a:endParaRPr lang="en-US" sz="2700" dirty="0">
              <a:latin typeface="Calibri"/>
              <a:cs typeface="Calibri"/>
            </a:endParaRPr>
          </a:p>
          <a:p>
            <a:endParaRPr lang="en-US" sz="1400" dirty="0">
              <a:latin typeface="Calibri"/>
              <a:cs typeface="Calibri"/>
            </a:endParaRPr>
          </a:p>
          <a:p>
            <a:r>
              <a:rPr lang="en-US" sz="2400" i="1" dirty="0">
                <a:cs typeface="Calibri"/>
              </a:rPr>
              <a:t>H</a:t>
            </a:r>
            <a:r>
              <a:rPr lang="en-US" sz="2400" i="1" baseline="-25000" dirty="0">
                <a:cs typeface="Calibri"/>
              </a:rPr>
              <a:t>S</a:t>
            </a:r>
            <a:r>
              <a:rPr lang="en-US" sz="2400" dirty="0">
                <a:cs typeface="Calibri"/>
              </a:rPr>
              <a:t> = Average heterozygosity with subpopulations</a:t>
            </a:r>
          </a:p>
          <a:p>
            <a:pPr lvl="1"/>
            <a:endParaRPr lang="en-US" sz="2000" dirty="0">
              <a:cs typeface="Calibri"/>
            </a:endParaRPr>
          </a:p>
          <a:p>
            <a:pPr lvl="1"/>
            <a:r>
              <a:rPr lang="en-US" sz="2000" dirty="0">
                <a:cs typeface="Calibri"/>
              </a:rPr>
              <a:t>		</a:t>
            </a:r>
          </a:p>
          <a:p>
            <a:pPr lvl="1"/>
            <a:endParaRPr lang="en-US" sz="2000" dirty="0">
              <a:cs typeface="Calibri"/>
            </a:endParaRPr>
          </a:p>
          <a:p>
            <a:pPr lvl="1"/>
            <a:endParaRPr lang="en-US" sz="2000" dirty="0">
              <a:cs typeface="Calibri"/>
            </a:endParaRPr>
          </a:p>
          <a:p>
            <a:pPr lvl="1"/>
            <a:endParaRPr lang="en-US" sz="20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sz="2400" i="1" dirty="0">
              <a:cs typeface="Calibri"/>
            </a:endParaRPr>
          </a:p>
          <a:p>
            <a:endParaRPr lang="en-US" dirty="0">
              <a:latin typeface="Calibri"/>
              <a:cs typeface="Calibri"/>
            </a:endParaRPr>
          </a:p>
        </p:txBody>
      </p:sp>
      <mc:AlternateContent xmlns:mc="http://schemas.openxmlformats.org/markup-compatibility/2006" xmlns:a14="http://schemas.microsoft.com/office/drawing/2010/main">
        <mc:Choice Requires="a14">
          <p:sp>
            <p:nvSpPr>
              <p:cNvPr id="3" name="Rectangle 2"/>
              <p:cNvSpPr/>
              <p:nvPr/>
            </p:nvSpPr>
            <p:spPr>
              <a:xfrm>
                <a:off x="1349250" y="1876909"/>
                <a:ext cx="1813638"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𝐸</m:t>
                          </m:r>
                        </m:sub>
                      </m:sSub>
                      <m:r>
                        <a:rPr lang="en-US" i="1">
                          <a:latin typeface="Cambria Math" panose="02040503050406030204" pitchFamily="18" charset="0"/>
                        </a:rPr>
                        <m:t>=1−</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𝑓</m:t>
                              </m:r>
                            </m:e>
                            <m:sub>
                              <m:r>
                                <a:rPr lang="en-US" i="1">
                                  <a:latin typeface="Cambria Math" panose="02040503050406030204" pitchFamily="18" charset="0"/>
                                </a:rPr>
                                <m:t>𝑖</m:t>
                              </m:r>
                            </m:sub>
                            <m:sup>
                              <m:r>
                                <a:rPr lang="en-US" i="1">
                                  <a:latin typeface="Cambria Math" panose="02040503050406030204" pitchFamily="18" charset="0"/>
                                </a:rPr>
                                <m:t>2</m:t>
                              </m:r>
                            </m:sup>
                          </m:sSubSup>
                        </m:e>
                      </m:nary>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349250" y="1876909"/>
                <a:ext cx="1813638" cy="795859"/>
              </a:xfrm>
              <a:prstGeom prst="rect">
                <a:avLst/>
              </a:prstGeom>
              <a:blipFill>
                <a:blip r:embed="rId2"/>
                <a:stretch>
                  <a:fillRect/>
                </a:stretch>
              </a:blipFill>
            </p:spPr>
            <p:txBody>
              <a:bodyPr/>
              <a:lstStyle/>
              <a:p>
                <a:r>
                  <a:rPr lang="en-US">
                    <a:noFill/>
                  </a:rPr>
                  <a:t> </a:t>
                </a:r>
              </a:p>
            </p:txBody>
          </p:sp>
        </mc:Fallback>
      </mc:AlternateContent>
      <p:graphicFrame>
        <p:nvGraphicFramePr>
          <p:cNvPr id="5" name="Table 4"/>
          <p:cNvGraphicFramePr>
            <a:graphicFrameLocks noGrp="1"/>
          </p:cNvGraphicFramePr>
          <p:nvPr/>
        </p:nvGraphicFramePr>
        <p:xfrm>
          <a:off x="2206041" y="2675748"/>
          <a:ext cx="3124825" cy="1483360"/>
        </p:xfrm>
        <a:graphic>
          <a:graphicData uri="http://schemas.openxmlformats.org/drawingml/2006/table">
            <a:tbl>
              <a:tblPr firstRow="1" bandRow="1">
                <a:tableStyleId>{5C22544A-7EE6-4342-B048-85BDC9FD1C3A}</a:tableStyleId>
              </a:tblPr>
              <a:tblGrid>
                <a:gridCol w="1352295">
                  <a:extLst>
                    <a:ext uri="{9D8B030D-6E8A-4147-A177-3AD203B41FA5}">
                      <a16:colId xmlns:a16="http://schemas.microsoft.com/office/drawing/2014/main" val="387505263"/>
                    </a:ext>
                  </a:extLst>
                </a:gridCol>
                <a:gridCol w="886265">
                  <a:extLst>
                    <a:ext uri="{9D8B030D-6E8A-4147-A177-3AD203B41FA5}">
                      <a16:colId xmlns:a16="http://schemas.microsoft.com/office/drawing/2014/main" val="2953598295"/>
                    </a:ext>
                  </a:extLst>
                </a:gridCol>
                <a:gridCol w="886265">
                  <a:extLst>
                    <a:ext uri="{9D8B030D-6E8A-4147-A177-3AD203B41FA5}">
                      <a16:colId xmlns:a16="http://schemas.microsoft.com/office/drawing/2014/main" val="1916994059"/>
                    </a:ext>
                  </a:extLst>
                </a:gridCol>
              </a:tblGrid>
              <a:tr h="370840">
                <a:tc>
                  <a:txBody>
                    <a:bodyPr/>
                    <a:lstStyle/>
                    <a:p>
                      <a:r>
                        <a:rPr lang="en-US" dirty="0"/>
                        <a:t>Population</a:t>
                      </a:r>
                    </a:p>
                  </a:txBody>
                  <a:tcPr/>
                </a:tc>
                <a:tc>
                  <a:txBody>
                    <a:bodyPr/>
                    <a:lstStyle/>
                    <a:p>
                      <a:r>
                        <a:rPr lang="en-US" i="1" dirty="0" err="1"/>
                        <a:t>f</a:t>
                      </a:r>
                      <a:r>
                        <a:rPr lang="en-US" i="1" baseline="-25000" dirty="0" err="1"/>
                        <a:t>R</a:t>
                      </a:r>
                      <a:endParaRPr lang="en-US" i="1" baseline="-25000" dirty="0"/>
                    </a:p>
                  </a:txBody>
                  <a:tcPr/>
                </a:tc>
                <a:tc>
                  <a:txBody>
                    <a:bodyPr/>
                    <a:lstStyle/>
                    <a:p>
                      <a:r>
                        <a:rPr lang="en-US" i="1" dirty="0" err="1"/>
                        <a:t>f</a:t>
                      </a:r>
                      <a:r>
                        <a:rPr lang="en-US" i="1" baseline="-25000" dirty="0" err="1"/>
                        <a:t>B</a:t>
                      </a:r>
                      <a:endParaRPr lang="en-US" i="1" baseline="-25000" dirty="0"/>
                    </a:p>
                  </a:txBody>
                  <a:tcPr/>
                </a:tc>
                <a:extLst>
                  <a:ext uri="{0D108BD9-81ED-4DB2-BD59-A6C34878D82A}">
                    <a16:rowId xmlns:a16="http://schemas.microsoft.com/office/drawing/2014/main" val="1994416349"/>
                  </a:ext>
                </a:extLst>
              </a:tr>
              <a:tr h="370840">
                <a:tc>
                  <a:txBody>
                    <a:bodyPr/>
                    <a:lstStyle/>
                    <a:p>
                      <a:r>
                        <a:rPr lang="en-US" dirty="0"/>
                        <a:t>1</a:t>
                      </a:r>
                    </a:p>
                  </a:txBody>
                  <a:tcPr/>
                </a:tc>
                <a:tc>
                  <a:txBody>
                    <a:bodyPr/>
                    <a:lstStyle/>
                    <a:p>
                      <a:r>
                        <a:rPr lang="en-US" dirty="0"/>
                        <a:t>0.3889</a:t>
                      </a:r>
                    </a:p>
                  </a:txBody>
                  <a:tcPr/>
                </a:tc>
                <a:tc>
                  <a:txBody>
                    <a:bodyPr/>
                    <a:lstStyle/>
                    <a:p>
                      <a:r>
                        <a:rPr lang="en-US" dirty="0"/>
                        <a:t>0.6111</a:t>
                      </a:r>
                    </a:p>
                  </a:txBody>
                  <a:tcPr/>
                </a:tc>
                <a:extLst>
                  <a:ext uri="{0D108BD9-81ED-4DB2-BD59-A6C34878D82A}">
                    <a16:rowId xmlns:a16="http://schemas.microsoft.com/office/drawing/2014/main" val="3119012064"/>
                  </a:ext>
                </a:extLst>
              </a:tr>
              <a:tr h="370840">
                <a:tc>
                  <a:txBody>
                    <a:bodyPr/>
                    <a:lstStyle/>
                    <a:p>
                      <a:r>
                        <a:rPr lang="en-US" dirty="0"/>
                        <a:t>2</a:t>
                      </a:r>
                    </a:p>
                  </a:txBody>
                  <a:tcPr/>
                </a:tc>
                <a:tc>
                  <a:txBody>
                    <a:bodyPr/>
                    <a:lstStyle/>
                    <a:p>
                      <a:r>
                        <a:rPr lang="en-US" dirty="0"/>
                        <a:t>0.2222</a:t>
                      </a:r>
                    </a:p>
                  </a:txBody>
                  <a:tcPr/>
                </a:tc>
                <a:tc>
                  <a:txBody>
                    <a:bodyPr/>
                    <a:lstStyle/>
                    <a:p>
                      <a:r>
                        <a:rPr lang="en-US" dirty="0"/>
                        <a:t>0.7778</a:t>
                      </a:r>
                    </a:p>
                  </a:txBody>
                  <a:tcPr/>
                </a:tc>
                <a:extLst>
                  <a:ext uri="{0D108BD9-81ED-4DB2-BD59-A6C34878D82A}">
                    <a16:rowId xmlns:a16="http://schemas.microsoft.com/office/drawing/2014/main" val="642670060"/>
                  </a:ext>
                </a:extLst>
              </a:tr>
              <a:tr h="370840">
                <a:tc>
                  <a:txBody>
                    <a:bodyPr/>
                    <a:lstStyle/>
                    <a:p>
                      <a:r>
                        <a:rPr lang="en-US" dirty="0"/>
                        <a:t>Mean</a:t>
                      </a:r>
                    </a:p>
                  </a:txBody>
                  <a:tcPr/>
                </a:tc>
                <a:tc>
                  <a:txBody>
                    <a:bodyPr/>
                    <a:lstStyle/>
                    <a:p>
                      <a:r>
                        <a:rPr lang="en-US" dirty="0"/>
                        <a:t>0.3056</a:t>
                      </a:r>
                    </a:p>
                  </a:txBody>
                  <a:tcPr/>
                </a:tc>
                <a:tc>
                  <a:txBody>
                    <a:bodyPr/>
                    <a:lstStyle/>
                    <a:p>
                      <a:r>
                        <a:rPr lang="en-US" dirty="0"/>
                        <a:t>0.6944</a:t>
                      </a:r>
                    </a:p>
                  </a:txBody>
                  <a:tcPr/>
                </a:tc>
                <a:extLst>
                  <a:ext uri="{0D108BD9-81ED-4DB2-BD59-A6C34878D82A}">
                    <a16:rowId xmlns:a16="http://schemas.microsoft.com/office/drawing/2014/main" val="3823797591"/>
                  </a:ext>
                </a:extLst>
              </a:tr>
            </a:tbl>
          </a:graphicData>
        </a:graphic>
      </p:graphicFrame>
      <p:grpSp>
        <p:nvGrpSpPr>
          <p:cNvPr id="8" name="Group 7"/>
          <p:cNvGrpSpPr>
            <a:grpSpLocks noChangeAspect="1"/>
          </p:cNvGrpSpPr>
          <p:nvPr/>
        </p:nvGrpSpPr>
        <p:grpSpPr>
          <a:xfrm>
            <a:off x="7960434" y="884176"/>
            <a:ext cx="3860433" cy="3474720"/>
            <a:chOff x="8400970" y="855784"/>
            <a:chExt cx="3555663" cy="3200400"/>
          </a:xfrm>
        </p:grpSpPr>
        <p:pic>
          <p:nvPicPr>
            <p:cNvPr id="6" name="Picture 1"/>
            <p:cNvPicPr>
              <a:picLocks noChangeAspect="1"/>
            </p:cNvPicPr>
            <p:nvPr/>
          </p:nvPicPr>
          <p:blipFill rotWithShape="1">
            <a:blip r:embed="rId3" cstate="print">
              <a:extLst>
                <a:ext uri="{28A0092B-C50C-407E-A947-70E740481C1C}">
                  <a14:useLocalDpi xmlns:a14="http://schemas.microsoft.com/office/drawing/2010/main" val="0"/>
                </a:ext>
              </a:extLst>
            </a:blip>
            <a:srcRect r="58624"/>
            <a:stretch/>
          </p:blipFill>
          <p:spPr bwMode="auto">
            <a:xfrm>
              <a:off x="8400970" y="855784"/>
              <a:ext cx="179810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59557"/>
            <a:stretch/>
          </p:blipFill>
          <p:spPr bwMode="auto">
            <a:xfrm>
              <a:off x="10199076" y="855784"/>
              <a:ext cx="175755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p:cNvSpPr txBox="1"/>
              <p:nvPr/>
            </p:nvSpPr>
            <p:spPr>
              <a:xfrm>
                <a:off x="8007690" y="4603242"/>
                <a:ext cx="1862433"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9" name="TextBox 8"/>
              <p:cNvSpPr txBox="1">
                <a:spLocks noRot="1" noChangeAspect="1" noMove="1" noResize="1" noEditPoints="1" noAdjustHandles="1" noChangeArrowheads="1" noChangeShapeType="1" noTextEdit="1"/>
              </p:cNvSpPr>
              <p:nvPr/>
            </p:nvSpPr>
            <p:spPr>
              <a:xfrm>
                <a:off x="8007690" y="4603242"/>
                <a:ext cx="1862433" cy="484300"/>
              </a:xfrm>
              <a:prstGeom prst="rect">
                <a:avLst/>
              </a:prstGeom>
              <a:blipFill>
                <a:blip r:embed="rId4"/>
                <a:stretch>
                  <a:fillRect l="-984" r="-2295"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909029"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909029" y="5156299"/>
                <a:ext cx="2004523" cy="6127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172570" y="4534486"/>
                <a:ext cx="1862433"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11" name="TextBox 10"/>
              <p:cNvSpPr txBox="1">
                <a:spLocks noRot="1" noChangeAspect="1" noMove="1" noResize="1" noEditPoints="1" noAdjustHandles="1" noChangeArrowheads="1" noChangeShapeType="1" noTextEdit="1"/>
              </p:cNvSpPr>
              <p:nvPr/>
            </p:nvSpPr>
            <p:spPr>
              <a:xfrm>
                <a:off x="10172570" y="4534486"/>
                <a:ext cx="1862433" cy="484748"/>
              </a:xfrm>
              <a:prstGeom prst="rect">
                <a:avLst/>
              </a:prstGeom>
              <a:blipFill>
                <a:blip r:embed="rId6"/>
                <a:stretch>
                  <a:fillRect l="-984" r="-2295"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110850"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0110850" y="5156299"/>
                <a:ext cx="2004523" cy="6127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991985" y="4274383"/>
                <a:ext cx="32501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=1−</m:t>
                      </m:r>
                      <m:sSup>
                        <m:sSupPr>
                          <m:ctrlPr>
                            <a:rPr lang="en-US" i="1" smtClean="0">
                              <a:latin typeface="Cambria Math" panose="02040503050406030204" pitchFamily="18" charset="0"/>
                            </a:rPr>
                          </m:ctrlPr>
                        </m:sSupPr>
                        <m:e>
                          <m:r>
                            <a:rPr lang="en-US" b="0" i="1" smtClean="0">
                              <a:latin typeface="Cambria Math" panose="02040503050406030204" pitchFamily="18" charset="0"/>
                            </a:rPr>
                            <m:t>(0.3889</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0.6111</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991985" y="4274383"/>
                <a:ext cx="3250185"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991984" y="4696270"/>
                <a:ext cx="31381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=1−</m:t>
                      </m:r>
                      <m:r>
                        <a:rPr lang="en-US" b="0" i="1" smtClean="0">
                          <a:latin typeface="Cambria Math" panose="02040503050406030204" pitchFamily="18" charset="0"/>
                        </a:rPr>
                        <m:t>(0.1512+0.3735)</m:t>
                      </m:r>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991984" y="4696270"/>
                <a:ext cx="3138103" cy="369332"/>
              </a:xfrm>
              <a:prstGeom prst="rect">
                <a:avLst/>
              </a:prstGeom>
              <a:blipFill>
                <a:blip r:embed="rId9"/>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91984" y="5071562"/>
                <a:ext cx="21730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=1−</m:t>
                      </m:r>
                      <m:r>
                        <a:rPr lang="en-US" b="0" i="1" smtClean="0">
                          <a:latin typeface="Cambria Math" panose="02040503050406030204" pitchFamily="18" charset="0"/>
                        </a:rPr>
                        <m:t>(0.5247)</m:t>
                      </m:r>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991984" y="5071562"/>
                <a:ext cx="2173095" cy="369332"/>
              </a:xfrm>
              <a:prstGeom prst="rect">
                <a:avLst/>
              </a:prstGeom>
              <a:blipFill>
                <a:blip r:embed="rId10"/>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995626" y="5435268"/>
                <a:ext cx="15767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0.4753</m:t>
                      </m:r>
                    </m:oMath>
                  </m:oMathPara>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995626" y="5435268"/>
                <a:ext cx="157677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4453048" y="4227708"/>
                <a:ext cx="32501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=1−</m:t>
                      </m:r>
                      <m:sSup>
                        <m:sSupPr>
                          <m:ctrlPr>
                            <a:rPr lang="en-US" i="1" smtClean="0">
                              <a:latin typeface="Cambria Math" panose="02040503050406030204" pitchFamily="18" charset="0"/>
                            </a:rPr>
                          </m:ctrlPr>
                        </m:sSupPr>
                        <m:e>
                          <m:r>
                            <a:rPr lang="en-US" b="0" i="1" smtClean="0">
                              <a:latin typeface="Cambria Math" panose="02040503050406030204" pitchFamily="18" charset="0"/>
                            </a:rPr>
                            <m:t>(0.2222</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0.7778</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4453048" y="4227708"/>
                <a:ext cx="3250185" cy="369332"/>
              </a:xfrm>
              <a:prstGeom prst="rect">
                <a:avLst/>
              </a:prstGeom>
              <a:blipFill>
                <a:blip r:embed="rId12"/>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453047" y="4649595"/>
                <a:ext cx="31381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(0.0494+0.6049)</m:t>
                      </m:r>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4453047" y="4649595"/>
                <a:ext cx="3138103" cy="369332"/>
              </a:xfrm>
              <a:prstGeom prst="rect">
                <a:avLst/>
              </a:prstGeom>
              <a:blipFill>
                <a:blip r:embed="rId1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4453047" y="5024887"/>
                <a:ext cx="21730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(0.6543)</m:t>
                      </m:r>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4453047" y="5024887"/>
                <a:ext cx="2173095" cy="369332"/>
              </a:xfrm>
              <a:prstGeom prst="rect">
                <a:avLst/>
              </a:prstGeom>
              <a:blipFill>
                <a:blip r:embed="rId14"/>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4456689" y="5388593"/>
                <a:ext cx="15767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𝑆</m:t>
                          </m:r>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0.3457</m:t>
                      </m:r>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4456689" y="5388593"/>
                <a:ext cx="157677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327610" y="5856640"/>
                <a:ext cx="309725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𝑺</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𝟒𝟕𝟓𝟑</m:t>
                      </m:r>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𝟑𝟒𝟓𝟕</m:t>
                      </m:r>
                      <m:r>
                        <a:rPr lang="en-US" b="1" i="1" smtClean="0">
                          <a:latin typeface="Cambria Math" panose="02040503050406030204" pitchFamily="18" charset="0"/>
                        </a:rPr>
                        <m:t>)/</m:t>
                      </m:r>
                      <m:r>
                        <a:rPr lang="en-US" b="1" i="1" smtClean="0">
                          <a:latin typeface="Cambria Math" panose="02040503050406030204" pitchFamily="18" charset="0"/>
                        </a:rPr>
                        <m:t>𝟐</m:t>
                      </m:r>
                    </m:oMath>
                  </m:oMathPara>
                </a14:m>
                <a:endParaRPr lang="en-US" b="1" dirty="0"/>
              </a:p>
            </p:txBody>
          </p:sp>
        </mc:Choice>
        <mc:Fallback xmlns="">
          <p:sp>
            <p:nvSpPr>
              <p:cNvPr id="21" name="Rectangle 20"/>
              <p:cNvSpPr>
                <a:spLocks noRot="1" noChangeAspect="1" noMove="1" noResize="1" noEditPoints="1" noAdjustHandles="1" noChangeArrowheads="1" noChangeShapeType="1" noTextEdit="1"/>
              </p:cNvSpPr>
              <p:nvPr/>
            </p:nvSpPr>
            <p:spPr>
              <a:xfrm>
                <a:off x="2327610" y="5856640"/>
                <a:ext cx="3097258" cy="369332"/>
              </a:xfrm>
              <a:prstGeom prst="rect">
                <a:avLst/>
              </a:prstGeom>
              <a:blipFill>
                <a:blip r:embed="rId1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327610" y="6250501"/>
                <a:ext cx="16016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𝑺</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𝟒𝟏𝟎𝟓</m:t>
                      </m:r>
                    </m:oMath>
                  </m:oMathPara>
                </a14:m>
                <a:endParaRPr lang="en-US" b="1" dirty="0"/>
              </a:p>
            </p:txBody>
          </p:sp>
        </mc:Choice>
        <mc:Fallback xmlns="">
          <p:sp>
            <p:nvSpPr>
              <p:cNvPr id="22" name="Rectangle 21"/>
              <p:cNvSpPr>
                <a:spLocks noRot="1" noChangeAspect="1" noMove="1" noResize="1" noEditPoints="1" noAdjustHandles="1" noChangeArrowheads="1" noChangeShapeType="1" noTextEdit="1"/>
              </p:cNvSpPr>
              <p:nvPr/>
            </p:nvSpPr>
            <p:spPr>
              <a:xfrm>
                <a:off x="2327610" y="6250501"/>
                <a:ext cx="1601657" cy="369332"/>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950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70895" y="496633"/>
            <a:ext cx="7755653" cy="193664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700" b="1" dirty="0">
                <a:cs typeface="Calibri"/>
              </a:rPr>
              <a:t>How do we measure population structure?</a:t>
            </a:r>
            <a:endParaRPr lang="en-US" sz="2700" dirty="0">
              <a:latin typeface="Calibri"/>
              <a:cs typeface="Calibri"/>
            </a:endParaRPr>
          </a:p>
          <a:p>
            <a:endParaRPr lang="en-US" sz="1400" dirty="0">
              <a:latin typeface="Calibri"/>
              <a:cs typeface="Calibri"/>
            </a:endParaRPr>
          </a:p>
          <a:p>
            <a:pPr>
              <a:lnSpc>
                <a:spcPct val="120000"/>
              </a:lnSpc>
            </a:pPr>
            <a:r>
              <a:rPr lang="en-US" sz="2400" i="1" dirty="0" err="1">
                <a:cs typeface="Calibri"/>
              </a:rPr>
              <a:t>F</a:t>
            </a:r>
            <a:r>
              <a:rPr lang="en-US" sz="2400" i="1" cap="small" baseline="-25000" dirty="0" err="1">
                <a:cs typeface="Calibri"/>
              </a:rPr>
              <a:t>st</a:t>
            </a:r>
            <a:r>
              <a:rPr lang="en-US" sz="2400" dirty="0">
                <a:cs typeface="Calibri"/>
              </a:rPr>
              <a:t> = </a:t>
            </a:r>
            <a:r>
              <a:rPr lang="en-US" sz="2400" dirty="0">
                <a:latin typeface="Calibri" panose="020F0502020204030204" pitchFamily="34" charset="0"/>
                <a:cs typeface="Calibri" panose="020F0502020204030204" pitchFamily="34" charset="0"/>
              </a:rPr>
              <a:t>the % reduction in heterozygosity due to genetic differentiation among populations.</a:t>
            </a:r>
            <a:endParaRPr lang="en-US" dirty="0">
              <a:latin typeface="Calibri"/>
              <a:cs typeface="Calibri"/>
            </a:endParaRPr>
          </a:p>
        </p:txBody>
      </p:sp>
      <p:grpSp>
        <p:nvGrpSpPr>
          <p:cNvPr id="8" name="Group 7"/>
          <p:cNvGrpSpPr>
            <a:grpSpLocks noChangeAspect="1"/>
          </p:cNvGrpSpPr>
          <p:nvPr/>
        </p:nvGrpSpPr>
        <p:grpSpPr>
          <a:xfrm>
            <a:off x="7960434" y="884176"/>
            <a:ext cx="3860433" cy="3474720"/>
            <a:chOff x="8400970" y="855784"/>
            <a:chExt cx="3555663" cy="3200400"/>
          </a:xfrm>
        </p:grpSpPr>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r="58624"/>
            <a:stretch/>
          </p:blipFill>
          <p:spPr bwMode="auto">
            <a:xfrm>
              <a:off x="8400970" y="855784"/>
              <a:ext cx="1798106"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59557"/>
            <a:stretch/>
          </p:blipFill>
          <p:spPr bwMode="auto">
            <a:xfrm>
              <a:off x="10199076" y="855784"/>
              <a:ext cx="1757557"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a14="http://schemas.microsoft.com/office/drawing/2010/main">
        <mc:Choice Requires="a14">
          <p:sp>
            <p:nvSpPr>
              <p:cNvPr id="9" name="TextBox 8"/>
              <p:cNvSpPr txBox="1"/>
              <p:nvPr/>
            </p:nvSpPr>
            <p:spPr>
              <a:xfrm>
                <a:off x="8034194" y="4603242"/>
                <a:ext cx="1862433"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9" name="TextBox 8"/>
              <p:cNvSpPr txBox="1">
                <a:spLocks noRot="1" noChangeAspect="1" noMove="1" noResize="1" noEditPoints="1" noAdjustHandles="1" noChangeArrowheads="1" noChangeShapeType="1" noTextEdit="1"/>
              </p:cNvSpPr>
              <p:nvPr/>
            </p:nvSpPr>
            <p:spPr>
              <a:xfrm>
                <a:off x="8034194" y="4603242"/>
                <a:ext cx="1862433" cy="484300"/>
              </a:xfrm>
              <a:prstGeom prst="rect">
                <a:avLst/>
              </a:prstGeom>
              <a:blipFill>
                <a:blip r:embed="rId3"/>
                <a:stretch>
                  <a:fillRect l="-984" r="-2295"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935533"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935533" y="5156299"/>
                <a:ext cx="2004523" cy="6127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132814" y="4534486"/>
                <a:ext cx="1862433"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11" name="TextBox 10"/>
              <p:cNvSpPr txBox="1">
                <a:spLocks noRot="1" noChangeAspect="1" noMove="1" noResize="1" noEditPoints="1" noAdjustHandles="1" noChangeArrowheads="1" noChangeShapeType="1" noTextEdit="1"/>
              </p:cNvSpPr>
              <p:nvPr/>
            </p:nvSpPr>
            <p:spPr>
              <a:xfrm>
                <a:off x="10132814" y="4534486"/>
                <a:ext cx="1862433" cy="484748"/>
              </a:xfrm>
              <a:prstGeom prst="rect">
                <a:avLst/>
              </a:prstGeom>
              <a:blipFill>
                <a:blip r:embed="rId5"/>
                <a:stretch>
                  <a:fillRect l="-980" r="-2288"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071094" y="5156299"/>
                <a:ext cx="2004523"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0071094" y="5156299"/>
                <a:ext cx="2004523"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4806646" y="2806657"/>
                <a:ext cx="16016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𝑺</m:t>
                          </m:r>
                        </m:sub>
                      </m:sSub>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𝟒𝟏𝟎𝟓</m:t>
                      </m:r>
                    </m:oMath>
                  </m:oMathPara>
                </a14:m>
                <a:endParaRPr lang="en-US" b="1" dirty="0"/>
              </a:p>
            </p:txBody>
          </p:sp>
        </mc:Choice>
        <mc:Fallback xmlns="">
          <p:sp>
            <p:nvSpPr>
              <p:cNvPr id="22" name="Rectangle 21"/>
              <p:cNvSpPr>
                <a:spLocks noRot="1" noChangeAspect="1" noMove="1" noResize="1" noEditPoints="1" noAdjustHandles="1" noChangeArrowheads="1" noChangeShapeType="1" noTextEdit="1"/>
              </p:cNvSpPr>
              <p:nvPr/>
            </p:nvSpPr>
            <p:spPr>
              <a:xfrm>
                <a:off x="4806646" y="2806657"/>
                <a:ext cx="160165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171456" y="2406951"/>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2171456" y="2406951"/>
                <a:ext cx="1722844" cy="65620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4790156" y="2366460"/>
                <a:ext cx="16112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𝑯</m:t>
                          </m:r>
                        </m:e>
                        <m:sub>
                          <m:r>
                            <a:rPr lang="en-US" b="1" i="1" smtClean="0">
                              <a:latin typeface="Cambria Math" panose="02040503050406030204" pitchFamily="18" charset="0"/>
                            </a:rPr>
                            <m:t>𝑻</m:t>
                          </m:r>
                        </m:sub>
                      </m:sSub>
                      <m:r>
                        <a:rPr lang="en-US" b="1" i="1">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𝟒𝟐𝟒𝟒</m:t>
                      </m:r>
                    </m:oMath>
                  </m:oMathPara>
                </a14:m>
                <a:endParaRPr lang="en-US" b="1" dirty="0"/>
              </a:p>
            </p:txBody>
          </p:sp>
        </mc:Choice>
        <mc:Fallback xmlns="">
          <p:sp>
            <p:nvSpPr>
              <p:cNvPr id="23" name="Rectangle 22"/>
              <p:cNvSpPr>
                <a:spLocks noRot="1" noChangeAspect="1" noMove="1" noResize="1" noEditPoints="1" noAdjustHandles="1" noChangeArrowheads="1" noChangeShapeType="1" noTextEdit="1"/>
              </p:cNvSpPr>
              <p:nvPr/>
            </p:nvSpPr>
            <p:spPr>
              <a:xfrm>
                <a:off x="4790156" y="2366460"/>
                <a:ext cx="161127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1865561" y="3417411"/>
                <a:ext cx="2565574" cy="616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0.4244</m:t>
                          </m:r>
                          <m:r>
                            <a:rPr lang="en-US" i="1">
                              <a:latin typeface="Cambria Math" panose="02040503050406030204" pitchFamily="18" charset="0"/>
                            </a:rPr>
                            <m:t>−</m:t>
                          </m:r>
                          <m:r>
                            <a:rPr lang="en-US" b="0" i="1" smtClean="0">
                              <a:latin typeface="Cambria Math" panose="02040503050406030204" pitchFamily="18" charset="0"/>
                            </a:rPr>
                            <m:t>0.4105</m:t>
                          </m:r>
                        </m:num>
                        <m:den>
                          <m:r>
                            <a:rPr lang="en-US" b="0" i="1" smtClean="0">
                              <a:latin typeface="Cambria Math" panose="02040503050406030204" pitchFamily="18" charset="0"/>
                            </a:rPr>
                            <m:t>0.4244</m:t>
                          </m:r>
                        </m:den>
                      </m:f>
                    </m:oMath>
                  </m:oMathPara>
                </a14:m>
                <a:endParaRPr lang="en-US" dirty="0"/>
              </a:p>
            </p:txBody>
          </p:sp>
        </mc:Choice>
        <mc:Fallback xmlns="">
          <p:sp>
            <p:nvSpPr>
              <p:cNvPr id="24" name="Rectangle 23"/>
              <p:cNvSpPr>
                <a:spLocks noRot="1" noChangeAspect="1" noMove="1" noResize="1" noEditPoints="1" noAdjustHandles="1" noChangeArrowheads="1" noChangeShapeType="1" noTextEdit="1"/>
              </p:cNvSpPr>
              <p:nvPr/>
            </p:nvSpPr>
            <p:spPr>
              <a:xfrm>
                <a:off x="1865561" y="3417411"/>
                <a:ext cx="2565574" cy="6165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2373713" y="4343597"/>
                <a:ext cx="15492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m:t>
                      </m:r>
                      <m:r>
                        <a:rPr lang="en-US" b="0" i="1" smtClean="0">
                          <a:latin typeface="Cambria Math" panose="02040503050406030204" pitchFamily="18" charset="0"/>
                        </a:rPr>
                        <m:t>0.0327</m:t>
                      </m:r>
                    </m:oMath>
                  </m:oMathPara>
                </a14:m>
                <a:endParaRPr lang="en-US" dirty="0"/>
              </a:p>
            </p:txBody>
          </p:sp>
        </mc:Choice>
        <mc:Fallback xmlns="">
          <p:sp>
            <p:nvSpPr>
              <p:cNvPr id="25" name="Rectangle 24"/>
              <p:cNvSpPr>
                <a:spLocks noRot="1" noChangeAspect="1" noMove="1" noResize="1" noEditPoints="1" noAdjustHandles="1" noChangeArrowheads="1" noChangeShapeType="1" noTextEdit="1"/>
              </p:cNvSpPr>
              <p:nvPr/>
            </p:nvSpPr>
            <p:spPr>
              <a:xfrm>
                <a:off x="2373713" y="4343597"/>
                <a:ext cx="1549270" cy="369332"/>
              </a:xfrm>
              <a:prstGeom prst="rect">
                <a:avLst/>
              </a:prstGeom>
              <a:blipFill>
                <a:blip r:embed="rId11"/>
                <a:stretch>
                  <a:fillRect/>
                </a:stretch>
              </a:blipFill>
            </p:spPr>
            <p:txBody>
              <a:bodyPr/>
              <a:lstStyle/>
              <a:p>
                <a:r>
                  <a:rPr lang="en-US">
                    <a:noFill/>
                  </a:rPr>
                  <a:t> </a:t>
                </a:r>
              </a:p>
            </p:txBody>
          </p:sp>
        </mc:Fallback>
      </mc:AlternateContent>
      <p:sp>
        <p:nvSpPr>
          <p:cNvPr id="26" name="TextBox 25"/>
          <p:cNvSpPr txBox="1"/>
          <p:nvPr/>
        </p:nvSpPr>
        <p:spPr>
          <a:xfrm>
            <a:off x="1293114" y="4984201"/>
            <a:ext cx="6022086" cy="1200329"/>
          </a:xfrm>
          <a:prstGeom prst="rect">
            <a:avLst/>
          </a:prstGeom>
          <a:noFill/>
        </p:spPr>
        <p:txBody>
          <a:bodyPr wrap="square" rtlCol="0">
            <a:spAutoFit/>
          </a:bodyPr>
          <a:lstStyle/>
          <a:p>
            <a:r>
              <a:rPr lang="en-US" sz="2400" dirty="0"/>
              <a:t>3.3% of the total genetic variation is explained by differences between populations.</a:t>
            </a:r>
          </a:p>
          <a:p>
            <a:r>
              <a:rPr lang="en-US" sz="2400" dirty="0"/>
              <a:t>    </a:t>
            </a:r>
            <a:r>
              <a:rPr lang="en-US" sz="2000" dirty="0"/>
              <a:t>*Weak population structure</a:t>
            </a:r>
            <a:endParaRPr lang="en-US" sz="2400" dirty="0"/>
          </a:p>
        </p:txBody>
      </p:sp>
    </p:spTree>
    <p:extLst>
      <p:ext uri="{BB962C8B-B14F-4D97-AF65-F5344CB8AC3E}">
        <p14:creationId xmlns:p14="http://schemas.microsoft.com/office/powerpoint/2010/main" val="337963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149531" y="1143000"/>
                <a:ext cx="10110652" cy="4348242"/>
              </a:xfrm>
              <a:prstGeom prst="rect">
                <a:avLst/>
              </a:prstGeom>
              <a:noFill/>
            </p:spPr>
            <p:txBody>
              <a:bodyPr wrap="square" rtlCol="0">
                <a:spAutoFit/>
              </a:bodyPr>
              <a:lstStyle/>
              <a:p>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𝐼𝑆</m:t>
                        </m:r>
                      </m:sub>
                    </m:sSub>
                    <m:r>
                      <a:rPr lang="en-US" sz="2000" i="1">
                        <a:latin typeface="Cambria Math" panose="02040503050406030204" pitchFamily="18" charset="0"/>
                      </a:rPr>
                      <m:t>= </m:t>
                    </m:r>
                  </m:oMath>
                </a14:m>
                <a:r>
                  <a:rPr lang="en-US" sz="2000" dirty="0">
                    <a:cs typeface="Calibri"/>
                  </a:rPr>
                  <a:t>Deviation in heterozygosity among individuals relative to the subpopulation – inbreeding coefficient and can be calculated per population.</a:t>
                </a:r>
              </a:p>
              <a:p>
                <a:pPr algn="ctr"/>
                <a:endParaRPr lang="en-US" sz="20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𝐼𝑆</m:t>
                          </m:r>
                        </m:sub>
                      </m:sSub>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𝑆</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𝐼</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𝑆</m:t>
                              </m:r>
                            </m:sub>
                          </m:sSub>
                        </m:den>
                      </m:f>
                    </m:oMath>
                  </m:oMathPara>
                </a14:m>
                <a:endParaRPr lang="en-US" sz="3600" i="1" dirty="0">
                  <a:latin typeface="Calibri"/>
                  <a:cs typeface="Calibri"/>
                </a:endParaRPr>
              </a:p>
              <a:p>
                <a:pPr algn="ctr"/>
                <a:endParaRPr lang="en-US" sz="1200" dirty="0">
                  <a:latin typeface="Calibri"/>
                  <a:cs typeface="Calibri"/>
                </a:endParaRPr>
              </a:p>
              <a:p>
                <a:pPr algn="ctr"/>
                <a:r>
                  <a:rPr lang="en-US" sz="2000" dirty="0">
                    <a:cs typeface="Calibri"/>
                  </a:rPr>
                  <a:t>*</a:t>
                </a:r>
                <a:r>
                  <a:rPr lang="en-US" sz="2000" i="1" dirty="0">
                    <a:cs typeface="Calibri"/>
                  </a:rPr>
                  <a:t>H</a:t>
                </a:r>
                <a:r>
                  <a:rPr lang="en-US" sz="2000" i="1" baseline="-25000" dirty="0">
                    <a:cs typeface="Calibri"/>
                  </a:rPr>
                  <a:t>I</a:t>
                </a:r>
                <a:r>
                  <a:rPr lang="en-US" sz="2000" dirty="0">
                    <a:cs typeface="Calibri"/>
                  </a:rPr>
                  <a:t> = Observed heterozygosity (</a:t>
                </a:r>
                <a:r>
                  <a:rPr lang="en-US" sz="2000" i="1" dirty="0">
                    <a:cs typeface="Calibri"/>
                  </a:rPr>
                  <a:t>H</a:t>
                </a:r>
                <a:r>
                  <a:rPr lang="en-US" sz="2000" i="1" baseline="-25000" dirty="0">
                    <a:cs typeface="Calibri"/>
                  </a:rPr>
                  <a:t>obs</a:t>
                </a:r>
                <a:r>
                  <a:rPr lang="en-US" sz="2000" dirty="0">
                    <a:cs typeface="Calibri"/>
                  </a:rPr>
                  <a:t>)</a:t>
                </a:r>
                <a:endParaRPr lang="en-US" sz="2000" dirty="0">
                  <a:latin typeface="Calibri"/>
                  <a:cs typeface="Calibri"/>
                </a:endParaRPr>
              </a:p>
              <a:p>
                <a:pPr algn="ctr"/>
                <a:endParaRPr lang="en-US" sz="2400" dirty="0">
                  <a:latin typeface="Calibri"/>
                  <a:cs typeface="Calibri"/>
                </a:endParaRPr>
              </a:p>
              <a:p>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𝐼𝑇</m:t>
                        </m:r>
                      </m:sub>
                    </m:sSub>
                    <m:r>
                      <a:rPr lang="en-US" sz="2000" i="1">
                        <a:latin typeface="Cambria Math" panose="02040503050406030204" pitchFamily="18" charset="0"/>
                      </a:rPr>
                      <m:t>= </m:t>
                    </m:r>
                  </m:oMath>
                </a14:m>
                <a:r>
                  <a:rPr lang="en-US" sz="2000" dirty="0">
                    <a:cs typeface="Calibri"/>
                  </a:rPr>
                  <a:t>Deviation in overall heterozygosity among individuals relative to the total population</a:t>
                </a:r>
              </a:p>
              <a:p>
                <a:pPr algn="ctr"/>
                <a:endParaRPr lang="en-US" sz="2400" dirty="0">
                  <a:latin typeface="Calibri"/>
                  <a:cs typeface="Calibri"/>
                </a:endParaRPr>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𝐼𝑇</m:t>
                          </m:r>
                        </m:sub>
                      </m:sSub>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𝑇</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𝐼</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𝑇</m:t>
                              </m:r>
                            </m:sub>
                          </m:sSub>
                        </m:den>
                      </m:f>
                    </m:oMath>
                  </m:oMathPara>
                </a14:m>
                <a:endParaRPr lang="en-US" sz="2800" i="1" dirty="0">
                  <a:cs typeface="Calibri"/>
                </a:endParaRPr>
              </a:p>
              <a:p>
                <a:pPr algn="ctr"/>
                <a:endParaRPr lang="en-US" sz="1100" dirty="0">
                  <a:cs typeface="Calibri"/>
                </a:endParaRPr>
              </a:p>
              <a:p>
                <a:pPr algn="ctr"/>
                <a:endParaRPr lang="en-US" sz="2400" dirty="0">
                  <a:latin typeface="Calibri"/>
                  <a:cs typeface="Calibri"/>
                  <a:sym typeface="Wingdings" panose="05000000000000000000" pitchFamily="2" charset="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149531" y="1143000"/>
                <a:ext cx="10110652" cy="4348242"/>
              </a:xfrm>
              <a:prstGeom prst="rect">
                <a:avLst/>
              </a:prstGeom>
              <a:blipFill>
                <a:blip r:embed="rId2"/>
                <a:stretch>
                  <a:fillRect l="-663" t="-842"/>
                </a:stretch>
              </a:blipFill>
            </p:spPr>
            <p:txBody>
              <a:bodyPr/>
              <a:lstStyle/>
              <a:p>
                <a:r>
                  <a:rPr lang="en-US">
                    <a:noFill/>
                  </a:rPr>
                  <a:t> </a:t>
                </a:r>
              </a:p>
            </p:txBody>
          </p:sp>
        </mc:Fallback>
      </mc:AlternateContent>
      <p:sp>
        <p:nvSpPr>
          <p:cNvPr id="2" name="TextBox 1"/>
          <p:cNvSpPr txBox="1"/>
          <p:nvPr/>
        </p:nvSpPr>
        <p:spPr>
          <a:xfrm>
            <a:off x="1149531" y="470263"/>
            <a:ext cx="3282502" cy="523220"/>
          </a:xfrm>
          <a:prstGeom prst="rect">
            <a:avLst/>
          </a:prstGeom>
          <a:noFill/>
        </p:spPr>
        <p:txBody>
          <a:bodyPr wrap="none" rtlCol="0">
            <a:spAutoFit/>
          </a:bodyPr>
          <a:lstStyle/>
          <a:p>
            <a:r>
              <a:rPr lang="en-US" sz="2800" u="sng" dirty="0"/>
              <a:t>Related </a:t>
            </a:r>
            <a:r>
              <a:rPr lang="en-US" sz="2800" i="1" u="sng" dirty="0"/>
              <a:t>F</a:t>
            </a:r>
            <a:r>
              <a:rPr lang="en-US" sz="2800" u="sng" dirty="0"/>
              <a:t> coefficients</a:t>
            </a:r>
          </a:p>
        </p:txBody>
      </p:sp>
    </p:spTree>
    <p:extLst>
      <p:ext uri="{BB962C8B-B14F-4D97-AF65-F5344CB8AC3E}">
        <p14:creationId xmlns:p14="http://schemas.microsoft.com/office/powerpoint/2010/main" val="2348585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8AC66A-E1A4-E9C5-6AF8-C905E146F300}"/>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37234145-02D4-F0D4-7D7E-560F87A00372}"/>
              </a:ext>
            </a:extLst>
          </p:cNvPr>
          <p:cNvSpPr>
            <a:spLocks noGrp="1"/>
          </p:cNvSpPr>
          <p:nvPr>
            <p:ph idx="1"/>
          </p:nvPr>
        </p:nvSpPr>
        <p:spPr/>
        <p:txBody>
          <a:bodyPr/>
          <a:lstStyle/>
          <a:p>
            <a:r>
              <a:rPr lang="en-US" dirty="0"/>
              <a:t>Observed heterozygosity within the population (ho)</a:t>
            </a:r>
          </a:p>
          <a:p>
            <a:r>
              <a:rPr lang="en-US" dirty="0"/>
              <a:t>Expected heterozygosity within the population (</a:t>
            </a:r>
            <a:r>
              <a:rPr lang="en-US" dirty="0" err="1"/>
              <a:t>hs</a:t>
            </a:r>
            <a:r>
              <a:rPr lang="en-US" dirty="0"/>
              <a:t>)</a:t>
            </a:r>
          </a:p>
          <a:p>
            <a:r>
              <a:rPr lang="en-US" dirty="0"/>
              <a:t>Total expected heterozygosity (</a:t>
            </a:r>
            <a:r>
              <a:rPr lang="en-US" dirty="0" err="1"/>
              <a:t>hT</a:t>
            </a:r>
            <a:r>
              <a:rPr lang="en-US" dirty="0"/>
              <a:t>)</a:t>
            </a:r>
          </a:p>
          <a:p>
            <a:r>
              <a:rPr lang="en-US" dirty="0"/>
              <a:t>Expected heterozygosity = Diversity!</a:t>
            </a:r>
            <a:endParaRPr lang="es-CO" dirty="0"/>
          </a:p>
        </p:txBody>
      </p:sp>
    </p:spTree>
    <p:extLst>
      <p:ext uri="{BB962C8B-B14F-4D97-AF65-F5344CB8AC3E}">
        <p14:creationId xmlns:p14="http://schemas.microsoft.com/office/powerpoint/2010/main" val="2830169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222B8F-9B4A-0954-EBA0-532710B27E4D}"/>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9D0FED03-DF10-D48D-946D-B3BF6827F35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5EE553DC-86C6-42D4-8F99-A34F1A41116B}"/>
              </a:ext>
            </a:extLst>
          </p:cNvPr>
          <p:cNvPicPr>
            <a:picLocks noChangeAspect="1"/>
          </p:cNvPicPr>
          <p:nvPr/>
        </p:nvPicPr>
        <p:blipFill>
          <a:blip r:embed="rId2"/>
          <a:stretch>
            <a:fillRect/>
          </a:stretch>
        </p:blipFill>
        <p:spPr>
          <a:xfrm>
            <a:off x="544406" y="365125"/>
            <a:ext cx="2981741" cy="1105054"/>
          </a:xfrm>
          <a:prstGeom prst="rect">
            <a:avLst/>
          </a:prstGeom>
        </p:spPr>
      </p:pic>
      <p:pic>
        <p:nvPicPr>
          <p:cNvPr id="7" name="Imagen 6">
            <a:extLst>
              <a:ext uri="{FF2B5EF4-FFF2-40B4-BE49-F238E27FC236}">
                <a16:creationId xmlns:a16="http://schemas.microsoft.com/office/drawing/2014/main" id="{C6664593-4161-C9D6-6B1C-5F4D0ECBB5F7}"/>
              </a:ext>
            </a:extLst>
          </p:cNvPr>
          <p:cNvPicPr>
            <a:picLocks noChangeAspect="1"/>
          </p:cNvPicPr>
          <p:nvPr/>
        </p:nvPicPr>
        <p:blipFill>
          <a:blip r:embed="rId3"/>
          <a:stretch>
            <a:fillRect/>
          </a:stretch>
        </p:blipFill>
        <p:spPr>
          <a:xfrm>
            <a:off x="544406" y="1493892"/>
            <a:ext cx="7316221" cy="2867425"/>
          </a:xfrm>
          <a:prstGeom prst="rect">
            <a:avLst/>
          </a:prstGeom>
        </p:spPr>
      </p:pic>
      <p:pic>
        <p:nvPicPr>
          <p:cNvPr id="9" name="Imagen 8">
            <a:extLst>
              <a:ext uri="{FF2B5EF4-FFF2-40B4-BE49-F238E27FC236}">
                <a16:creationId xmlns:a16="http://schemas.microsoft.com/office/drawing/2014/main" id="{606FFFE2-4BD1-A82C-E94F-E298D99A0B53}"/>
              </a:ext>
            </a:extLst>
          </p:cNvPr>
          <p:cNvPicPr>
            <a:picLocks noChangeAspect="1"/>
          </p:cNvPicPr>
          <p:nvPr/>
        </p:nvPicPr>
        <p:blipFill>
          <a:blip r:embed="rId4"/>
          <a:stretch>
            <a:fillRect/>
          </a:stretch>
        </p:blipFill>
        <p:spPr>
          <a:xfrm>
            <a:off x="1282187" y="4428786"/>
            <a:ext cx="8821381" cy="2429214"/>
          </a:xfrm>
          <a:prstGeom prst="rect">
            <a:avLst/>
          </a:prstGeom>
        </p:spPr>
      </p:pic>
    </p:spTree>
    <p:extLst>
      <p:ext uri="{BB962C8B-B14F-4D97-AF65-F5344CB8AC3E}">
        <p14:creationId xmlns:p14="http://schemas.microsoft.com/office/powerpoint/2010/main" val="845977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7EF9F-0A0C-8638-8B91-4B96E96FF05D}"/>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2544729D-9F8A-5F2C-4B95-455F74A72AA4}"/>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2FE357BE-C67E-053D-FE02-76E8BE4C64EA}"/>
              </a:ext>
            </a:extLst>
          </p:cNvPr>
          <p:cNvPicPr>
            <a:picLocks noChangeAspect="1"/>
          </p:cNvPicPr>
          <p:nvPr/>
        </p:nvPicPr>
        <p:blipFill>
          <a:blip r:embed="rId2"/>
          <a:stretch>
            <a:fillRect/>
          </a:stretch>
        </p:blipFill>
        <p:spPr>
          <a:xfrm>
            <a:off x="416948" y="277438"/>
            <a:ext cx="8821381" cy="2429214"/>
          </a:xfrm>
          <a:prstGeom prst="rect">
            <a:avLst/>
          </a:prstGeom>
        </p:spPr>
      </p:pic>
      <p:pic>
        <p:nvPicPr>
          <p:cNvPr id="7" name="Imagen 6">
            <a:extLst>
              <a:ext uri="{FF2B5EF4-FFF2-40B4-BE49-F238E27FC236}">
                <a16:creationId xmlns:a16="http://schemas.microsoft.com/office/drawing/2014/main" id="{32AF5557-7538-5691-2213-865EAC9CB0BC}"/>
              </a:ext>
            </a:extLst>
          </p:cNvPr>
          <p:cNvPicPr>
            <a:picLocks noChangeAspect="1"/>
          </p:cNvPicPr>
          <p:nvPr/>
        </p:nvPicPr>
        <p:blipFill>
          <a:blip r:embed="rId3"/>
          <a:stretch>
            <a:fillRect/>
          </a:stretch>
        </p:blipFill>
        <p:spPr>
          <a:xfrm>
            <a:off x="214745" y="2706652"/>
            <a:ext cx="4801270" cy="1390844"/>
          </a:xfrm>
          <a:prstGeom prst="rect">
            <a:avLst/>
          </a:prstGeom>
        </p:spPr>
      </p:pic>
      <p:pic>
        <p:nvPicPr>
          <p:cNvPr id="9" name="Imagen 8">
            <a:extLst>
              <a:ext uri="{FF2B5EF4-FFF2-40B4-BE49-F238E27FC236}">
                <a16:creationId xmlns:a16="http://schemas.microsoft.com/office/drawing/2014/main" id="{D2680E86-AFBD-2E8D-7804-693CA6CC93C9}"/>
              </a:ext>
            </a:extLst>
          </p:cNvPr>
          <p:cNvPicPr>
            <a:picLocks noChangeAspect="1"/>
          </p:cNvPicPr>
          <p:nvPr/>
        </p:nvPicPr>
        <p:blipFill>
          <a:blip r:embed="rId4"/>
          <a:stretch>
            <a:fillRect/>
          </a:stretch>
        </p:blipFill>
        <p:spPr>
          <a:xfrm>
            <a:off x="4827638" y="2757637"/>
            <a:ext cx="4877481" cy="1362265"/>
          </a:xfrm>
          <a:prstGeom prst="rect">
            <a:avLst/>
          </a:prstGeom>
        </p:spPr>
      </p:pic>
      <p:pic>
        <p:nvPicPr>
          <p:cNvPr id="12" name="Imagen 11">
            <a:extLst>
              <a:ext uri="{FF2B5EF4-FFF2-40B4-BE49-F238E27FC236}">
                <a16:creationId xmlns:a16="http://schemas.microsoft.com/office/drawing/2014/main" id="{DE4A3B6F-E795-886B-C7A3-2074937C2837}"/>
              </a:ext>
            </a:extLst>
          </p:cNvPr>
          <p:cNvPicPr>
            <a:picLocks noChangeAspect="1"/>
          </p:cNvPicPr>
          <p:nvPr/>
        </p:nvPicPr>
        <p:blipFill>
          <a:blip r:embed="rId5"/>
          <a:stretch>
            <a:fillRect/>
          </a:stretch>
        </p:blipFill>
        <p:spPr>
          <a:xfrm>
            <a:off x="987831" y="4547961"/>
            <a:ext cx="8859486" cy="1629002"/>
          </a:xfrm>
          <a:prstGeom prst="rect">
            <a:avLst/>
          </a:prstGeom>
        </p:spPr>
      </p:pic>
      <p:pic>
        <p:nvPicPr>
          <p:cNvPr id="14" name="Imagen 13">
            <a:extLst>
              <a:ext uri="{FF2B5EF4-FFF2-40B4-BE49-F238E27FC236}">
                <a16:creationId xmlns:a16="http://schemas.microsoft.com/office/drawing/2014/main" id="{6AB82B31-BD74-163D-2771-3BD7CD3EBCD4}"/>
              </a:ext>
            </a:extLst>
          </p:cNvPr>
          <p:cNvPicPr>
            <a:picLocks noChangeAspect="1"/>
          </p:cNvPicPr>
          <p:nvPr/>
        </p:nvPicPr>
        <p:blipFill>
          <a:blip r:embed="rId6"/>
          <a:stretch>
            <a:fillRect/>
          </a:stretch>
        </p:blipFill>
        <p:spPr>
          <a:xfrm>
            <a:off x="6563499" y="5247833"/>
            <a:ext cx="4315427" cy="1143160"/>
          </a:xfrm>
          <a:prstGeom prst="rect">
            <a:avLst/>
          </a:prstGeom>
        </p:spPr>
      </p:pic>
    </p:spTree>
    <p:extLst>
      <p:ext uri="{BB962C8B-B14F-4D97-AF65-F5344CB8AC3E}">
        <p14:creationId xmlns:p14="http://schemas.microsoft.com/office/powerpoint/2010/main" val="3350080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E4E18-8A8B-AC0E-DBE1-A1DF0C4FFE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7551E2-E36E-6960-E4FD-FBAFF0E1529C}"/>
              </a:ext>
            </a:extLst>
          </p:cNvPr>
          <p:cNvSpPr>
            <a:spLocks noGrp="1"/>
          </p:cNvSpPr>
          <p:nvPr>
            <p:ph type="title"/>
          </p:nvPr>
        </p:nvSpPr>
        <p:spPr/>
        <p:txBody>
          <a:bodyPr/>
          <a:lstStyle/>
          <a:p>
            <a:r>
              <a:rPr lang="es-ES" dirty="0"/>
              <a:t>Island </a:t>
            </a:r>
            <a:r>
              <a:rPr lang="es-ES" dirty="0" err="1"/>
              <a:t>model</a:t>
            </a:r>
            <a:endParaRPr lang="es-CO" dirty="0"/>
          </a:p>
        </p:txBody>
      </p:sp>
      <p:sp>
        <p:nvSpPr>
          <p:cNvPr id="3" name="Marcador de contenido 2">
            <a:extLst>
              <a:ext uri="{FF2B5EF4-FFF2-40B4-BE49-F238E27FC236}">
                <a16:creationId xmlns:a16="http://schemas.microsoft.com/office/drawing/2014/main" id="{62FEADCC-5437-ACE0-DE2D-BDE3AA032021}"/>
              </a:ext>
            </a:extLst>
          </p:cNvPr>
          <p:cNvSpPr>
            <a:spLocks noGrp="1"/>
          </p:cNvSpPr>
          <p:nvPr>
            <p:ph idx="1"/>
          </p:nvPr>
        </p:nvSpPr>
        <p:spPr/>
        <p:txBody>
          <a:bodyPr/>
          <a:lstStyle/>
          <a:p>
            <a:endParaRPr lang="es-CO"/>
          </a:p>
        </p:txBody>
      </p:sp>
      <p:pic>
        <p:nvPicPr>
          <p:cNvPr id="1026" name="Picture 2" descr="A. Species are often assumed to be relatively homogenous units with panmixia. B. However, species  can also consist of structured populations that are somewhat differentiated but still connected by migration. Variation in color indicates population differentiation; arrows represent patterns of migration among populations. C. Schematic of the one-island migration model.">
            <a:extLst>
              <a:ext uri="{FF2B5EF4-FFF2-40B4-BE49-F238E27FC236}">
                <a16:creationId xmlns:a16="http://schemas.microsoft.com/office/drawing/2014/main" id="{196A7120-C608-5DEE-F729-AD5A37070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24" y="1628775"/>
            <a:ext cx="11430000" cy="360045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24ED65C-CA27-E9C7-A6A3-A093EBAACC95}"/>
              </a:ext>
            </a:extLst>
          </p:cNvPr>
          <p:cNvSpPr txBox="1"/>
          <p:nvPr/>
        </p:nvSpPr>
        <p:spPr>
          <a:xfrm>
            <a:off x="0" y="5715298"/>
            <a:ext cx="6094324" cy="923330"/>
          </a:xfrm>
          <a:prstGeom prst="rect">
            <a:avLst/>
          </a:prstGeom>
          <a:noFill/>
        </p:spPr>
        <p:txBody>
          <a:bodyPr wrap="square">
            <a:spAutoFit/>
          </a:bodyPr>
          <a:lstStyle/>
          <a:p>
            <a:r>
              <a:rPr lang="es-CO" dirty="0"/>
              <a:t>https://michitobler.github.io/primer-of-evolution/evolutionary-mechanisms-ii-mutation-genetic-drift-migration-and-non-random-mating.html</a:t>
            </a:r>
          </a:p>
        </p:txBody>
      </p:sp>
    </p:spTree>
    <p:extLst>
      <p:ext uri="{BB962C8B-B14F-4D97-AF65-F5344CB8AC3E}">
        <p14:creationId xmlns:p14="http://schemas.microsoft.com/office/powerpoint/2010/main" val="139280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290087-D6FA-3051-1DC1-8C4FE6295DAE}"/>
              </a:ext>
            </a:extLst>
          </p:cNvPr>
          <p:cNvSpPr>
            <a:spLocks noGrp="1"/>
          </p:cNvSpPr>
          <p:nvPr>
            <p:ph type="title"/>
          </p:nvPr>
        </p:nvSpPr>
        <p:spPr>
          <a:xfrm>
            <a:off x="324465" y="365125"/>
            <a:ext cx="11533237" cy="1325563"/>
          </a:xfrm>
        </p:spPr>
        <p:txBody>
          <a:bodyPr>
            <a:normAutofit fontScale="90000"/>
          </a:bodyPr>
          <a:lstStyle/>
          <a:p>
            <a:pPr algn="ctr"/>
            <a:r>
              <a:rPr lang="en-US" dirty="0"/>
              <a:t>The change in gene frequency</a:t>
            </a:r>
            <a:br>
              <a:rPr lang="en-US" dirty="0"/>
            </a:br>
            <a:r>
              <a:rPr lang="en-US" dirty="0"/>
              <a:t>as a result of migration depends on the immigration rate (m)</a:t>
            </a:r>
            <a:endParaRPr lang="es-CO" dirty="0"/>
          </a:p>
        </p:txBody>
      </p:sp>
      <p:sp>
        <p:nvSpPr>
          <p:cNvPr id="3" name="Marcador de contenido 2">
            <a:extLst>
              <a:ext uri="{FF2B5EF4-FFF2-40B4-BE49-F238E27FC236}">
                <a16:creationId xmlns:a16="http://schemas.microsoft.com/office/drawing/2014/main" id="{24955F06-5748-2B77-9985-B8F15E62F557}"/>
              </a:ext>
            </a:extLst>
          </p:cNvPr>
          <p:cNvSpPr>
            <a:spLocks noGrp="1"/>
          </p:cNvSpPr>
          <p:nvPr>
            <p:ph idx="1"/>
          </p:nvPr>
        </p:nvSpPr>
        <p:spPr/>
        <p:txBody>
          <a:bodyPr/>
          <a:lstStyle/>
          <a:p>
            <a:r>
              <a:rPr lang="es-CO" dirty="0"/>
              <a:t>m = </a:t>
            </a:r>
            <a:r>
              <a:rPr lang="es-CO" dirty="0" err="1"/>
              <a:t>Immigration</a:t>
            </a:r>
            <a:r>
              <a:rPr lang="es-CO" dirty="0"/>
              <a:t> </a:t>
            </a:r>
            <a:r>
              <a:rPr lang="es-CO" dirty="0" err="1"/>
              <a:t>rate</a:t>
            </a:r>
            <a:endParaRPr lang="es-CO" dirty="0"/>
          </a:p>
          <a:p>
            <a:r>
              <a:rPr lang="es-CO" dirty="0"/>
              <a:t>1-m = (Natives)</a:t>
            </a:r>
          </a:p>
          <a:p>
            <a:r>
              <a:rPr lang="es-CO" i="1" dirty="0"/>
              <a:t>q</a:t>
            </a:r>
            <a:r>
              <a:rPr lang="es-CO" dirty="0"/>
              <a:t>0 = </a:t>
            </a:r>
            <a:r>
              <a:rPr lang="es-CO" dirty="0" err="1"/>
              <a:t>allelic</a:t>
            </a:r>
            <a:r>
              <a:rPr lang="es-CO" dirty="0"/>
              <a:t> </a:t>
            </a:r>
            <a:r>
              <a:rPr lang="es-CO" dirty="0" err="1"/>
              <a:t>frequency</a:t>
            </a:r>
            <a:r>
              <a:rPr lang="es-CO" dirty="0"/>
              <a:t> </a:t>
            </a:r>
            <a:r>
              <a:rPr lang="es-CO" dirty="0" err="1"/>
              <a:t>of</a:t>
            </a:r>
            <a:r>
              <a:rPr lang="es-CO" dirty="0"/>
              <a:t> natives</a:t>
            </a:r>
          </a:p>
          <a:p>
            <a:r>
              <a:rPr lang="es-CO" dirty="0" err="1"/>
              <a:t>qm</a:t>
            </a:r>
            <a:r>
              <a:rPr lang="es-CO" dirty="0"/>
              <a:t>= </a:t>
            </a:r>
            <a:r>
              <a:rPr lang="es-CO" dirty="0" err="1"/>
              <a:t>allelic</a:t>
            </a:r>
            <a:r>
              <a:rPr lang="es-CO" dirty="0"/>
              <a:t> </a:t>
            </a:r>
            <a:r>
              <a:rPr lang="es-CO" dirty="0" err="1"/>
              <a:t>frequency</a:t>
            </a:r>
            <a:r>
              <a:rPr lang="es-CO" dirty="0"/>
              <a:t> </a:t>
            </a:r>
            <a:r>
              <a:rPr lang="es-CO" dirty="0" err="1"/>
              <a:t>of</a:t>
            </a:r>
            <a:r>
              <a:rPr lang="es-CO" dirty="0"/>
              <a:t> </a:t>
            </a:r>
            <a:r>
              <a:rPr lang="es-CO" dirty="0" err="1"/>
              <a:t>migrants</a:t>
            </a:r>
            <a:endParaRPr lang="es-CO" dirty="0"/>
          </a:p>
          <a:p>
            <a:endParaRPr lang="es-CO" dirty="0"/>
          </a:p>
        </p:txBody>
      </p:sp>
      <p:pic>
        <p:nvPicPr>
          <p:cNvPr id="7" name="Imagen 6">
            <a:extLst>
              <a:ext uri="{FF2B5EF4-FFF2-40B4-BE49-F238E27FC236}">
                <a16:creationId xmlns:a16="http://schemas.microsoft.com/office/drawing/2014/main" id="{1778E1C0-2F01-6B0F-33C5-461A6939FA35}"/>
              </a:ext>
            </a:extLst>
          </p:cNvPr>
          <p:cNvPicPr>
            <a:picLocks noChangeAspect="1"/>
          </p:cNvPicPr>
          <p:nvPr/>
        </p:nvPicPr>
        <p:blipFill>
          <a:blip r:embed="rId2"/>
          <a:stretch>
            <a:fillRect/>
          </a:stretch>
        </p:blipFill>
        <p:spPr>
          <a:xfrm>
            <a:off x="6892811" y="2228810"/>
            <a:ext cx="3086531" cy="571580"/>
          </a:xfrm>
          <a:prstGeom prst="rect">
            <a:avLst/>
          </a:prstGeom>
        </p:spPr>
      </p:pic>
      <p:pic>
        <p:nvPicPr>
          <p:cNvPr id="9" name="Imagen 8">
            <a:extLst>
              <a:ext uri="{FF2B5EF4-FFF2-40B4-BE49-F238E27FC236}">
                <a16:creationId xmlns:a16="http://schemas.microsoft.com/office/drawing/2014/main" id="{D11D044F-EB99-21F0-793B-13FFBA5368CA}"/>
              </a:ext>
            </a:extLst>
          </p:cNvPr>
          <p:cNvPicPr>
            <a:picLocks noChangeAspect="1"/>
          </p:cNvPicPr>
          <p:nvPr/>
        </p:nvPicPr>
        <p:blipFill>
          <a:blip r:embed="rId3"/>
          <a:stretch>
            <a:fillRect/>
          </a:stretch>
        </p:blipFill>
        <p:spPr>
          <a:xfrm>
            <a:off x="6788983" y="2836811"/>
            <a:ext cx="2743583" cy="733527"/>
          </a:xfrm>
          <a:prstGeom prst="rect">
            <a:avLst/>
          </a:prstGeom>
        </p:spPr>
      </p:pic>
      <p:pic>
        <p:nvPicPr>
          <p:cNvPr id="11" name="Imagen 10">
            <a:extLst>
              <a:ext uri="{FF2B5EF4-FFF2-40B4-BE49-F238E27FC236}">
                <a16:creationId xmlns:a16="http://schemas.microsoft.com/office/drawing/2014/main" id="{841E12C7-FD9D-9044-86AF-7F3D53F25A5D}"/>
              </a:ext>
            </a:extLst>
          </p:cNvPr>
          <p:cNvPicPr>
            <a:picLocks noChangeAspect="1"/>
          </p:cNvPicPr>
          <p:nvPr/>
        </p:nvPicPr>
        <p:blipFill>
          <a:blip r:embed="rId4"/>
          <a:stretch>
            <a:fillRect/>
          </a:stretch>
        </p:blipFill>
        <p:spPr>
          <a:xfrm>
            <a:off x="3101847" y="4252644"/>
            <a:ext cx="5496692" cy="1924319"/>
          </a:xfrm>
          <a:prstGeom prst="rect">
            <a:avLst/>
          </a:prstGeom>
        </p:spPr>
      </p:pic>
    </p:spTree>
    <p:extLst>
      <p:ext uri="{BB962C8B-B14F-4D97-AF65-F5344CB8AC3E}">
        <p14:creationId xmlns:p14="http://schemas.microsoft.com/office/powerpoint/2010/main" val="3493439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0B42A3-9912-4F97-4039-9C4E8CCB298E}"/>
              </a:ext>
            </a:extLst>
          </p:cNvPr>
          <p:cNvSpPr>
            <a:spLocks noGrp="1"/>
          </p:cNvSpPr>
          <p:nvPr>
            <p:ph type="title"/>
          </p:nvPr>
        </p:nvSpPr>
        <p:spPr/>
        <p:txBody>
          <a:bodyPr/>
          <a:lstStyle/>
          <a:p>
            <a:r>
              <a:rPr lang="en-US" b="1" dirty="0">
                <a:cs typeface="Calibri"/>
              </a:rPr>
              <a:t>Migration homogenizes allele frequencies</a:t>
            </a:r>
            <a:endParaRPr lang="en-US" dirty="0"/>
          </a:p>
        </p:txBody>
      </p:sp>
      <p:sp>
        <p:nvSpPr>
          <p:cNvPr id="3" name="Marcador de contenido 2">
            <a:extLst>
              <a:ext uri="{FF2B5EF4-FFF2-40B4-BE49-F238E27FC236}">
                <a16:creationId xmlns:a16="http://schemas.microsoft.com/office/drawing/2014/main" id="{709DE490-B6F7-7357-6B50-2E602179F03F}"/>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72043167-D799-8FBC-BB98-41A48DF62652}"/>
              </a:ext>
            </a:extLst>
          </p:cNvPr>
          <p:cNvPicPr>
            <a:picLocks noChangeAspect="1"/>
          </p:cNvPicPr>
          <p:nvPr/>
        </p:nvPicPr>
        <p:blipFill>
          <a:blip r:embed="rId2"/>
          <a:stretch>
            <a:fillRect/>
          </a:stretch>
        </p:blipFill>
        <p:spPr>
          <a:xfrm>
            <a:off x="956235" y="2237664"/>
            <a:ext cx="10497402" cy="4620336"/>
          </a:xfrm>
          <a:prstGeom prst="rect">
            <a:avLst/>
          </a:prstGeom>
        </p:spPr>
      </p:pic>
    </p:spTree>
    <p:extLst>
      <p:ext uri="{BB962C8B-B14F-4D97-AF65-F5344CB8AC3E}">
        <p14:creationId xmlns:p14="http://schemas.microsoft.com/office/powerpoint/2010/main" val="2453159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025A04-0A7A-6262-4688-24D155F4BC3A}"/>
              </a:ext>
            </a:extLst>
          </p:cNvPr>
          <p:cNvSpPr>
            <a:spLocks noGrp="1"/>
          </p:cNvSpPr>
          <p:nvPr>
            <p:ph type="title"/>
          </p:nvPr>
        </p:nvSpPr>
        <p:spPr/>
        <p:txBody>
          <a:bodyPr/>
          <a:lstStyle/>
          <a:p>
            <a:r>
              <a:rPr lang="es-CO" dirty="0" err="1"/>
              <a:t>Stepping-stone</a:t>
            </a:r>
            <a:r>
              <a:rPr lang="es-CO" dirty="0"/>
              <a:t> </a:t>
            </a:r>
            <a:r>
              <a:rPr lang="es-CO" dirty="0" err="1"/>
              <a:t>model</a:t>
            </a:r>
            <a:endParaRPr lang="es-CO" dirty="0"/>
          </a:p>
        </p:txBody>
      </p:sp>
      <p:sp>
        <p:nvSpPr>
          <p:cNvPr id="3" name="Marcador de contenido 2">
            <a:extLst>
              <a:ext uri="{FF2B5EF4-FFF2-40B4-BE49-F238E27FC236}">
                <a16:creationId xmlns:a16="http://schemas.microsoft.com/office/drawing/2014/main" id="{1530CD8F-D51A-5D05-336F-6C749AEBB442}"/>
              </a:ext>
            </a:extLst>
          </p:cNvPr>
          <p:cNvSpPr>
            <a:spLocks noGrp="1"/>
          </p:cNvSpPr>
          <p:nvPr>
            <p:ph idx="1"/>
          </p:nvPr>
        </p:nvSpPr>
        <p:spPr/>
        <p:txBody>
          <a:bodyPr/>
          <a:lstStyle/>
          <a:p>
            <a:endParaRPr lang="es-CO" dirty="0"/>
          </a:p>
        </p:txBody>
      </p:sp>
      <p:pic>
        <p:nvPicPr>
          <p:cNvPr id="7" name="Imagen 6">
            <a:extLst>
              <a:ext uri="{FF2B5EF4-FFF2-40B4-BE49-F238E27FC236}">
                <a16:creationId xmlns:a16="http://schemas.microsoft.com/office/drawing/2014/main" id="{04AB16D7-01B1-33CE-F90A-99542E08E749}"/>
              </a:ext>
            </a:extLst>
          </p:cNvPr>
          <p:cNvPicPr>
            <a:picLocks noChangeAspect="1"/>
          </p:cNvPicPr>
          <p:nvPr/>
        </p:nvPicPr>
        <p:blipFill>
          <a:blip r:embed="rId2"/>
          <a:stretch>
            <a:fillRect/>
          </a:stretch>
        </p:blipFill>
        <p:spPr>
          <a:xfrm>
            <a:off x="1007975" y="2842748"/>
            <a:ext cx="8583223" cy="3334215"/>
          </a:xfrm>
          <a:prstGeom prst="rect">
            <a:avLst/>
          </a:prstGeom>
        </p:spPr>
      </p:pic>
    </p:spTree>
    <p:extLst>
      <p:ext uri="{BB962C8B-B14F-4D97-AF65-F5344CB8AC3E}">
        <p14:creationId xmlns:p14="http://schemas.microsoft.com/office/powerpoint/2010/main" val="1990091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7634D2-A70A-C534-3650-CF5844B6EAAE}"/>
              </a:ext>
            </a:extLst>
          </p:cNvPr>
          <p:cNvSpPr>
            <a:spLocks noGrp="1"/>
          </p:cNvSpPr>
          <p:nvPr>
            <p:ph type="title"/>
          </p:nvPr>
        </p:nvSpPr>
        <p:spPr/>
        <p:txBody>
          <a:bodyPr/>
          <a:lstStyle/>
          <a:p>
            <a:r>
              <a:rPr lang="es-ES" dirty="0" err="1"/>
              <a:t>Closest</a:t>
            </a:r>
            <a:r>
              <a:rPr lang="es-ES" dirty="0"/>
              <a:t> </a:t>
            </a:r>
            <a:r>
              <a:rPr lang="es-ES" dirty="0" err="1"/>
              <a:t>populations</a:t>
            </a:r>
            <a:r>
              <a:rPr lang="es-ES" dirty="0"/>
              <a:t> </a:t>
            </a:r>
            <a:r>
              <a:rPr lang="es-ES" dirty="0" err="1"/>
              <a:t>migrate</a:t>
            </a:r>
            <a:r>
              <a:rPr lang="es-ES" dirty="0"/>
              <a:t> faste!</a:t>
            </a:r>
            <a:endParaRPr lang="es-CO" dirty="0"/>
          </a:p>
        </p:txBody>
      </p:sp>
      <p:sp>
        <p:nvSpPr>
          <p:cNvPr id="3" name="Marcador de contenido 2">
            <a:extLst>
              <a:ext uri="{FF2B5EF4-FFF2-40B4-BE49-F238E27FC236}">
                <a16:creationId xmlns:a16="http://schemas.microsoft.com/office/drawing/2014/main" id="{7647B47E-D994-4615-04EE-98580A15ADE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478DEFF9-6954-287F-FD63-DCC24191B10D}"/>
              </a:ext>
            </a:extLst>
          </p:cNvPr>
          <p:cNvPicPr>
            <a:picLocks noChangeAspect="1"/>
          </p:cNvPicPr>
          <p:nvPr/>
        </p:nvPicPr>
        <p:blipFill>
          <a:blip r:embed="rId2"/>
          <a:stretch>
            <a:fillRect/>
          </a:stretch>
        </p:blipFill>
        <p:spPr>
          <a:xfrm>
            <a:off x="1569897" y="1809045"/>
            <a:ext cx="7144747" cy="5048955"/>
          </a:xfrm>
          <a:prstGeom prst="rect">
            <a:avLst/>
          </a:prstGeom>
        </p:spPr>
      </p:pic>
    </p:spTree>
    <p:extLst>
      <p:ext uri="{BB962C8B-B14F-4D97-AF65-F5344CB8AC3E}">
        <p14:creationId xmlns:p14="http://schemas.microsoft.com/office/powerpoint/2010/main" val="1945021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2EE450-24D4-1149-8850-63BAF946EC67}"/>
              </a:ext>
            </a:extLst>
          </p:cNvPr>
          <p:cNvPicPr>
            <a:picLocks noChangeAspect="1"/>
          </p:cNvPicPr>
          <p:nvPr/>
        </p:nvPicPr>
        <p:blipFill>
          <a:blip r:embed="rId2"/>
          <a:stretch>
            <a:fillRect/>
          </a:stretch>
        </p:blipFill>
        <p:spPr>
          <a:xfrm>
            <a:off x="1524000" y="1268016"/>
            <a:ext cx="9144000" cy="4321969"/>
          </a:xfrm>
          <a:prstGeom prst="rect">
            <a:avLst/>
          </a:prstGeom>
        </p:spPr>
      </p:pic>
      <p:sp>
        <p:nvSpPr>
          <p:cNvPr id="4" name="TextBox 3">
            <a:extLst>
              <a:ext uri="{FF2B5EF4-FFF2-40B4-BE49-F238E27FC236}">
                <a16:creationId xmlns:a16="http://schemas.microsoft.com/office/drawing/2014/main" id="{A6848737-8483-AD46-8FAC-7C4572956EF0}"/>
              </a:ext>
            </a:extLst>
          </p:cNvPr>
          <p:cNvSpPr txBox="1"/>
          <p:nvPr/>
        </p:nvSpPr>
        <p:spPr>
          <a:xfrm>
            <a:off x="1623536" y="372979"/>
            <a:ext cx="9044464" cy="430887"/>
          </a:xfrm>
          <a:prstGeom prst="rect">
            <a:avLst/>
          </a:prstGeom>
          <a:noFill/>
        </p:spPr>
        <p:txBody>
          <a:bodyPr wrap="none" rtlCol="0">
            <a:spAutoFit/>
          </a:bodyPr>
          <a:lstStyle/>
          <a:p>
            <a:r>
              <a:rPr lang="en-US" sz="2200" dirty="0">
                <a:latin typeface="Comic Sans MS" panose="030F0902030302020204" pitchFamily="66" charset="0"/>
              </a:rPr>
              <a:t>Gene flow is the transfer of alleles from one population to another.</a:t>
            </a:r>
          </a:p>
        </p:txBody>
      </p:sp>
      <p:sp>
        <p:nvSpPr>
          <p:cNvPr id="5" name="TextBox 4">
            <a:extLst>
              <a:ext uri="{FF2B5EF4-FFF2-40B4-BE49-F238E27FC236}">
                <a16:creationId xmlns:a16="http://schemas.microsoft.com/office/drawing/2014/main" id="{4374468E-A1BB-6E4D-AC7B-E6BDA481045F}"/>
              </a:ext>
            </a:extLst>
          </p:cNvPr>
          <p:cNvSpPr txBox="1"/>
          <p:nvPr/>
        </p:nvSpPr>
        <p:spPr>
          <a:xfrm>
            <a:off x="4678869" y="4153144"/>
            <a:ext cx="2933815" cy="923330"/>
          </a:xfrm>
          <a:prstGeom prst="rect">
            <a:avLst/>
          </a:prstGeom>
          <a:noFill/>
        </p:spPr>
        <p:txBody>
          <a:bodyPr wrap="none" rtlCol="0">
            <a:spAutoFit/>
          </a:bodyPr>
          <a:lstStyle/>
          <a:p>
            <a:pPr algn="ctr"/>
            <a:r>
              <a:rPr lang="en-US" dirty="0">
                <a:latin typeface="Comic Sans MS" panose="030F0902030302020204" pitchFamily="66" charset="0"/>
              </a:rPr>
              <a:t>Alleles are maladapted to</a:t>
            </a:r>
          </a:p>
          <a:p>
            <a:pPr algn="ctr"/>
            <a:r>
              <a:rPr lang="en-US" dirty="0">
                <a:latin typeface="Comic Sans MS" panose="030F0902030302020204" pitchFamily="66" charset="0"/>
              </a:rPr>
              <a:t>the opposite “non-native”</a:t>
            </a:r>
          </a:p>
          <a:p>
            <a:pPr algn="ctr"/>
            <a:r>
              <a:rPr lang="en-US" dirty="0">
                <a:latin typeface="Comic Sans MS" panose="030F0902030302020204" pitchFamily="66" charset="0"/>
              </a:rPr>
              <a:t>environment.</a:t>
            </a:r>
          </a:p>
        </p:txBody>
      </p:sp>
      <p:sp>
        <p:nvSpPr>
          <p:cNvPr id="8" name="TextBox 7">
            <a:extLst>
              <a:ext uri="{FF2B5EF4-FFF2-40B4-BE49-F238E27FC236}">
                <a16:creationId xmlns:a16="http://schemas.microsoft.com/office/drawing/2014/main" id="{FDE63888-B0F3-1E4F-B27F-D8866489F59C}"/>
              </a:ext>
            </a:extLst>
          </p:cNvPr>
          <p:cNvSpPr txBox="1"/>
          <p:nvPr/>
        </p:nvSpPr>
        <p:spPr>
          <a:xfrm rot="1264686">
            <a:off x="3500399" y="2185124"/>
            <a:ext cx="1933863" cy="369332"/>
          </a:xfrm>
          <a:prstGeom prst="rect">
            <a:avLst/>
          </a:prstGeom>
          <a:noFill/>
        </p:spPr>
        <p:txBody>
          <a:bodyPr wrap="none" rtlCol="0">
            <a:spAutoFit/>
          </a:bodyPr>
          <a:lstStyle/>
          <a:p>
            <a:r>
              <a:rPr lang="en-US" dirty="0"/>
              <a:t>Transfer of H allele</a:t>
            </a:r>
          </a:p>
        </p:txBody>
      </p:sp>
      <p:sp>
        <p:nvSpPr>
          <p:cNvPr id="9" name="TextBox 8">
            <a:extLst>
              <a:ext uri="{FF2B5EF4-FFF2-40B4-BE49-F238E27FC236}">
                <a16:creationId xmlns:a16="http://schemas.microsoft.com/office/drawing/2014/main" id="{338CE6F8-A2A0-F149-842E-FDAE88774F44}"/>
              </a:ext>
            </a:extLst>
          </p:cNvPr>
          <p:cNvSpPr txBox="1"/>
          <p:nvPr/>
        </p:nvSpPr>
        <p:spPr>
          <a:xfrm rot="20074617">
            <a:off x="6540012" y="2040025"/>
            <a:ext cx="1911421" cy="369332"/>
          </a:xfrm>
          <a:prstGeom prst="rect">
            <a:avLst/>
          </a:prstGeom>
          <a:noFill/>
        </p:spPr>
        <p:txBody>
          <a:bodyPr wrap="none" rtlCol="0">
            <a:spAutoFit/>
          </a:bodyPr>
          <a:lstStyle/>
          <a:p>
            <a:r>
              <a:rPr lang="en-US" dirty="0"/>
              <a:t>Transfer of h allele</a:t>
            </a:r>
          </a:p>
        </p:txBody>
      </p:sp>
      <p:sp>
        <p:nvSpPr>
          <p:cNvPr id="10" name="TextBox 9">
            <a:extLst>
              <a:ext uri="{FF2B5EF4-FFF2-40B4-BE49-F238E27FC236}">
                <a16:creationId xmlns:a16="http://schemas.microsoft.com/office/drawing/2014/main" id="{CD2F27FF-56C4-A649-9F58-35D65DCB83C1}"/>
              </a:ext>
            </a:extLst>
          </p:cNvPr>
          <p:cNvSpPr txBox="1"/>
          <p:nvPr/>
        </p:nvSpPr>
        <p:spPr>
          <a:xfrm>
            <a:off x="2856375" y="5686753"/>
            <a:ext cx="6604912" cy="646331"/>
          </a:xfrm>
          <a:prstGeom prst="rect">
            <a:avLst/>
          </a:prstGeom>
          <a:noFill/>
        </p:spPr>
        <p:txBody>
          <a:bodyPr wrap="square" rtlCol="0">
            <a:spAutoFit/>
          </a:bodyPr>
          <a:lstStyle/>
          <a:p>
            <a:pPr algn="ctr"/>
            <a:r>
              <a:rPr lang="en-US" dirty="0">
                <a:latin typeface="Comic Sans MS" panose="030F0902030302020204" pitchFamily="66" charset="0"/>
              </a:rPr>
              <a:t>Each population has low frequency of heterozygotes due to immigrants backcrossing to other population.</a:t>
            </a:r>
          </a:p>
        </p:txBody>
      </p:sp>
      <p:sp>
        <p:nvSpPr>
          <p:cNvPr id="2" name="Rectangle 1"/>
          <p:cNvSpPr/>
          <p:nvPr/>
        </p:nvSpPr>
        <p:spPr>
          <a:xfrm>
            <a:off x="2011680" y="5076474"/>
            <a:ext cx="2495006" cy="5657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942217" y="4905500"/>
            <a:ext cx="2753510" cy="7367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582091" y="4905500"/>
            <a:ext cx="1258389" cy="5657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678869" y="4153144"/>
            <a:ext cx="2933815" cy="9233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659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31708" y="548884"/>
            <a:ext cx="6330796" cy="5655973"/>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600" b="1" dirty="0">
                <a:cs typeface="Calibri"/>
              </a:rPr>
              <a:t>The Wright-Fisher Model with Migration</a:t>
            </a:r>
            <a:endParaRPr lang="en-US" sz="8600" dirty="0">
              <a:latin typeface="Calibri"/>
              <a:cs typeface="Calibri"/>
            </a:endParaRPr>
          </a:p>
          <a:p>
            <a:endParaRPr lang="en-US" sz="1400" dirty="0">
              <a:latin typeface="Calibri"/>
              <a:cs typeface="Calibri"/>
            </a:endParaRPr>
          </a:p>
          <a:p>
            <a:pPr>
              <a:lnSpc>
                <a:spcPct val="120000"/>
              </a:lnSpc>
            </a:pPr>
            <a:r>
              <a:rPr lang="en-US" sz="6200" dirty="0">
                <a:cs typeface="Calibri"/>
              </a:rPr>
              <a:t>Assumes two populations of constant size, </a:t>
            </a:r>
            <a:r>
              <a:rPr lang="en-US" sz="6200" i="1" dirty="0">
                <a:cs typeface="Calibri"/>
              </a:rPr>
              <a:t>N</a:t>
            </a:r>
          </a:p>
          <a:p>
            <a:pPr>
              <a:lnSpc>
                <a:spcPct val="120000"/>
              </a:lnSpc>
            </a:pPr>
            <a:endParaRPr lang="en-US" sz="3100" i="1" dirty="0">
              <a:cs typeface="Calibri"/>
            </a:endParaRPr>
          </a:p>
          <a:p>
            <a:pPr>
              <a:lnSpc>
                <a:spcPct val="120000"/>
              </a:lnSpc>
            </a:pPr>
            <a:r>
              <a:rPr lang="en-US" sz="6200" dirty="0">
                <a:cs typeface="Calibri"/>
              </a:rPr>
              <a:t>Models changes in allele frequencies into future generations (forward in time)</a:t>
            </a:r>
          </a:p>
          <a:p>
            <a:pPr lvl="1">
              <a:lnSpc>
                <a:spcPct val="120000"/>
              </a:lnSpc>
            </a:pPr>
            <a:r>
              <a:rPr lang="en-US" sz="5800" dirty="0">
                <a:cs typeface="Calibri"/>
              </a:rPr>
              <a:t>Occasionally, an individual from one population is replaced by an individual from another population</a:t>
            </a:r>
          </a:p>
          <a:p>
            <a:pPr lvl="1">
              <a:lnSpc>
                <a:spcPct val="120000"/>
              </a:lnSpc>
            </a:pPr>
            <a:r>
              <a:rPr lang="en-US" sz="6200" i="1" dirty="0">
                <a:cs typeface="Calibri"/>
              </a:rPr>
              <a:t>m</a:t>
            </a:r>
            <a:r>
              <a:rPr lang="en-US" sz="6200" baseline="-25000" dirty="0">
                <a:cs typeface="Calibri"/>
              </a:rPr>
              <a:t>1→2</a:t>
            </a:r>
            <a:r>
              <a:rPr lang="en-US" sz="6200" dirty="0">
                <a:cs typeface="Calibri"/>
              </a:rPr>
              <a:t> is the probability that an individual from population 1 migrates to population 2.</a:t>
            </a:r>
          </a:p>
          <a:p>
            <a:pPr lvl="1">
              <a:lnSpc>
                <a:spcPct val="120000"/>
              </a:lnSpc>
            </a:pPr>
            <a:r>
              <a:rPr lang="en-US" sz="6200" i="1" dirty="0">
                <a:cs typeface="Calibri"/>
              </a:rPr>
              <a:t>m</a:t>
            </a:r>
            <a:r>
              <a:rPr lang="en-US" sz="6200" baseline="-25000" dirty="0">
                <a:cs typeface="Calibri"/>
              </a:rPr>
              <a:t>2→1</a:t>
            </a:r>
            <a:r>
              <a:rPr lang="en-US" sz="6200" dirty="0">
                <a:cs typeface="Calibri"/>
              </a:rPr>
              <a:t> is the probability that an individual from population 2 migrates to population 1.</a:t>
            </a:r>
          </a:p>
          <a:p>
            <a:pPr>
              <a:lnSpc>
                <a:spcPct val="120000"/>
              </a:lnSpc>
            </a:pPr>
            <a:endParaRPr lang="en-US" sz="3100" dirty="0">
              <a:cs typeface="Calibri"/>
            </a:endParaRPr>
          </a:p>
          <a:p>
            <a:pPr>
              <a:lnSpc>
                <a:spcPct val="120000"/>
              </a:lnSpc>
            </a:pPr>
            <a:r>
              <a:rPr lang="en-US" sz="6200" dirty="0">
                <a:cs typeface="Calibri"/>
              </a:rPr>
              <a:t>Migration causes allele frequencies to become more similar between populations.</a:t>
            </a:r>
          </a:p>
          <a:p>
            <a:pPr lvl="1">
              <a:lnSpc>
                <a:spcPct val="120000"/>
              </a:lnSpc>
            </a:pPr>
            <a:r>
              <a:rPr lang="en-US" sz="5800" dirty="0">
                <a:latin typeface="Calibri"/>
                <a:cs typeface="Calibri"/>
              </a:rPr>
              <a:t>Reduces </a:t>
            </a:r>
            <a:r>
              <a:rPr lang="en-US" sz="5800" i="1" dirty="0" err="1">
                <a:latin typeface="Calibri"/>
                <a:cs typeface="Calibri"/>
              </a:rPr>
              <a:t>F</a:t>
            </a:r>
            <a:r>
              <a:rPr lang="en-US" sz="5800" i="1" cap="all" baseline="-25000" dirty="0" err="1">
                <a:latin typeface="Calibri"/>
                <a:cs typeface="Calibri"/>
              </a:rPr>
              <a:t>st</a:t>
            </a:r>
            <a:endParaRPr lang="en-US" sz="5800" i="1" cap="all" baseline="-25000" dirty="0">
              <a:latin typeface="Calibri"/>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743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2"/>
              <p:cNvSpPr txBox="1">
                <a:spLocks/>
              </p:cNvSpPr>
              <p:nvPr/>
            </p:nvSpPr>
            <p:spPr>
              <a:xfrm>
                <a:off x="631708" y="548884"/>
                <a:ext cx="6147915" cy="5655973"/>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600" b="1" dirty="0">
                    <a:cs typeface="Calibri"/>
                  </a:rPr>
                  <a:t>The Wright-Fisher Model with Migration</a:t>
                </a:r>
                <a:endParaRPr lang="en-US" sz="8600" dirty="0">
                  <a:latin typeface="Calibri"/>
                  <a:cs typeface="Calibri"/>
                </a:endParaRPr>
              </a:p>
              <a:p>
                <a:endParaRPr lang="en-US" sz="1400" dirty="0">
                  <a:latin typeface="Calibri"/>
                  <a:cs typeface="Calibri"/>
                </a:endParaRPr>
              </a:p>
              <a:p>
                <a:pPr>
                  <a:lnSpc>
                    <a:spcPct val="120000"/>
                  </a:lnSpc>
                </a:pPr>
                <a:r>
                  <a:rPr lang="en-US" sz="6200" dirty="0">
                    <a:cs typeface="Calibri"/>
                  </a:rPr>
                  <a:t>Changes in allele frequencies over time:</a:t>
                </a:r>
              </a:p>
              <a:p>
                <a:pPr lvl="1">
                  <a:lnSpc>
                    <a:spcPct val="120000"/>
                  </a:lnSpc>
                </a:pPr>
                <a:endParaRPr lang="en-US" sz="5800" i="1" dirty="0">
                  <a:cs typeface="Calibri"/>
                </a:endParaRPr>
              </a:p>
              <a:p>
                <a:pPr marL="0" indent="0">
                  <a:lnSpc>
                    <a:spcPct val="120000"/>
                  </a:lnSpc>
                  <a:buNone/>
                </a:pPr>
                <a:endParaRPr lang="en-US" sz="6200" dirty="0">
                  <a:cs typeface="Calibri"/>
                </a:endParaRPr>
              </a:p>
              <a:p>
                <a:pPr lvl="1">
                  <a:lnSpc>
                    <a:spcPct val="120000"/>
                  </a:lnSpc>
                </a:pPr>
                <a14:m>
                  <m:oMath xmlns:m="http://schemas.openxmlformats.org/officeDocument/2006/math">
                    <m:r>
                      <a:rPr lang="en-US" sz="6200" i="1">
                        <a:latin typeface="Cambria Math" panose="02040503050406030204" pitchFamily="18" charset="0"/>
                      </a:rPr>
                      <m:t>𝐸</m:t>
                    </m:r>
                    <m:d>
                      <m:dPr>
                        <m:begChr m:val="["/>
                        <m:endChr m:val="]"/>
                        <m:ctrlPr>
                          <a:rPr lang="en-US" sz="6200" i="1">
                            <a:latin typeface="Cambria Math" panose="02040503050406030204" pitchFamily="18" charset="0"/>
                          </a:rPr>
                        </m:ctrlPr>
                      </m:dPr>
                      <m:e>
                        <m:sSub>
                          <m:sSubPr>
                            <m:ctrlPr>
                              <a:rPr lang="en-US" sz="6200" i="1">
                                <a:latin typeface="Cambria Math" panose="02040503050406030204" pitchFamily="18" charset="0"/>
                              </a:rPr>
                            </m:ctrlPr>
                          </m:sSubPr>
                          <m:e>
                            <m:r>
                              <a:rPr lang="en-US" sz="6200" i="1">
                                <a:latin typeface="Cambria Math" panose="02040503050406030204" pitchFamily="18" charset="0"/>
                              </a:rPr>
                              <m:t>𝑓</m:t>
                            </m:r>
                          </m:e>
                          <m:sub>
                            <m:r>
                              <a:rPr lang="en-US" sz="6200" i="1">
                                <a:latin typeface="Cambria Math" panose="02040503050406030204" pitchFamily="18" charset="0"/>
                              </a:rPr>
                              <m:t>𝐴</m:t>
                            </m:r>
                            <m:r>
                              <a:rPr lang="en-US" sz="6200" i="1">
                                <a:latin typeface="Cambria Math" panose="02040503050406030204" pitchFamily="18" charset="0"/>
                              </a:rPr>
                              <m:t>1</m:t>
                            </m:r>
                          </m:sub>
                        </m:sSub>
                        <m:d>
                          <m:dPr>
                            <m:ctrlPr>
                              <a:rPr lang="en-US" sz="6200" i="1">
                                <a:latin typeface="Cambria Math" panose="02040503050406030204" pitchFamily="18" charset="0"/>
                              </a:rPr>
                            </m:ctrlPr>
                          </m:dPr>
                          <m:e>
                            <m:r>
                              <a:rPr lang="en-US" sz="6200" i="1">
                                <a:latin typeface="Cambria Math" panose="02040503050406030204" pitchFamily="18" charset="0"/>
                              </a:rPr>
                              <m:t>𝑡</m:t>
                            </m:r>
                            <m:r>
                              <a:rPr lang="en-US" sz="6200" i="1">
                                <a:latin typeface="Cambria Math" panose="02040503050406030204" pitchFamily="18" charset="0"/>
                              </a:rPr>
                              <m:t>+1</m:t>
                            </m:r>
                          </m:e>
                        </m:d>
                      </m:e>
                    </m:d>
                  </m:oMath>
                </a14:m>
                <a:r>
                  <a:rPr lang="en-US" sz="5800" dirty="0">
                    <a:cs typeface="Calibri"/>
                  </a:rPr>
                  <a:t> is the expected frequency of allele A in population 1 in generation </a:t>
                </a:r>
                <a:r>
                  <a:rPr lang="en-US" sz="5800" i="1" dirty="0">
                    <a:cs typeface="Calibri"/>
                  </a:rPr>
                  <a:t>t</a:t>
                </a:r>
                <a:r>
                  <a:rPr lang="en-US" sz="5800" dirty="0">
                    <a:cs typeface="Calibri"/>
                  </a:rPr>
                  <a:t> + 1 </a:t>
                </a:r>
              </a:p>
              <a:p>
                <a:pPr lvl="1">
                  <a:lnSpc>
                    <a:spcPct val="120000"/>
                  </a:lnSpc>
                </a:pPr>
                <a14:m>
                  <m:oMath xmlns:m="http://schemas.openxmlformats.org/officeDocument/2006/math">
                    <m:r>
                      <a:rPr lang="en-US" sz="6000" i="1">
                        <a:latin typeface="Cambria Math" panose="02040503050406030204" pitchFamily="18" charset="0"/>
                      </a:rPr>
                      <m:t>1−</m:t>
                    </m:r>
                    <m:sSub>
                      <m:sSubPr>
                        <m:ctrlPr>
                          <a:rPr lang="en-US" sz="6000" i="1">
                            <a:latin typeface="Cambria Math" panose="02040503050406030204" pitchFamily="18" charset="0"/>
                          </a:rPr>
                        </m:ctrlPr>
                      </m:sSubPr>
                      <m:e>
                        <m:r>
                          <a:rPr lang="en-US" sz="6000" i="1">
                            <a:latin typeface="Cambria Math" panose="02040503050406030204" pitchFamily="18" charset="0"/>
                          </a:rPr>
                          <m:t>𝑚</m:t>
                        </m:r>
                      </m:e>
                      <m:sub>
                        <m:r>
                          <a:rPr lang="en-US" sz="6000" b="0" i="1" smtClean="0">
                            <a:latin typeface="Cambria Math" panose="02040503050406030204" pitchFamily="18" charset="0"/>
                          </a:rPr>
                          <m:t>2</m:t>
                        </m:r>
                        <m:r>
                          <a:rPr lang="en-US" sz="6000" i="1">
                            <a:latin typeface="Cambria Math" panose="02040503050406030204" pitchFamily="18" charset="0"/>
                            <a:ea typeface="Cambria Math" panose="02040503050406030204" pitchFamily="18" charset="0"/>
                          </a:rPr>
                          <m:t>→</m:t>
                        </m:r>
                        <m:r>
                          <a:rPr lang="en-US" sz="6000" b="0" i="1" smtClean="0">
                            <a:latin typeface="Cambria Math" panose="02040503050406030204" pitchFamily="18" charset="0"/>
                            <a:ea typeface="Cambria Math" panose="02040503050406030204" pitchFamily="18" charset="0"/>
                          </a:rPr>
                          <m:t>1</m:t>
                        </m:r>
                      </m:sub>
                    </m:sSub>
                  </m:oMath>
                </a14:m>
                <a:r>
                  <a:rPr lang="en-US" sz="5800" dirty="0">
                    <a:cs typeface="Calibri"/>
                  </a:rPr>
                  <a:t> is the proportion of individuals in population 1 that </a:t>
                </a:r>
                <a:r>
                  <a:rPr lang="en-US" sz="5800" u="sng" dirty="0">
                    <a:cs typeface="Calibri"/>
                  </a:rPr>
                  <a:t>are not</a:t>
                </a:r>
                <a:r>
                  <a:rPr lang="en-US" sz="5800" dirty="0">
                    <a:cs typeface="Calibri"/>
                  </a:rPr>
                  <a:t> migrants from population 2.</a:t>
                </a:r>
              </a:p>
              <a:p>
                <a:pPr lvl="1">
                  <a:lnSpc>
                    <a:spcPct val="120000"/>
                  </a:lnSpc>
                </a:pPr>
                <a14:m>
                  <m:oMath xmlns:m="http://schemas.openxmlformats.org/officeDocument/2006/math">
                    <m:sSub>
                      <m:sSubPr>
                        <m:ctrlPr>
                          <a:rPr lang="en-US" sz="5800" i="1">
                            <a:latin typeface="Cambria Math" panose="02040503050406030204" pitchFamily="18" charset="0"/>
                          </a:rPr>
                        </m:ctrlPr>
                      </m:sSubPr>
                      <m:e>
                        <m:r>
                          <a:rPr lang="en-US" sz="5800" i="1">
                            <a:latin typeface="Cambria Math" panose="02040503050406030204" pitchFamily="18" charset="0"/>
                          </a:rPr>
                          <m:t>𝑓</m:t>
                        </m:r>
                      </m:e>
                      <m:sub>
                        <m:r>
                          <a:rPr lang="en-US" sz="5800" i="1">
                            <a:latin typeface="Cambria Math" panose="02040503050406030204" pitchFamily="18" charset="0"/>
                          </a:rPr>
                          <m:t>𝐴</m:t>
                        </m:r>
                        <m:r>
                          <a:rPr lang="en-US" sz="5800" i="1">
                            <a:latin typeface="Cambria Math" panose="02040503050406030204" pitchFamily="18" charset="0"/>
                          </a:rPr>
                          <m:t>1</m:t>
                        </m:r>
                      </m:sub>
                    </m:sSub>
                    <m:r>
                      <a:rPr lang="en-US" sz="5800" b="0" i="1" smtClean="0">
                        <a:latin typeface="Cambria Math" panose="02040503050406030204" pitchFamily="18" charset="0"/>
                      </a:rPr>
                      <m:t>(</m:t>
                    </m:r>
                    <m:r>
                      <a:rPr lang="en-US" sz="5800" b="0" i="1" smtClean="0">
                        <a:latin typeface="Cambria Math" panose="02040503050406030204" pitchFamily="18" charset="0"/>
                      </a:rPr>
                      <m:t>𝑡</m:t>
                    </m:r>
                    <m:r>
                      <a:rPr lang="en-US" sz="5800" b="0" i="1" smtClean="0">
                        <a:latin typeface="Cambria Math" panose="02040503050406030204" pitchFamily="18" charset="0"/>
                      </a:rPr>
                      <m:t>)</m:t>
                    </m:r>
                  </m:oMath>
                </a14:m>
                <a:r>
                  <a:rPr lang="en-US" sz="5800" dirty="0">
                    <a:cs typeface="Calibri"/>
                  </a:rPr>
                  <a:t> is the frequency of allele A in population 1 in generation </a:t>
                </a:r>
                <a:r>
                  <a:rPr lang="en-US" sz="5800" i="1" dirty="0">
                    <a:cs typeface="Calibri"/>
                  </a:rPr>
                  <a:t>t</a:t>
                </a:r>
                <a:r>
                  <a:rPr lang="en-US" sz="5800" dirty="0">
                    <a:cs typeface="Calibri"/>
                  </a:rPr>
                  <a:t>.</a:t>
                </a:r>
              </a:p>
              <a:p>
                <a:pPr lvl="1">
                  <a:lnSpc>
                    <a:spcPct val="120000"/>
                  </a:lnSpc>
                </a:pPr>
                <a:r>
                  <a:rPr lang="en-US" sz="5800" i="1" dirty="0">
                    <a:cs typeface="Calibri"/>
                  </a:rPr>
                  <a:t>m</a:t>
                </a:r>
                <a:r>
                  <a:rPr lang="en-US" sz="5800" baseline="-25000" dirty="0">
                    <a:cs typeface="Calibri"/>
                  </a:rPr>
                  <a:t>2→1</a:t>
                </a:r>
                <a:r>
                  <a:rPr lang="en-US" sz="5800" dirty="0">
                    <a:cs typeface="Calibri"/>
                  </a:rPr>
                  <a:t> is the proportion of individuals in population 1 that </a:t>
                </a:r>
                <a:r>
                  <a:rPr lang="en-US" sz="5800" u="sng" dirty="0">
                    <a:cs typeface="Calibri"/>
                  </a:rPr>
                  <a:t>are</a:t>
                </a:r>
                <a:r>
                  <a:rPr lang="en-US" sz="5800" dirty="0">
                    <a:cs typeface="Calibri"/>
                  </a:rPr>
                  <a:t> migrants from population 2.</a:t>
                </a:r>
              </a:p>
              <a:p>
                <a:pPr lvl="1">
                  <a:lnSpc>
                    <a:spcPct val="120000"/>
                  </a:lnSpc>
                </a:pPr>
                <a14:m>
                  <m:oMath xmlns:m="http://schemas.openxmlformats.org/officeDocument/2006/math">
                    <m:sSub>
                      <m:sSubPr>
                        <m:ctrlPr>
                          <a:rPr lang="en-US" sz="5800" i="1">
                            <a:latin typeface="Cambria Math" panose="02040503050406030204" pitchFamily="18" charset="0"/>
                          </a:rPr>
                        </m:ctrlPr>
                      </m:sSubPr>
                      <m:e>
                        <m:r>
                          <a:rPr lang="en-US" sz="5800" i="1">
                            <a:latin typeface="Cambria Math" panose="02040503050406030204" pitchFamily="18" charset="0"/>
                          </a:rPr>
                          <m:t>𝑓</m:t>
                        </m:r>
                      </m:e>
                      <m:sub>
                        <m:r>
                          <a:rPr lang="en-US" sz="5800" i="1">
                            <a:latin typeface="Cambria Math" panose="02040503050406030204" pitchFamily="18" charset="0"/>
                          </a:rPr>
                          <m:t>𝐴</m:t>
                        </m:r>
                        <m:r>
                          <a:rPr lang="en-US" sz="5800" b="0" i="1" smtClean="0">
                            <a:latin typeface="Cambria Math" panose="02040503050406030204" pitchFamily="18" charset="0"/>
                          </a:rPr>
                          <m:t>2</m:t>
                        </m:r>
                      </m:sub>
                    </m:sSub>
                    <m:r>
                      <a:rPr lang="en-US" sz="5800" i="1">
                        <a:latin typeface="Cambria Math" panose="02040503050406030204" pitchFamily="18" charset="0"/>
                      </a:rPr>
                      <m:t>(</m:t>
                    </m:r>
                    <m:r>
                      <a:rPr lang="en-US" sz="5800" i="1">
                        <a:latin typeface="Cambria Math" panose="02040503050406030204" pitchFamily="18" charset="0"/>
                      </a:rPr>
                      <m:t>𝑡</m:t>
                    </m:r>
                    <m:r>
                      <a:rPr lang="en-US" sz="5800" i="1">
                        <a:latin typeface="Cambria Math" panose="02040503050406030204" pitchFamily="18" charset="0"/>
                      </a:rPr>
                      <m:t>)</m:t>
                    </m:r>
                  </m:oMath>
                </a14:m>
                <a:r>
                  <a:rPr lang="en-US" sz="5800" dirty="0">
                    <a:cs typeface="Calibri"/>
                  </a:rPr>
                  <a:t> is the frequency of allele A in population 2 in generation </a:t>
                </a:r>
                <a:r>
                  <a:rPr lang="en-US" sz="5800" i="1" dirty="0">
                    <a:cs typeface="Calibri"/>
                  </a:rPr>
                  <a:t>t</a:t>
                </a:r>
                <a:r>
                  <a:rPr lang="en-US" sz="5800" dirty="0">
                    <a:cs typeface="Calibri"/>
                  </a:rPr>
                  <a:t>.</a:t>
                </a:r>
              </a:p>
              <a:p>
                <a:pPr lvl="1">
                  <a:lnSpc>
                    <a:spcPct val="120000"/>
                  </a:lnSpc>
                </a:pPr>
                <a:endParaRPr lang="en-US" sz="5800" dirty="0">
                  <a:cs typeface="Calibri"/>
                </a:endParaRPr>
              </a:p>
              <a:p>
                <a:pPr>
                  <a:lnSpc>
                    <a:spcPct val="120000"/>
                  </a:lnSpc>
                </a:pPr>
                <a:endParaRPr lang="en-US" sz="3100" dirty="0">
                  <a:cs typeface="Calibri"/>
                </a:endParaRPr>
              </a:p>
            </p:txBody>
          </p:sp>
        </mc:Choice>
        <mc:Fallback xmlns="">
          <p:sp>
            <p:nvSpPr>
              <p:cNvPr id="2" name="Content Placeholder 2"/>
              <p:cNvSpPr txBox="1">
                <a:spLocks noRot="1" noChangeAspect="1" noMove="1" noResize="1" noEditPoints="1" noAdjustHandles="1" noChangeArrowheads="1" noChangeShapeType="1" noTextEdit="1"/>
              </p:cNvSpPr>
              <p:nvPr/>
            </p:nvSpPr>
            <p:spPr>
              <a:xfrm>
                <a:off x="631708" y="548884"/>
                <a:ext cx="6147915" cy="5655973"/>
              </a:xfrm>
              <a:prstGeom prst="rect">
                <a:avLst/>
              </a:prstGeom>
              <a:blipFill>
                <a:blip r:embed="rId2"/>
                <a:stretch>
                  <a:fillRect l="-2083" t="-2909" r="-1687"/>
                </a:stretch>
              </a:blipFill>
            </p:spPr>
            <p:txBody>
              <a:bodyPr/>
              <a:lstStyle/>
              <a:p>
                <a:r>
                  <a:rPr lang="en-US">
                    <a:noFill/>
                  </a:rPr>
                  <a:t> </a:t>
                </a:r>
              </a:p>
            </p:txBody>
          </p:sp>
        </mc:Fallback>
      </mc:AlternateContent>
      <p:pic>
        <p:nvPicPr>
          <p:cNvPr id="6" name="Picture 1"/>
          <p:cNvPicPr>
            <a:picLocks noChangeAspect="1"/>
          </p:cNvPicPr>
          <p:nvPr/>
        </p:nvPicPr>
        <p:blipFill rotWithShape="1">
          <a:blip r:embed="rId3"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986074" y="1750423"/>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986074" y="1750423"/>
                <a:ext cx="5439181" cy="400110"/>
              </a:xfrm>
              <a:prstGeom prst="rect">
                <a:avLst/>
              </a:prstGeom>
              <a:blipFill>
                <a:blip r:embed="rId4"/>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986073" y="5804747"/>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86073" y="5804747"/>
                <a:ext cx="5439181" cy="400110"/>
              </a:xfrm>
              <a:prstGeom prst="rect">
                <a:avLst/>
              </a:prstGeom>
              <a:blipFill>
                <a:blip r:embed="rId5"/>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74935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31708" y="548884"/>
            <a:ext cx="6147915" cy="56559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986073" y="1202027"/>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986073" y="1202027"/>
                <a:ext cx="5439181"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986073" y="1719645"/>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86073" y="1719645"/>
                <a:ext cx="5439181" cy="400110"/>
              </a:xfrm>
              <a:prstGeom prst="rect">
                <a:avLst/>
              </a:prstGeom>
              <a:blipFill>
                <a:blip r:embed="rId4"/>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309359" y="4259013"/>
                <a:ext cx="1955151"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7" name="TextBox 6"/>
              <p:cNvSpPr txBox="1">
                <a:spLocks noRot="1" noChangeAspect="1" noMove="1" noResize="1" noEditPoints="1" noAdjustHandles="1" noChangeArrowheads="1" noChangeShapeType="1" noTextEdit="1"/>
              </p:cNvSpPr>
              <p:nvPr/>
            </p:nvSpPr>
            <p:spPr>
              <a:xfrm>
                <a:off x="7309359" y="4259013"/>
                <a:ext cx="1955151" cy="484300"/>
              </a:xfrm>
              <a:prstGeom prst="rect">
                <a:avLst/>
              </a:prstGeom>
              <a:blipFill>
                <a:blip r:embed="rId5"/>
                <a:stretch>
                  <a:fillRect l="-935" r="-2181"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210698"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7210698" y="4812070"/>
                <a:ext cx="2097818"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112050" y="4255572"/>
                <a:ext cx="1955151"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9" name="TextBox 8"/>
              <p:cNvSpPr txBox="1">
                <a:spLocks noRot="1" noChangeAspect="1" noMove="1" noResize="1" noEditPoints="1" noAdjustHandles="1" noChangeArrowheads="1" noChangeShapeType="1" noTextEdit="1"/>
              </p:cNvSpPr>
              <p:nvPr/>
            </p:nvSpPr>
            <p:spPr>
              <a:xfrm>
                <a:off x="10112050" y="4255572"/>
                <a:ext cx="1955151" cy="484748"/>
              </a:xfrm>
              <a:prstGeom prst="rect">
                <a:avLst/>
              </a:prstGeom>
              <a:blipFill>
                <a:blip r:embed="rId7"/>
                <a:stretch>
                  <a:fillRect l="-935" r="-1869"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0050330"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10050330" y="4812070"/>
                <a:ext cx="2097818" cy="612732"/>
              </a:xfrm>
              <a:prstGeom prst="rect">
                <a:avLst/>
              </a:prstGeom>
              <a:blipFill>
                <a:blip r:embed="rId8"/>
                <a:stretch>
                  <a:fillRect/>
                </a:stretch>
              </a:blipFill>
            </p:spPr>
            <p:txBody>
              <a:bodyPr/>
              <a:lstStyle/>
              <a:p>
                <a:r>
                  <a:rPr lang="en-US">
                    <a:noFill/>
                  </a:rPr>
                  <a:t> </a:t>
                </a:r>
              </a:p>
            </p:txBody>
          </p:sp>
        </mc:Fallback>
      </mc:AlternateContent>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sp>
            <p:nvSpPr>
              <p:cNvPr id="14" name="Content Placeholder 2"/>
              <p:cNvSpPr txBox="1">
                <a:spLocks/>
              </p:cNvSpPr>
              <p:nvPr/>
            </p:nvSpPr>
            <p:spPr>
              <a:xfrm>
                <a:off x="631705" y="2237263"/>
                <a:ext cx="6147915" cy="440558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pPr>
                <a:r>
                  <a:rPr lang="en-US" sz="2000" i="1" dirty="0">
                    <a:cs typeface="Calibri"/>
                  </a:rPr>
                  <a:t>m</a:t>
                </a:r>
                <a:r>
                  <a:rPr lang="en-US" sz="2000" baseline="-25000" dirty="0">
                    <a:cs typeface="Calibri"/>
                  </a:rPr>
                  <a:t>2→1</a:t>
                </a:r>
                <a:r>
                  <a:rPr lang="en-US" sz="2000" dirty="0">
                    <a:cs typeface="Calibri"/>
                  </a:rPr>
                  <a:t> = </a:t>
                </a:r>
                <a:r>
                  <a:rPr lang="en-US" sz="2000" i="1" dirty="0">
                    <a:cs typeface="Calibri"/>
                  </a:rPr>
                  <a:t>m</a:t>
                </a:r>
                <a:r>
                  <a:rPr lang="en-US" sz="2000" baseline="-25000" dirty="0">
                    <a:cs typeface="Calibri"/>
                  </a:rPr>
                  <a:t>1→2</a:t>
                </a:r>
                <a:r>
                  <a:rPr lang="en-US" sz="2000" dirty="0">
                    <a:cs typeface="Calibri"/>
                  </a:rPr>
                  <a:t> =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18</m:t>
                        </m:r>
                      </m:den>
                    </m:f>
                  </m:oMath>
                </a14:m>
                <a:r>
                  <a:rPr lang="en-US" sz="2000" dirty="0">
                    <a:cs typeface="Calibri"/>
                  </a:rPr>
                  <a:t> = 0.1111 </a:t>
                </a:r>
              </a:p>
              <a:p>
                <a:pPr lvl="2">
                  <a:lnSpc>
                    <a:spcPct val="120000"/>
                  </a:lnSpc>
                </a:pPr>
                <a:r>
                  <a:rPr lang="en-US" dirty="0"/>
                  <a:t>Equal migration rates in each direction (symmetrical migration)</a:t>
                </a:r>
              </a:p>
              <a:p>
                <a:pPr lvl="2">
                  <a:lnSpc>
                    <a:spcPct val="120000"/>
                  </a:lnSpc>
                </a:pPr>
                <a:r>
                  <a:rPr lang="en-US" dirty="0"/>
                  <a:t>11.11% of individuals in population 1 are migrants from population 2 each generation</a:t>
                </a:r>
              </a:p>
              <a:p>
                <a:pPr lvl="2">
                  <a:lnSpc>
                    <a:spcPct val="120000"/>
                  </a:lnSpc>
                </a:pPr>
                <a:r>
                  <a:rPr lang="en-US" dirty="0"/>
                  <a:t>Equivalent to 1 diploid migrant per generation in our model</a:t>
                </a:r>
                <a:endParaRPr lang="en-US" sz="2000" dirty="0">
                  <a:cs typeface="Calibri"/>
                </a:endParaRPr>
              </a:p>
              <a:p>
                <a:pPr lvl="1">
                  <a:lnSpc>
                    <a:spcPct val="120000"/>
                  </a:lnSpc>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r>
                      <a:rPr lang="en-US" sz="2000" b="0" i="0" smtClean="0">
                        <a:latin typeface="Cambria Math" panose="02040503050406030204" pitchFamily="18" charset="0"/>
                      </a:rPr>
                      <m:t>=0.3889</m:t>
                    </m:r>
                  </m:oMath>
                </a14:m>
                <a:r>
                  <a:rPr lang="en-US" sz="2000" dirty="0">
                    <a:cs typeface="Calibri"/>
                  </a:rPr>
                  <a:t>, which is the frequency of the red allele in population 1 in generation </a:t>
                </a:r>
                <a:r>
                  <a:rPr lang="en-US" sz="2000" i="1" dirty="0">
                    <a:cs typeface="Calibri"/>
                  </a:rPr>
                  <a:t>t</a:t>
                </a:r>
                <a:r>
                  <a:rPr lang="en-US" sz="2000" dirty="0">
                    <a:cs typeface="Calibri"/>
                  </a:rPr>
                  <a:t>.</a:t>
                </a:r>
              </a:p>
              <a:p>
                <a:pPr lvl="1">
                  <a:lnSpc>
                    <a:spcPct val="120000"/>
                  </a:lnSpc>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𝑅</m:t>
                        </m:r>
                        <m:r>
                          <a:rPr lang="en-US" sz="2000" b="0" i="1" smtClean="0">
                            <a:latin typeface="Cambria Math" panose="02040503050406030204" pitchFamily="18" charset="0"/>
                          </a:rPr>
                          <m:t>2</m:t>
                        </m:r>
                      </m:sub>
                    </m:sSub>
                    <m:r>
                      <a:rPr lang="en-US" sz="2000" b="0" i="1" smtClean="0">
                        <a:latin typeface="Cambria Math" panose="02040503050406030204" pitchFamily="18" charset="0"/>
                      </a:rPr>
                      <m:t>=0.2222</m:t>
                    </m:r>
                  </m:oMath>
                </a14:m>
                <a:r>
                  <a:rPr lang="en-US" sz="2000" dirty="0">
                    <a:cs typeface="Calibri"/>
                  </a:rPr>
                  <a:t>, which is the frequency of the red allele in population 2 in generation </a:t>
                </a:r>
                <a:r>
                  <a:rPr lang="en-US" sz="2000" i="1" dirty="0">
                    <a:cs typeface="Calibri"/>
                  </a:rPr>
                  <a:t>t</a:t>
                </a:r>
                <a:r>
                  <a:rPr lang="en-US" sz="2000" dirty="0">
                    <a:cs typeface="Calibri"/>
                  </a:rPr>
                  <a:t>.</a:t>
                </a:r>
              </a:p>
            </p:txBody>
          </p:sp>
        </mc:Choice>
        <mc:Fallback xmlns="">
          <p:sp>
            <p:nvSpPr>
              <p:cNvPr id="14" name="Content Placeholder 2"/>
              <p:cNvSpPr txBox="1">
                <a:spLocks noRot="1" noChangeAspect="1" noMove="1" noResize="1" noEditPoints="1" noAdjustHandles="1" noChangeArrowheads="1" noChangeShapeType="1" noTextEdit="1"/>
              </p:cNvSpPr>
              <p:nvPr/>
            </p:nvSpPr>
            <p:spPr>
              <a:xfrm>
                <a:off x="631705" y="2237263"/>
                <a:ext cx="6147915" cy="4405584"/>
              </a:xfrm>
              <a:prstGeom prst="rect">
                <a:avLst/>
              </a:prstGeom>
              <a:blipFill>
                <a:blip r:embed="rId9"/>
                <a:stretch>
                  <a:fillRect r="-893"/>
                </a:stretch>
              </a:blipFill>
            </p:spPr>
            <p:txBody>
              <a:bodyPr/>
              <a:lstStyle/>
              <a:p>
                <a:r>
                  <a:rPr lang="en-US">
                    <a:noFill/>
                  </a:rPr>
                  <a:t> </a:t>
                </a:r>
              </a:p>
            </p:txBody>
          </p:sp>
        </mc:Fallback>
      </mc:AlternateContent>
      <p:sp>
        <p:nvSpPr>
          <p:cNvPr id="15" name="TextBox 14"/>
          <p:cNvSpPr txBox="1"/>
          <p:nvPr/>
        </p:nvSpPr>
        <p:spPr>
          <a:xfrm>
            <a:off x="9157919" y="2945823"/>
            <a:ext cx="827471" cy="369332"/>
          </a:xfrm>
          <a:prstGeom prst="rect">
            <a:avLst/>
          </a:prstGeom>
          <a:noFill/>
        </p:spPr>
        <p:txBody>
          <a:bodyPr wrap="none" rtlCol="0">
            <a:spAutoFit/>
          </a:bodyPr>
          <a:lstStyle/>
          <a:p>
            <a:r>
              <a:rPr lang="en-US" dirty="0"/>
              <a:t>0.1111</a:t>
            </a:r>
          </a:p>
        </p:txBody>
      </p:sp>
      <p:sp>
        <p:nvSpPr>
          <p:cNvPr id="12" name="Rectangle 11"/>
          <p:cNvSpPr/>
          <p:nvPr/>
        </p:nvSpPr>
        <p:spPr>
          <a:xfrm>
            <a:off x="7210698" y="4259013"/>
            <a:ext cx="2097818" cy="48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9171792" y="1745584"/>
            <a:ext cx="813598" cy="3520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9206272" y="2945823"/>
            <a:ext cx="779118" cy="3520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985390" y="4255796"/>
            <a:ext cx="2097818" cy="48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595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12" grpId="0" animBg="1"/>
      <p:bldP spid="16" grpId="0" animBg="1"/>
      <p:bldP spid="17"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631708" y="853141"/>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𝐴</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i="1">
                            <a:latin typeface="Cambria Math" panose="02040503050406030204" pitchFamily="18" charset="0"/>
                          </a:rPr>
                          <m:t>𝐴</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631708" y="853141"/>
                <a:ext cx="5439181"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644770" y="4472861"/>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644770" y="4472861"/>
                <a:ext cx="5439181" cy="400110"/>
              </a:xfrm>
              <a:prstGeom prst="rect">
                <a:avLst/>
              </a:prstGeom>
              <a:blipFill>
                <a:blip r:embed="rId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309359" y="4259013"/>
                <a:ext cx="1955151" cy="484300"/>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0.3889</a:t>
                </a:r>
              </a:p>
            </p:txBody>
          </p:sp>
        </mc:Choice>
        <mc:Fallback xmlns="">
          <p:sp>
            <p:nvSpPr>
              <p:cNvPr id="7" name="TextBox 6"/>
              <p:cNvSpPr txBox="1">
                <a:spLocks noRot="1" noChangeAspect="1" noMove="1" noResize="1" noEditPoints="1" noAdjustHandles="1" noChangeArrowheads="1" noChangeShapeType="1" noTextEdit="1"/>
              </p:cNvSpPr>
              <p:nvPr/>
            </p:nvSpPr>
            <p:spPr>
              <a:xfrm>
                <a:off x="7309359" y="4259013"/>
                <a:ext cx="1955151" cy="484300"/>
              </a:xfrm>
              <a:prstGeom prst="rect">
                <a:avLst/>
              </a:prstGeom>
              <a:blipFill>
                <a:blip r:embed="rId5"/>
                <a:stretch>
                  <a:fillRect l="-935" r="-2181"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210698"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18</m:t>
                          </m:r>
                        </m:den>
                      </m:f>
                      <m:r>
                        <a:rPr lang="en-US" b="0" i="1" smtClean="0">
                          <a:latin typeface="Cambria Math" panose="02040503050406030204" pitchFamily="18" charset="0"/>
                        </a:rPr>
                        <m:t>=0.6111</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7210698" y="4812070"/>
                <a:ext cx="2097818"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121663" y="4252229"/>
                <a:ext cx="1955151" cy="484748"/>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18</m:t>
                        </m:r>
                      </m:den>
                    </m:f>
                  </m:oMath>
                </a14:m>
                <a:r>
                  <a:rPr lang="en-US" dirty="0">
                    <a:latin typeface="Cambria Math" panose="02040503050406030204" pitchFamily="18" charset="0"/>
                    <a:ea typeface="Cambria Math" panose="02040503050406030204" pitchFamily="18" charset="0"/>
                  </a:rPr>
                  <a:t> = 0.2222</a:t>
                </a:r>
              </a:p>
            </p:txBody>
          </p:sp>
        </mc:Choice>
        <mc:Fallback xmlns="">
          <p:sp>
            <p:nvSpPr>
              <p:cNvPr id="9" name="TextBox 8"/>
              <p:cNvSpPr txBox="1">
                <a:spLocks noRot="1" noChangeAspect="1" noMove="1" noResize="1" noEditPoints="1" noAdjustHandles="1" noChangeArrowheads="1" noChangeShapeType="1" noTextEdit="1"/>
              </p:cNvSpPr>
              <p:nvPr/>
            </p:nvSpPr>
            <p:spPr>
              <a:xfrm>
                <a:off x="10121663" y="4252229"/>
                <a:ext cx="1955151" cy="484748"/>
              </a:xfrm>
              <a:prstGeom prst="rect">
                <a:avLst/>
              </a:prstGeom>
              <a:blipFill>
                <a:blip r:embed="rId7"/>
                <a:stretch>
                  <a:fillRect l="-935" r="-2181"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0050330" y="4812070"/>
                <a:ext cx="2097818" cy="6127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m:t>
                          </m:r>
                        </m:num>
                        <m:den>
                          <m:r>
                            <a:rPr lang="en-US" b="0" i="1" smtClean="0">
                              <a:latin typeface="Cambria Math" panose="02040503050406030204" pitchFamily="18" charset="0"/>
                            </a:rPr>
                            <m:t>18</m:t>
                          </m:r>
                        </m:den>
                      </m:f>
                      <m:r>
                        <a:rPr lang="en-US" b="0" i="1" smtClean="0">
                          <a:latin typeface="Cambria Math" panose="02040503050406030204" pitchFamily="18" charset="0"/>
                        </a:rPr>
                        <m:t>=0.7778</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10050330" y="4812070"/>
                <a:ext cx="2097818" cy="612732"/>
              </a:xfrm>
              <a:prstGeom prst="rect">
                <a:avLst/>
              </a:prstGeom>
              <a:blipFill>
                <a:blip r:embed="rId8"/>
                <a:stretch>
                  <a:fillRect/>
                </a:stretch>
              </a:blipFill>
            </p:spPr>
            <p:txBody>
              <a:bodyPr/>
              <a:lstStyle/>
              <a:p>
                <a:r>
                  <a:rPr lang="en-US">
                    <a:noFill/>
                  </a:rPr>
                  <a:t> </a:t>
                </a:r>
              </a:p>
            </p:txBody>
          </p:sp>
        </mc:Fallback>
      </mc:AlternateContent>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825237"/>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sp>
            <p:nvSpPr>
              <p:cNvPr id="16" name="TextBox 15"/>
              <p:cNvSpPr txBox="1"/>
              <p:nvPr/>
            </p:nvSpPr>
            <p:spPr>
              <a:xfrm>
                <a:off x="631708" y="1657544"/>
                <a:ext cx="6641305"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r>
                      <a:rPr lang="en-US" sz="2000" b="0" i="1" smtClean="0">
                        <a:latin typeface="Cambria Math" panose="02040503050406030204" pitchFamily="18" charset="0"/>
                      </a:rPr>
                      <m:t>(0.3889)+</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0.1111)(0.2222)</m:t>
                    </m:r>
                  </m:oMath>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631708" y="1657544"/>
                <a:ext cx="6641305" cy="400110"/>
              </a:xfrm>
              <a:prstGeom prst="rect">
                <a:avLst/>
              </a:prstGeom>
              <a:blipFill>
                <a:blip r:embed="rId9"/>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31708" y="2061226"/>
                <a:ext cx="6202275"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0.8889</m:t>
                        </m:r>
                      </m:e>
                    </m:d>
                    <m:r>
                      <a:rPr lang="en-US" sz="2000" b="0" i="1" smtClean="0">
                        <a:latin typeface="Cambria Math" panose="02040503050406030204" pitchFamily="18" charset="0"/>
                      </a:rPr>
                      <m:t>(0.3889)+</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0.1111)(0.2222)</m:t>
                    </m:r>
                  </m:oMath>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631708" y="2061226"/>
                <a:ext cx="6202275" cy="400110"/>
              </a:xfrm>
              <a:prstGeom prst="rect">
                <a:avLst/>
              </a:prstGeom>
              <a:blipFill>
                <a:blip r:embed="rId10"/>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31708" y="1269245"/>
                <a:ext cx="5439181"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oMath>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631708" y="1269245"/>
                <a:ext cx="5439181" cy="400110"/>
              </a:xfrm>
              <a:prstGeom prst="rect">
                <a:avLst/>
              </a:prstGeom>
              <a:blipFill>
                <a:blip r:embed="rId11"/>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651745" y="2508178"/>
                <a:ext cx="415838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0.345</m:t>
                    </m:r>
                    <m:r>
                      <a:rPr lang="en-US" b="0" i="1" smtClean="0">
                        <a:latin typeface="Cambria Math" panose="02040503050406030204" pitchFamily="18" charset="0"/>
                        <a:ea typeface="Cambria Math" panose="02040503050406030204" pitchFamily="18" charset="0"/>
                      </a:rPr>
                      <m:t>7</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i="1">
                        <a:latin typeface="Cambria Math" panose="02040503050406030204" pitchFamily="18" charset="0"/>
                      </a:rPr>
                      <m:t>0.024</m:t>
                    </m:r>
                    <m:r>
                      <a:rPr lang="en-US" sz="2000" b="0" i="1" smtClean="0">
                        <a:latin typeface="Cambria Math" panose="02040503050406030204" pitchFamily="18" charset="0"/>
                      </a:rPr>
                      <m:t>7)</m:t>
                    </m:r>
                  </m:oMath>
                </a14:m>
                <a:endParaRPr lang="en-US"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51745" y="2508178"/>
                <a:ext cx="4158382" cy="400110"/>
              </a:xfrm>
              <a:prstGeom prst="rect">
                <a:avLst/>
              </a:prstGeom>
              <a:blipFill>
                <a:blip r:embed="rId12"/>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25619" y="2930348"/>
                <a:ext cx="2724784"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0.370</m:t>
                      </m:r>
                      <m:r>
                        <a:rPr lang="en-US" b="0" i="1" smtClean="0">
                          <a:latin typeface="Cambria Math" panose="02040503050406030204" pitchFamily="18" charset="0"/>
                          <a:ea typeface="Cambria Math" panose="02040503050406030204" pitchFamily="18" charset="0"/>
                        </a:rPr>
                        <m:t>4</m:t>
                      </m:r>
                    </m:oMath>
                  </m:oMathPara>
                </a14:m>
                <a:endParaRPr lang="en-US" sz="20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25619" y="2930348"/>
                <a:ext cx="2724784" cy="392993"/>
              </a:xfrm>
              <a:prstGeom prst="rect">
                <a:avLst/>
              </a:prstGeom>
              <a:blipFill>
                <a:blip r:embed="rId13"/>
                <a:stretch>
                  <a:fillRect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64808" y="4886138"/>
                <a:ext cx="6652590"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0.2222</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0.1111)(0.3889)</m:t>
                    </m:r>
                  </m:oMath>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64808" y="4886138"/>
                <a:ext cx="6652590" cy="400110"/>
              </a:xfrm>
              <a:prstGeom prst="rect">
                <a:avLst/>
              </a:prstGeom>
              <a:blipFill>
                <a:blip r:embed="rId1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664808" y="5236305"/>
                <a:ext cx="4389279"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i="1">
                            <a:latin typeface="Cambria Math" panose="02040503050406030204" pitchFamily="18" charset="0"/>
                          </a:rPr>
                          <m:t>0.1975</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i="1">
                        <a:latin typeface="Cambria Math" panose="02040503050406030204" pitchFamily="18" charset="0"/>
                      </a:rPr>
                      <m:t>0.0432</m:t>
                    </m:r>
                    <m:r>
                      <a:rPr lang="en-US" sz="2000" b="0" i="1" smtClean="0">
                        <a:latin typeface="Cambria Math" panose="02040503050406030204" pitchFamily="18" charset="0"/>
                      </a:rPr>
                      <m:t>)</m:t>
                    </m:r>
                  </m:oMath>
                </a14:m>
                <a:endParaRPr lang="en-US" sz="2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64808" y="5236305"/>
                <a:ext cx="4389279" cy="400110"/>
              </a:xfrm>
              <a:prstGeom prst="rect">
                <a:avLst/>
              </a:prstGeom>
              <a:blipFill>
                <a:blip r:embed="rId1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25619" y="5655876"/>
                <a:ext cx="280493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a:rPr lang="en-US" sz="2000" i="1">
                          <a:latin typeface="Cambria Math" panose="02040503050406030204" pitchFamily="18" charset="0"/>
                        </a:rPr>
                        <m:t>0.2407</m:t>
                      </m:r>
                    </m:oMath>
                  </m:oMathPara>
                </a14:m>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625619" y="5655876"/>
                <a:ext cx="2804934" cy="400110"/>
              </a:xfrm>
              <a:prstGeom prst="rect">
                <a:avLst/>
              </a:prstGeom>
              <a:blipFill>
                <a:blip r:embed="rId16"/>
                <a:stretch>
                  <a:fillRect t="-9231" r="-2826"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95562" y="3343597"/>
                <a:ext cx="6138421" cy="923330"/>
              </a:xfrm>
              <a:prstGeom prst="rect">
                <a:avLst/>
              </a:prstGeom>
            </p:spPr>
            <p:txBody>
              <a:bodyPr wrap="square">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1</m:t>
                        </m:r>
                      </m:sub>
                    </m:sSub>
                  </m:oMath>
                </a14:m>
                <a:r>
                  <a:rPr lang="en-US" dirty="0"/>
                  <a:t> decreased because lower frequency of </a:t>
                </a:r>
                <a:r>
                  <a:rPr lang="en-US" i="1" dirty="0"/>
                  <a:t>R</a:t>
                </a:r>
                <a:r>
                  <a:rPr lang="en-US" dirty="0"/>
                  <a:t> in population 2.</a:t>
                </a:r>
              </a:p>
              <a:p>
                <a:r>
                  <a:rPr lang="en-US" dirty="0"/>
                  <a:t>     *Migrants to population 1 carry a lower frequency of </a:t>
                </a:r>
                <a:r>
                  <a:rPr lang="en-US" i="1" dirty="0"/>
                  <a:t>R</a:t>
                </a:r>
                <a:r>
                  <a:rPr lang="en-US" dirty="0"/>
                  <a:t> than 	what is present in population 1.</a:t>
                </a:r>
              </a:p>
            </p:txBody>
          </p:sp>
        </mc:Choice>
        <mc:Fallback xmlns="">
          <p:sp>
            <p:nvSpPr>
              <p:cNvPr id="12" name="Rectangle 11"/>
              <p:cNvSpPr>
                <a:spLocks noRot="1" noChangeAspect="1" noMove="1" noResize="1" noEditPoints="1" noAdjustHandles="1" noChangeArrowheads="1" noChangeShapeType="1" noTextEdit="1"/>
              </p:cNvSpPr>
              <p:nvPr/>
            </p:nvSpPr>
            <p:spPr>
              <a:xfrm>
                <a:off x="695562" y="3343597"/>
                <a:ext cx="6138421" cy="923330"/>
              </a:xfrm>
              <a:prstGeom prst="rect">
                <a:avLst/>
              </a:prstGeom>
              <a:blipFill>
                <a:blip r:embed="rId17"/>
                <a:stretch>
                  <a:fillRect l="-298"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64808" y="6022718"/>
                <a:ext cx="10965181" cy="369332"/>
              </a:xfrm>
              <a:prstGeom prst="rect">
                <a:avLst/>
              </a:prstGeom>
            </p:spPr>
            <p:txBody>
              <a:bodyPr wrap="none">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oMath>
                </a14:m>
                <a:r>
                  <a:rPr lang="en-US" dirty="0"/>
                  <a:t> increased because migrants to population 2 carry a higher frequency of </a:t>
                </a:r>
                <a:r>
                  <a:rPr lang="en-US" i="1" dirty="0"/>
                  <a:t>R</a:t>
                </a:r>
                <a:r>
                  <a:rPr lang="en-US" dirty="0"/>
                  <a:t> than what is present in population 2.</a:t>
                </a:r>
              </a:p>
            </p:txBody>
          </p:sp>
        </mc:Choice>
        <mc:Fallback xmlns="">
          <p:sp>
            <p:nvSpPr>
              <p:cNvPr id="25" name="Rectangle 24"/>
              <p:cNvSpPr>
                <a:spLocks noRot="1" noChangeAspect="1" noMove="1" noResize="1" noEditPoints="1" noAdjustHandles="1" noChangeArrowheads="1" noChangeShapeType="1" noTextEdit="1"/>
              </p:cNvSpPr>
              <p:nvPr/>
            </p:nvSpPr>
            <p:spPr>
              <a:xfrm>
                <a:off x="664808" y="6022718"/>
                <a:ext cx="10965181" cy="369332"/>
              </a:xfrm>
              <a:prstGeom prst="rect">
                <a:avLst/>
              </a:prstGeom>
              <a:blipFill>
                <a:blip r:embed="rId18"/>
                <a:stretch>
                  <a:fillRect l="-167" t="-9836" b="-24590"/>
                </a:stretch>
              </a:blipFill>
            </p:spPr>
            <p:txBody>
              <a:bodyPr/>
              <a:lstStyle/>
              <a:p>
                <a:r>
                  <a:rPr lang="en-US">
                    <a:noFill/>
                  </a:rPr>
                  <a:t> </a:t>
                </a:r>
              </a:p>
            </p:txBody>
          </p:sp>
        </mc:Fallback>
      </mc:AlternateContent>
    </p:spTree>
    <p:extLst>
      <p:ext uri="{BB962C8B-B14F-4D97-AF65-F5344CB8AC3E}">
        <p14:creationId xmlns:p14="http://schemas.microsoft.com/office/powerpoint/2010/main" val="255985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9" grpId="0"/>
      <p:bldP spid="20" grpId="0"/>
      <p:bldP spid="21" grpId="0"/>
      <p:bldP spid="22" grpId="0"/>
      <p:bldP spid="23" grpId="0"/>
      <p:bldP spid="24" grpId="0"/>
      <p:bldP spid="12"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5872633" cy="400110"/>
          </a:xfrm>
          <a:prstGeom prst="rect">
            <a:avLst/>
          </a:prstGeom>
          <a:noFill/>
        </p:spPr>
        <p:txBody>
          <a:bodyPr wrap="none" rtlCol="0">
            <a:spAutoFit/>
          </a:bodyPr>
          <a:lstStyle/>
          <a:p>
            <a:r>
              <a:rPr lang="en-US" sz="2000" dirty="0"/>
              <a:t>What will the allele frequencies be in generation </a:t>
            </a:r>
            <a:r>
              <a:rPr lang="en-US" sz="2000" i="1" dirty="0"/>
              <a:t>t</a:t>
            </a:r>
            <a:r>
              <a:rPr lang="en-US" sz="2000" dirty="0"/>
              <a:t> + 2?</a:t>
            </a:r>
          </a:p>
        </p:txBody>
      </p:sp>
      <mc:AlternateContent xmlns:mc="http://schemas.openxmlformats.org/markup-compatibility/2006" xmlns:a14="http://schemas.microsoft.com/office/drawing/2010/main">
        <mc:Choice Requires="a14">
          <p:sp>
            <p:nvSpPr>
              <p:cNvPr id="13" name="TextBox 12"/>
              <p:cNvSpPr txBox="1"/>
              <p:nvPr/>
            </p:nvSpPr>
            <p:spPr>
              <a:xfrm>
                <a:off x="672359" y="4644645"/>
                <a:ext cx="6367256"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→2</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𝑡</m:t>
                        </m:r>
                        <m:r>
                          <a:rPr lang="en-US" sz="2000" b="0" i="1" smtClean="0">
                            <a:latin typeface="Cambria Math" panose="02040503050406030204" pitchFamily="18" charset="0"/>
                          </a:rPr>
                          <m:t>+1</m:t>
                        </m:r>
                      </m:e>
                    </m:d>
                  </m:oMath>
                </a14:m>
                <a:endParaRPr lang="en-US" sz="2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672359" y="4644645"/>
                <a:ext cx="6367256" cy="400110"/>
              </a:xfrm>
              <a:prstGeom prst="rect">
                <a:avLst/>
              </a:prstGeom>
              <a:blipFill>
                <a:blip r:embed="rId3"/>
                <a:stretch>
                  <a:fillRect b="-13636"/>
                </a:stretch>
              </a:blipFill>
            </p:spPr>
            <p:txBody>
              <a:bodyPr/>
              <a:lstStyle/>
              <a:p>
                <a:r>
                  <a:rPr lang="en-US">
                    <a:noFill/>
                  </a:rPr>
                  <a:t> </a:t>
                </a:r>
              </a:p>
            </p:txBody>
          </p:sp>
        </mc:Fallback>
      </mc:AlternateContent>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61339" y="2825237"/>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sp>
            <p:nvSpPr>
              <p:cNvPr id="16" name="TextBox 15"/>
              <p:cNvSpPr txBox="1"/>
              <p:nvPr/>
            </p:nvSpPr>
            <p:spPr>
              <a:xfrm>
                <a:off x="627082" y="2405825"/>
                <a:ext cx="6651308"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r>
                      <a:rPr lang="en-US" sz="2000" b="0" i="1" smtClean="0">
                        <a:latin typeface="Cambria Math" panose="02040503050406030204" pitchFamily="18" charset="0"/>
                      </a:rPr>
                      <m:t>(0.3704)+</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0.1111)(0.2407)</m:t>
                    </m:r>
                  </m:oMath>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627082" y="2405825"/>
                <a:ext cx="6651308" cy="400110"/>
              </a:xfrm>
              <a:prstGeom prst="rect">
                <a:avLst/>
              </a:prstGeom>
              <a:blipFill>
                <a:blip r:embed="rId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27082" y="2809507"/>
                <a:ext cx="6202275"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0.8889</m:t>
                        </m:r>
                      </m:e>
                    </m:d>
                    <m:r>
                      <a:rPr lang="en-US" sz="2000" b="0" i="1" smtClean="0">
                        <a:latin typeface="Cambria Math" panose="02040503050406030204" pitchFamily="18" charset="0"/>
                      </a:rPr>
                      <m:t>(</m:t>
                    </m:r>
                    <m:r>
                      <a:rPr lang="en-US" sz="2000" i="1">
                        <a:latin typeface="Cambria Math" panose="02040503050406030204" pitchFamily="18" charset="0"/>
                      </a:rPr>
                      <m:t>0.3704</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m:t>
                    </m:r>
                    <m:r>
                      <a:rPr lang="en-US" sz="2000" i="1">
                        <a:latin typeface="Cambria Math" panose="02040503050406030204" pitchFamily="18" charset="0"/>
                      </a:rPr>
                      <m:t>0.2407</m:t>
                    </m:r>
                    <m:r>
                      <a:rPr lang="en-US" sz="2000" b="0" i="1" smtClean="0">
                        <a:latin typeface="Cambria Math" panose="02040503050406030204" pitchFamily="18" charset="0"/>
                      </a:rPr>
                      <m:t>)</m:t>
                    </m:r>
                  </m:oMath>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627082" y="2809507"/>
                <a:ext cx="6202275" cy="400110"/>
              </a:xfrm>
              <a:prstGeom prst="rect">
                <a:avLst/>
              </a:prstGeom>
              <a:blipFill>
                <a:blip r:embed="rId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31708" y="1269245"/>
                <a:ext cx="637918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𝑚</m:t>
                            </m:r>
                          </m:e>
                          <m:sub>
                            <m:r>
                              <a:rPr lang="en-US" sz="2000" b="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i="1">
                            <a:latin typeface="Cambria Math" panose="02040503050406030204" pitchFamily="18" charset="0"/>
                          </a:rPr>
                        </m:ctrlPr>
                      </m:dPr>
                      <m:e>
                        <m:r>
                          <a:rPr lang="en-US" sz="2000" i="1">
                            <a:latin typeface="Cambria Math" panose="02040503050406030204" pitchFamily="18" charset="0"/>
                          </a:rPr>
                          <m:t>𝑡</m:t>
                        </m:r>
                        <m:r>
                          <a:rPr lang="en-US" sz="2000" b="0" i="1" smtClean="0">
                            <a:latin typeface="Cambria Math" panose="02040503050406030204" pitchFamily="18" charset="0"/>
                          </a:rPr>
                          <m:t>+1</m:t>
                        </m:r>
                      </m:e>
                    </m:d>
                  </m:oMath>
                </a14:m>
                <a:endParaRPr lang="en-US" sz="2000" dirty="0"/>
              </a:p>
            </p:txBody>
          </p:sp>
        </mc:Choice>
        <mc:Fallback xmlns="">
          <p:sp>
            <p:nvSpPr>
              <p:cNvPr id="19" name="TextBox 18"/>
              <p:cNvSpPr txBox="1">
                <a:spLocks noRot="1" noChangeAspect="1" noMove="1" noResize="1" noEditPoints="1" noAdjustHandles="1" noChangeArrowheads="1" noChangeShapeType="1" noTextEdit="1"/>
              </p:cNvSpPr>
              <p:nvPr/>
            </p:nvSpPr>
            <p:spPr>
              <a:xfrm>
                <a:off x="631708" y="1269245"/>
                <a:ext cx="6379182"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653208" y="3213189"/>
                <a:ext cx="431105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0.3292</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(0.0267</m:t>
                    </m:r>
                    <m:r>
                      <a:rPr lang="en-US" sz="2000" b="0" i="1" smtClean="0">
                        <a:latin typeface="Cambria Math" panose="02040503050406030204" pitchFamily="18" charset="0"/>
                      </a:rPr>
                      <m:t>)</m:t>
                    </m:r>
                  </m:oMath>
                </a14:m>
                <a:endParaRPr lang="en-US"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53208" y="3213189"/>
                <a:ext cx="4311052" cy="400110"/>
              </a:xfrm>
              <a:prstGeom prst="rect">
                <a:avLst/>
              </a:prstGeom>
              <a:blipFill>
                <a:blip r:embed="rId7"/>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27082" y="3635359"/>
                <a:ext cx="2723181"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0.3559</m:t>
                      </m:r>
                    </m:oMath>
                  </m:oMathPara>
                </a14:m>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27082" y="3635359"/>
                <a:ext cx="2723181" cy="392993"/>
              </a:xfrm>
              <a:prstGeom prst="rect">
                <a:avLst/>
              </a:prstGeom>
              <a:blipFill>
                <a:blip r:embed="rId8"/>
                <a:stretch>
                  <a:fillRect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92397" y="5057922"/>
                <a:ext cx="6652590"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1−0.1111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0.2407</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0.1111)(0.3704)</m:t>
                    </m:r>
                  </m:oMath>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92397" y="5057922"/>
                <a:ext cx="6652590" cy="400110"/>
              </a:xfrm>
              <a:prstGeom prst="rect">
                <a:avLst/>
              </a:prstGeom>
              <a:blipFill>
                <a:blip r:embed="rId9"/>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692397" y="5408089"/>
                <a:ext cx="4246612"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i="1">
                            <a:latin typeface="Cambria Math" panose="02040503050406030204" pitchFamily="18" charset="0"/>
                          </a:rPr>
                          <m:t>0.21</m:t>
                        </m:r>
                        <m:r>
                          <a:rPr lang="en-US" sz="2000" b="0" i="1" smtClean="0">
                            <a:latin typeface="Cambria Math" panose="02040503050406030204" pitchFamily="18" charset="0"/>
                          </a:rPr>
                          <m:t>40</m:t>
                        </m:r>
                      </m:e>
                    </m:d>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(0.041</m:t>
                    </m:r>
                    <m:r>
                      <a:rPr lang="en-US" sz="2000" b="0" i="1" smtClean="0">
                        <a:latin typeface="Cambria Math" panose="02040503050406030204" pitchFamily="18" charset="0"/>
                      </a:rPr>
                      <m:t>1)</m:t>
                    </m:r>
                  </m:oMath>
                </a14:m>
                <a:endParaRPr lang="en-US" sz="2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92397" y="5408089"/>
                <a:ext cx="4246612" cy="400110"/>
              </a:xfrm>
              <a:prstGeom prst="rect">
                <a:avLst/>
              </a:prstGeom>
              <a:blipFill>
                <a:blip r:embed="rId10"/>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53208" y="5827660"/>
                <a:ext cx="280493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+2</m:t>
                              </m:r>
                            </m:e>
                          </m:d>
                        </m:e>
                      </m:d>
                      <m:r>
                        <a:rPr lang="en-US" sz="2000" b="0" i="1" smtClean="0">
                          <a:latin typeface="Cambria Math" panose="02040503050406030204" pitchFamily="18" charset="0"/>
                        </a:rPr>
                        <m:t>=</m:t>
                      </m:r>
                      <m:r>
                        <a:rPr lang="en-US" sz="2000" i="1">
                          <a:latin typeface="Cambria Math" panose="02040503050406030204" pitchFamily="18" charset="0"/>
                        </a:rPr>
                        <m:t>0.2551</m:t>
                      </m:r>
                    </m:oMath>
                  </m:oMathPara>
                </a14:m>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653208" y="5827660"/>
                <a:ext cx="2804934" cy="400110"/>
              </a:xfrm>
              <a:prstGeom prst="rect">
                <a:avLst/>
              </a:prstGeom>
              <a:blipFill>
                <a:blip r:embed="rId11"/>
                <a:stretch>
                  <a:fillRect t="-9091" r="-3043"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97024" y="4048608"/>
                <a:ext cx="2665602" cy="369332"/>
              </a:xfrm>
              <a:prstGeom prst="rect">
                <a:avLst/>
              </a:prstGeom>
            </p:spPr>
            <p:txBody>
              <a:bodyPr wrap="none">
                <a:spAutoFit/>
              </a:bodyPr>
              <a:lstStyle/>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1</m:t>
                        </m:r>
                      </m:sub>
                    </m:sSub>
                  </m:oMath>
                </a14:m>
                <a:r>
                  <a:rPr lang="en-US" dirty="0"/>
                  <a:t> continues to decrease.</a:t>
                </a:r>
              </a:p>
            </p:txBody>
          </p:sp>
        </mc:Choice>
        <mc:Fallback xmlns="">
          <p:sp>
            <p:nvSpPr>
              <p:cNvPr id="12" name="Rectangle 11"/>
              <p:cNvSpPr>
                <a:spLocks noRot="1" noChangeAspect="1" noMove="1" noResize="1" noEditPoints="1" noAdjustHandles="1" noChangeArrowheads="1" noChangeShapeType="1" noTextEdit="1"/>
              </p:cNvSpPr>
              <p:nvPr/>
            </p:nvSpPr>
            <p:spPr>
              <a:xfrm>
                <a:off x="697024" y="4048608"/>
                <a:ext cx="2665602" cy="369332"/>
              </a:xfrm>
              <a:prstGeom prst="rect">
                <a:avLst/>
              </a:prstGeom>
              <a:blipFill>
                <a:blip r:embed="rId12"/>
                <a:stretch>
                  <a:fillRect l="-685" t="-8197" r="-159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92397" y="6194502"/>
                <a:ext cx="2603085" cy="369332"/>
              </a:xfrm>
              <a:prstGeom prst="rect">
                <a:avLst/>
              </a:prstGeom>
            </p:spPr>
            <p:txBody>
              <a:bodyPr wrap="none">
                <a:spAutoFit/>
              </a:bodyPr>
              <a:lstStyle/>
              <a:p>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2</m:t>
                        </m:r>
                      </m:sub>
                    </m:sSub>
                  </m:oMath>
                </a14:m>
                <a:r>
                  <a:rPr lang="en-US" dirty="0"/>
                  <a:t> continues to increase.</a:t>
                </a:r>
              </a:p>
            </p:txBody>
          </p:sp>
        </mc:Choice>
        <mc:Fallback xmlns="">
          <p:sp>
            <p:nvSpPr>
              <p:cNvPr id="25" name="Rectangle 24"/>
              <p:cNvSpPr>
                <a:spLocks noRot="1" noChangeAspect="1" noMove="1" noResize="1" noEditPoints="1" noAdjustHandles="1" noChangeArrowheads="1" noChangeShapeType="1" noTextEdit="1"/>
              </p:cNvSpPr>
              <p:nvPr/>
            </p:nvSpPr>
            <p:spPr>
              <a:xfrm>
                <a:off x="692397" y="6194502"/>
                <a:ext cx="2603085" cy="369332"/>
              </a:xfrm>
              <a:prstGeom prst="rect">
                <a:avLst/>
              </a:prstGeom>
              <a:blipFill>
                <a:blip r:embed="rId13"/>
                <a:stretch>
                  <a:fillRect l="-703" t="-8197" r="-1639"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7974477" y="4246240"/>
                <a:ext cx="2724784"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0.370</m:t>
                      </m:r>
                      <m:r>
                        <a:rPr lang="en-US" b="0" i="1" smtClean="0">
                          <a:latin typeface="Cambria Math" panose="02040503050406030204" pitchFamily="18" charset="0"/>
                          <a:ea typeface="Cambria Math" panose="02040503050406030204" pitchFamily="18" charset="0"/>
                        </a:rPr>
                        <m:t>4</m:t>
                      </m:r>
                    </m:oMath>
                  </m:oMathPara>
                </a14:m>
                <a:endParaRPr lang="en-US" sz="2000" dirty="0"/>
              </a:p>
            </p:txBody>
          </p:sp>
        </mc:Choice>
        <mc:Fallback xmlns="">
          <p:sp>
            <p:nvSpPr>
              <p:cNvPr id="26" name="TextBox 25"/>
              <p:cNvSpPr txBox="1">
                <a:spLocks noRot="1" noChangeAspect="1" noMove="1" noResize="1" noEditPoints="1" noAdjustHandles="1" noChangeArrowheads="1" noChangeShapeType="1" noTextEdit="1"/>
              </p:cNvSpPr>
              <p:nvPr/>
            </p:nvSpPr>
            <p:spPr>
              <a:xfrm>
                <a:off x="7974477" y="4246240"/>
                <a:ext cx="2724784" cy="392993"/>
              </a:xfrm>
              <a:prstGeom prst="rect">
                <a:avLst/>
              </a:prstGeom>
              <a:blipFill>
                <a:blip r:embed="rId14"/>
                <a:stretch>
                  <a:fillRect b="-171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974477" y="4660628"/>
                <a:ext cx="280493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𝑅</m:t>
                              </m:r>
                              <m:r>
                                <a:rPr lang="en-US" sz="2000" b="0" i="1" smtClean="0">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+1</m:t>
                              </m:r>
                            </m:e>
                          </m:d>
                        </m:e>
                      </m:d>
                      <m:r>
                        <a:rPr lang="en-US" sz="2000" b="0" i="1" smtClean="0">
                          <a:latin typeface="Cambria Math" panose="02040503050406030204" pitchFamily="18" charset="0"/>
                        </a:rPr>
                        <m:t>=</m:t>
                      </m:r>
                      <m:r>
                        <a:rPr lang="en-US" sz="2000" i="1">
                          <a:latin typeface="Cambria Math" panose="02040503050406030204" pitchFamily="18" charset="0"/>
                        </a:rPr>
                        <m:t>0.2407</m:t>
                      </m:r>
                    </m:oMath>
                  </m:oMathPara>
                </a14:m>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974477" y="4660628"/>
                <a:ext cx="2804934" cy="400110"/>
              </a:xfrm>
              <a:prstGeom prst="rect">
                <a:avLst/>
              </a:prstGeom>
              <a:blipFill>
                <a:blip r:embed="rId15"/>
                <a:stretch>
                  <a:fillRect t="-9231" r="-3043" b="-27692"/>
                </a:stretch>
              </a:blipFill>
            </p:spPr>
            <p:txBody>
              <a:bodyPr/>
              <a:lstStyle/>
              <a:p>
                <a:r>
                  <a:rPr lang="en-US">
                    <a:noFill/>
                  </a:rPr>
                  <a:t> </a:t>
                </a:r>
              </a:p>
            </p:txBody>
          </p:sp>
        </mc:Fallback>
      </mc:AlternateContent>
      <p:sp>
        <p:nvSpPr>
          <p:cNvPr id="5" name="Rectangle 4"/>
          <p:cNvSpPr/>
          <p:nvPr/>
        </p:nvSpPr>
        <p:spPr>
          <a:xfrm>
            <a:off x="1392261" y="1705744"/>
            <a:ext cx="4538276" cy="646331"/>
          </a:xfrm>
          <a:prstGeom prst="rect">
            <a:avLst/>
          </a:prstGeom>
          <a:ln>
            <a:solidFill>
              <a:schemeClr val="tx1"/>
            </a:solidFill>
          </a:ln>
        </p:spPr>
        <p:txBody>
          <a:bodyPr wrap="square">
            <a:spAutoFit/>
          </a:bodyPr>
          <a:lstStyle/>
          <a:p>
            <a:pPr algn="ctr"/>
            <a:r>
              <a:rPr lang="en-US" dirty="0"/>
              <a:t>A </a:t>
            </a:r>
            <a:r>
              <a:rPr lang="en-US" b="1" dirty="0"/>
              <a:t>recursive formula</a:t>
            </a:r>
            <a:r>
              <a:rPr lang="en-US" dirty="0"/>
              <a:t> always uses the preceding term to define the next term of the sequence.</a:t>
            </a:r>
          </a:p>
        </p:txBody>
      </p:sp>
    </p:spTree>
    <p:extLst>
      <p:ext uri="{BB962C8B-B14F-4D97-AF65-F5344CB8AC3E}">
        <p14:creationId xmlns:p14="http://schemas.microsoft.com/office/powerpoint/2010/main" val="354917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9" grpId="0"/>
      <p:bldP spid="20" grpId="0"/>
      <p:bldP spid="21" grpId="0"/>
      <p:bldP spid="22" grpId="0"/>
      <p:bldP spid="23" grpId="0"/>
      <p:bldP spid="24" grpId="0"/>
      <p:bldP spid="12" grpId="0"/>
      <p:bldP spid="25" grpId="0"/>
      <p:bldP spid="26" grpId="0"/>
      <p:bldP spid="27" grpId="0"/>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5872633" cy="400110"/>
          </a:xfrm>
          <a:prstGeom prst="rect">
            <a:avLst/>
          </a:prstGeom>
          <a:noFill/>
        </p:spPr>
        <p:txBody>
          <a:bodyPr wrap="none" rtlCol="0">
            <a:spAutoFit/>
          </a:bodyPr>
          <a:lstStyle/>
          <a:p>
            <a:r>
              <a:rPr lang="en-US" sz="2000" dirty="0"/>
              <a:t>What will the allele frequencies be in generation </a:t>
            </a:r>
            <a:r>
              <a:rPr lang="en-US" sz="2000" i="1" dirty="0"/>
              <a:t>t</a:t>
            </a:r>
            <a:r>
              <a:rPr lang="en-US" sz="2000" dirty="0"/>
              <a:t> + </a:t>
            </a:r>
            <a:r>
              <a:rPr lang="en-US" sz="2000" i="1" dirty="0"/>
              <a:t>n</a:t>
            </a:r>
            <a:r>
              <a:rPr lang="en-US" sz="2000" dirty="0"/>
              <a:t>?</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825237"/>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1580608" y="1501671"/>
              <a:ext cx="3503919" cy="3928482"/>
            </p:xfrm>
            <a:graphic>
              <a:graphicData uri="http://schemas.openxmlformats.org/drawingml/2006/table">
                <a:tbl>
                  <a:tblPr>
                    <a:tableStyleId>{5C22544A-7EE6-4342-B048-85BDC9FD1C3A}</a:tableStyleId>
                  </a:tblPr>
                  <a:tblGrid>
                    <a:gridCol w="1369093">
                      <a:extLst>
                        <a:ext uri="{9D8B030D-6E8A-4147-A177-3AD203B41FA5}">
                          <a16:colId xmlns:a16="http://schemas.microsoft.com/office/drawing/2014/main" val="1063859175"/>
                        </a:ext>
                      </a:extLst>
                    </a:gridCol>
                    <a:gridCol w="1067413">
                      <a:extLst>
                        <a:ext uri="{9D8B030D-6E8A-4147-A177-3AD203B41FA5}">
                          <a16:colId xmlns:a16="http://schemas.microsoft.com/office/drawing/2014/main" val="707557600"/>
                        </a:ext>
                      </a:extLst>
                    </a:gridCol>
                    <a:gridCol w="1067413">
                      <a:extLst>
                        <a:ext uri="{9D8B030D-6E8A-4147-A177-3AD203B41FA5}">
                          <a16:colId xmlns:a16="http://schemas.microsoft.com/office/drawing/2014/main" val="1574375637"/>
                        </a:ext>
                      </a:extLst>
                    </a:gridCol>
                  </a:tblGrid>
                  <a:tr h="470907">
                    <a:tc>
                      <a:txBody>
                        <a:bodyPr/>
                        <a:lstStyle/>
                        <a:p>
                          <a:pPr algn="l" fontAlgn="b"/>
                          <a:r>
                            <a:rPr lang="en-US" sz="2000" u="none" strike="noStrike" dirty="0">
                              <a:effectLst/>
                            </a:rPr>
                            <a:t>Generation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772565120"/>
                  </p:ext>
                </p:extLst>
              </p:nvPr>
            </p:nvGraphicFramePr>
            <p:xfrm>
              <a:off x="1580608" y="1501671"/>
              <a:ext cx="3503919" cy="3928482"/>
            </p:xfrm>
            <a:graphic>
              <a:graphicData uri="http://schemas.openxmlformats.org/drawingml/2006/table">
                <a:tbl>
                  <a:tblPr>
                    <a:tableStyleId>{5C22544A-7EE6-4342-B048-85BDC9FD1C3A}</a:tableStyleId>
                  </a:tblPr>
                  <a:tblGrid>
                    <a:gridCol w="1369093">
                      <a:extLst>
                        <a:ext uri="{9D8B030D-6E8A-4147-A177-3AD203B41FA5}">
                          <a16:colId xmlns:a16="http://schemas.microsoft.com/office/drawing/2014/main" val="1063859175"/>
                        </a:ext>
                      </a:extLst>
                    </a:gridCol>
                    <a:gridCol w="1067413">
                      <a:extLst>
                        <a:ext uri="{9D8B030D-6E8A-4147-A177-3AD203B41FA5}">
                          <a16:colId xmlns:a16="http://schemas.microsoft.com/office/drawing/2014/main" val="707557600"/>
                        </a:ext>
                      </a:extLst>
                    </a:gridCol>
                    <a:gridCol w="1067413">
                      <a:extLst>
                        <a:ext uri="{9D8B030D-6E8A-4147-A177-3AD203B41FA5}">
                          <a16:colId xmlns:a16="http://schemas.microsoft.com/office/drawing/2014/main" val="1574375637"/>
                        </a:ext>
                      </a:extLst>
                    </a:gridCol>
                  </a:tblGrid>
                  <a:tr h="470907">
                    <a:tc>
                      <a:txBody>
                        <a:bodyPr/>
                        <a:lstStyle/>
                        <a:p>
                          <a:pPr algn="l" fontAlgn="b"/>
                          <a:r>
                            <a:rPr lang="en-US" sz="2000" u="none" strike="noStrike" dirty="0">
                              <a:effectLst/>
                            </a:rPr>
                            <a:t>Generation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8409" t="-1299" r="-100568" b="-770130"/>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9714" t="-1299" r="-1143" b="-770130"/>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Fallback>
      </mc:AlternateContent>
      <p:sp>
        <p:nvSpPr>
          <p:cNvPr id="28" name="TextBox 27"/>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112455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5872633" cy="400110"/>
          </a:xfrm>
          <a:prstGeom prst="rect">
            <a:avLst/>
          </a:prstGeom>
          <a:noFill/>
        </p:spPr>
        <p:txBody>
          <a:bodyPr wrap="none" rtlCol="0">
            <a:spAutoFit/>
          </a:bodyPr>
          <a:lstStyle/>
          <a:p>
            <a:r>
              <a:rPr lang="en-US" sz="2000" dirty="0"/>
              <a:t>What will the allele frequencies be in generation </a:t>
            </a:r>
            <a:r>
              <a:rPr lang="en-US" sz="2000" i="1" dirty="0"/>
              <a:t>t</a:t>
            </a:r>
            <a:r>
              <a:rPr lang="en-US" sz="2000" dirty="0"/>
              <a:t> + </a:t>
            </a:r>
            <a:r>
              <a:rPr lang="en-US" sz="2000" i="1" dirty="0"/>
              <a:t>n</a:t>
            </a:r>
            <a:r>
              <a:rPr lang="en-US" sz="2000" dirty="0"/>
              <a:t>?</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61339" y="2825237"/>
            <a:ext cx="827471" cy="369332"/>
          </a:xfrm>
          <a:prstGeom prst="rect">
            <a:avLst/>
          </a:prstGeom>
          <a:noFill/>
        </p:spPr>
        <p:txBody>
          <a:bodyPr wrap="none" rtlCol="0">
            <a:spAutoFit/>
          </a:bodyPr>
          <a:lstStyle/>
          <a:p>
            <a:r>
              <a:rPr lang="en-US" dirty="0"/>
              <a:t>0.1111</a:t>
            </a:r>
          </a:p>
        </p:txBody>
      </p:sp>
      <p:graphicFrame>
        <p:nvGraphicFramePr>
          <p:cNvPr id="9" name="Chart 8"/>
          <p:cNvGraphicFramePr>
            <a:graphicFrameLocks/>
          </p:cNvGraphicFramePr>
          <p:nvPr/>
        </p:nvGraphicFramePr>
        <p:xfrm>
          <a:off x="552558" y="1596320"/>
          <a:ext cx="5951783" cy="395539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p:cNvSpPr/>
          <p:nvPr/>
        </p:nvSpPr>
        <p:spPr>
          <a:xfrm>
            <a:off x="1193516" y="5894782"/>
            <a:ext cx="5506957" cy="461665"/>
          </a:xfrm>
          <a:prstGeom prst="rect">
            <a:avLst/>
          </a:prstGeom>
        </p:spPr>
        <p:txBody>
          <a:bodyPr wrap="none">
            <a:spAutoFit/>
          </a:bodyPr>
          <a:lstStyle/>
          <a:p>
            <a:r>
              <a:rPr lang="en-US" sz="2400" b="1" dirty="0">
                <a:cs typeface="Calibri"/>
              </a:rPr>
              <a:t>Migration homogenizes allele frequencies</a:t>
            </a:r>
            <a:endParaRPr lang="en-US" sz="2400" dirty="0"/>
          </a:p>
        </p:txBody>
      </p:sp>
    </p:spTree>
    <p:extLst>
      <p:ext uri="{BB962C8B-B14F-4D97-AF65-F5344CB8AC3E}">
        <p14:creationId xmlns:p14="http://schemas.microsoft.com/office/powerpoint/2010/main" val="65900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3477875" cy="400110"/>
          </a:xfrm>
          <a:prstGeom prst="rect">
            <a:avLst/>
          </a:prstGeom>
          <a:noFill/>
        </p:spPr>
        <p:txBody>
          <a:bodyPr wrap="none" rtlCol="0">
            <a:spAutoFit/>
          </a:bodyPr>
          <a:lstStyle/>
          <a:p>
            <a:r>
              <a:rPr lang="en-US" sz="2000" dirty="0"/>
              <a:t>How will F</a:t>
            </a:r>
            <a:r>
              <a:rPr lang="en-US" sz="2000" baseline="-25000" dirty="0"/>
              <a:t>ST</a:t>
            </a:r>
            <a:r>
              <a:rPr lang="en-US" sz="2000" dirty="0"/>
              <a:t> change over time?</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783255"/>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𝑓</m:t>
                                        </m:r>
                                      </m:e>
                                      <m:sub>
                                        <m:r>
                                          <a:rPr lang="en-US" sz="2000" b="0" i="1" u="none" strike="noStrike" smtClean="0">
                                            <a:solidFill>
                                              <a:srgbClr val="000000"/>
                                            </a:solidFill>
                                            <a:effectLst/>
                                            <a:latin typeface="Cambria Math" panose="02040503050406030204" pitchFamily="18" charset="0"/>
                                          </a:rPr>
                                          <m:t>𝑅</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𝐹</m:t>
                                    </m:r>
                                  </m:e>
                                  <m:sub>
                                    <m:r>
                                      <a:rPr lang="en-US" sz="2000" b="0" i="1" u="none" strike="noStrike" smtClean="0">
                                        <a:solidFill>
                                          <a:srgbClr val="000000"/>
                                        </a:solidFill>
                                        <a:effectLst/>
                                        <a:latin typeface="Cambria Math" panose="02040503050406030204" pitchFamily="18" charset="0"/>
                                      </a:rPr>
                                      <m:t>𝑆𝑇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261160597"/>
                  </p:ext>
                </p:extLst>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smtClean="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902" t="-1299" r="-7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5902" t="-1299" r="-6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3496" t="-1299" r="-498374"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6721" t="-1299" r="-4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721" t="-1299" r="-3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6721" t="-1299" r="-2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1057" t="-1299" r="-100813"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7541" t="-1299" r="-1639" b="-771429"/>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0.222</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4619808" y="725093"/>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619808" y="725093"/>
                <a:ext cx="1722844" cy="656205"/>
              </a:xfrm>
              <a:prstGeom prst="rect">
                <a:avLst/>
              </a:prstGeom>
              <a:blipFill>
                <a:blip r:embed="rId4"/>
                <a:stretch>
                  <a:fillRect/>
                </a:stretch>
              </a:blipFill>
            </p:spPr>
            <p:txBody>
              <a:bodyPr/>
              <a:lstStyle/>
              <a:p>
                <a:r>
                  <a:rPr lang="en-US">
                    <a:noFill/>
                  </a:rPr>
                  <a:t> </a:t>
                </a:r>
              </a:p>
            </p:txBody>
          </p:sp>
        </mc:Fallback>
      </mc:AlternateContent>
      <p:sp>
        <p:nvSpPr>
          <p:cNvPr id="12" name="TextBox 11"/>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80619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3477875" cy="400110"/>
          </a:xfrm>
          <a:prstGeom prst="rect">
            <a:avLst/>
          </a:prstGeom>
          <a:noFill/>
        </p:spPr>
        <p:txBody>
          <a:bodyPr wrap="none" rtlCol="0">
            <a:spAutoFit/>
          </a:bodyPr>
          <a:lstStyle/>
          <a:p>
            <a:r>
              <a:rPr lang="en-US" sz="2000" dirty="0"/>
              <a:t>How will F</a:t>
            </a:r>
            <a:r>
              <a:rPr lang="en-US" sz="2000" baseline="-25000" dirty="0"/>
              <a:t>ST</a:t>
            </a:r>
            <a:r>
              <a:rPr lang="en-US" sz="2000" dirty="0"/>
              <a:t> change over time?</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171792" y="2783255"/>
            <a:ext cx="827471" cy="369332"/>
          </a:xfrm>
          <a:prstGeom prst="rect">
            <a:avLst/>
          </a:prstGeom>
          <a:noFill/>
        </p:spPr>
        <p:txBody>
          <a:bodyPr wrap="none" rtlCol="0">
            <a:spAutoFit/>
          </a:bodyPr>
          <a:lstStyle/>
          <a:p>
            <a:r>
              <a:rPr lang="en-US" dirty="0"/>
              <a:t>0.1111</a:t>
            </a:r>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𝑓</m:t>
                                        </m:r>
                                      </m:e>
                                      <m:sub>
                                        <m:r>
                                          <a:rPr lang="en-US" sz="2000" b="0" i="1" u="none" strike="noStrike" smtClean="0">
                                            <a:solidFill>
                                              <a:srgbClr val="000000"/>
                                            </a:solidFill>
                                            <a:effectLst/>
                                            <a:latin typeface="Cambria Math" panose="02040503050406030204" pitchFamily="18" charset="0"/>
                                          </a:rPr>
                                          <m:t>𝑅</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𝐹</m:t>
                                    </m:r>
                                  </m:e>
                                  <m:sub>
                                    <m:r>
                                      <a:rPr lang="en-US" sz="2000" b="0" i="1" u="none" strike="noStrike" smtClean="0">
                                        <a:solidFill>
                                          <a:srgbClr val="000000"/>
                                        </a:solidFill>
                                        <a:effectLst/>
                                        <a:latin typeface="Cambria Math" panose="02040503050406030204" pitchFamily="18" charset="0"/>
                                      </a:rPr>
                                      <m:t>𝑆𝑇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0.424</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0.475</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0.346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0.410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0.033</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488758655"/>
                  </p:ext>
                </p:extLst>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smtClean="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902" t="-1299" r="-7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5902" t="-1299" r="-6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3496" t="-1299" r="-498374"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6721" t="-1299" r="-4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721" t="-1299" r="-3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6721" t="-1299" r="-2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1057" t="-1299" r="-100813"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7541" t="-1299" r="-1639" b="-771429"/>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0.424</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0.475</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0.346</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0.410</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0.033</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15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4619808" y="725093"/>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619808" y="725093"/>
                <a:ext cx="1722844" cy="656205"/>
              </a:xfrm>
              <a:prstGeom prst="rect">
                <a:avLst/>
              </a:prstGeom>
              <a:blipFill>
                <a:blip r:embed="rId4"/>
                <a:stretch>
                  <a:fillRect/>
                </a:stretch>
              </a:blipFill>
            </p:spPr>
            <p:txBody>
              <a:bodyPr/>
              <a:lstStyle/>
              <a:p>
                <a:r>
                  <a:rPr lang="en-US">
                    <a:noFill/>
                  </a:rPr>
                  <a:t> </a:t>
                </a:r>
              </a:p>
            </p:txBody>
          </p:sp>
        </mc:Fallback>
      </mc:AlternateContent>
      <p:sp>
        <p:nvSpPr>
          <p:cNvPr id="12" name="TextBox 11"/>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2291765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pic>
        <p:nvPicPr>
          <p:cNvPr id="6"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167" t="-634" r="-390" b="-376"/>
          <a:stretch/>
        </p:blipFill>
        <p:spPr bwMode="auto">
          <a:xfrm>
            <a:off x="7210698" y="675609"/>
            <a:ext cx="4728754" cy="350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631708" y="853141"/>
            <a:ext cx="3477875" cy="400110"/>
          </a:xfrm>
          <a:prstGeom prst="rect">
            <a:avLst/>
          </a:prstGeom>
          <a:noFill/>
        </p:spPr>
        <p:txBody>
          <a:bodyPr wrap="none" rtlCol="0">
            <a:spAutoFit/>
          </a:bodyPr>
          <a:lstStyle/>
          <a:p>
            <a:r>
              <a:rPr lang="en-US" sz="2000" dirty="0"/>
              <a:t>How will F</a:t>
            </a:r>
            <a:r>
              <a:rPr lang="en-US" sz="2000" baseline="-25000" dirty="0"/>
              <a:t>ST</a:t>
            </a:r>
            <a:r>
              <a:rPr lang="en-US" sz="2000" dirty="0"/>
              <a:t> change over time?</a:t>
            </a:r>
          </a:p>
        </p:txBody>
      </p:sp>
      <p:sp>
        <p:nvSpPr>
          <p:cNvPr id="4" name="TextBox 3"/>
          <p:cNvSpPr txBox="1"/>
          <p:nvPr/>
        </p:nvSpPr>
        <p:spPr>
          <a:xfrm>
            <a:off x="9171792" y="1750423"/>
            <a:ext cx="827471" cy="369332"/>
          </a:xfrm>
          <a:prstGeom prst="rect">
            <a:avLst/>
          </a:prstGeom>
          <a:noFill/>
        </p:spPr>
        <p:txBody>
          <a:bodyPr wrap="none" rtlCol="0">
            <a:spAutoFit/>
          </a:bodyPr>
          <a:lstStyle/>
          <a:p>
            <a:r>
              <a:rPr lang="en-US" dirty="0"/>
              <a:t>0.1111</a:t>
            </a:r>
          </a:p>
        </p:txBody>
      </p:sp>
      <p:sp>
        <p:nvSpPr>
          <p:cNvPr id="15" name="TextBox 14"/>
          <p:cNvSpPr txBox="1"/>
          <p:nvPr/>
        </p:nvSpPr>
        <p:spPr>
          <a:xfrm>
            <a:off x="9215219" y="2825237"/>
            <a:ext cx="827471" cy="369332"/>
          </a:xfrm>
          <a:prstGeom prst="rect">
            <a:avLst/>
          </a:prstGeom>
          <a:noFill/>
        </p:spPr>
        <p:txBody>
          <a:bodyPr wrap="none" rtlCol="0">
            <a:spAutoFit/>
          </a:bodyPr>
          <a:lstStyle/>
          <a:p>
            <a:r>
              <a:rPr lang="en-US" dirty="0"/>
              <a:t>0.1111</a:t>
            </a:r>
          </a:p>
        </p:txBody>
      </p:sp>
      <p:sp>
        <p:nvSpPr>
          <p:cNvPr id="5" name="Rectangle 4"/>
          <p:cNvSpPr/>
          <p:nvPr/>
        </p:nvSpPr>
        <p:spPr>
          <a:xfrm>
            <a:off x="354538" y="5873118"/>
            <a:ext cx="10253384" cy="461665"/>
          </a:xfrm>
          <a:prstGeom prst="rect">
            <a:avLst/>
          </a:prstGeom>
        </p:spPr>
        <p:txBody>
          <a:bodyPr wrap="none">
            <a:spAutoFit/>
          </a:bodyPr>
          <a:lstStyle/>
          <a:p>
            <a:r>
              <a:rPr lang="en-US" sz="2400" b="1" dirty="0">
                <a:cs typeface="Calibri"/>
              </a:rPr>
              <a:t>Migration homogenizes allele frequencies and causes </a:t>
            </a:r>
            <a:r>
              <a:rPr lang="en-US" sz="2400" b="1" dirty="0" err="1">
                <a:cs typeface="Calibri"/>
              </a:rPr>
              <a:t>F</a:t>
            </a:r>
            <a:r>
              <a:rPr lang="en-US" sz="2400" b="1" cap="all" baseline="-25000" dirty="0" err="1">
                <a:cs typeface="Calibri"/>
              </a:rPr>
              <a:t>st</a:t>
            </a:r>
            <a:r>
              <a:rPr lang="en-US" sz="2400" b="1" dirty="0">
                <a:cs typeface="Calibri"/>
              </a:rPr>
              <a:t> to decrease over time.</a:t>
            </a:r>
            <a:endParaRPr lang="en-US" sz="2400" dirty="0"/>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𝑅</m:t>
                                    </m:r>
                                    <m:r>
                                      <a:rPr lang="en-US" sz="2000" b="0" i="1" smtClean="0">
                                        <a:latin typeface="Cambria Math" panose="02040503050406030204" pitchFamily="18" charset="0"/>
                                        <a:ea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𝑓</m:t>
                                        </m:r>
                                      </m:e>
                                      <m:sub>
                                        <m:r>
                                          <a:rPr lang="en-US" sz="2000" b="0" i="1" u="none" strike="noStrike" smtClean="0">
                                            <a:solidFill>
                                              <a:srgbClr val="000000"/>
                                            </a:solidFill>
                                            <a:effectLst/>
                                            <a:latin typeface="Cambria Math" panose="02040503050406030204" pitchFamily="18" charset="0"/>
                                          </a:rPr>
                                          <m:t>𝑅</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r>
                                      <a:rPr lang="en-US" sz="2000" b="0" i="1" u="none" strike="noStrike" smtClean="0">
                                        <a:solidFill>
                                          <a:srgbClr val="000000"/>
                                        </a:solidFill>
                                        <a:effectLst/>
                                        <a:latin typeface="Cambria Math" panose="02040503050406030204" pitchFamily="18" charset="0"/>
                                      </a:rPr>
                                      <m:t>2</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acc>
                                  <m:accPr>
                                    <m:chr m:val="̅"/>
                                    <m:ctrlPr>
                                      <a:rPr lang="en-US" sz="2000" b="0" i="1" u="none" strike="noStrike" smtClean="0">
                                        <a:solidFill>
                                          <a:srgbClr val="000000"/>
                                        </a:solidFill>
                                        <a:effectLst/>
                                        <a:latin typeface="Cambria Math" panose="02040503050406030204" pitchFamily="18" charset="0"/>
                                      </a:rPr>
                                    </m:ctrlPr>
                                  </m:accPr>
                                  <m:e>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𝐻</m:t>
                                        </m:r>
                                      </m:e>
                                      <m:sub>
                                        <m:r>
                                          <a:rPr lang="en-US" sz="2000" b="0" i="1" u="none" strike="noStrike" smtClean="0">
                                            <a:solidFill>
                                              <a:srgbClr val="000000"/>
                                            </a:solidFill>
                                            <a:effectLst/>
                                            <a:latin typeface="Cambria Math" panose="02040503050406030204" pitchFamily="18" charset="0"/>
                                          </a:rPr>
                                          <m:t>𝑆</m:t>
                                        </m:r>
                                      </m:sub>
                                    </m:sSub>
                                  </m:e>
                                </m:acc>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𝐹</m:t>
                                    </m:r>
                                  </m:e>
                                  <m:sub>
                                    <m:r>
                                      <a:rPr lang="en-US" sz="2000" b="0" i="1" u="none" strike="noStrike" smtClean="0">
                                        <a:solidFill>
                                          <a:srgbClr val="000000"/>
                                        </a:solidFill>
                                        <a:effectLst/>
                                        <a:latin typeface="Cambria Math" panose="02040503050406030204" pitchFamily="18" charset="0"/>
                                      </a:rPr>
                                      <m:t>𝑆𝑇</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124565649"/>
                      </a:ext>
                    </a:extLst>
                  </a:tr>
                  <a:tr h="190500">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0.424</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0.475</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0.346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0.410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0.033</a:t>
                          </a:r>
                        </a:p>
                      </a:txBody>
                      <a:tcPr marL="9525" marR="9525" marT="9525" marB="0" anchor="b">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3421589096"/>
                      </a:ext>
                    </a:extLst>
                  </a:tr>
                  <a:tr h="190500">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0.020</a:t>
                          </a:r>
                        </a:p>
                      </a:txBody>
                      <a:tcPr marL="9525" marR="9525" marT="9525" marB="0" anchor="b">
                        <a:solidFill>
                          <a:srgbClr val="FFFF99"/>
                        </a:solidFill>
                      </a:tcPr>
                    </a:tc>
                    <a:extLst>
                      <a:ext uri="{0D108BD9-81ED-4DB2-BD59-A6C34878D82A}">
                        <a16:rowId xmlns:a16="http://schemas.microsoft.com/office/drawing/2014/main" val="1458669103"/>
                      </a:ext>
                    </a:extLst>
                  </a:tr>
                  <a:tr h="190500">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0.380</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0.012</a:t>
                          </a:r>
                        </a:p>
                      </a:txBody>
                      <a:tcPr marL="9525" marR="9525" marT="9525" marB="0" anchor="b">
                        <a:solidFill>
                          <a:srgbClr val="FFFF99"/>
                        </a:solidFill>
                      </a:tcPr>
                    </a:tc>
                    <a:extLst>
                      <a:ext uri="{0D108BD9-81ED-4DB2-BD59-A6C34878D82A}">
                        <a16:rowId xmlns:a16="http://schemas.microsoft.com/office/drawing/2014/main" val="3074522758"/>
                      </a:ext>
                    </a:extLst>
                  </a:tr>
                  <a:tr h="190500">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0.007</a:t>
                          </a:r>
                        </a:p>
                      </a:txBody>
                      <a:tcPr marL="9525" marR="9525" marT="9525" marB="0" anchor="b">
                        <a:solidFill>
                          <a:srgbClr val="FFFF99"/>
                        </a:solidFill>
                      </a:tcPr>
                    </a:tc>
                    <a:extLst>
                      <a:ext uri="{0D108BD9-81ED-4DB2-BD59-A6C34878D82A}">
                        <a16:rowId xmlns:a16="http://schemas.microsoft.com/office/drawing/2014/main" val="310491972"/>
                      </a:ext>
                    </a:extLst>
                  </a:tr>
                  <a:tr h="190500">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0.004</a:t>
                          </a:r>
                        </a:p>
                      </a:txBody>
                      <a:tcPr marL="9525" marR="9525" marT="9525" marB="0" anchor="b">
                        <a:solidFill>
                          <a:srgbClr val="FFFF99"/>
                        </a:solidFill>
                      </a:tcPr>
                    </a:tc>
                    <a:extLst>
                      <a:ext uri="{0D108BD9-81ED-4DB2-BD59-A6C34878D82A}">
                        <a16:rowId xmlns:a16="http://schemas.microsoft.com/office/drawing/2014/main" val="3224551944"/>
                      </a:ext>
                    </a:extLst>
                  </a:tr>
                  <a:tr h="190500">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0.003</a:t>
                          </a:r>
                        </a:p>
                      </a:txBody>
                      <a:tcPr marL="9525" marR="9525" marT="9525" marB="0" anchor="b">
                        <a:solidFill>
                          <a:srgbClr val="FFFF99"/>
                        </a:solidFill>
                      </a:tcPr>
                    </a:tc>
                    <a:extLst>
                      <a:ext uri="{0D108BD9-81ED-4DB2-BD59-A6C34878D82A}">
                        <a16:rowId xmlns:a16="http://schemas.microsoft.com/office/drawing/2014/main" val="1243985557"/>
                      </a:ext>
                    </a:extLst>
                  </a:tr>
                  <a:tr h="190500">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0.002</a:t>
                          </a:r>
                        </a:p>
                      </a:txBody>
                      <a:tcPr marL="9525" marR="9525" marT="9525" marB="0" anchor="b">
                        <a:solidFill>
                          <a:srgbClr val="FFFF99"/>
                        </a:solidFill>
                      </a:tcPr>
                    </a:tc>
                    <a:extLst>
                      <a:ext uri="{0D108BD9-81ED-4DB2-BD59-A6C34878D82A}">
                        <a16:rowId xmlns:a16="http://schemas.microsoft.com/office/drawing/2014/main" val="3304606160"/>
                      </a:ext>
                    </a:extLst>
                  </a:tr>
                  <a:tr h="190500">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2531255356"/>
                      </a:ext>
                    </a:extLst>
                  </a:tr>
                  <a:tr h="190500">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1078468444"/>
                      </a:ext>
                    </a:extLst>
                  </a:tr>
                  <a:tr h="190500">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solidFill>
                          <a:srgbClr val="FFFF99"/>
                        </a:solidFill>
                      </a:tcPr>
                    </a:tc>
                    <a:extLst>
                      <a:ext uri="{0D108BD9-81ED-4DB2-BD59-A6C34878D82A}">
                        <a16:rowId xmlns:a16="http://schemas.microsoft.com/office/drawing/2014/main" val="3079247040"/>
                      </a:ext>
                    </a:extLst>
                  </a:tr>
                  <a:tr h="190500">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0.430</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244561553"/>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371469591"/>
                  </p:ext>
                </p:extLst>
              </p:nvPr>
            </p:nvGraphicFramePr>
            <p:xfrm>
              <a:off x="422029" y="1631311"/>
              <a:ext cx="6667021" cy="3928482"/>
            </p:xfrm>
            <a:graphic>
              <a:graphicData uri="http://schemas.openxmlformats.org/drawingml/2006/table">
                <a:tbl>
                  <a:tblPr>
                    <a:tableStyleId>{5C22544A-7EE6-4342-B048-85BDC9FD1C3A}</a:tableStyleId>
                  </a:tblPr>
                  <a:tblGrid>
                    <a:gridCol w="704613">
                      <a:extLst>
                        <a:ext uri="{9D8B030D-6E8A-4147-A177-3AD203B41FA5}">
                          <a16:colId xmlns:a16="http://schemas.microsoft.com/office/drawing/2014/main" val="1063859175"/>
                        </a:ext>
                      </a:extLst>
                    </a:gridCol>
                    <a:gridCol w="745301">
                      <a:extLst>
                        <a:ext uri="{9D8B030D-6E8A-4147-A177-3AD203B41FA5}">
                          <a16:colId xmlns:a16="http://schemas.microsoft.com/office/drawing/2014/main" val="707557600"/>
                        </a:ext>
                      </a:extLst>
                    </a:gridCol>
                    <a:gridCol w="745301">
                      <a:extLst>
                        <a:ext uri="{9D8B030D-6E8A-4147-A177-3AD203B41FA5}">
                          <a16:colId xmlns:a16="http://schemas.microsoft.com/office/drawing/2014/main" val="1574375637"/>
                        </a:ext>
                      </a:extLst>
                    </a:gridCol>
                    <a:gridCol w="745301">
                      <a:extLst>
                        <a:ext uri="{9D8B030D-6E8A-4147-A177-3AD203B41FA5}">
                          <a16:colId xmlns:a16="http://schemas.microsoft.com/office/drawing/2014/main" val="4053651796"/>
                        </a:ext>
                      </a:extLst>
                    </a:gridCol>
                    <a:gridCol w="745301">
                      <a:extLst>
                        <a:ext uri="{9D8B030D-6E8A-4147-A177-3AD203B41FA5}">
                          <a16:colId xmlns:a16="http://schemas.microsoft.com/office/drawing/2014/main" val="2073108959"/>
                        </a:ext>
                      </a:extLst>
                    </a:gridCol>
                    <a:gridCol w="745301">
                      <a:extLst>
                        <a:ext uri="{9D8B030D-6E8A-4147-A177-3AD203B41FA5}">
                          <a16:colId xmlns:a16="http://schemas.microsoft.com/office/drawing/2014/main" val="1035170231"/>
                        </a:ext>
                      </a:extLst>
                    </a:gridCol>
                    <a:gridCol w="745301">
                      <a:extLst>
                        <a:ext uri="{9D8B030D-6E8A-4147-A177-3AD203B41FA5}">
                          <a16:colId xmlns:a16="http://schemas.microsoft.com/office/drawing/2014/main" val="3655782227"/>
                        </a:ext>
                      </a:extLst>
                    </a:gridCol>
                    <a:gridCol w="745301">
                      <a:extLst>
                        <a:ext uri="{9D8B030D-6E8A-4147-A177-3AD203B41FA5}">
                          <a16:colId xmlns:a16="http://schemas.microsoft.com/office/drawing/2014/main" val="31297787"/>
                        </a:ext>
                      </a:extLst>
                    </a:gridCol>
                    <a:gridCol w="745301">
                      <a:extLst>
                        <a:ext uri="{9D8B030D-6E8A-4147-A177-3AD203B41FA5}">
                          <a16:colId xmlns:a16="http://schemas.microsoft.com/office/drawing/2014/main" val="3007406137"/>
                        </a:ext>
                      </a:extLst>
                    </a:gridCol>
                  </a:tblGrid>
                  <a:tr h="470907">
                    <a:tc>
                      <a:txBody>
                        <a:bodyPr/>
                        <a:lstStyle/>
                        <a:p>
                          <a:pPr algn="l" fontAlgn="b"/>
                          <a:r>
                            <a:rPr lang="en-US" sz="2000" u="none" strike="noStrike" dirty="0" smtClean="0">
                              <a:effectLst/>
                            </a:rPr>
                            <a:t>Gen</a:t>
                          </a:r>
                          <a:endParaRPr lang="en-US" sz="20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902" t="-1299" r="-7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5902" t="-1299" r="-60327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3496" t="-1299" r="-498374"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6721" t="-1299" r="-4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721" t="-1299" r="-3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6721" t="-1299" r="-202459"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91057" t="-1299" r="-100813" b="-771429"/>
                          </a:stretch>
                        </a:blipFill>
                      </a:tcPr>
                    </a:tc>
                    <a:tc>
                      <a:txBody>
                        <a:bodyPr/>
                        <a:lstStyle/>
                        <a:p>
                          <a:endParaRPr lang="en-US"/>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97541" t="-1299" r="-1639" b="-771429"/>
                          </a:stretch>
                        </a:blipFill>
                      </a:tcPr>
                    </a:tc>
                    <a:extLst>
                      <a:ext uri="{0D108BD9-81ED-4DB2-BD59-A6C34878D82A}">
                        <a16:rowId xmlns:a16="http://schemas.microsoft.com/office/drawing/2014/main" val="3124565649"/>
                      </a:ext>
                    </a:extLst>
                  </a:tr>
                  <a:tr h="314325">
                    <a:tc>
                      <a:txBody>
                        <a:bodyPr/>
                        <a:lstStyle/>
                        <a:p>
                          <a:pPr algn="l" fontAlgn="b"/>
                          <a:r>
                            <a:rPr lang="en-US" sz="2000" i="1" u="none" strike="noStrike" dirty="0">
                              <a:effectLst/>
                            </a:rPr>
                            <a:t>t</a:t>
                          </a:r>
                          <a:endParaRPr lang="en-US" sz="2000" b="0" i="1"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a:effectLst/>
                            </a:rPr>
                            <a:t>0.389</a:t>
                          </a:r>
                          <a:endParaRPr lang="en-US" sz="2000" b="0" i="0" u="none" strike="noStrike">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u="none" strike="noStrike" dirty="0">
                              <a:effectLst/>
                            </a:rPr>
                            <a:t>0.222</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a:solidFill>
                                <a:srgbClr val="000000"/>
                              </a:solidFill>
                              <a:effectLst/>
                              <a:latin typeface="Calibri" panose="020F0502020204030204" pitchFamily="34" charset="0"/>
                            </a:rPr>
                            <a:t>0.306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0.424</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0.475</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0.346</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0.410</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r>
                            <a:rPr lang="en-US" sz="2000" b="0" i="0" u="none" strike="noStrike" dirty="0" smtClean="0">
                              <a:solidFill>
                                <a:srgbClr val="000000"/>
                              </a:solidFill>
                              <a:effectLst/>
                              <a:latin typeface="Calibri" panose="020F0502020204030204" pitchFamily="34" charset="0"/>
                            </a:rPr>
                            <a:t>0.033</a:t>
                          </a:r>
                          <a:endParaRPr lang="en-US" sz="2000" b="0" i="0" u="none" strike="noStrike" dirty="0">
                            <a:solidFill>
                              <a:srgbClr val="000000"/>
                            </a:solidFill>
                            <a:effectLst/>
                            <a:latin typeface="Calibri" panose="020F0502020204030204" pitchFamily="34" charset="0"/>
                          </a:endParaRPr>
                        </a:p>
                      </a:txBody>
                      <a:tcPr marL="9525" marR="9525" marT="9525" marB="0" anchor="b">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3421589096"/>
                      </a:ext>
                    </a:extLst>
                  </a:tr>
                  <a:tr h="314325">
                    <a:tc>
                      <a:txBody>
                        <a:bodyPr/>
                        <a:lstStyle/>
                        <a:p>
                          <a:pPr algn="l" fontAlgn="b"/>
                          <a:r>
                            <a:rPr lang="en-US" sz="2000" i="1" u="none" strike="noStrike" dirty="0">
                              <a:effectLst/>
                            </a:rPr>
                            <a:t>t</a:t>
                          </a:r>
                          <a:r>
                            <a:rPr lang="en-US" sz="2000" u="none" strike="noStrike" dirty="0">
                              <a:effectLst/>
                            </a:rPr>
                            <a:t> + 1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0.370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0.241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0.366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0.020</a:t>
                          </a:r>
                        </a:p>
                      </a:txBody>
                      <a:tcPr marL="9525" marR="9525" marT="9525" marB="0" anchor="b">
                        <a:solidFill>
                          <a:srgbClr val="FFFF99"/>
                        </a:solidFill>
                      </a:tcPr>
                    </a:tc>
                    <a:extLst>
                      <a:ext uri="{0D108BD9-81ED-4DB2-BD59-A6C34878D82A}">
                        <a16:rowId xmlns:a16="http://schemas.microsoft.com/office/drawing/2014/main" val="1458669103"/>
                      </a:ext>
                    </a:extLst>
                  </a:tr>
                  <a:tr h="314325">
                    <a:tc>
                      <a:txBody>
                        <a:bodyPr/>
                        <a:lstStyle/>
                        <a:p>
                          <a:pPr algn="l" fontAlgn="b"/>
                          <a:r>
                            <a:rPr lang="en-US" sz="2000" i="1" u="none" strike="noStrike" dirty="0">
                              <a:effectLst/>
                            </a:rPr>
                            <a:t>t</a:t>
                          </a:r>
                          <a:r>
                            <a:rPr lang="en-US" sz="2000" u="none" strike="noStrike" dirty="0">
                              <a:effectLst/>
                            </a:rPr>
                            <a:t> + 2</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0.356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0.255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0.380</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0.012</a:t>
                          </a:r>
                        </a:p>
                      </a:txBody>
                      <a:tcPr marL="9525" marR="9525" marT="9525" marB="0" anchor="b">
                        <a:solidFill>
                          <a:srgbClr val="FFFF99"/>
                        </a:solidFill>
                      </a:tcPr>
                    </a:tc>
                    <a:extLst>
                      <a:ext uri="{0D108BD9-81ED-4DB2-BD59-A6C34878D82A}">
                        <a16:rowId xmlns:a16="http://schemas.microsoft.com/office/drawing/2014/main" val="3074522758"/>
                      </a:ext>
                    </a:extLst>
                  </a:tr>
                  <a:tr h="314325">
                    <a:tc>
                      <a:txBody>
                        <a:bodyPr/>
                        <a:lstStyle/>
                        <a:p>
                          <a:pPr algn="l" fontAlgn="b"/>
                          <a:r>
                            <a:rPr lang="en-US" sz="2000" i="1" u="none" strike="noStrike" dirty="0">
                              <a:effectLst/>
                            </a:rPr>
                            <a:t>t </a:t>
                          </a:r>
                          <a:r>
                            <a:rPr lang="en-US" sz="2000" u="none" strike="noStrike" dirty="0">
                              <a:effectLst/>
                            </a:rPr>
                            <a:t>+ 3</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0.345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0.266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0.452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0.007</a:t>
                          </a:r>
                        </a:p>
                      </a:txBody>
                      <a:tcPr marL="9525" marR="9525" marT="9525" marB="0" anchor="b">
                        <a:solidFill>
                          <a:srgbClr val="FFFF99"/>
                        </a:solidFill>
                      </a:tcPr>
                    </a:tc>
                    <a:extLst>
                      <a:ext uri="{0D108BD9-81ED-4DB2-BD59-A6C34878D82A}">
                        <a16:rowId xmlns:a16="http://schemas.microsoft.com/office/drawing/2014/main" val="310491972"/>
                      </a:ext>
                    </a:extLst>
                  </a:tr>
                  <a:tr h="314325">
                    <a:tc>
                      <a:txBody>
                        <a:bodyPr/>
                        <a:lstStyle/>
                        <a:p>
                          <a:pPr algn="l" fontAlgn="b"/>
                          <a:r>
                            <a:rPr lang="en-US" sz="2000" i="1" u="none" strike="noStrike" dirty="0">
                              <a:effectLst/>
                            </a:rPr>
                            <a:t>t</a:t>
                          </a:r>
                          <a:r>
                            <a:rPr lang="en-US" sz="2000" u="none" strike="noStrike" dirty="0">
                              <a:effectLst/>
                            </a:rPr>
                            <a:t> + 4</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0.336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0.275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0.399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0.004</a:t>
                          </a:r>
                        </a:p>
                      </a:txBody>
                      <a:tcPr marL="9525" marR="9525" marT="9525" marB="0" anchor="b">
                        <a:solidFill>
                          <a:srgbClr val="FFFF99"/>
                        </a:solidFill>
                      </a:tcPr>
                    </a:tc>
                    <a:extLst>
                      <a:ext uri="{0D108BD9-81ED-4DB2-BD59-A6C34878D82A}">
                        <a16:rowId xmlns:a16="http://schemas.microsoft.com/office/drawing/2014/main" val="3224551944"/>
                      </a:ext>
                    </a:extLst>
                  </a:tr>
                  <a:tr h="314325">
                    <a:tc>
                      <a:txBody>
                        <a:bodyPr/>
                        <a:lstStyle/>
                        <a:p>
                          <a:pPr algn="l" fontAlgn="b"/>
                          <a:r>
                            <a:rPr lang="en-US" sz="2000" i="1" u="none" strike="noStrike" dirty="0">
                              <a:effectLst/>
                            </a:rPr>
                            <a:t>t</a:t>
                          </a:r>
                          <a:r>
                            <a:rPr lang="en-US" sz="2000" u="none" strike="noStrike" dirty="0">
                              <a:effectLst/>
                            </a:rPr>
                            <a:t> + 5</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0.442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0.003</a:t>
                          </a:r>
                        </a:p>
                      </a:txBody>
                      <a:tcPr marL="9525" marR="9525" marT="9525" marB="0" anchor="b">
                        <a:solidFill>
                          <a:srgbClr val="FFFF99"/>
                        </a:solidFill>
                      </a:tcPr>
                    </a:tc>
                    <a:extLst>
                      <a:ext uri="{0D108BD9-81ED-4DB2-BD59-A6C34878D82A}">
                        <a16:rowId xmlns:a16="http://schemas.microsoft.com/office/drawing/2014/main" val="1243985557"/>
                      </a:ext>
                    </a:extLst>
                  </a:tr>
                  <a:tr h="314325">
                    <a:tc>
                      <a:txBody>
                        <a:bodyPr/>
                        <a:lstStyle/>
                        <a:p>
                          <a:pPr algn="l" fontAlgn="b"/>
                          <a:r>
                            <a:rPr lang="en-US" sz="2000" i="1" u="none" strike="noStrike" dirty="0">
                              <a:effectLst/>
                            </a:rPr>
                            <a:t>t</a:t>
                          </a:r>
                          <a:r>
                            <a:rPr lang="en-US" sz="2000" u="none" strike="noStrike" dirty="0">
                              <a:effectLst/>
                            </a:rPr>
                            <a:t> + 6</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0.287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0.409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0.002</a:t>
                          </a:r>
                        </a:p>
                      </a:txBody>
                      <a:tcPr marL="9525" marR="9525" marT="9525" marB="0" anchor="b">
                        <a:solidFill>
                          <a:srgbClr val="FFFF99"/>
                        </a:solidFill>
                      </a:tcPr>
                    </a:tc>
                    <a:extLst>
                      <a:ext uri="{0D108BD9-81ED-4DB2-BD59-A6C34878D82A}">
                        <a16:rowId xmlns:a16="http://schemas.microsoft.com/office/drawing/2014/main" val="3304606160"/>
                      </a:ext>
                    </a:extLst>
                  </a:tr>
                  <a:tr h="314325">
                    <a:tc>
                      <a:txBody>
                        <a:bodyPr/>
                        <a:lstStyle/>
                        <a:p>
                          <a:pPr algn="l" fontAlgn="b"/>
                          <a:r>
                            <a:rPr lang="en-US" sz="2000" i="1" u="none" strike="noStrike" dirty="0">
                              <a:effectLst/>
                            </a:rPr>
                            <a:t>t</a:t>
                          </a:r>
                          <a:r>
                            <a:rPr lang="en-US" sz="2000" u="none" strike="noStrike" dirty="0">
                              <a:effectLst/>
                            </a:rPr>
                            <a:t> + 7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0.320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2531255356"/>
                      </a:ext>
                    </a:extLst>
                  </a:tr>
                  <a:tr h="314325">
                    <a:tc>
                      <a:txBody>
                        <a:bodyPr/>
                        <a:lstStyle/>
                        <a:p>
                          <a:pPr algn="l" fontAlgn="b"/>
                          <a:r>
                            <a:rPr lang="en-US" sz="2000" i="1" u="none" strike="noStrike" dirty="0">
                              <a:effectLst/>
                            </a:rPr>
                            <a:t>t</a:t>
                          </a:r>
                          <a:r>
                            <a:rPr lang="en-US" sz="2000" u="none" strike="noStrike" dirty="0">
                              <a:effectLst/>
                            </a:rPr>
                            <a:t> + 8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0.001</a:t>
                          </a:r>
                        </a:p>
                      </a:txBody>
                      <a:tcPr marL="9525" marR="9525" marT="9525" marB="0" anchor="b">
                        <a:solidFill>
                          <a:srgbClr val="FFFF99"/>
                        </a:solidFill>
                      </a:tcPr>
                    </a:tc>
                    <a:extLst>
                      <a:ext uri="{0D108BD9-81ED-4DB2-BD59-A6C34878D82A}">
                        <a16:rowId xmlns:a16="http://schemas.microsoft.com/office/drawing/2014/main" val="1078468444"/>
                      </a:ext>
                    </a:extLst>
                  </a:tr>
                  <a:tr h="314325">
                    <a:tc>
                      <a:txBody>
                        <a:bodyPr/>
                        <a:lstStyle/>
                        <a:p>
                          <a:pPr algn="l" fontAlgn="b"/>
                          <a:r>
                            <a:rPr lang="en-US" sz="2000" i="1" u="none" strike="noStrike" dirty="0">
                              <a:effectLst/>
                            </a:rPr>
                            <a:t>t</a:t>
                          </a:r>
                          <a:r>
                            <a:rPr lang="en-US" sz="2000" u="none" strike="noStrike" dirty="0">
                              <a:effectLst/>
                            </a:rPr>
                            <a:t> + 9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0.314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u="none" strike="noStrike">
                              <a:effectLst/>
                            </a:rPr>
                            <a:t>0.297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0.431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0.417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solidFill>
                          <a:srgbClr val="FFFF99"/>
                        </a:solidFill>
                      </a:tcPr>
                    </a:tc>
                    <a:extLst>
                      <a:ext uri="{0D108BD9-81ED-4DB2-BD59-A6C34878D82A}">
                        <a16:rowId xmlns:a16="http://schemas.microsoft.com/office/drawing/2014/main" val="3079247040"/>
                      </a:ext>
                    </a:extLst>
                  </a:tr>
                  <a:tr h="314325">
                    <a:tc>
                      <a:txBody>
                        <a:bodyPr/>
                        <a:lstStyle/>
                        <a:p>
                          <a:pPr algn="l" fontAlgn="b"/>
                          <a:r>
                            <a:rPr lang="en-US" sz="2000" i="1" u="none" strike="noStrike" dirty="0">
                              <a:effectLst/>
                            </a:rPr>
                            <a:t>t</a:t>
                          </a:r>
                          <a:r>
                            <a:rPr lang="en-US" sz="2000" u="none" strike="noStrike" dirty="0">
                              <a:effectLst/>
                            </a:rPr>
                            <a:t> + 10</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0.312</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u="none" strike="noStrike" dirty="0">
                              <a:effectLst/>
                            </a:rPr>
                            <a:t>0.299</a:t>
                          </a:r>
                          <a:endParaRPr lang="en-US" sz="2000" b="0" i="0" u="none" strike="noStrike" dirty="0">
                            <a:solidFill>
                              <a:srgbClr val="000000"/>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0.306</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0.430</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0.419</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a:solidFill>
                                <a:srgbClr val="000000"/>
                              </a:solidFill>
                              <a:effectLst/>
                              <a:latin typeface="Calibri" panose="020F0502020204030204" pitchFamily="34" charset="0"/>
                            </a:rPr>
                            <a:t>0.424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r" fontAlgn="b"/>
                          <a:r>
                            <a:rPr lang="en-US" sz="2000" b="0" i="0" u="none" strike="noStrike" dirty="0">
                              <a:solidFill>
                                <a:srgbClr val="000000"/>
                              </a:solidFill>
                              <a:effectLst/>
                              <a:latin typeface="Calibri" panose="020F0502020204030204" pitchFamily="34" charset="0"/>
                            </a:rPr>
                            <a:t>0.000</a:t>
                          </a:r>
                        </a:p>
                      </a:txBody>
                      <a:tcPr marL="9525" marR="9525" marT="9525" marB="0" anchor="b">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2445615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4619808" y="725093"/>
                <a:ext cx="1722844"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𝑆𝑇</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𝑆</m:t>
                              </m:r>
                            </m:sub>
                          </m:sSub>
                        </m:num>
                        <m:den>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𝑇</m:t>
                              </m:r>
                            </m:sub>
                          </m:sSub>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619808" y="725093"/>
                <a:ext cx="1722844" cy="656205"/>
              </a:xfrm>
              <a:prstGeom prst="rect">
                <a:avLst/>
              </a:prstGeom>
              <a:blipFill>
                <a:blip r:embed="rId4"/>
                <a:stretch>
                  <a:fillRect/>
                </a:stretch>
              </a:blipFill>
            </p:spPr>
            <p:txBody>
              <a:bodyPr/>
              <a:lstStyle/>
              <a:p>
                <a:r>
                  <a:rPr lang="en-US">
                    <a:noFill/>
                  </a:rPr>
                  <a:t> </a:t>
                </a:r>
              </a:p>
            </p:txBody>
          </p:sp>
        </mc:Fallback>
      </mc:AlternateContent>
      <p:sp>
        <p:nvSpPr>
          <p:cNvPr id="8" name="TextBox 7"/>
          <p:cNvSpPr txBox="1"/>
          <p:nvPr/>
        </p:nvSpPr>
        <p:spPr>
          <a:xfrm>
            <a:off x="7490666" y="4540726"/>
            <a:ext cx="4276579" cy="923330"/>
          </a:xfrm>
          <a:prstGeom prst="rect">
            <a:avLst/>
          </a:prstGeom>
          <a:noFill/>
        </p:spPr>
        <p:txBody>
          <a:bodyPr wrap="square" rtlCol="0">
            <a:spAutoFit/>
          </a:bodyPr>
          <a:lstStyle/>
          <a:p>
            <a:r>
              <a:rPr lang="en-US" i="1" dirty="0"/>
              <a:t>Note that I rounded the final values to three decimal places; however, when carrying out the math, I kept all decimal places.</a:t>
            </a:r>
          </a:p>
        </p:txBody>
      </p:sp>
    </p:spTree>
    <p:extLst>
      <p:ext uri="{BB962C8B-B14F-4D97-AF65-F5344CB8AC3E}">
        <p14:creationId xmlns:p14="http://schemas.microsoft.com/office/powerpoint/2010/main" val="216928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552558" y="324600"/>
            <a:ext cx="6147915"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Migration</a:t>
            </a:r>
            <a:endParaRPr lang="en-US" dirty="0">
              <a:cs typeface="Calibri"/>
            </a:endParaRPr>
          </a:p>
          <a:p>
            <a:pPr>
              <a:lnSpc>
                <a:spcPct val="120000"/>
              </a:lnSpc>
            </a:pPr>
            <a:endParaRPr lang="en-US" dirty="0">
              <a:cs typeface="Calibri"/>
            </a:endParaRPr>
          </a:p>
        </p:txBody>
      </p:sp>
      <p:sp>
        <p:nvSpPr>
          <p:cNvPr id="3" name="TextBox 2"/>
          <p:cNvSpPr txBox="1"/>
          <p:nvPr/>
        </p:nvSpPr>
        <p:spPr>
          <a:xfrm>
            <a:off x="631708" y="853141"/>
            <a:ext cx="8083688" cy="400110"/>
          </a:xfrm>
          <a:prstGeom prst="rect">
            <a:avLst/>
          </a:prstGeom>
          <a:noFill/>
        </p:spPr>
        <p:txBody>
          <a:bodyPr wrap="none" rtlCol="0">
            <a:spAutoFit/>
          </a:bodyPr>
          <a:lstStyle/>
          <a:p>
            <a:r>
              <a:rPr lang="en-US" sz="2000" dirty="0"/>
              <a:t>How do migration rates influence the homogenization of allele frequencies?</a:t>
            </a:r>
          </a:p>
        </p:txBody>
      </p:sp>
      <p:pic>
        <p:nvPicPr>
          <p:cNvPr id="5" name="Picture 4"/>
          <p:cNvPicPr>
            <a:picLocks noChangeAspect="1"/>
          </p:cNvPicPr>
          <p:nvPr/>
        </p:nvPicPr>
        <p:blipFill>
          <a:blip r:embed="rId2"/>
          <a:stretch>
            <a:fillRect/>
          </a:stretch>
        </p:blipFill>
        <p:spPr>
          <a:xfrm>
            <a:off x="552558" y="1569118"/>
            <a:ext cx="3668486" cy="2743200"/>
          </a:xfrm>
          <a:prstGeom prst="rect">
            <a:avLst/>
          </a:prstGeom>
        </p:spPr>
      </p:pic>
      <p:pic>
        <p:nvPicPr>
          <p:cNvPr id="6" name="Picture 5"/>
          <p:cNvPicPr>
            <a:picLocks noChangeAspect="1"/>
          </p:cNvPicPr>
          <p:nvPr/>
        </p:nvPicPr>
        <p:blipFill>
          <a:blip r:embed="rId3"/>
          <a:stretch>
            <a:fillRect/>
          </a:stretch>
        </p:blipFill>
        <p:spPr>
          <a:xfrm>
            <a:off x="4221044" y="1569118"/>
            <a:ext cx="3668486" cy="2743200"/>
          </a:xfrm>
          <a:prstGeom prst="rect">
            <a:avLst/>
          </a:prstGeom>
        </p:spPr>
      </p:pic>
      <p:pic>
        <p:nvPicPr>
          <p:cNvPr id="7" name="Picture 6"/>
          <p:cNvPicPr>
            <a:picLocks noChangeAspect="1"/>
          </p:cNvPicPr>
          <p:nvPr/>
        </p:nvPicPr>
        <p:blipFill>
          <a:blip r:embed="rId4"/>
          <a:stretch>
            <a:fillRect/>
          </a:stretch>
        </p:blipFill>
        <p:spPr>
          <a:xfrm>
            <a:off x="7889530" y="1569118"/>
            <a:ext cx="3655789" cy="2743200"/>
          </a:xfrm>
          <a:prstGeom prst="rect">
            <a:avLst/>
          </a:prstGeom>
        </p:spPr>
      </p:pic>
      <p:sp>
        <p:nvSpPr>
          <p:cNvPr id="8" name="Rectangle 7"/>
          <p:cNvSpPr/>
          <p:nvPr/>
        </p:nvSpPr>
        <p:spPr>
          <a:xfrm>
            <a:off x="631708" y="5226005"/>
            <a:ext cx="7678115" cy="830997"/>
          </a:xfrm>
          <a:prstGeom prst="rect">
            <a:avLst/>
          </a:prstGeom>
        </p:spPr>
        <p:txBody>
          <a:bodyPr wrap="square">
            <a:spAutoFit/>
          </a:bodyPr>
          <a:lstStyle/>
          <a:p>
            <a:r>
              <a:rPr lang="en-US" sz="2400" b="1" dirty="0">
                <a:cs typeface="Calibri"/>
              </a:rPr>
              <a:t>The lower the migration rate, the more generations that are required for allele frequencies to become the same.</a:t>
            </a:r>
            <a:endParaRPr lang="en-US" sz="2400" dirty="0"/>
          </a:p>
        </p:txBody>
      </p:sp>
    </p:spTree>
    <p:extLst>
      <p:ext uri="{BB962C8B-B14F-4D97-AF65-F5344CB8AC3E}">
        <p14:creationId xmlns:p14="http://schemas.microsoft.com/office/powerpoint/2010/main" val="410737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875412" y="379060"/>
            <a:ext cx="8746187" cy="46943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cs typeface="Calibri"/>
              </a:rPr>
              <a:t>The Wright-Fisher Model with Genetic Drift and Migration</a:t>
            </a:r>
            <a:endParaRPr lang="en-US" dirty="0">
              <a:cs typeface="Calibri"/>
            </a:endParaRPr>
          </a:p>
          <a:p>
            <a:pPr>
              <a:lnSpc>
                <a:spcPct val="120000"/>
              </a:lnSpc>
            </a:pPr>
            <a:endParaRPr lang="en-US" dirty="0">
              <a:cs typeface="Calibri"/>
            </a:endParaRPr>
          </a:p>
        </p:txBody>
      </p:sp>
      <p:pic>
        <p:nvPicPr>
          <p:cNvPr id="5" name="Picture 4"/>
          <p:cNvPicPr>
            <a:picLocks noChangeAspect="1"/>
          </p:cNvPicPr>
          <p:nvPr/>
        </p:nvPicPr>
        <p:blipFill>
          <a:blip r:embed="rId2"/>
          <a:stretch>
            <a:fillRect/>
          </a:stretch>
        </p:blipFill>
        <p:spPr>
          <a:xfrm>
            <a:off x="232439" y="1308295"/>
            <a:ext cx="3114592" cy="3108960"/>
          </a:xfrm>
          <a:prstGeom prst="rect">
            <a:avLst/>
          </a:prstGeom>
        </p:spPr>
      </p:pic>
      <p:sp>
        <p:nvSpPr>
          <p:cNvPr id="7" name="TextBox 6"/>
          <p:cNvSpPr txBox="1"/>
          <p:nvPr/>
        </p:nvSpPr>
        <p:spPr>
          <a:xfrm>
            <a:off x="598578" y="1308295"/>
            <a:ext cx="1786066"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0.0</a:t>
            </a:r>
          </a:p>
        </p:txBody>
      </p:sp>
      <p:sp>
        <p:nvSpPr>
          <p:cNvPr id="16" name="TextBox 15"/>
          <p:cNvSpPr txBox="1"/>
          <p:nvPr/>
        </p:nvSpPr>
        <p:spPr>
          <a:xfrm>
            <a:off x="6151377" y="4382638"/>
            <a:ext cx="2805427" cy="1323439"/>
          </a:xfrm>
          <a:prstGeom prst="rect">
            <a:avLst/>
          </a:prstGeom>
          <a:noFill/>
        </p:spPr>
        <p:txBody>
          <a:bodyPr wrap="square" rtlCol="0">
            <a:spAutoFit/>
          </a:bodyPr>
          <a:lstStyle/>
          <a:p>
            <a:pPr algn="ctr"/>
            <a:r>
              <a:rPr lang="en-US" sz="2000" dirty="0"/>
              <a:t>Moderate migration: Allele frequencies are influenced by drift in the other subpopulation.</a:t>
            </a:r>
          </a:p>
        </p:txBody>
      </p:sp>
      <p:sp>
        <p:nvSpPr>
          <p:cNvPr id="19" name="TextBox 18"/>
          <p:cNvSpPr txBox="1"/>
          <p:nvPr/>
        </p:nvSpPr>
        <p:spPr>
          <a:xfrm>
            <a:off x="612088" y="4417255"/>
            <a:ext cx="2439667" cy="1323439"/>
          </a:xfrm>
          <a:prstGeom prst="rect">
            <a:avLst/>
          </a:prstGeom>
          <a:noFill/>
        </p:spPr>
        <p:txBody>
          <a:bodyPr wrap="square" rtlCol="0">
            <a:spAutoFit/>
          </a:bodyPr>
          <a:lstStyle/>
          <a:p>
            <a:pPr algn="ctr"/>
            <a:r>
              <a:rPr lang="en-US" sz="2000" dirty="0"/>
              <a:t>No migration: Allele frequencies are independent in the subpopulations.</a:t>
            </a:r>
          </a:p>
        </p:txBody>
      </p:sp>
      <p:sp>
        <p:nvSpPr>
          <p:cNvPr id="20" name="TextBox 19"/>
          <p:cNvSpPr txBox="1"/>
          <p:nvPr/>
        </p:nvSpPr>
        <p:spPr>
          <a:xfrm>
            <a:off x="3440729" y="4382638"/>
            <a:ext cx="2439667" cy="1631216"/>
          </a:xfrm>
          <a:prstGeom prst="rect">
            <a:avLst/>
          </a:prstGeom>
          <a:noFill/>
        </p:spPr>
        <p:txBody>
          <a:bodyPr wrap="square" rtlCol="0">
            <a:spAutoFit/>
          </a:bodyPr>
          <a:lstStyle/>
          <a:p>
            <a:pPr algn="ctr"/>
            <a:r>
              <a:rPr lang="en-US" sz="2000" dirty="0"/>
              <a:t>Low migration: Allele frequencies can drift to fixation, but are reintroduced through migration.</a:t>
            </a:r>
          </a:p>
        </p:txBody>
      </p:sp>
      <p:sp>
        <p:nvSpPr>
          <p:cNvPr id="21" name="TextBox 20"/>
          <p:cNvSpPr txBox="1"/>
          <p:nvPr/>
        </p:nvSpPr>
        <p:spPr>
          <a:xfrm>
            <a:off x="8971744" y="4371535"/>
            <a:ext cx="2805427" cy="1631216"/>
          </a:xfrm>
          <a:prstGeom prst="rect">
            <a:avLst/>
          </a:prstGeom>
          <a:noFill/>
        </p:spPr>
        <p:txBody>
          <a:bodyPr wrap="square" rtlCol="0">
            <a:spAutoFit/>
          </a:bodyPr>
          <a:lstStyle/>
          <a:p>
            <a:pPr algn="ctr"/>
            <a:r>
              <a:rPr lang="en-US" sz="2000" dirty="0"/>
              <a:t>High migration: Allele frequencies are strongly dependent; behaves as if large effective population size.</a:t>
            </a:r>
          </a:p>
        </p:txBody>
      </p:sp>
      <p:pic>
        <p:nvPicPr>
          <p:cNvPr id="22" name="Picture 21"/>
          <p:cNvPicPr>
            <a:picLocks noChangeAspect="1"/>
          </p:cNvPicPr>
          <p:nvPr/>
        </p:nvPicPr>
        <p:blipFill rotWithShape="1">
          <a:blip r:embed="rId3"/>
          <a:srcRect l="6091"/>
          <a:stretch/>
        </p:blipFill>
        <p:spPr>
          <a:xfrm>
            <a:off x="6046836" y="1273678"/>
            <a:ext cx="2924908" cy="3108960"/>
          </a:xfrm>
          <a:prstGeom prst="rect">
            <a:avLst/>
          </a:prstGeom>
        </p:spPr>
      </p:pic>
      <p:sp>
        <p:nvSpPr>
          <p:cNvPr id="23" name="TextBox 22"/>
          <p:cNvSpPr txBox="1"/>
          <p:nvPr/>
        </p:nvSpPr>
        <p:spPr>
          <a:xfrm>
            <a:off x="6324505" y="1308295"/>
            <a:ext cx="2020105"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0.005</a:t>
            </a:r>
          </a:p>
        </p:txBody>
      </p:sp>
      <p:pic>
        <p:nvPicPr>
          <p:cNvPr id="24" name="Picture 23"/>
          <p:cNvPicPr>
            <a:picLocks noChangeAspect="1"/>
          </p:cNvPicPr>
          <p:nvPr/>
        </p:nvPicPr>
        <p:blipFill rotWithShape="1">
          <a:blip r:embed="rId4"/>
          <a:srcRect l="5817"/>
          <a:stretch/>
        </p:blipFill>
        <p:spPr>
          <a:xfrm>
            <a:off x="3252273" y="1308295"/>
            <a:ext cx="2933397" cy="3108960"/>
          </a:xfrm>
          <a:prstGeom prst="rect">
            <a:avLst/>
          </a:prstGeom>
        </p:spPr>
      </p:pic>
      <p:sp>
        <p:nvSpPr>
          <p:cNvPr id="25" name="TextBox 24"/>
          <p:cNvSpPr txBox="1"/>
          <p:nvPr/>
        </p:nvSpPr>
        <p:spPr>
          <a:xfrm>
            <a:off x="3459012" y="1352421"/>
            <a:ext cx="2137124"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0.0001</a:t>
            </a:r>
          </a:p>
        </p:txBody>
      </p:sp>
      <p:pic>
        <p:nvPicPr>
          <p:cNvPr id="26" name="Picture 25"/>
          <p:cNvPicPr>
            <a:picLocks noChangeAspect="1"/>
          </p:cNvPicPr>
          <p:nvPr/>
        </p:nvPicPr>
        <p:blipFill rotWithShape="1">
          <a:blip r:embed="rId5"/>
          <a:srcRect l="5817"/>
          <a:stretch/>
        </p:blipFill>
        <p:spPr>
          <a:xfrm>
            <a:off x="8907758" y="1262575"/>
            <a:ext cx="2933397" cy="3108960"/>
          </a:xfrm>
          <a:prstGeom prst="rect">
            <a:avLst/>
          </a:prstGeom>
        </p:spPr>
      </p:pic>
      <p:sp>
        <p:nvSpPr>
          <p:cNvPr id="27" name="TextBox 26"/>
          <p:cNvSpPr txBox="1"/>
          <p:nvPr/>
        </p:nvSpPr>
        <p:spPr>
          <a:xfrm>
            <a:off x="8956804" y="1268014"/>
            <a:ext cx="1786066" cy="369332"/>
          </a:xfrm>
          <a:prstGeom prst="rect">
            <a:avLst/>
          </a:prstGeom>
          <a:noFill/>
        </p:spPr>
        <p:txBody>
          <a:bodyPr wrap="none" rtlCol="0">
            <a:spAutoFit/>
          </a:bodyPr>
          <a:lstStyle/>
          <a:p>
            <a:r>
              <a:rPr lang="en-US" i="1" dirty="0"/>
              <a:t>N</a:t>
            </a:r>
            <a:r>
              <a:rPr lang="en-US" i="1" baseline="-25000" dirty="0"/>
              <a:t>e</a:t>
            </a:r>
            <a:r>
              <a:rPr lang="en-US" dirty="0"/>
              <a:t> = 200, </a:t>
            </a:r>
            <a:r>
              <a:rPr lang="en-US" i="1" dirty="0"/>
              <a:t>m</a:t>
            </a:r>
            <a:r>
              <a:rPr lang="en-US" dirty="0"/>
              <a:t> = 0.1</a:t>
            </a:r>
          </a:p>
        </p:txBody>
      </p:sp>
    </p:spTree>
    <p:extLst>
      <p:ext uri="{BB962C8B-B14F-4D97-AF65-F5344CB8AC3E}">
        <p14:creationId xmlns:p14="http://schemas.microsoft.com/office/powerpoint/2010/main" val="378550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21" grpId="0"/>
      <p:bldP spid="23" grpId="0"/>
      <p:bldP spid="25" grpId="0"/>
      <p:bldP spid="27"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631</TotalTime>
  <Words>2150</Words>
  <Application>Microsoft Office PowerPoint</Application>
  <PresentationFormat>Panorámica</PresentationFormat>
  <Paragraphs>560</Paragraphs>
  <Slides>43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43</vt:i4>
      </vt:variant>
    </vt:vector>
  </HeadingPairs>
  <TitlesOfParts>
    <vt:vector size="50" baseType="lpstr">
      <vt:lpstr>Aptos</vt:lpstr>
      <vt:lpstr>Aptos Display</vt:lpstr>
      <vt:lpstr>Arial</vt:lpstr>
      <vt:lpstr>Calibri</vt:lpstr>
      <vt:lpstr>Cambria Math</vt:lpstr>
      <vt:lpstr>Comic Sans MS</vt:lpstr>
      <vt:lpstr>Tema de Office</vt:lpstr>
      <vt:lpstr>Changes in kth alleles </vt:lpstr>
      <vt:lpstr>Apareamiento no aleatorio</vt:lpstr>
      <vt:lpstr>Endogamia (Inbreeding) </vt:lpstr>
      <vt:lpstr>Apareamiento no aleatorio</vt:lpstr>
      <vt:lpstr>Fixation index</vt:lpstr>
      <vt:lpstr>Presentación de PowerPoint</vt:lpstr>
      <vt:lpstr>Migration</vt:lpstr>
      <vt:lpstr>Premise: demos or subpopulations!</vt:lpstr>
      <vt:lpstr>Cambios en alelos y frecuencias genotípicas </vt:lpstr>
      <vt:lpstr>Presentación de PowerPoint</vt:lpstr>
      <vt:lpstr>Presentación de PowerPoint</vt:lpstr>
      <vt:lpstr>Island model</vt:lpstr>
      <vt:lpstr>Stepping-stone model</vt:lpstr>
      <vt:lpstr>Foundations</vt:lpstr>
      <vt:lpstr>Presentación de PowerPoint</vt:lpstr>
      <vt:lpstr>Presentación de PowerPoint</vt:lpstr>
      <vt:lpstr>Fixation indexes! Individual -&gt; Subpopulation -&gt; total population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Island model</vt:lpstr>
      <vt:lpstr>The change in gene frequency as a result of migration depends on the immigration rate (m)</vt:lpstr>
      <vt:lpstr>Migration homogenizes allele frequencies</vt:lpstr>
      <vt:lpstr>Stepping-stone model</vt:lpstr>
      <vt:lpstr>Closest populations migrate faste!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Chrystian Camilo Sosa Arango</dc:creator>
  <cp:lastModifiedBy>Chrystian Camilo Sosa Arango</cp:lastModifiedBy>
  <cp:revision>84</cp:revision>
  <dcterms:created xsi:type="dcterms:W3CDTF">2025-08-21T23:47:06Z</dcterms:created>
  <dcterms:modified xsi:type="dcterms:W3CDTF">2025-08-29T12:01:19Z</dcterms:modified>
</cp:coreProperties>
</file>