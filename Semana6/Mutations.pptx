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77" r:id="rId4"/>
    <p:sldId id="301" r:id="rId5"/>
    <p:sldId id="279" r:id="rId6"/>
    <p:sldId id="298" r:id="rId7"/>
    <p:sldId id="280" r:id="rId8"/>
    <p:sldId id="281" r:id="rId9"/>
    <p:sldId id="282" r:id="rId10"/>
    <p:sldId id="283" r:id="rId11"/>
    <p:sldId id="284" r:id="rId12"/>
    <p:sldId id="302" r:id="rId13"/>
    <p:sldId id="303" r:id="rId14"/>
    <p:sldId id="304" r:id="rId15"/>
    <p:sldId id="305" r:id="rId16"/>
    <p:sldId id="307" r:id="rId17"/>
    <p:sldId id="266" r:id="rId18"/>
    <p:sldId id="278" r:id="rId19"/>
    <p:sldId id="267" r:id="rId20"/>
    <p:sldId id="276" r:id="rId21"/>
    <p:sldId id="258" r:id="rId22"/>
    <p:sldId id="308" r:id="rId23"/>
    <p:sldId id="285" r:id="rId24"/>
    <p:sldId id="306" r:id="rId25"/>
    <p:sldId id="259" r:id="rId26"/>
    <p:sldId id="300" r:id="rId27"/>
    <p:sldId id="286" r:id="rId28"/>
    <p:sldId id="287" r:id="rId29"/>
    <p:sldId id="288" r:id="rId30"/>
    <p:sldId id="289" r:id="rId31"/>
    <p:sldId id="290" r:id="rId32"/>
    <p:sldId id="292" r:id="rId33"/>
    <p:sldId id="294" r:id="rId34"/>
    <p:sldId id="293" r:id="rId35"/>
    <p:sldId id="295" r:id="rId36"/>
    <p:sldId id="296" r:id="rId37"/>
    <p:sldId id="297" r:id="rId3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367DC-3262-4D0B-8D11-C7A1FAC24D2E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37A8F-C7B1-4F91-94B6-A0C04CF443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34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simplified assumptions</a:t>
            </a:r>
            <a:r>
              <a:rPr lang="en-US" baseline="0" dirty="0"/>
              <a:t> re: which sites are neutral or not</a:t>
            </a:r>
          </a:p>
          <a:p>
            <a:r>
              <a:rPr lang="en-US" baseline="0" dirty="0"/>
              <a:t>Makes this a very conservative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2D081-89AA-484D-8E11-71CBCE24BDC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hold true even if mutation rate is different among different genes (because</a:t>
            </a:r>
            <a:r>
              <a:rPr lang="en-US" baseline="0" dirty="0"/>
              <a:t> silent substitution rate is essentially a control)</a:t>
            </a:r>
          </a:p>
          <a:p>
            <a:r>
              <a:rPr lang="en-US" baseline="0" dirty="0"/>
              <a:t>Also if different demographic histories affect species differently, hypothetically the </a:t>
            </a:r>
            <a:r>
              <a:rPr lang="en-US" baseline="0" dirty="0" err="1"/>
              <a:t>synon</a:t>
            </a:r>
            <a:r>
              <a:rPr lang="en-US" baseline="0" dirty="0"/>
              <a:t> substitution rate controls for that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2D081-89AA-484D-8E11-71CBCE24BDC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07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i.e., if rates are equal along the tree branches, then even if there are fewer (or more) </a:t>
            </a:r>
            <a:r>
              <a:rPr lang="en-US" dirty="0" err="1"/>
              <a:t>nonsynonmous</a:t>
            </a:r>
            <a:r>
              <a:rPr lang="en-US" baseline="0" dirty="0"/>
              <a:t> mutations vs. synonymous, the proportion should be equal no matter where on the tree I look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2D081-89AA-484D-8E11-71CBCE24BDC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44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other words, under neutrality things happen at the same rate higher up the tree as they do lower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2D081-89AA-484D-8E11-71CBCE24BDC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4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AC0DF-65D4-3E36-E311-8C3F100F9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E28161-C6A9-D7BF-4CD1-891CD847D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BED06B-1345-D886-BB22-6BA058CE2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98EF90-63BB-D423-520F-751E8453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4D7D19-6531-8E17-0CC5-17708348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323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FE4A0-81CC-5551-2B3D-0A126048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069BD4-F7C7-149D-ED2A-F92FC6781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BB1710-642E-F7E2-7DD2-896CDF92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E59AA8-1EB1-12B3-2066-28570925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F6C79E-51A5-C710-AA37-83745E64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501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AAC4F-F8BA-9707-69C3-1D89B159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F687EC-0C0E-2415-7525-FC996F566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DD753-AFB9-C3B4-8905-4B1F3354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37008B-201C-2845-2CFA-B713FEA5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8D899-CFD7-4971-AF81-C6349D9A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814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80C02-6F19-D28A-6270-F4E0622E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26DA43-54F5-3229-2E64-8DD1B9473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8B2C7E-0421-EC04-A541-50DC70DEC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407BD6-DDD4-1B80-3057-DE5E5D9A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9381E7-B969-2739-B8E5-BA994C84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219A3F-6CF7-0FEE-9CF0-E14AC085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658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4111B-2673-5F7F-70B9-5C062D3A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E74B4D-083C-C3BF-B166-CA501A96E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487FE0-B3C8-4C1E-BB6C-1514C6800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0A8923D-8343-586A-70CA-EAFD5270E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030978-147C-61B2-892C-886A392DB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CA69CF-1CDF-7FDA-DDED-36BAFEC5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1930E1-9E2A-D2D9-0EA4-AF15CF51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D7C686-77C1-B7D2-C0A5-382CC4C6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405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412F2-86E9-DFE5-ED24-3FF0F624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AEE71F-6C79-29C4-14C7-BD9DF790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81C26B-E63F-C562-B5CA-2B897769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67961C-716A-FC15-91D2-448B083F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25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CE5178-4E22-413D-6E57-B045BC45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103755-513E-A807-05E7-64D3241C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69DFBC-A76A-2938-B914-8B21109A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0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8AACC-7C9A-1F08-1186-9B6F1D6D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25522-6141-D04C-9644-C9753A438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7C0DF9-B6B4-FD78-25D9-DF5CD3CBD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E8303-A72A-A979-69D9-CD30D605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EBD678-9D0B-9E8E-01BE-2D58CE18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FC4B6F-4818-5548-CA98-C903007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43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5E8EE-FEF1-9621-56D8-62853954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B11CF8-029C-7992-F183-04CAA3EDC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9BB357-1444-37F9-C8C6-557416A41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34A07A-948E-3771-30D2-5A1F17B7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BD6CDF-A142-8650-7DB0-B4E269D3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429003-9E8A-8F7E-8674-7729C855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478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22D9C-7888-76CE-E900-D11D9A6B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183C15-8B06-3BB1-BCCD-0B2D1C447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45600E-4C59-AB35-A7C6-1E22ED16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A72D26-171C-1A5E-1B9F-D158F53D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58D429-1299-A20D-1BEE-215524B8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077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F6008C-7207-6099-A9F7-EBE683558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131FE0-5EE2-03B5-AEB3-68EC82E38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118BBD-1593-04B4-5F46-547E5840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D2556E-B3A9-A5FB-DB20-49F8E5A1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36BB2B-1264-1C71-92D0-50F658CD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341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3E4A7C-B837-6B82-AD9A-790A66A3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027BBB-615E-157B-6355-063CE2DB1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31E54-CA14-4230-0524-0AF840CF9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34C5-5A59-4CDA-9D5D-3C60273D4242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34EAE-1992-19EB-FF61-83E579796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547BD-9854-3D83-8299-366168E8F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577A6-A40C-42D4-8235-4A222394AD8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763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95187-1874-C05A-6D95-E62455764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ES" dirty="0" err="1"/>
              <a:t>Mutations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5B6636-C35B-B0DE-0C44-3720D361E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0C31DBA-6359-5E59-64B1-2A41D3002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667" y="584303"/>
            <a:ext cx="5619750" cy="553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06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8F907-3AE2-59DC-4A85-8E19FF6C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Mutation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89F98-C67B-8D7A-C296-BFB126B3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Permanent</a:t>
            </a:r>
            <a:r>
              <a:rPr lang="es-ES" dirty="0"/>
              <a:t> </a:t>
            </a:r>
            <a:r>
              <a:rPr lang="es-ES" dirty="0" err="1"/>
              <a:t>change</a:t>
            </a:r>
            <a:r>
              <a:rPr lang="es-ES" dirty="0"/>
              <a:t> in a </a:t>
            </a:r>
            <a:r>
              <a:rPr lang="es-ES" dirty="0" err="1"/>
              <a:t>nucleotide</a:t>
            </a:r>
            <a:endParaRPr lang="es-ES" dirty="0"/>
          </a:p>
          <a:p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they</a:t>
            </a:r>
            <a:r>
              <a:rPr lang="es-ES" dirty="0"/>
              <a:t> are </a:t>
            </a:r>
            <a:r>
              <a:rPr lang="es-ES" dirty="0" err="1"/>
              <a:t>Benefitial</a:t>
            </a:r>
            <a:r>
              <a:rPr lang="es-ES" dirty="0"/>
              <a:t>, </a:t>
            </a:r>
            <a:r>
              <a:rPr lang="es-ES" dirty="0" err="1"/>
              <a:t>then</a:t>
            </a:r>
            <a:r>
              <a:rPr lang="es-ES" dirty="0"/>
              <a:t> natural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increase</a:t>
            </a:r>
            <a:r>
              <a:rPr lang="es-ES" dirty="0"/>
              <a:t> </a:t>
            </a:r>
            <a:r>
              <a:rPr lang="es-ES" dirty="0" err="1"/>
              <a:t>frequency</a:t>
            </a:r>
            <a:endParaRPr lang="es-CO" dirty="0"/>
          </a:p>
          <a:p>
            <a:r>
              <a:rPr lang="es-CO" dirty="0" err="1"/>
              <a:t>If</a:t>
            </a:r>
            <a:r>
              <a:rPr lang="es-CO" dirty="0"/>
              <a:t> </a:t>
            </a:r>
            <a:r>
              <a:rPr lang="es-CO" dirty="0" err="1"/>
              <a:t>they</a:t>
            </a:r>
            <a:r>
              <a:rPr lang="es-CO" dirty="0"/>
              <a:t> are </a:t>
            </a:r>
            <a:r>
              <a:rPr lang="es-CO" dirty="0" err="1"/>
              <a:t>harmful</a:t>
            </a:r>
            <a:r>
              <a:rPr lang="es-CO" dirty="0"/>
              <a:t> </a:t>
            </a:r>
            <a:r>
              <a:rPr lang="es-CO" dirty="0" err="1"/>
              <a:t>they</a:t>
            </a:r>
            <a:r>
              <a:rPr lang="es-CO" dirty="0"/>
              <a:t> are removed 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  <a:p>
            <a:r>
              <a:rPr lang="es-CO" dirty="0" err="1"/>
              <a:t>Errors</a:t>
            </a:r>
            <a:r>
              <a:rPr lang="es-CO" dirty="0"/>
              <a:t> in DNA </a:t>
            </a:r>
            <a:r>
              <a:rPr lang="es-CO" dirty="0" err="1"/>
              <a:t>replication</a:t>
            </a:r>
            <a:r>
              <a:rPr lang="es-CO" dirty="0"/>
              <a:t> </a:t>
            </a:r>
            <a:r>
              <a:rPr lang="es-CO" dirty="0" err="1"/>
              <a:t>or</a:t>
            </a:r>
            <a:r>
              <a:rPr lang="es-CO" dirty="0"/>
              <a:t> DNA </a:t>
            </a:r>
            <a:r>
              <a:rPr lang="es-CO" dirty="0" err="1"/>
              <a:t>repairing</a:t>
            </a:r>
            <a:r>
              <a:rPr lang="es-CO" dirty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035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A041-FE82-840D-7717-64C398D7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00191-0A2C-CA51-1D38-12731104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ways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produce </a:t>
            </a:r>
            <a:r>
              <a:rPr lang="es-ES" dirty="0" err="1"/>
              <a:t>mutations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8487E8-B8C0-FCFC-CF4A-453B4E23F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793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1F8DE-B6E5-417A-1199-67BD511C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824A18-1782-E0FE-3691-06A3492FE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F6B07B-47E6-AC3D-C8F1-0FA009961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89" y="681037"/>
            <a:ext cx="688753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63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DBA8C-6EEF-9C15-95C1-85B7F50C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Point </a:t>
            </a:r>
            <a:r>
              <a:rPr lang="es-ES" dirty="0" err="1"/>
              <a:t>mutations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3CD73-AB79-1BFE-71DC-8C5CD647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6296"/>
            <a:ext cx="10515600" cy="4351338"/>
          </a:xfrm>
        </p:spPr>
        <p:txBody>
          <a:bodyPr/>
          <a:lstStyle/>
          <a:p>
            <a:r>
              <a:rPr lang="es-ES" dirty="0"/>
              <a:t>Simple </a:t>
            </a:r>
            <a:r>
              <a:rPr lang="es-ES" dirty="0" err="1"/>
              <a:t>form</a:t>
            </a:r>
            <a:r>
              <a:rPr lang="es-ES" dirty="0"/>
              <a:t>: </a:t>
            </a:r>
            <a:r>
              <a:rPr lang="es-ES" dirty="0" err="1"/>
              <a:t>Substitution</a:t>
            </a:r>
            <a:endParaRPr lang="es-ES" dirty="0"/>
          </a:p>
          <a:p>
            <a:r>
              <a:rPr lang="es-CO" dirty="0"/>
              <a:t>Purines: A &lt;−&gt; G (</a:t>
            </a:r>
            <a:r>
              <a:rPr lang="es-CO" dirty="0" err="1"/>
              <a:t>Transition</a:t>
            </a:r>
            <a:r>
              <a:rPr lang="es-CO" dirty="0"/>
              <a:t>)</a:t>
            </a:r>
          </a:p>
          <a:p>
            <a:r>
              <a:rPr lang="es-CO" dirty="0" err="1"/>
              <a:t>Pyrimidine</a:t>
            </a:r>
            <a:r>
              <a:rPr lang="es-CO" dirty="0"/>
              <a:t>: C &lt;−&gt; T (</a:t>
            </a:r>
            <a:r>
              <a:rPr lang="es-CO" dirty="0" err="1"/>
              <a:t>Transversion</a:t>
            </a:r>
            <a:r>
              <a:rPr lang="es-CO" dirty="0"/>
              <a:t>)</a:t>
            </a:r>
          </a:p>
          <a:p>
            <a:endParaRPr lang="es-CO" dirty="0"/>
          </a:p>
          <a:p>
            <a:r>
              <a:rPr lang="es-CO" b="1" dirty="0" err="1"/>
              <a:t>synonymous</a:t>
            </a:r>
            <a:r>
              <a:rPr lang="es-CO" b="1" dirty="0"/>
              <a:t> </a:t>
            </a:r>
            <a:r>
              <a:rPr lang="es-CO" b="1" dirty="0" err="1"/>
              <a:t>mutations</a:t>
            </a:r>
            <a:endParaRPr lang="es-CO" b="1" dirty="0"/>
          </a:p>
          <a:p>
            <a:r>
              <a:rPr lang="es-CO" b="1" dirty="0" err="1"/>
              <a:t>What</a:t>
            </a:r>
            <a:r>
              <a:rPr lang="es-CO" b="1" dirty="0"/>
              <a:t> </a:t>
            </a:r>
            <a:r>
              <a:rPr lang="es-CO" b="1" dirty="0" err="1"/>
              <a:t>is</a:t>
            </a:r>
            <a:r>
              <a:rPr lang="es-CO" b="1" dirty="0"/>
              <a:t> more </a:t>
            </a:r>
            <a:r>
              <a:rPr lang="es-CO" b="1" dirty="0" err="1"/>
              <a:t>frequent</a:t>
            </a:r>
            <a:r>
              <a:rPr lang="es-CO" b="1" dirty="0"/>
              <a:t>?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9B86DE-2E01-DDCA-84E0-39DCD5E9F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425" y="3642080"/>
            <a:ext cx="4296375" cy="259116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E748D7F-D113-0711-7EC4-094B2953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02" y="209878"/>
            <a:ext cx="589679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0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25C64-2508-406B-602D-DC9B4D34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D5D56C-888D-A1DB-B7E9-46AE7A02B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A844D9-663B-3B41-A031-7800F6F1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880707"/>
            <a:ext cx="6830378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8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22D1B-419A-D583-2DC4-1B8B59F3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Replication</a:t>
            </a:r>
            <a:r>
              <a:rPr lang="es-CO" b="1" dirty="0"/>
              <a:t> </a:t>
            </a:r>
            <a:r>
              <a:rPr lang="es-CO" b="1" dirty="0" err="1"/>
              <a:t>slippage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ADCC08-4152-635D-DC7F-1FE9825E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Short </a:t>
            </a:r>
            <a:r>
              <a:rPr lang="es-ES" dirty="0" err="1"/>
              <a:t>insertions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deletions</a:t>
            </a:r>
            <a:r>
              <a:rPr lang="es-ES" dirty="0"/>
              <a:t> - &gt; </a:t>
            </a:r>
            <a:r>
              <a:rPr lang="es-ES" dirty="0" err="1"/>
              <a:t>tandem</a:t>
            </a:r>
            <a:r>
              <a:rPr lang="es-ES" dirty="0"/>
              <a:t> </a:t>
            </a:r>
            <a:r>
              <a:rPr lang="es-ES" dirty="0" err="1"/>
              <a:t>repeats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25FBF4-8616-C3BC-E21C-D6F5BD9F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41" y="2536894"/>
            <a:ext cx="5906324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C32C8-89AA-FEA8-E22C-1FD51B74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Recombination and reshuffling of alleles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A8CE86-0F4B-BB0B-2F93-81B51AB27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During</a:t>
            </a:r>
            <a:r>
              <a:rPr lang="es-ES" dirty="0"/>
              <a:t> meiosis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82A7C6-D91A-9915-9AB5-B92DE0253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99" y="3587544"/>
            <a:ext cx="593490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1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25DD6-1CE3-1A66-D93E-A7305189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Gene </a:t>
            </a:r>
            <a:r>
              <a:rPr lang="es-CO" b="1" dirty="0" err="1"/>
              <a:t>conversion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DAAACD-FC7F-6023-EF29-B4F29E5C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Replacing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 </a:t>
            </a:r>
            <a:r>
              <a:rPr lang="es-ES" dirty="0" err="1"/>
              <a:t>variant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F613F1-91D9-C73D-8EBF-1B1F91560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316"/>
            <a:ext cx="531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5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B4457-8DBC-843A-23E6-005F8449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Unequal</a:t>
            </a:r>
            <a:r>
              <a:rPr lang="es-CO" b="1" dirty="0"/>
              <a:t> </a:t>
            </a:r>
            <a:r>
              <a:rPr lang="es-CO" b="1" dirty="0" err="1"/>
              <a:t>crossing</a:t>
            </a:r>
            <a:r>
              <a:rPr lang="es-CO" b="1" dirty="0"/>
              <a:t> </a:t>
            </a:r>
            <a:r>
              <a:rPr lang="es-CO" b="1" dirty="0" err="1"/>
              <a:t>over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01C1F-B161-9832-1197-8D7A13543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Misalignment of homologous chromosomes during </a:t>
            </a:r>
            <a:r>
              <a:rPr lang="es-CO" dirty="0" err="1"/>
              <a:t>prophase</a:t>
            </a:r>
            <a:r>
              <a:rPr lang="es-CO" dirty="0"/>
              <a:t> I </a:t>
            </a:r>
            <a:r>
              <a:rPr lang="es-CO" dirty="0" err="1"/>
              <a:t>of</a:t>
            </a:r>
            <a:r>
              <a:rPr lang="es-CO" dirty="0"/>
              <a:t> meiosis -&gt; </a:t>
            </a:r>
            <a:r>
              <a:rPr lang="es-CO" dirty="0" err="1"/>
              <a:t>insertion</a:t>
            </a:r>
            <a:r>
              <a:rPr lang="es-CO" dirty="0"/>
              <a:t> </a:t>
            </a:r>
            <a:r>
              <a:rPr lang="es-CO" dirty="0" err="1"/>
              <a:t>or</a:t>
            </a:r>
            <a:r>
              <a:rPr lang="es-CO" dirty="0"/>
              <a:t> </a:t>
            </a:r>
            <a:r>
              <a:rPr lang="es-CO" dirty="0" err="1"/>
              <a:t>deletion</a:t>
            </a:r>
            <a:endParaRPr lang="es-CO" dirty="0"/>
          </a:p>
          <a:p>
            <a:pPr lvl="1"/>
            <a:r>
              <a:rPr lang="en-US" dirty="0"/>
              <a:t>Unequal crossing over can lead to </a:t>
            </a:r>
            <a:r>
              <a:rPr lang="en-US" b="1" dirty="0"/>
              <a:t>gene duplication</a:t>
            </a:r>
            <a:r>
              <a:rPr lang="en-US" dirty="0"/>
              <a:t>.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1C0B5E-522C-A81C-834E-90B6618F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61" y="1341924"/>
            <a:ext cx="5820587" cy="11050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699BA8-4D0C-9879-1969-CD6C31C07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354" y="2863343"/>
            <a:ext cx="304842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48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3EEF8-D3DC-361F-0563-B97DBCBE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Transposable</a:t>
            </a:r>
            <a:r>
              <a:rPr lang="es-ES" dirty="0"/>
              <a:t> </a:t>
            </a:r>
            <a:r>
              <a:rPr lang="es-ES" dirty="0" err="1"/>
              <a:t>elements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935B6-5E58-FBE6-5B87-24EB3A13D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5" y="1929411"/>
            <a:ext cx="10515600" cy="4351338"/>
          </a:xfrm>
        </p:spPr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2FD83D-6477-8AB3-98A9-BE8B8797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4764"/>
            <a:ext cx="7666970" cy="2713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116E2A8-3692-6DBD-451E-DDCC13989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298" y="548029"/>
            <a:ext cx="417253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9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C84BE-2E79-FDBB-F1F2-C44227CD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Gene </a:t>
            </a:r>
            <a:r>
              <a:rPr lang="es-CO" dirty="0" err="1"/>
              <a:t>Duplications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0B14FE-BBAD-7D66-F894-DF04D804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B3AD71-76F2-0B07-A245-E50F292DA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311" y="1825625"/>
            <a:ext cx="6449325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18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D6C05-8004-2B5A-A7B7-468D46CD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Allopolyploidy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5D0D4-3E43-272C-9436-1FD90C6AA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6" name="Picture 2" descr="allopolyploidy">
            <a:extLst>
              <a:ext uri="{FF2B5EF4-FFF2-40B4-BE49-F238E27FC236}">
                <a16:creationId xmlns:a16="http://schemas.microsoft.com/office/drawing/2014/main" id="{9EAA12D4-2C82-D044-5A76-0746F47F4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93" y="2273095"/>
            <a:ext cx="813435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417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97D14-3DDB-59CE-E9BB-C3418936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Autopolyploidy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FFCA1-F878-AAB6-E148-182F50D2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2" y="3589645"/>
            <a:ext cx="3950109" cy="4351338"/>
          </a:xfrm>
        </p:spPr>
        <p:txBody>
          <a:bodyPr>
            <a:normAutofit/>
          </a:bodyPr>
          <a:lstStyle/>
          <a:p>
            <a:r>
              <a:rPr lang="es-CO" sz="1200" dirty="0"/>
              <a:t>https://www.researchgate.net/publication/369185498_Evolutionary_and_Genomic_Diversity_of_True_Polyploidy_in_Tetrapods/figures?lo=1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DEF675-ED44-1EA6-4569-D2E219117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0"/>
            <a:ext cx="5641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25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97E4E-02BC-7B59-D462-22E3875C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74CEB2-F566-6533-A514-D048014AF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12BEAD-5F9D-504F-40BB-E68225874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01" y="1518971"/>
            <a:ext cx="5715798" cy="382005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C0DE948-302E-3AE3-A0FD-6273E3D97038}"/>
              </a:ext>
            </a:extLst>
          </p:cNvPr>
          <p:cNvSpPr txBox="1"/>
          <p:nvPr/>
        </p:nvSpPr>
        <p:spPr>
          <a:xfrm>
            <a:off x="77821" y="5988734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https://carollee.labs.wisc.edu/Evolution410_Reading/6.Variation-Mutation410_2023.pdf</a:t>
            </a:r>
          </a:p>
        </p:txBody>
      </p:sp>
    </p:spTree>
    <p:extLst>
      <p:ext uri="{BB962C8B-B14F-4D97-AF65-F5344CB8AC3E}">
        <p14:creationId xmlns:p14="http://schemas.microsoft.com/office/powerpoint/2010/main" val="2283828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CA761-9608-5B73-0B05-1AE6516A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8EB779-8CE6-28BB-3AA5-3F8D3907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F3B1E7-7F11-01C9-C672-D0A9DE5B1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792" y="-21531"/>
            <a:ext cx="7733145" cy="4963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BFE0E2-BEBF-D918-8DF9-4F991227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0366"/>
            <a:ext cx="1028843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9D5BD-4625-FD3E-1F2A-E01608B6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Neutral </a:t>
            </a:r>
            <a:r>
              <a:rPr lang="es-ES" dirty="0" err="1"/>
              <a:t>theory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F6D04-210F-5671-B5B0-6096DEF90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1465" cy="4351338"/>
          </a:xfrm>
        </p:spPr>
        <p:txBody>
          <a:bodyPr/>
          <a:lstStyle/>
          <a:p>
            <a:r>
              <a:rPr lang="en-US" dirty="0"/>
              <a:t>Most changes due to genetic drift</a:t>
            </a:r>
          </a:p>
          <a:p>
            <a:r>
              <a:rPr lang="en-US" dirty="0"/>
              <a:t>Variation is neutral</a:t>
            </a:r>
          </a:p>
          <a:p>
            <a:r>
              <a:rPr lang="en-US" dirty="0"/>
              <a:t>Most mutations are deleterious and removed by purifying selection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2D8A38-2A02-65F6-F4EF-20A4CEF9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459" y="1027906"/>
            <a:ext cx="3569760" cy="55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48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13C0D-5B13-9791-E12F-75A32C96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F82CF-AFCE-48F9-4094-597AA170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A6358B-6F90-C83D-44C8-B9A2095A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87" y="1254048"/>
            <a:ext cx="9874394" cy="390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77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210505-8B98-CED6-CE53-AF3934C3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3" y="406400"/>
            <a:ext cx="10585584" cy="2387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F6D033-C219-7B74-213D-3DA2342C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671" y="3895535"/>
            <a:ext cx="187668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25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B0086-2F33-1266-D869-E0DDCA51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99039" cy="1325563"/>
          </a:xfrm>
        </p:spPr>
        <p:txBody>
          <a:bodyPr>
            <a:normAutofit/>
          </a:bodyPr>
          <a:lstStyle/>
          <a:p>
            <a:r>
              <a:rPr lang="es-ES" dirty="0" err="1"/>
              <a:t>Mutation</a:t>
            </a:r>
            <a:r>
              <a:rPr lang="es-ES" dirty="0"/>
              <a:t> </a:t>
            </a:r>
            <a:r>
              <a:rPr lang="es-ES" dirty="0" err="1"/>
              <a:t>rate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245B3F-93DE-F662-3CD3-624A9EC4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894451"/>
            <a:ext cx="41706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mutation pressure by itself can only cause large changes in the allelic frequencies of populations over vast periods of time</a:t>
            </a:r>
            <a:endParaRPr lang="es-CO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313605-EA0F-E2D7-4645-A702CA07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577" y="460499"/>
            <a:ext cx="5887272" cy="556337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32795EE-AD6E-AB8B-BA27-888D97B5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7" y="4358977"/>
            <a:ext cx="5391902" cy="21338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3CC2F9-63CE-A947-985A-0AA896734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62" y="103043"/>
            <a:ext cx="3696216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18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03B2E-B571-A134-5783-540FB45B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EF0789-913B-4F48-350B-9B40FFAE1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b="1" dirty="0" err="1"/>
              <a:t>substitution</a:t>
            </a:r>
            <a:r>
              <a:rPr lang="es-CO" b="1" dirty="0"/>
              <a:t> </a:t>
            </a:r>
            <a:r>
              <a:rPr lang="es-CO" b="1" dirty="0" err="1"/>
              <a:t>rate</a:t>
            </a:r>
            <a:r>
              <a:rPr lang="es-CO" b="1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n-US" dirty="0"/>
              <a:t>the rate at which a population accumulates new fixed variants through mutation and genetic drift </a:t>
            </a:r>
            <a:r>
              <a:rPr lang="es-CO" dirty="0" err="1"/>
              <a:t>along</a:t>
            </a:r>
            <a:r>
              <a:rPr lang="es-CO" dirty="0"/>
              <a:t> a DNA </a:t>
            </a:r>
            <a:r>
              <a:rPr lang="es-CO" dirty="0" err="1"/>
              <a:t>sequence</a:t>
            </a:r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 err="1"/>
              <a:t>Where</a:t>
            </a:r>
            <a:r>
              <a:rPr lang="es-CO" dirty="0"/>
              <a:t>  </a:t>
            </a:r>
            <a:r>
              <a:rPr lang="es-CO" dirty="0" err="1"/>
              <a:t>Fixation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1/2Ne, and </a:t>
            </a:r>
            <a:r>
              <a:rPr lang="en-US" dirty="0"/>
              <a:t>the mutation rate in the </a:t>
            </a:r>
            <a:r>
              <a:rPr lang="es-CO" dirty="0" err="1"/>
              <a:t>population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 (2</a:t>
            </a:r>
            <a:r>
              <a:rPr lang="es-CO" i="1" dirty="0"/>
              <a:t>Ne </a:t>
            </a:r>
            <a:r>
              <a:rPr lang="el-GR" i="1" dirty="0"/>
              <a:t>μ</a:t>
            </a:r>
            <a:r>
              <a:rPr lang="el-GR" dirty="0"/>
              <a:t>)</a:t>
            </a:r>
            <a:endParaRPr lang="es-ES" dirty="0"/>
          </a:p>
          <a:p>
            <a:endParaRPr lang="es-ES" dirty="0"/>
          </a:p>
          <a:p>
            <a:r>
              <a:rPr lang="en-US" dirty="0"/>
              <a:t>In the absence of selection, the substitution rate equals the mutation rate according to the neutral </a:t>
            </a:r>
            <a:r>
              <a:rPr lang="es-CO" dirty="0" err="1"/>
              <a:t>theory</a:t>
            </a:r>
            <a:endParaRPr lang="es-CO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C29410-AA87-BEA5-C8D6-A80FE5C9B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475" y="2858402"/>
            <a:ext cx="181952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8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A612A-6148-DE3E-FDF2-3356F03B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F8192C-A5B4-FA42-0B93-C10C4628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91723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865A7-031C-6015-10B4-1BBE8595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/>
              <a:t>Molecular </a:t>
            </a:r>
            <a:r>
              <a:rPr lang="es-CO" b="1" dirty="0" err="1"/>
              <a:t>clock</a:t>
            </a:r>
            <a:r>
              <a:rPr lang="es-CO" b="1" dirty="0"/>
              <a:t> </a:t>
            </a:r>
            <a:r>
              <a:rPr lang="es-CO" dirty="0"/>
              <a:t>(</a:t>
            </a:r>
            <a:r>
              <a:rPr lang="es-CO" dirty="0" err="1"/>
              <a:t>Zuckerkandl</a:t>
            </a:r>
            <a:r>
              <a:rPr lang="es-CO" dirty="0"/>
              <a:t> &amp; Pauling 1962).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6B0EDD-4D9D-D3AC-4FA0-3B854587D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number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nucleotide</a:t>
            </a:r>
            <a:r>
              <a:rPr lang="es-CO" dirty="0"/>
              <a:t> </a:t>
            </a:r>
            <a:r>
              <a:rPr lang="en-US" dirty="0"/>
              <a:t>differences between two species is </a:t>
            </a:r>
            <a:r>
              <a:rPr lang="en-US" i="1" dirty="0"/>
              <a:t>d</a:t>
            </a:r>
          </a:p>
          <a:p>
            <a:r>
              <a:rPr lang="en-US" dirty="0"/>
              <a:t>substitution rate in the gene is </a:t>
            </a:r>
            <a:r>
              <a:rPr lang="en-US" i="1" dirty="0"/>
              <a:t>μ </a:t>
            </a:r>
            <a:r>
              <a:rPr lang="en-US" dirty="0"/>
              <a:t>per site per generation</a:t>
            </a:r>
          </a:p>
          <a:p>
            <a:r>
              <a:rPr lang="es-CO" i="1" dirty="0"/>
              <a:t>t </a:t>
            </a:r>
            <a:r>
              <a:rPr lang="es-CO" i="1" dirty="0" err="1"/>
              <a:t>generations</a:t>
            </a:r>
            <a:endParaRPr lang="es-CO" i="1" dirty="0"/>
          </a:p>
          <a:p>
            <a:r>
              <a:rPr lang="es-CO" i="1" dirty="0"/>
              <a:t>E</a:t>
            </a:r>
            <a:r>
              <a:rPr lang="es-CO" dirty="0"/>
              <a:t>(</a:t>
            </a:r>
            <a:r>
              <a:rPr lang="es-CO" i="1" dirty="0"/>
              <a:t>d</a:t>
            </a:r>
            <a:r>
              <a:rPr lang="es-CO" dirty="0"/>
              <a:t>) = 2m</a:t>
            </a:r>
            <a:r>
              <a:rPr lang="es-CO" i="1" dirty="0"/>
              <a:t>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5297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AF1B6-6379-C484-CBCF-42E75C5C7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575D10-100C-9B31-BA63-E891B4784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8855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8D8A2-5E31-CA8A-9C6B-B920E085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BA968-D6A4-919D-ED5A-052F5B95F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8ECDD00-1F6D-D9F3-E318-5B838A43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9" y="365125"/>
            <a:ext cx="6230219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1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CD25A-E650-767F-D4A7-CCF14A60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8BE8C1-A9BC-88AE-6802-E42521AB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9EF243-F23C-D950-6417-565F5CD3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752101"/>
            <a:ext cx="7430537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93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394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Underlying Theory/Assumptions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4160" y="1889761"/>
            <a:ext cx="71201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/>
              <a:t>Selection acts Nonsynonymous changes (mutations that change the protein sequence)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Synonymous (silent) mutations should be neutral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Advantageous mutations will </a:t>
            </a:r>
            <a:r>
              <a:rPr lang="en-US" sz="2000" u="sng" dirty="0"/>
              <a:t>fix</a:t>
            </a:r>
            <a:r>
              <a:rPr lang="en-US" sz="2000" dirty="0"/>
              <a:t> more rapidly than neutral ones.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Deleterious mutations will be removed more rapidly than neutral ones.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r>
              <a:rPr lang="en-US" sz="2000" dirty="0">
                <a:solidFill>
                  <a:srgbClr val="C00000"/>
                </a:solidFill>
              </a:rPr>
              <a:t>Nonsynonymous mutations that are adaptive for a particular species will become fixed differences between species (more quickly than you would expect by chance)!</a:t>
            </a:r>
          </a:p>
        </p:txBody>
      </p:sp>
    </p:spTree>
    <p:extLst>
      <p:ext uri="{BB962C8B-B14F-4D97-AF65-F5344CB8AC3E}">
        <p14:creationId xmlns:p14="http://schemas.microsoft.com/office/powerpoint/2010/main" val="992420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154658" y="1960100"/>
            <a:ext cx="4082444" cy="2738513"/>
            <a:chOff x="2011680" y="1706880"/>
            <a:chExt cx="4082444" cy="2738513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2011680" y="1706880"/>
              <a:ext cx="2048256" cy="27066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H="1" flipV="1">
              <a:off x="4045868" y="1706880"/>
              <a:ext cx="2048256" cy="27066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H="1" flipV="1">
              <a:off x="3418449" y="2546252"/>
              <a:ext cx="1435373" cy="186725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H="1" flipV="1">
              <a:off x="2421988" y="3845640"/>
              <a:ext cx="475955" cy="5997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 flipV="1">
              <a:off x="3953022" y="3843292"/>
              <a:ext cx="475955" cy="5997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Oval 38"/>
          <p:cNvSpPr/>
          <p:nvPr/>
        </p:nvSpPr>
        <p:spPr>
          <a:xfrm>
            <a:off x="4013981" y="4753473"/>
            <a:ext cx="281354" cy="25556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4900244" y="4753473"/>
            <a:ext cx="281354" cy="25556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5893424" y="4754412"/>
            <a:ext cx="281354" cy="255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6918023" y="4766132"/>
            <a:ext cx="281354" cy="255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013981" y="5095787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Species 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7500" y="5095787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Species 2</a:t>
            </a:r>
          </a:p>
        </p:txBody>
      </p:sp>
    </p:spTree>
    <p:extLst>
      <p:ext uri="{BB962C8B-B14F-4D97-AF65-F5344CB8AC3E}">
        <p14:creationId xmlns:p14="http://schemas.microsoft.com/office/powerpoint/2010/main" val="1138884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2109" y="1960099"/>
            <a:ext cx="3547094" cy="2806694"/>
            <a:chOff x="2362665" y="1960099"/>
            <a:chExt cx="4585867" cy="3610837"/>
          </a:xfrm>
        </p:grpSpPr>
        <p:grpSp>
          <p:nvGrpSpPr>
            <p:cNvPr id="38" name="Group 37"/>
            <p:cNvGrpSpPr/>
            <p:nvPr/>
          </p:nvGrpSpPr>
          <p:grpSpPr>
            <a:xfrm>
              <a:off x="2630658" y="1960099"/>
              <a:ext cx="4317874" cy="2921155"/>
              <a:chOff x="2011680" y="1706880"/>
              <a:chExt cx="4317874" cy="29211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011680" y="1706880"/>
                <a:ext cx="2048256" cy="2706624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4045870" y="1706880"/>
                <a:ext cx="2283684" cy="292115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 flipV="1">
                <a:off x="3418449" y="2546252"/>
                <a:ext cx="1435373" cy="186725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2421988" y="3845640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3953022" y="3843292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2489981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3376244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4369424" y="475441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5394023" y="476613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62665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Species 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463500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Species 2</a:t>
              </a:r>
            </a:p>
          </p:txBody>
        </p:sp>
      </p:grpSp>
      <p:sp>
        <p:nvSpPr>
          <p:cNvPr id="2" name="Explosion 1 1"/>
          <p:cNvSpPr/>
          <p:nvPr/>
        </p:nvSpPr>
        <p:spPr>
          <a:xfrm>
            <a:off x="6392862" y="2000169"/>
            <a:ext cx="294493" cy="262130"/>
          </a:xfrm>
          <a:prstGeom prst="irregularSeal1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18186" y="1971791"/>
            <a:ext cx="3028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mutation here</a:t>
            </a:r>
          </a:p>
          <a:p>
            <a:r>
              <a:rPr lang="en-US" dirty="0">
                <a:solidFill>
                  <a:schemeClr val="accent5"/>
                </a:solidFill>
              </a:rPr>
              <a:t>will show up as shared b/t the 2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400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09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C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149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291" y="4766666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C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102" y="475124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>
                <a:solidFill>
                  <a:schemeClr val="bg1"/>
                </a:solidFill>
              </a:rPr>
              <a:t>C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435" y="4397460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2693" y="4766667"/>
            <a:ext cx="1828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Pos. </a:t>
            </a:r>
            <a:r>
              <a:rPr lang="en-US" sz="1400" dirty="0"/>
              <a:t>1: Monomorphic</a:t>
            </a:r>
          </a:p>
        </p:txBody>
      </p:sp>
    </p:spTree>
    <p:extLst>
      <p:ext uri="{BB962C8B-B14F-4D97-AF65-F5344CB8AC3E}">
        <p14:creationId xmlns:p14="http://schemas.microsoft.com/office/powerpoint/2010/main" val="827651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2109" y="1960099"/>
            <a:ext cx="3547094" cy="2806694"/>
            <a:chOff x="2362665" y="1960099"/>
            <a:chExt cx="4585867" cy="3610837"/>
          </a:xfrm>
        </p:grpSpPr>
        <p:grpSp>
          <p:nvGrpSpPr>
            <p:cNvPr id="38" name="Group 37"/>
            <p:cNvGrpSpPr/>
            <p:nvPr/>
          </p:nvGrpSpPr>
          <p:grpSpPr>
            <a:xfrm>
              <a:off x="2630658" y="1960099"/>
              <a:ext cx="4317874" cy="2921155"/>
              <a:chOff x="2011680" y="1706880"/>
              <a:chExt cx="4317874" cy="29211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011680" y="1706880"/>
                <a:ext cx="2048256" cy="2706624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4045870" y="1706880"/>
                <a:ext cx="2283684" cy="292115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 flipV="1">
                <a:off x="3418449" y="2546252"/>
                <a:ext cx="1435373" cy="186725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2421988" y="3845640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3953022" y="3843292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2489981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3376244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4369424" y="475441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5394023" y="476613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62665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Species 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463500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Species 2</a:t>
              </a:r>
            </a:p>
          </p:txBody>
        </p:sp>
      </p:grpSp>
      <p:sp>
        <p:nvSpPr>
          <p:cNvPr id="2" name="Explosion 1 1"/>
          <p:cNvSpPr/>
          <p:nvPr/>
        </p:nvSpPr>
        <p:spPr>
          <a:xfrm>
            <a:off x="6392862" y="2000169"/>
            <a:ext cx="294493" cy="262130"/>
          </a:xfrm>
          <a:prstGeom prst="irregularSeal1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51856" y="2412918"/>
            <a:ext cx="3028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Mutations here will be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fixed differences between the species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400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09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149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291" y="4766666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102" y="475124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435" y="4397460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2693" y="4766667"/>
            <a:ext cx="1828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Pos. </a:t>
            </a:r>
            <a:r>
              <a:rPr lang="en-US" sz="1400" dirty="0"/>
              <a:t>1: Monomorphic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2691" y="5057237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2: Fixed</a:t>
            </a:r>
          </a:p>
        </p:txBody>
      </p:sp>
      <p:sp>
        <p:nvSpPr>
          <p:cNvPr id="28" name="Explosion 1 27"/>
          <p:cNvSpPr/>
          <p:nvPr/>
        </p:nvSpPr>
        <p:spPr>
          <a:xfrm>
            <a:off x="5571611" y="3058199"/>
            <a:ext cx="294493" cy="262130"/>
          </a:xfrm>
          <a:prstGeom prst="irregularSeal1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xplosion 1 28"/>
          <p:cNvSpPr/>
          <p:nvPr/>
        </p:nvSpPr>
        <p:spPr>
          <a:xfrm>
            <a:off x="6652811" y="3279850"/>
            <a:ext cx="294493" cy="262130"/>
          </a:xfrm>
          <a:prstGeom prst="irregularSeal1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402690" y="5319671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3: Fixed</a:t>
            </a:r>
          </a:p>
        </p:txBody>
      </p:sp>
    </p:spTree>
    <p:extLst>
      <p:ext uri="{BB962C8B-B14F-4D97-AF65-F5344CB8AC3E}">
        <p14:creationId xmlns:p14="http://schemas.microsoft.com/office/powerpoint/2010/main" val="361671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2109" y="1960099"/>
            <a:ext cx="3547094" cy="2806694"/>
            <a:chOff x="2362665" y="1960099"/>
            <a:chExt cx="4585867" cy="3610837"/>
          </a:xfrm>
        </p:grpSpPr>
        <p:grpSp>
          <p:nvGrpSpPr>
            <p:cNvPr id="38" name="Group 37"/>
            <p:cNvGrpSpPr/>
            <p:nvPr/>
          </p:nvGrpSpPr>
          <p:grpSpPr>
            <a:xfrm>
              <a:off x="2630658" y="1960099"/>
              <a:ext cx="4317874" cy="2921155"/>
              <a:chOff x="2011680" y="1706880"/>
              <a:chExt cx="4317874" cy="29211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011680" y="1706880"/>
                <a:ext cx="2048256" cy="2706624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4045870" y="1706880"/>
                <a:ext cx="2283684" cy="292115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 flipV="1">
                <a:off x="3418449" y="2546252"/>
                <a:ext cx="1435373" cy="186725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2421988" y="3845640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3953022" y="3843292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2489981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3376244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4369424" y="475441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5394023" y="476613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62665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Species 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463500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Species 2</a:t>
              </a:r>
            </a:p>
          </p:txBody>
        </p:sp>
      </p:grpSp>
      <p:sp>
        <p:nvSpPr>
          <p:cNvPr id="2" name="Explosion 1 1"/>
          <p:cNvSpPr/>
          <p:nvPr/>
        </p:nvSpPr>
        <p:spPr>
          <a:xfrm>
            <a:off x="6392862" y="2000169"/>
            <a:ext cx="294493" cy="262130"/>
          </a:xfrm>
          <a:prstGeom prst="irregularSeal1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97107" y="3140621"/>
            <a:ext cx="302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Mutations here will be</a:t>
            </a:r>
          </a:p>
          <a:p>
            <a:r>
              <a:rPr lang="en-US" dirty="0">
                <a:solidFill>
                  <a:srgbClr val="7030A0"/>
                </a:solidFill>
              </a:rPr>
              <a:t>Polymorphic within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400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>
                <a:solidFill>
                  <a:srgbClr val="7030A0"/>
                </a:solidFill>
              </a:rPr>
              <a:t>A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09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149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291" y="4766666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rgbClr val="FF2F92"/>
                </a:solidFill>
              </a:rPr>
              <a:t>G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102" y="475124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435" y="4397460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2693" y="4766667"/>
            <a:ext cx="1828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Pos. </a:t>
            </a:r>
            <a:r>
              <a:rPr lang="en-US" sz="1400" dirty="0"/>
              <a:t>1: Monomorphic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2691" y="5057237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2: Fixed</a:t>
            </a:r>
          </a:p>
        </p:txBody>
      </p:sp>
      <p:sp>
        <p:nvSpPr>
          <p:cNvPr id="28" name="Explosion 1 27"/>
          <p:cNvSpPr/>
          <p:nvPr/>
        </p:nvSpPr>
        <p:spPr>
          <a:xfrm>
            <a:off x="5571611" y="3058199"/>
            <a:ext cx="294493" cy="262130"/>
          </a:xfrm>
          <a:prstGeom prst="irregularSeal1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xplosion 1 28"/>
          <p:cNvSpPr/>
          <p:nvPr/>
        </p:nvSpPr>
        <p:spPr>
          <a:xfrm>
            <a:off x="6652811" y="3279850"/>
            <a:ext cx="294493" cy="262130"/>
          </a:xfrm>
          <a:prstGeom prst="irregularSeal1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402690" y="5319671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3: Fixed</a:t>
            </a:r>
          </a:p>
        </p:txBody>
      </p:sp>
      <p:sp>
        <p:nvSpPr>
          <p:cNvPr id="31" name="Explosion 1 30"/>
          <p:cNvSpPr/>
          <p:nvPr/>
        </p:nvSpPr>
        <p:spPr>
          <a:xfrm>
            <a:off x="5076464" y="3722754"/>
            <a:ext cx="294493" cy="262130"/>
          </a:xfrm>
          <a:prstGeom prst="irregularSeal1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xplosion 1 31"/>
          <p:cNvSpPr/>
          <p:nvPr/>
        </p:nvSpPr>
        <p:spPr>
          <a:xfrm>
            <a:off x="7016645" y="3790868"/>
            <a:ext cx="294493" cy="262130"/>
          </a:xfrm>
          <a:prstGeom prst="irregularSeal1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402690" y="5608327"/>
            <a:ext cx="1714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4: Polymorphic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3224" y="5865221"/>
            <a:ext cx="1714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5: Polymorphic</a:t>
            </a:r>
          </a:p>
        </p:txBody>
      </p:sp>
    </p:spTree>
    <p:extLst>
      <p:ext uri="{BB962C8B-B14F-4D97-AF65-F5344CB8AC3E}">
        <p14:creationId xmlns:p14="http://schemas.microsoft.com/office/powerpoint/2010/main" val="1262452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2109" y="1960099"/>
            <a:ext cx="3547094" cy="2806694"/>
            <a:chOff x="2362665" y="1960099"/>
            <a:chExt cx="4585867" cy="3610837"/>
          </a:xfrm>
        </p:grpSpPr>
        <p:grpSp>
          <p:nvGrpSpPr>
            <p:cNvPr id="38" name="Group 37"/>
            <p:cNvGrpSpPr/>
            <p:nvPr/>
          </p:nvGrpSpPr>
          <p:grpSpPr>
            <a:xfrm>
              <a:off x="2630658" y="1960099"/>
              <a:ext cx="4317874" cy="2921155"/>
              <a:chOff x="2011680" y="1706880"/>
              <a:chExt cx="4317874" cy="29211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011680" y="1706880"/>
                <a:ext cx="2048256" cy="2706624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4045870" y="1706880"/>
                <a:ext cx="2283684" cy="292115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 flipV="1">
                <a:off x="3418449" y="2546252"/>
                <a:ext cx="1435373" cy="186725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2421988" y="3845640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3953022" y="3843292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2489981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3376244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4369424" y="475441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5394023" y="476613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62665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Species 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463500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Species 2</a:t>
              </a:r>
            </a:p>
          </p:txBody>
        </p:sp>
      </p:grpSp>
      <p:sp>
        <p:nvSpPr>
          <p:cNvPr id="2" name="Explosion 1 1"/>
          <p:cNvSpPr/>
          <p:nvPr/>
        </p:nvSpPr>
        <p:spPr>
          <a:xfrm>
            <a:off x="6392862" y="2000169"/>
            <a:ext cx="294493" cy="262130"/>
          </a:xfrm>
          <a:prstGeom prst="irregularSeal1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55956" y="2202143"/>
            <a:ext cx="302894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Migration, incomplete lineage sorting, or parallel mutation events can also result in polymorphic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400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>
                <a:solidFill>
                  <a:srgbClr val="7030A0"/>
                </a:solidFill>
              </a:rPr>
              <a:t>A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096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149" y="475197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291" y="4766666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G</a:t>
            </a:r>
          </a:p>
          <a:p>
            <a:r>
              <a:rPr lang="en-US" dirty="0"/>
              <a:t>C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r>
              <a:rPr lang="en-US" dirty="0"/>
              <a:t>T</a:t>
            </a:r>
          </a:p>
          <a:p>
            <a:r>
              <a:rPr lang="en-US" dirty="0">
                <a:solidFill>
                  <a:srgbClr val="FF2F92"/>
                </a:solidFill>
              </a:rPr>
              <a:t>G</a:t>
            </a:r>
          </a:p>
          <a:p>
            <a:r>
              <a:rPr lang="en-US" dirty="0"/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102" y="4751243"/>
            <a:ext cx="3481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435" y="4397460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2693" y="4766667"/>
            <a:ext cx="1828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Pos. </a:t>
            </a:r>
            <a:r>
              <a:rPr lang="en-US" sz="1400" dirty="0"/>
              <a:t>1: Monomorphic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2691" y="5057237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2: Fixed</a:t>
            </a:r>
          </a:p>
        </p:txBody>
      </p:sp>
      <p:sp>
        <p:nvSpPr>
          <p:cNvPr id="28" name="Explosion 1 27"/>
          <p:cNvSpPr/>
          <p:nvPr/>
        </p:nvSpPr>
        <p:spPr>
          <a:xfrm>
            <a:off x="5571611" y="3058199"/>
            <a:ext cx="294493" cy="262130"/>
          </a:xfrm>
          <a:prstGeom prst="irregularSeal1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xplosion 1 28"/>
          <p:cNvSpPr/>
          <p:nvPr/>
        </p:nvSpPr>
        <p:spPr>
          <a:xfrm>
            <a:off x="6652811" y="3279850"/>
            <a:ext cx="294493" cy="262130"/>
          </a:xfrm>
          <a:prstGeom prst="irregularSeal1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402690" y="5319671"/>
            <a:ext cx="114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3: Fixed</a:t>
            </a:r>
          </a:p>
        </p:txBody>
      </p:sp>
      <p:sp>
        <p:nvSpPr>
          <p:cNvPr id="31" name="Explosion 1 30"/>
          <p:cNvSpPr/>
          <p:nvPr/>
        </p:nvSpPr>
        <p:spPr>
          <a:xfrm>
            <a:off x="5076464" y="3722754"/>
            <a:ext cx="294493" cy="262130"/>
          </a:xfrm>
          <a:prstGeom prst="irregularSeal1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xplosion 1 31"/>
          <p:cNvSpPr/>
          <p:nvPr/>
        </p:nvSpPr>
        <p:spPr>
          <a:xfrm>
            <a:off x="7016645" y="3790868"/>
            <a:ext cx="294493" cy="262130"/>
          </a:xfrm>
          <a:prstGeom prst="irregularSeal1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402690" y="5608327"/>
            <a:ext cx="1714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4: Polymorphic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3224" y="5865221"/>
            <a:ext cx="1714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5: Polymorphic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5478" y="6127655"/>
            <a:ext cx="1714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Pos. 6: Polymorphic</a:t>
            </a:r>
          </a:p>
        </p:txBody>
      </p:sp>
    </p:spTree>
    <p:extLst>
      <p:ext uri="{BB962C8B-B14F-4D97-AF65-F5344CB8AC3E}">
        <p14:creationId xmlns:p14="http://schemas.microsoft.com/office/powerpoint/2010/main" val="1656211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52650" y="365127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Fixed vs. Polymorphic Sites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825675" y="2968545"/>
            <a:ext cx="3547094" cy="2806694"/>
            <a:chOff x="2362665" y="1960099"/>
            <a:chExt cx="4585867" cy="3610837"/>
          </a:xfrm>
        </p:grpSpPr>
        <p:grpSp>
          <p:nvGrpSpPr>
            <p:cNvPr id="38" name="Group 37"/>
            <p:cNvGrpSpPr/>
            <p:nvPr/>
          </p:nvGrpSpPr>
          <p:grpSpPr>
            <a:xfrm>
              <a:off x="2630658" y="1960099"/>
              <a:ext cx="4317874" cy="2921155"/>
              <a:chOff x="2011680" y="1706880"/>
              <a:chExt cx="4317874" cy="29211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011680" y="1706880"/>
                <a:ext cx="2048256" cy="2706624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4045870" y="1706880"/>
                <a:ext cx="2283684" cy="292115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 flipV="1">
                <a:off x="3418449" y="2546252"/>
                <a:ext cx="1435373" cy="186725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2421988" y="3845640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3953022" y="3843292"/>
                <a:ext cx="475955" cy="59975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2489981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3376244" y="4753473"/>
              <a:ext cx="281354" cy="25556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4369424" y="475441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5394023" y="4766132"/>
              <a:ext cx="281354" cy="2555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62665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Species 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463500" y="5095787"/>
              <a:ext cx="1482213" cy="475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Species 2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903987" y="1784542"/>
            <a:ext cx="789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 If </a:t>
            </a:r>
            <a:r>
              <a:rPr lang="en-US" u="sng" dirty="0"/>
              <a:t>synonymous</a:t>
            </a:r>
            <a:r>
              <a:rPr lang="en-US" dirty="0"/>
              <a:t> mutations are neutral, then they should happen with equal probability on any of the branches of the tree.</a:t>
            </a:r>
          </a:p>
        </p:txBody>
      </p:sp>
      <p:sp>
        <p:nvSpPr>
          <p:cNvPr id="36" name="Explosion 1 35"/>
          <p:cNvSpPr>
            <a:spLocks noChangeAspect="1"/>
          </p:cNvSpPr>
          <p:nvPr/>
        </p:nvSpPr>
        <p:spPr>
          <a:xfrm>
            <a:off x="4371140" y="3131523"/>
            <a:ext cx="112217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plosion 1 36"/>
          <p:cNvSpPr>
            <a:spLocks noChangeAspect="1"/>
          </p:cNvSpPr>
          <p:nvPr/>
        </p:nvSpPr>
        <p:spPr>
          <a:xfrm>
            <a:off x="4371139" y="3994015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xplosion 1 40"/>
          <p:cNvSpPr>
            <a:spLocks noChangeAspect="1"/>
          </p:cNvSpPr>
          <p:nvPr/>
        </p:nvSpPr>
        <p:spPr>
          <a:xfrm>
            <a:off x="3575714" y="4183535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xplosion 1 45"/>
          <p:cNvSpPr>
            <a:spLocks noChangeAspect="1"/>
          </p:cNvSpPr>
          <p:nvPr/>
        </p:nvSpPr>
        <p:spPr>
          <a:xfrm>
            <a:off x="3534402" y="4900372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xplosion 1 46"/>
          <p:cNvSpPr>
            <a:spLocks noChangeAspect="1"/>
          </p:cNvSpPr>
          <p:nvPr/>
        </p:nvSpPr>
        <p:spPr>
          <a:xfrm>
            <a:off x="4698239" y="4725105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xplosion 1 47"/>
          <p:cNvSpPr>
            <a:spLocks noChangeAspect="1"/>
          </p:cNvSpPr>
          <p:nvPr/>
        </p:nvSpPr>
        <p:spPr>
          <a:xfrm>
            <a:off x="3860923" y="3781229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xplosion 1 48"/>
          <p:cNvSpPr>
            <a:spLocks noChangeAspect="1"/>
          </p:cNvSpPr>
          <p:nvPr/>
        </p:nvSpPr>
        <p:spPr>
          <a:xfrm>
            <a:off x="5088102" y="4925813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xplosion 1 49"/>
          <p:cNvSpPr>
            <a:spLocks noChangeAspect="1"/>
          </p:cNvSpPr>
          <p:nvPr/>
        </p:nvSpPr>
        <p:spPr>
          <a:xfrm>
            <a:off x="4748609" y="4477214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H="1">
            <a:off x="6569491" y="3242569"/>
            <a:ext cx="33562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 Monomorphic SNP</a:t>
            </a:r>
          </a:p>
          <a:p>
            <a:r>
              <a:rPr lang="en-US" sz="1600" dirty="0"/>
              <a:t>2 SNPs fixed in Species 1</a:t>
            </a:r>
          </a:p>
          <a:p>
            <a:r>
              <a:rPr lang="en-US" sz="1600" dirty="0"/>
              <a:t>2 SNPs fixed in Species 2</a:t>
            </a:r>
          </a:p>
          <a:p>
            <a:r>
              <a:rPr lang="en-US" sz="1600" dirty="0"/>
              <a:t>1 SNP polymorphic in Species 1</a:t>
            </a:r>
          </a:p>
          <a:p>
            <a:r>
              <a:rPr lang="en-US" sz="1600" dirty="0"/>
              <a:t>2 SNPs polymorphic in Species 2</a:t>
            </a:r>
          </a:p>
        </p:txBody>
      </p:sp>
    </p:spTree>
    <p:extLst>
      <p:ext uri="{BB962C8B-B14F-4D97-AF65-F5344CB8AC3E}">
        <p14:creationId xmlns:p14="http://schemas.microsoft.com/office/powerpoint/2010/main" val="1458282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84923" y="103770"/>
            <a:ext cx="7886700" cy="125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Test:</a:t>
            </a:r>
            <a:br>
              <a:rPr lang="en-US" dirty="0"/>
            </a:br>
            <a:r>
              <a:rPr lang="en-US" sz="3600" dirty="0"/>
              <a:t>Synonymous vs. Nonsynonymous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3229" y="1396643"/>
            <a:ext cx="789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1.  If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synonymous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mutations are neutral, then they should happen with equal probability on any of the branches of the tree.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959908" y="3175480"/>
            <a:ext cx="2621571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Synonymous</a:t>
            </a:r>
          </a:p>
          <a:p>
            <a:r>
              <a:rPr lang="en-US" sz="1000" dirty="0"/>
              <a:t>1 Monomorphic SNP</a:t>
            </a:r>
          </a:p>
          <a:p>
            <a:r>
              <a:rPr lang="en-US" sz="1000" dirty="0"/>
              <a:t>2 SNPs fixed in Species 1</a:t>
            </a:r>
          </a:p>
          <a:p>
            <a:r>
              <a:rPr lang="en-US" sz="1000" dirty="0"/>
              <a:t>2 SNPs fixed in Species 2</a:t>
            </a:r>
          </a:p>
          <a:p>
            <a:r>
              <a:rPr lang="en-US" sz="1000" dirty="0"/>
              <a:t>2 SNPs polymorphic in Species 1</a:t>
            </a:r>
          </a:p>
          <a:p>
            <a:r>
              <a:rPr lang="en-US" sz="1000" dirty="0"/>
              <a:t>2 SNPs polymorphic in Species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3229" y="2068398"/>
            <a:ext cx="7892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 If </a:t>
            </a:r>
            <a:r>
              <a:rPr lang="en-US" u="sng" dirty="0"/>
              <a:t>nonsynonymous</a:t>
            </a:r>
            <a:r>
              <a:rPr lang="en-US" dirty="0"/>
              <a:t> mutations are under the </a:t>
            </a:r>
            <a:r>
              <a:rPr lang="en-US" b="1" dirty="0"/>
              <a:t>same selective pressure</a:t>
            </a:r>
            <a:r>
              <a:rPr lang="en-US" dirty="0"/>
              <a:t> in each species, then they should also be equally likely (or unlikely) to appear on any given branch.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92457" y="3538700"/>
            <a:ext cx="3547094" cy="2806694"/>
            <a:chOff x="768457" y="3538700"/>
            <a:chExt cx="3547094" cy="2806694"/>
          </a:xfrm>
        </p:grpSpPr>
        <p:grpSp>
          <p:nvGrpSpPr>
            <p:cNvPr id="9" name="Group 8"/>
            <p:cNvGrpSpPr/>
            <p:nvPr/>
          </p:nvGrpSpPr>
          <p:grpSpPr>
            <a:xfrm>
              <a:off x="768457" y="3538700"/>
              <a:ext cx="3547094" cy="2806694"/>
              <a:chOff x="1301675" y="2968545"/>
              <a:chExt cx="3547094" cy="2806694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301675" y="2968545"/>
                <a:ext cx="3547094" cy="2806694"/>
                <a:chOff x="2362665" y="1960099"/>
                <a:chExt cx="4585867" cy="3610837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2630658" y="1960099"/>
                  <a:ext cx="4317874" cy="2921155"/>
                  <a:chOff x="2011680" y="1706880"/>
                  <a:chExt cx="4317874" cy="2921155"/>
                </a:xfrm>
              </p:grpSpPr>
              <p:cxnSp>
                <p:nvCxnSpPr>
                  <p:cNvPr id="17" name="Straight Connector 16"/>
                  <p:cNvCxnSpPr/>
                  <p:nvPr/>
                </p:nvCxnSpPr>
                <p:spPr>
                  <a:xfrm flipV="1">
                    <a:off x="2011680" y="1706880"/>
                    <a:ext cx="2048256" cy="2706624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/>
                  <p:cNvCxnSpPr/>
                  <p:nvPr/>
                </p:nvCxnSpPr>
                <p:spPr>
                  <a:xfrm flipH="1" flipV="1">
                    <a:off x="4045870" y="1706880"/>
                    <a:ext cx="2283684" cy="2921155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 flipH="1" flipV="1">
                    <a:off x="3418449" y="2546252"/>
                    <a:ext cx="1435373" cy="1867252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 flipH="1" flipV="1">
                    <a:off x="2421988" y="3845640"/>
                    <a:ext cx="475955" cy="599753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/>
                  <p:cNvCxnSpPr/>
                  <p:nvPr/>
                </p:nvCxnSpPr>
                <p:spPr>
                  <a:xfrm flipV="1">
                    <a:off x="3953022" y="3843292"/>
                    <a:ext cx="475955" cy="599753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Oval 38"/>
                <p:cNvSpPr/>
                <p:nvPr/>
              </p:nvSpPr>
              <p:spPr>
                <a:xfrm>
                  <a:off x="2489981" y="4753473"/>
                  <a:ext cx="281354" cy="25556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Oval 127"/>
                <p:cNvSpPr/>
                <p:nvPr/>
              </p:nvSpPr>
              <p:spPr>
                <a:xfrm>
                  <a:off x="3376244" y="4753473"/>
                  <a:ext cx="281354" cy="25556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Oval 128"/>
                <p:cNvSpPr/>
                <p:nvPr/>
              </p:nvSpPr>
              <p:spPr>
                <a:xfrm>
                  <a:off x="4369424" y="4754412"/>
                  <a:ext cx="281354" cy="25556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Oval 129"/>
                <p:cNvSpPr/>
                <p:nvPr/>
              </p:nvSpPr>
              <p:spPr>
                <a:xfrm>
                  <a:off x="5394023" y="4766132"/>
                  <a:ext cx="281354" cy="25556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2362665" y="5095787"/>
                  <a:ext cx="1482213" cy="4751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Species 1</a:t>
                  </a: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4463500" y="5095787"/>
                  <a:ext cx="1482213" cy="4751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Species 2</a:t>
                  </a:r>
                </a:p>
              </p:txBody>
            </p:sp>
          </p:grpSp>
          <p:sp>
            <p:nvSpPr>
              <p:cNvPr id="36" name="Explosion 1 35"/>
              <p:cNvSpPr>
                <a:spLocks noChangeAspect="1"/>
              </p:cNvSpPr>
              <p:nvPr/>
            </p:nvSpPr>
            <p:spPr>
              <a:xfrm>
                <a:off x="2847139" y="3131523"/>
                <a:ext cx="112217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Explosion 1 36"/>
              <p:cNvSpPr>
                <a:spLocks noChangeAspect="1"/>
              </p:cNvSpPr>
              <p:nvPr/>
            </p:nvSpPr>
            <p:spPr>
              <a:xfrm>
                <a:off x="2847139" y="399401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Explosion 1 40"/>
              <p:cNvSpPr>
                <a:spLocks noChangeAspect="1"/>
              </p:cNvSpPr>
              <p:nvPr/>
            </p:nvSpPr>
            <p:spPr>
              <a:xfrm>
                <a:off x="2051714" y="418353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Explosion 1 45"/>
              <p:cNvSpPr>
                <a:spLocks noChangeAspect="1"/>
              </p:cNvSpPr>
              <p:nvPr/>
            </p:nvSpPr>
            <p:spPr>
              <a:xfrm>
                <a:off x="2010402" y="4900372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Explosion 1 46"/>
              <p:cNvSpPr>
                <a:spLocks noChangeAspect="1"/>
              </p:cNvSpPr>
              <p:nvPr/>
            </p:nvSpPr>
            <p:spPr>
              <a:xfrm>
                <a:off x="3174239" y="472510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Explosion 1 47"/>
              <p:cNvSpPr>
                <a:spLocks noChangeAspect="1"/>
              </p:cNvSpPr>
              <p:nvPr/>
            </p:nvSpPr>
            <p:spPr>
              <a:xfrm>
                <a:off x="2336923" y="3781229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Explosion 1 48"/>
              <p:cNvSpPr>
                <a:spLocks noChangeAspect="1"/>
              </p:cNvSpPr>
              <p:nvPr/>
            </p:nvSpPr>
            <p:spPr>
              <a:xfrm>
                <a:off x="3564102" y="4925813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Explosion 1 49"/>
              <p:cNvSpPr>
                <a:spLocks noChangeAspect="1"/>
              </p:cNvSpPr>
              <p:nvPr/>
            </p:nvSpPr>
            <p:spPr>
              <a:xfrm>
                <a:off x="3224609" y="4477214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Explosion 1 51"/>
            <p:cNvSpPr>
              <a:spLocks noChangeAspect="1"/>
            </p:cNvSpPr>
            <p:nvPr/>
          </p:nvSpPr>
          <p:spPr>
            <a:xfrm>
              <a:off x="2199091" y="4358850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Explosion 1 52"/>
            <p:cNvSpPr>
              <a:spLocks noChangeAspect="1"/>
            </p:cNvSpPr>
            <p:nvPr/>
          </p:nvSpPr>
          <p:spPr>
            <a:xfrm>
              <a:off x="1654084" y="4609767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Explosion 1 53"/>
            <p:cNvSpPr>
              <a:spLocks noChangeAspect="1"/>
            </p:cNvSpPr>
            <p:nvPr/>
          </p:nvSpPr>
          <p:spPr>
            <a:xfrm>
              <a:off x="1084557" y="5363840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Explosion 1 54"/>
            <p:cNvSpPr>
              <a:spLocks noChangeAspect="1"/>
            </p:cNvSpPr>
            <p:nvPr/>
          </p:nvSpPr>
          <p:spPr>
            <a:xfrm>
              <a:off x="2513911" y="5459412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 flipH="1">
            <a:off x="6959907" y="4314439"/>
            <a:ext cx="2621571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Nonynonymous</a:t>
            </a:r>
            <a:endParaRPr lang="en-US" sz="1200" dirty="0"/>
          </a:p>
          <a:p>
            <a:r>
              <a:rPr lang="en-US" sz="1200" dirty="0"/>
              <a:t>1 SNPs fixed in Species 1</a:t>
            </a:r>
          </a:p>
          <a:p>
            <a:r>
              <a:rPr lang="en-US" sz="1200" dirty="0"/>
              <a:t>1 SNP fixed in Species 2</a:t>
            </a:r>
          </a:p>
          <a:p>
            <a:r>
              <a:rPr lang="en-US" sz="1200" dirty="0"/>
              <a:t>1 SNP polymorphic in Species 1</a:t>
            </a:r>
          </a:p>
          <a:p>
            <a:r>
              <a:rPr lang="en-US" sz="1200" dirty="0"/>
              <a:t>1 SNP polymorphic in Species 2</a:t>
            </a:r>
          </a:p>
        </p:txBody>
      </p:sp>
      <p:sp>
        <p:nvSpPr>
          <p:cNvPr id="58" name="Explosion 1 57"/>
          <p:cNvSpPr>
            <a:spLocks noChangeAspect="1"/>
          </p:cNvSpPr>
          <p:nvPr/>
        </p:nvSpPr>
        <p:spPr>
          <a:xfrm>
            <a:off x="2852367" y="5257164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557723" y="5513852"/>
            <a:ext cx="3513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Even though #</a:t>
            </a:r>
            <a:r>
              <a:rPr lang="en-US" sz="1400" dirty="0" err="1">
                <a:solidFill>
                  <a:srgbClr val="FF0000"/>
                </a:solidFill>
              </a:rPr>
              <a:t>Nonsyn</a:t>
            </a:r>
            <a:r>
              <a:rPr lang="en-US" sz="1400" dirty="0">
                <a:solidFill>
                  <a:srgbClr val="FF0000"/>
                </a:solidFill>
              </a:rPr>
              <a:t> &lt; #</a:t>
            </a:r>
            <a:r>
              <a:rPr lang="en-US" sz="1400" dirty="0" err="1">
                <a:solidFill>
                  <a:srgbClr val="FF0000"/>
                </a:solidFill>
              </a:rPr>
              <a:t>Syn</a:t>
            </a:r>
            <a:r>
              <a:rPr lang="en-US" sz="1400" dirty="0">
                <a:solidFill>
                  <a:srgbClr val="FF0000"/>
                </a:solidFill>
              </a:rPr>
              <a:t>,</a:t>
            </a:r>
          </a:p>
          <a:p>
            <a:r>
              <a:rPr lang="en-US" sz="1400" dirty="0">
                <a:solidFill>
                  <a:srgbClr val="FF0000"/>
                </a:solidFill>
              </a:rPr>
              <a:t>The relative frequency of them (1/2) is the same both within and between species</a:t>
            </a:r>
          </a:p>
        </p:txBody>
      </p:sp>
    </p:spTree>
    <p:extLst>
      <p:ext uri="{BB962C8B-B14F-4D97-AF65-F5344CB8AC3E}">
        <p14:creationId xmlns:p14="http://schemas.microsoft.com/office/powerpoint/2010/main" val="190338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 txBox="1">
            <a:spLocks/>
          </p:cNvSpPr>
          <p:nvPr/>
        </p:nvSpPr>
        <p:spPr>
          <a:xfrm>
            <a:off x="2184923" y="103770"/>
            <a:ext cx="7886700" cy="541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M-K Test: Synonymous vs. Nonsynonymous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3229" y="644941"/>
            <a:ext cx="789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1.  If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synonymous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mutations are neutral, then they should happen with equal probability on any of the branches of the tree.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959908" y="3175480"/>
            <a:ext cx="2621571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Synonymous</a:t>
            </a:r>
          </a:p>
          <a:p>
            <a:r>
              <a:rPr lang="en-US" sz="1000" dirty="0"/>
              <a:t>1 Monomorphic SNP</a:t>
            </a:r>
          </a:p>
          <a:p>
            <a:r>
              <a:rPr lang="en-US" sz="1000" dirty="0"/>
              <a:t>2 SNPs fixed in Species 1</a:t>
            </a:r>
          </a:p>
          <a:p>
            <a:r>
              <a:rPr lang="en-US" sz="1000" dirty="0"/>
              <a:t>2 SNPs fixed in Species 2</a:t>
            </a:r>
          </a:p>
          <a:p>
            <a:r>
              <a:rPr lang="en-US" sz="1000" dirty="0"/>
              <a:t>2 SNPs polymorphic in Species 1</a:t>
            </a:r>
          </a:p>
          <a:p>
            <a:r>
              <a:rPr lang="en-US" sz="1000" dirty="0"/>
              <a:t>2 SNPs polymorphic in Species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3229" y="1251981"/>
            <a:ext cx="7892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2.  If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nonsynonymous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mutations are under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same selective pressure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in each species, then they should also be equally likely (or unlikely) to appear on any given branch.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92457" y="3538700"/>
            <a:ext cx="3547094" cy="2806694"/>
            <a:chOff x="768457" y="3538700"/>
            <a:chExt cx="3547094" cy="2806694"/>
          </a:xfrm>
        </p:grpSpPr>
        <p:grpSp>
          <p:nvGrpSpPr>
            <p:cNvPr id="9" name="Group 8"/>
            <p:cNvGrpSpPr/>
            <p:nvPr/>
          </p:nvGrpSpPr>
          <p:grpSpPr>
            <a:xfrm>
              <a:off x="768457" y="3538700"/>
              <a:ext cx="3547094" cy="2806694"/>
              <a:chOff x="1301675" y="2968545"/>
              <a:chExt cx="3547094" cy="2806694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301675" y="2968545"/>
                <a:ext cx="3547094" cy="2806694"/>
                <a:chOff x="2362665" y="1960099"/>
                <a:chExt cx="4585867" cy="3610837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2630658" y="1960099"/>
                  <a:ext cx="4317874" cy="2921155"/>
                  <a:chOff x="2011680" y="1706880"/>
                  <a:chExt cx="4317874" cy="2921155"/>
                </a:xfrm>
              </p:grpSpPr>
              <p:cxnSp>
                <p:nvCxnSpPr>
                  <p:cNvPr id="17" name="Straight Connector 16"/>
                  <p:cNvCxnSpPr/>
                  <p:nvPr/>
                </p:nvCxnSpPr>
                <p:spPr>
                  <a:xfrm flipV="1">
                    <a:off x="2011680" y="1706880"/>
                    <a:ext cx="2048256" cy="2706624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/>
                  <p:cNvCxnSpPr/>
                  <p:nvPr/>
                </p:nvCxnSpPr>
                <p:spPr>
                  <a:xfrm flipH="1" flipV="1">
                    <a:off x="4045870" y="1706880"/>
                    <a:ext cx="2283684" cy="2921155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 flipH="1" flipV="1">
                    <a:off x="3418449" y="2546252"/>
                    <a:ext cx="1435373" cy="1867252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 flipH="1" flipV="1">
                    <a:off x="2421988" y="3845640"/>
                    <a:ext cx="475955" cy="599753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/>
                  <p:cNvCxnSpPr/>
                  <p:nvPr/>
                </p:nvCxnSpPr>
                <p:spPr>
                  <a:xfrm flipV="1">
                    <a:off x="3953022" y="3843292"/>
                    <a:ext cx="475955" cy="599753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Oval 38"/>
                <p:cNvSpPr/>
                <p:nvPr/>
              </p:nvSpPr>
              <p:spPr>
                <a:xfrm>
                  <a:off x="2489981" y="4753473"/>
                  <a:ext cx="281354" cy="25556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Oval 127"/>
                <p:cNvSpPr/>
                <p:nvPr/>
              </p:nvSpPr>
              <p:spPr>
                <a:xfrm>
                  <a:off x="3376244" y="4753473"/>
                  <a:ext cx="281354" cy="25556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Oval 128"/>
                <p:cNvSpPr/>
                <p:nvPr/>
              </p:nvSpPr>
              <p:spPr>
                <a:xfrm>
                  <a:off x="4369424" y="4754412"/>
                  <a:ext cx="281354" cy="25556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Oval 129"/>
                <p:cNvSpPr/>
                <p:nvPr/>
              </p:nvSpPr>
              <p:spPr>
                <a:xfrm>
                  <a:off x="5394023" y="4766132"/>
                  <a:ext cx="281354" cy="25556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2362665" y="5095787"/>
                  <a:ext cx="1482213" cy="4751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Species 1</a:t>
                  </a: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4463500" y="5095787"/>
                  <a:ext cx="1482213" cy="4751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Species 2</a:t>
                  </a:r>
                </a:p>
              </p:txBody>
            </p:sp>
          </p:grpSp>
          <p:sp>
            <p:nvSpPr>
              <p:cNvPr id="36" name="Explosion 1 35"/>
              <p:cNvSpPr>
                <a:spLocks noChangeAspect="1"/>
              </p:cNvSpPr>
              <p:nvPr/>
            </p:nvSpPr>
            <p:spPr>
              <a:xfrm>
                <a:off x="2847139" y="3131523"/>
                <a:ext cx="112217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Explosion 1 36"/>
              <p:cNvSpPr>
                <a:spLocks noChangeAspect="1"/>
              </p:cNvSpPr>
              <p:nvPr/>
            </p:nvSpPr>
            <p:spPr>
              <a:xfrm>
                <a:off x="2847139" y="399401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Explosion 1 40"/>
              <p:cNvSpPr>
                <a:spLocks noChangeAspect="1"/>
              </p:cNvSpPr>
              <p:nvPr/>
            </p:nvSpPr>
            <p:spPr>
              <a:xfrm>
                <a:off x="2051714" y="418353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Explosion 1 45"/>
              <p:cNvSpPr>
                <a:spLocks noChangeAspect="1"/>
              </p:cNvSpPr>
              <p:nvPr/>
            </p:nvSpPr>
            <p:spPr>
              <a:xfrm>
                <a:off x="2010402" y="4900372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Explosion 1 46"/>
              <p:cNvSpPr>
                <a:spLocks noChangeAspect="1"/>
              </p:cNvSpPr>
              <p:nvPr/>
            </p:nvSpPr>
            <p:spPr>
              <a:xfrm>
                <a:off x="3174239" y="4725105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Explosion 1 47"/>
              <p:cNvSpPr>
                <a:spLocks noChangeAspect="1"/>
              </p:cNvSpPr>
              <p:nvPr/>
            </p:nvSpPr>
            <p:spPr>
              <a:xfrm>
                <a:off x="2336923" y="3781229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Explosion 1 48"/>
              <p:cNvSpPr>
                <a:spLocks noChangeAspect="1"/>
              </p:cNvSpPr>
              <p:nvPr/>
            </p:nvSpPr>
            <p:spPr>
              <a:xfrm>
                <a:off x="3564102" y="4925813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Explosion 1 49"/>
              <p:cNvSpPr>
                <a:spLocks noChangeAspect="1"/>
              </p:cNvSpPr>
              <p:nvPr/>
            </p:nvSpPr>
            <p:spPr>
              <a:xfrm>
                <a:off x="3224609" y="4477214"/>
                <a:ext cx="154094" cy="137160"/>
              </a:xfrm>
              <a:prstGeom prst="irregularSeal1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Explosion 1 51"/>
            <p:cNvSpPr>
              <a:spLocks noChangeAspect="1"/>
            </p:cNvSpPr>
            <p:nvPr/>
          </p:nvSpPr>
          <p:spPr>
            <a:xfrm>
              <a:off x="1951665" y="4229755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Explosion 1 52"/>
            <p:cNvSpPr>
              <a:spLocks noChangeAspect="1"/>
            </p:cNvSpPr>
            <p:nvPr/>
          </p:nvSpPr>
          <p:spPr>
            <a:xfrm>
              <a:off x="1654084" y="4609767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Explosion 1 53"/>
            <p:cNvSpPr>
              <a:spLocks noChangeAspect="1"/>
            </p:cNvSpPr>
            <p:nvPr/>
          </p:nvSpPr>
          <p:spPr>
            <a:xfrm>
              <a:off x="1396527" y="4944291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Explosion 1 54"/>
            <p:cNvSpPr>
              <a:spLocks noChangeAspect="1"/>
            </p:cNvSpPr>
            <p:nvPr/>
          </p:nvSpPr>
          <p:spPr>
            <a:xfrm>
              <a:off x="2513911" y="5459412"/>
              <a:ext cx="112217" cy="137160"/>
            </a:xfrm>
            <a:prstGeom prst="irregularSeal1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 flipH="1">
            <a:off x="6959907" y="4314439"/>
            <a:ext cx="2621571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Nonynonymous</a:t>
            </a:r>
            <a:endParaRPr lang="en-US" sz="1200" dirty="0"/>
          </a:p>
          <a:p>
            <a:r>
              <a:rPr lang="en-US" sz="1200" dirty="0"/>
              <a:t>3 SNPs fixed in Species 1</a:t>
            </a:r>
          </a:p>
          <a:p>
            <a:r>
              <a:rPr lang="en-US" sz="1200" dirty="0"/>
              <a:t>0 SNPs fixed in Species 2</a:t>
            </a:r>
          </a:p>
          <a:p>
            <a:r>
              <a:rPr lang="en-US" sz="1200" dirty="0"/>
              <a:t>0 SNPs polymorphic in Species 1</a:t>
            </a:r>
          </a:p>
          <a:p>
            <a:r>
              <a:rPr lang="en-US" sz="1200" dirty="0"/>
              <a:t>1 SNP polymorphic in Species 2</a:t>
            </a:r>
          </a:p>
        </p:txBody>
      </p:sp>
      <p:sp>
        <p:nvSpPr>
          <p:cNvPr id="58" name="Explosion 1 57"/>
          <p:cNvSpPr>
            <a:spLocks noChangeAspect="1"/>
          </p:cNvSpPr>
          <p:nvPr/>
        </p:nvSpPr>
        <p:spPr>
          <a:xfrm>
            <a:off x="2852367" y="5257164"/>
            <a:ext cx="154094" cy="137160"/>
          </a:xfrm>
          <a:prstGeom prst="irregularSeal1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893229" y="2134432"/>
            <a:ext cx="7892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 If a gene has been selected to have a novel functions in 1 of the 2 species, then </a:t>
            </a:r>
            <a:r>
              <a:rPr lang="en-US" u="sng" dirty="0"/>
              <a:t>nonsynonymous</a:t>
            </a:r>
            <a:r>
              <a:rPr lang="en-US" dirty="0"/>
              <a:t> mutations are disproportionately likely to appear on only one of the branches since the species split.</a:t>
            </a:r>
          </a:p>
        </p:txBody>
      </p:sp>
    </p:spTree>
    <p:extLst>
      <p:ext uri="{BB962C8B-B14F-4D97-AF65-F5344CB8AC3E}">
        <p14:creationId xmlns:p14="http://schemas.microsoft.com/office/powerpoint/2010/main" val="164288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0" y="1690689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Nonsynonymous</a:t>
                      </a:r>
                    </a:p>
                  </a:txBody>
                  <a:tcPr>
                    <a:solidFill>
                      <a:srgbClr val="D59D8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Synonymous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</a:t>
                      </a:r>
                    </a:p>
                  </a:txBody>
                  <a:tcPr>
                    <a:solidFill>
                      <a:srgbClr val="9437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N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Polymorphic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en-US" baseline="-25000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en-US" baseline="-25000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429023" y="3229097"/>
            <a:ext cx="7216527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 Neutrality:</a:t>
            </a:r>
          </a:p>
          <a:p>
            <a:endParaRPr lang="en-US" dirty="0"/>
          </a:p>
          <a:p>
            <a:r>
              <a:rPr lang="en-US" dirty="0"/>
              <a:t>	F</a:t>
            </a:r>
            <a:r>
              <a:rPr lang="en-US" baseline="-25000" dirty="0"/>
              <a:t>N</a:t>
            </a:r>
            <a:r>
              <a:rPr lang="en-US" dirty="0"/>
              <a:t>/F</a:t>
            </a:r>
            <a:r>
              <a:rPr lang="en-US" baseline="-25000" dirty="0"/>
              <a:t>S</a:t>
            </a:r>
            <a:r>
              <a:rPr lang="en-US" dirty="0"/>
              <a:t> = P</a:t>
            </a:r>
            <a:r>
              <a:rPr lang="en-US" baseline="-25000" dirty="0"/>
              <a:t>N</a:t>
            </a:r>
            <a:r>
              <a:rPr lang="en-US" dirty="0"/>
              <a:t>/P</a:t>
            </a:r>
            <a:r>
              <a:rPr lang="en-US" baseline="-25000" dirty="0"/>
              <a:t>S</a:t>
            </a:r>
          </a:p>
          <a:p>
            <a:endParaRPr lang="en-US" baseline="-25000" dirty="0"/>
          </a:p>
          <a:p>
            <a:r>
              <a:rPr lang="en-US" dirty="0"/>
              <a:t>But, if selection is acting to fix advantageous nonsynonymous changes:</a:t>
            </a:r>
          </a:p>
          <a:p>
            <a:endParaRPr lang="en-US" dirty="0"/>
          </a:p>
          <a:p>
            <a:r>
              <a:rPr lang="en-US" dirty="0"/>
              <a:t>	F</a:t>
            </a:r>
            <a:r>
              <a:rPr lang="en-US" baseline="-25000" dirty="0"/>
              <a:t>N</a:t>
            </a:r>
            <a:r>
              <a:rPr lang="en-US" dirty="0"/>
              <a:t>/F</a:t>
            </a:r>
            <a:r>
              <a:rPr lang="en-US" baseline="-25000" dirty="0"/>
              <a:t>S</a:t>
            </a:r>
            <a:r>
              <a:rPr lang="en-US" dirty="0"/>
              <a:t> &gt; P</a:t>
            </a:r>
            <a:r>
              <a:rPr lang="en-US" baseline="-25000" dirty="0"/>
              <a:t>N</a:t>
            </a:r>
            <a:r>
              <a:rPr lang="en-US" dirty="0"/>
              <a:t>/P</a:t>
            </a:r>
            <a:r>
              <a:rPr lang="en-US" baseline="-25000" dirty="0"/>
              <a:t>S</a:t>
            </a:r>
          </a:p>
          <a:p>
            <a:endParaRPr lang="en-US" dirty="0"/>
          </a:p>
          <a:p>
            <a:r>
              <a:rPr lang="en-US" dirty="0"/>
              <a:t>Or, if selection is working to remove deleterious </a:t>
            </a:r>
            <a:r>
              <a:rPr lang="en-US" dirty="0" err="1"/>
              <a:t>nonsyn</a:t>
            </a:r>
            <a:r>
              <a:rPr lang="en-US" dirty="0"/>
              <a:t>. changes:</a:t>
            </a:r>
          </a:p>
          <a:p>
            <a:endParaRPr lang="en-US" dirty="0"/>
          </a:p>
          <a:p>
            <a:r>
              <a:rPr lang="en-US" dirty="0"/>
              <a:t>	F</a:t>
            </a:r>
            <a:r>
              <a:rPr lang="en-US" baseline="-25000" dirty="0"/>
              <a:t>N</a:t>
            </a:r>
            <a:r>
              <a:rPr lang="en-US" dirty="0"/>
              <a:t>/F</a:t>
            </a:r>
            <a:r>
              <a:rPr lang="en-US" baseline="-25000" dirty="0"/>
              <a:t>S</a:t>
            </a:r>
            <a:r>
              <a:rPr lang="en-US" dirty="0"/>
              <a:t> &lt; P</a:t>
            </a:r>
            <a:r>
              <a:rPr lang="en-US" baseline="-25000" dirty="0"/>
              <a:t>N</a:t>
            </a:r>
            <a:r>
              <a:rPr lang="en-US" dirty="0"/>
              <a:t>/P</a:t>
            </a:r>
            <a:r>
              <a:rPr lang="en-US" baseline="-25000" dirty="0"/>
              <a:t>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11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McDonald-</a:t>
            </a:r>
            <a:r>
              <a:rPr lang="en-US" dirty="0" err="1"/>
              <a:t>Kreitman</a:t>
            </a:r>
            <a:r>
              <a:rPr lang="en-US" dirty="0"/>
              <a:t>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0" y="1690689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Nonsynonymous</a:t>
                      </a:r>
                    </a:p>
                  </a:txBody>
                  <a:tcPr>
                    <a:solidFill>
                      <a:srgbClr val="D59D8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Synonymous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</a:t>
                      </a:r>
                    </a:p>
                  </a:txBody>
                  <a:tcPr>
                    <a:solidFill>
                      <a:srgbClr val="9437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Polymorphic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en-US" baseline="-25000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en-US" baseline="-25000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429022" y="3229097"/>
            <a:ext cx="76103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Neutrality:</a:t>
            </a:r>
          </a:p>
          <a:p>
            <a:endParaRPr lang="en-US" dirty="0"/>
          </a:p>
          <a:p>
            <a:r>
              <a:rPr lang="en-US" dirty="0"/>
              <a:t>	F</a:t>
            </a:r>
            <a:r>
              <a:rPr lang="en-US" baseline="-25000" dirty="0"/>
              <a:t>N</a:t>
            </a:r>
            <a:r>
              <a:rPr lang="en-US" dirty="0"/>
              <a:t>/F</a:t>
            </a:r>
            <a:r>
              <a:rPr lang="en-US" baseline="-25000" dirty="0"/>
              <a:t>S</a:t>
            </a:r>
            <a:r>
              <a:rPr lang="en-US" dirty="0"/>
              <a:t> = P</a:t>
            </a:r>
            <a:r>
              <a:rPr lang="en-US" baseline="-25000" dirty="0"/>
              <a:t>N</a:t>
            </a:r>
            <a:r>
              <a:rPr lang="en-US" dirty="0"/>
              <a:t>/P</a:t>
            </a:r>
            <a:r>
              <a:rPr lang="en-US" baseline="-25000" dirty="0"/>
              <a:t>S  </a:t>
            </a:r>
            <a:r>
              <a:rPr lang="en-US" dirty="0">
                <a:solidFill>
                  <a:srgbClr val="C00000"/>
                </a:solidFill>
              </a:rPr>
              <a:t>** We test this with Chi-Square or Fisher’s 				Exact </a:t>
            </a:r>
            <a:endParaRPr lang="en-US" baseline="-25000" dirty="0">
              <a:solidFill>
                <a:srgbClr val="C00000"/>
              </a:solidFill>
            </a:endParaRPr>
          </a:p>
          <a:p>
            <a:endParaRPr lang="en-US" baseline="-25000" dirty="0"/>
          </a:p>
          <a:p>
            <a:r>
              <a:rPr lang="en-US" dirty="0"/>
              <a:t>Neutrality Index:</a:t>
            </a:r>
          </a:p>
          <a:p>
            <a:r>
              <a:rPr lang="en-US" dirty="0"/>
              <a:t>	</a:t>
            </a:r>
            <a:r>
              <a:rPr lang="en-US" u="sng" dirty="0"/>
              <a:t>(P</a:t>
            </a:r>
            <a:r>
              <a:rPr lang="en-US" u="sng" baseline="-25000" dirty="0"/>
              <a:t>N</a:t>
            </a:r>
            <a:r>
              <a:rPr lang="en-US" u="sng" dirty="0"/>
              <a:t>/P</a:t>
            </a:r>
            <a:r>
              <a:rPr lang="en-US" u="sng" baseline="-25000" dirty="0"/>
              <a:t>S</a:t>
            </a:r>
            <a:r>
              <a:rPr lang="en-US" u="sng" dirty="0"/>
              <a:t>)</a:t>
            </a:r>
          </a:p>
          <a:p>
            <a:r>
              <a:rPr lang="en-US" dirty="0"/>
              <a:t>	(F</a:t>
            </a:r>
            <a:r>
              <a:rPr lang="en-US" baseline="-25000" dirty="0"/>
              <a:t>N</a:t>
            </a:r>
            <a:r>
              <a:rPr lang="en-US" dirty="0"/>
              <a:t>/F</a:t>
            </a:r>
            <a:r>
              <a:rPr lang="en-US" baseline="-25000" dirty="0"/>
              <a:t>S</a:t>
            </a:r>
            <a:r>
              <a:rPr lang="en-US" dirty="0"/>
              <a:t>)    * If this is &lt; 1; Nonsynonymous changes are being 			    Fixed at a higher rate than expected by chance</a:t>
            </a:r>
          </a:p>
          <a:p>
            <a:endParaRPr lang="en-US" dirty="0"/>
          </a:p>
          <a:p>
            <a:r>
              <a:rPr lang="en-US" dirty="0"/>
              <a:t>		 * If this is &gt;1; </a:t>
            </a:r>
            <a:r>
              <a:rPr lang="en-US" dirty="0" err="1"/>
              <a:t>nonsyn</a:t>
            </a:r>
            <a:r>
              <a:rPr lang="en-US" dirty="0"/>
              <a:t> changes are being removed at 		   a higher rate than expected by chance</a:t>
            </a:r>
          </a:p>
        </p:txBody>
      </p:sp>
    </p:spTree>
    <p:extLst>
      <p:ext uri="{BB962C8B-B14F-4D97-AF65-F5344CB8AC3E}">
        <p14:creationId xmlns:p14="http://schemas.microsoft.com/office/powerpoint/2010/main" val="596054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1354</Words>
  <Application>Microsoft Office PowerPoint</Application>
  <PresentationFormat>Panorámica</PresentationFormat>
  <Paragraphs>309</Paragraphs>
  <Slides>37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Tema de Office</vt:lpstr>
      <vt:lpstr>Mutations</vt:lpstr>
      <vt:lpstr>Mutation</vt:lpstr>
      <vt:lpstr>Different ways to produce mutations</vt:lpstr>
      <vt:lpstr>Presentación de PowerPoint</vt:lpstr>
      <vt:lpstr>Point mutations</vt:lpstr>
      <vt:lpstr>Presentación de PowerPoint</vt:lpstr>
      <vt:lpstr>Replication slippage</vt:lpstr>
      <vt:lpstr>Recombination and reshuffling of alleles</vt:lpstr>
      <vt:lpstr>Gene conversion</vt:lpstr>
      <vt:lpstr>Unequal crossing over</vt:lpstr>
      <vt:lpstr>Transposable elements</vt:lpstr>
      <vt:lpstr>Gene Duplications</vt:lpstr>
      <vt:lpstr>Allopolyploidy</vt:lpstr>
      <vt:lpstr>Autopolyploidy</vt:lpstr>
      <vt:lpstr>Presentación de PowerPoint</vt:lpstr>
      <vt:lpstr>Presentación de PowerPoint</vt:lpstr>
      <vt:lpstr>Neutral theory</vt:lpstr>
      <vt:lpstr>Presentación de PowerPoint</vt:lpstr>
      <vt:lpstr>Presentación de PowerPoint</vt:lpstr>
      <vt:lpstr>Mutation rate</vt:lpstr>
      <vt:lpstr>Presentación de PowerPoint</vt:lpstr>
      <vt:lpstr>Presentación de PowerPoint</vt:lpstr>
      <vt:lpstr>Molecular clock (Zuckerkandl &amp; Pauling 1962).</vt:lpstr>
      <vt:lpstr>Presentación de PowerPoint</vt:lpstr>
      <vt:lpstr>Presentación de PowerPoint</vt:lpstr>
      <vt:lpstr>Presentación de PowerPoint</vt:lpstr>
      <vt:lpstr>McDonald-Kreitman Test: Underlying Theory/Assumptions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McDonald-Kreitman Test</vt:lpstr>
      <vt:lpstr>McDonald-Kreitman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Chrystian Camilo Sosa Arango</dc:creator>
  <cp:lastModifiedBy>Chrystian Camilo Sosa Arango</cp:lastModifiedBy>
  <cp:revision>55</cp:revision>
  <dcterms:created xsi:type="dcterms:W3CDTF">2025-09-19T14:03:53Z</dcterms:created>
  <dcterms:modified xsi:type="dcterms:W3CDTF">2025-10-03T01:33:03Z</dcterms:modified>
</cp:coreProperties>
</file>